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 id="276" r:id="rId19"/>
    <p:sldId id="273" r:id="rId20"/>
    <p:sldId id="277" r:id="rId21"/>
    <p:sldId id="278" r:id="rId22"/>
    <p:sldId id="282" r:id="rId23"/>
    <p:sldId id="279" r:id="rId24"/>
    <p:sldId id="280" r:id="rId25"/>
    <p:sldId id="281" r:id="rId26"/>
    <p:sldId id="283" r:id="rId27"/>
    <p:sldId id="284" r:id="rId28"/>
    <p:sldId id="285" r:id="rId29"/>
    <p:sldId id="286" r:id="rId30"/>
    <p:sldId id="287" r:id="rId31"/>
    <p:sldId id="28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8" autoAdjust="0"/>
    <p:restoredTop sz="94660"/>
  </p:normalViewPr>
  <p:slideViewPr>
    <p:cSldViewPr snapToGrid="0">
      <p:cViewPr varScale="1">
        <p:scale>
          <a:sx n="60" d="100"/>
          <a:sy n="60" d="100"/>
        </p:scale>
        <p:origin x="902" y="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Z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ZA"/>
          </a:p>
        </p:txBody>
      </p:sp>
      <p:sp>
        <p:nvSpPr>
          <p:cNvPr id="4" name="Date Placeholder 3"/>
          <p:cNvSpPr>
            <a:spLocks noGrp="1"/>
          </p:cNvSpPr>
          <p:nvPr>
            <p:ph type="dt" sz="half" idx="10"/>
          </p:nvPr>
        </p:nvSpPr>
        <p:spPr/>
        <p:txBody>
          <a:bodyPr/>
          <a:lstStyle/>
          <a:p>
            <a:fld id="{4AA7EFEB-87BF-4EA0-B425-281340C62CFC}" type="datetimeFigureOut">
              <a:rPr lang="en-ZA" smtClean="0"/>
              <a:t>2021/06/07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C263210-4535-4DEC-BB8B-6CB98D4FAAD2}" type="slidenum">
              <a:rPr lang="en-ZA" smtClean="0"/>
              <a:t>‹#›</a:t>
            </a:fld>
            <a:endParaRPr lang="en-ZA"/>
          </a:p>
        </p:txBody>
      </p:sp>
    </p:spTree>
    <p:extLst>
      <p:ext uri="{BB962C8B-B14F-4D97-AF65-F5344CB8AC3E}">
        <p14:creationId xmlns:p14="http://schemas.microsoft.com/office/powerpoint/2010/main" val="1209410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4AA7EFEB-87BF-4EA0-B425-281340C62CFC}" type="datetimeFigureOut">
              <a:rPr lang="en-ZA" smtClean="0"/>
              <a:t>2021/06/07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C263210-4535-4DEC-BB8B-6CB98D4FAAD2}" type="slidenum">
              <a:rPr lang="en-ZA" smtClean="0"/>
              <a:t>‹#›</a:t>
            </a:fld>
            <a:endParaRPr lang="en-ZA"/>
          </a:p>
        </p:txBody>
      </p:sp>
    </p:spTree>
    <p:extLst>
      <p:ext uri="{BB962C8B-B14F-4D97-AF65-F5344CB8AC3E}">
        <p14:creationId xmlns:p14="http://schemas.microsoft.com/office/powerpoint/2010/main" val="3807826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Z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A7EFEB-87BF-4EA0-B425-281340C62CFC}" type="datetimeFigureOut">
              <a:rPr lang="en-ZA" smtClean="0"/>
              <a:t>2021/06/07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C263210-4535-4DEC-BB8B-6CB98D4FAAD2}" type="slidenum">
              <a:rPr lang="en-ZA" smtClean="0"/>
              <a:t>‹#›</a:t>
            </a:fld>
            <a:endParaRPr lang="en-ZA"/>
          </a:p>
        </p:txBody>
      </p:sp>
    </p:spTree>
    <p:extLst>
      <p:ext uri="{BB962C8B-B14F-4D97-AF65-F5344CB8AC3E}">
        <p14:creationId xmlns:p14="http://schemas.microsoft.com/office/powerpoint/2010/main" val="3268427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Date Placeholder 4"/>
          <p:cNvSpPr>
            <a:spLocks noGrp="1"/>
          </p:cNvSpPr>
          <p:nvPr>
            <p:ph type="dt" sz="half" idx="10"/>
          </p:nvPr>
        </p:nvSpPr>
        <p:spPr/>
        <p:txBody>
          <a:bodyPr/>
          <a:lstStyle/>
          <a:p>
            <a:fld id="{4AA7EFEB-87BF-4EA0-B425-281340C62CFC}" type="datetimeFigureOut">
              <a:rPr lang="en-ZA" smtClean="0"/>
              <a:t>2021/06/07</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C263210-4535-4DEC-BB8B-6CB98D4FAAD2}" type="slidenum">
              <a:rPr lang="en-ZA" smtClean="0"/>
              <a:t>‹#›</a:t>
            </a:fld>
            <a:endParaRPr lang="en-ZA"/>
          </a:p>
        </p:txBody>
      </p:sp>
    </p:spTree>
    <p:extLst>
      <p:ext uri="{BB962C8B-B14F-4D97-AF65-F5344CB8AC3E}">
        <p14:creationId xmlns:p14="http://schemas.microsoft.com/office/powerpoint/2010/main" val="242388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Z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7" name="Date Placeholder 6"/>
          <p:cNvSpPr>
            <a:spLocks noGrp="1"/>
          </p:cNvSpPr>
          <p:nvPr>
            <p:ph type="dt" sz="half" idx="10"/>
          </p:nvPr>
        </p:nvSpPr>
        <p:spPr/>
        <p:txBody>
          <a:bodyPr/>
          <a:lstStyle/>
          <a:p>
            <a:fld id="{4AA7EFEB-87BF-4EA0-B425-281340C62CFC}" type="datetimeFigureOut">
              <a:rPr lang="en-ZA" smtClean="0"/>
              <a:t>2021/06/07</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FC263210-4535-4DEC-BB8B-6CB98D4FAAD2}" type="slidenum">
              <a:rPr lang="en-ZA" smtClean="0"/>
              <a:t>‹#›</a:t>
            </a:fld>
            <a:endParaRPr lang="en-ZA"/>
          </a:p>
        </p:txBody>
      </p:sp>
    </p:spTree>
    <p:extLst>
      <p:ext uri="{BB962C8B-B14F-4D97-AF65-F5344CB8AC3E}">
        <p14:creationId xmlns:p14="http://schemas.microsoft.com/office/powerpoint/2010/main" val="2817259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Date Placeholder 2"/>
          <p:cNvSpPr>
            <a:spLocks noGrp="1"/>
          </p:cNvSpPr>
          <p:nvPr>
            <p:ph type="dt" sz="half" idx="10"/>
          </p:nvPr>
        </p:nvSpPr>
        <p:spPr/>
        <p:txBody>
          <a:bodyPr/>
          <a:lstStyle/>
          <a:p>
            <a:fld id="{4AA7EFEB-87BF-4EA0-B425-281340C62CFC}" type="datetimeFigureOut">
              <a:rPr lang="en-ZA" smtClean="0"/>
              <a:t>2021/06/07</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FC263210-4535-4DEC-BB8B-6CB98D4FAAD2}" type="slidenum">
              <a:rPr lang="en-ZA" smtClean="0"/>
              <a:t>‹#›</a:t>
            </a:fld>
            <a:endParaRPr lang="en-ZA"/>
          </a:p>
        </p:txBody>
      </p:sp>
    </p:spTree>
    <p:extLst>
      <p:ext uri="{BB962C8B-B14F-4D97-AF65-F5344CB8AC3E}">
        <p14:creationId xmlns:p14="http://schemas.microsoft.com/office/powerpoint/2010/main" val="1800694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A7EFEB-87BF-4EA0-B425-281340C62CFC}" type="datetimeFigureOut">
              <a:rPr lang="en-ZA" smtClean="0"/>
              <a:t>2021/06/07</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FC263210-4535-4DEC-BB8B-6CB98D4FAAD2}" type="slidenum">
              <a:rPr lang="en-ZA" smtClean="0"/>
              <a:t>‹#›</a:t>
            </a:fld>
            <a:endParaRPr lang="en-ZA"/>
          </a:p>
        </p:txBody>
      </p:sp>
    </p:spTree>
    <p:extLst>
      <p:ext uri="{BB962C8B-B14F-4D97-AF65-F5344CB8AC3E}">
        <p14:creationId xmlns:p14="http://schemas.microsoft.com/office/powerpoint/2010/main" val="888052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Z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A7EFEB-87BF-4EA0-B425-281340C62CFC}" type="datetimeFigureOut">
              <a:rPr lang="en-ZA" smtClean="0"/>
              <a:t>2021/06/07</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C263210-4535-4DEC-BB8B-6CB98D4FAAD2}" type="slidenum">
              <a:rPr lang="en-ZA" smtClean="0"/>
              <a:t>‹#›</a:t>
            </a:fld>
            <a:endParaRPr lang="en-ZA"/>
          </a:p>
        </p:txBody>
      </p:sp>
    </p:spTree>
    <p:extLst>
      <p:ext uri="{BB962C8B-B14F-4D97-AF65-F5344CB8AC3E}">
        <p14:creationId xmlns:p14="http://schemas.microsoft.com/office/powerpoint/2010/main" val="2452557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Z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A7EFEB-87BF-4EA0-B425-281340C62CFC}" type="datetimeFigureOut">
              <a:rPr lang="en-ZA" smtClean="0"/>
              <a:t>2021/06/07</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C263210-4535-4DEC-BB8B-6CB98D4FAAD2}" type="slidenum">
              <a:rPr lang="en-ZA" smtClean="0"/>
              <a:t>‹#›</a:t>
            </a:fld>
            <a:endParaRPr lang="en-ZA"/>
          </a:p>
        </p:txBody>
      </p:sp>
    </p:spTree>
    <p:extLst>
      <p:ext uri="{BB962C8B-B14F-4D97-AF65-F5344CB8AC3E}">
        <p14:creationId xmlns:p14="http://schemas.microsoft.com/office/powerpoint/2010/main" val="3604407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4AA7EFEB-87BF-4EA0-B425-281340C62CFC}" type="datetimeFigureOut">
              <a:rPr lang="en-ZA" smtClean="0"/>
              <a:t>2021/06/07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C263210-4535-4DEC-BB8B-6CB98D4FAAD2}" type="slidenum">
              <a:rPr lang="en-ZA" smtClean="0"/>
              <a:t>‹#›</a:t>
            </a:fld>
            <a:endParaRPr lang="en-ZA"/>
          </a:p>
        </p:txBody>
      </p:sp>
    </p:spTree>
    <p:extLst>
      <p:ext uri="{BB962C8B-B14F-4D97-AF65-F5344CB8AC3E}">
        <p14:creationId xmlns:p14="http://schemas.microsoft.com/office/powerpoint/2010/main" val="546323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Z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4AA7EFEB-87BF-4EA0-B425-281340C62CFC}" type="datetimeFigureOut">
              <a:rPr lang="en-ZA" smtClean="0"/>
              <a:t>2021/06/07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C263210-4535-4DEC-BB8B-6CB98D4FAAD2}" type="slidenum">
              <a:rPr lang="en-ZA" smtClean="0"/>
              <a:t>‹#›</a:t>
            </a:fld>
            <a:endParaRPr lang="en-ZA"/>
          </a:p>
        </p:txBody>
      </p:sp>
    </p:spTree>
    <p:extLst>
      <p:ext uri="{BB962C8B-B14F-4D97-AF65-F5344CB8AC3E}">
        <p14:creationId xmlns:p14="http://schemas.microsoft.com/office/powerpoint/2010/main" val="3609374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Z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A7EFEB-87BF-4EA0-B425-281340C62CFC}" type="datetimeFigureOut">
              <a:rPr lang="en-ZA" smtClean="0"/>
              <a:t>2021/06/07</a:t>
            </a:fld>
            <a:endParaRPr lang="en-Z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263210-4535-4DEC-BB8B-6CB98D4FAAD2}" type="slidenum">
              <a:rPr lang="en-ZA" smtClean="0"/>
              <a:t>‹#›</a:t>
            </a:fld>
            <a:endParaRPr lang="en-ZA"/>
          </a:p>
        </p:txBody>
      </p:sp>
    </p:spTree>
    <p:extLst>
      <p:ext uri="{BB962C8B-B14F-4D97-AF65-F5344CB8AC3E}">
        <p14:creationId xmlns:p14="http://schemas.microsoft.com/office/powerpoint/2010/main" val="11764081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1450" y="330200"/>
            <a:ext cx="11836400" cy="6278642"/>
          </a:xfrm>
          <a:prstGeom prst="rect">
            <a:avLst/>
          </a:prstGeom>
          <a:noFill/>
          <a:ln>
            <a:solidFill>
              <a:schemeClr val="accent1"/>
            </a:solidFill>
          </a:ln>
        </p:spPr>
        <p:txBody>
          <a:bodyPr wrap="square" rtlCol="0">
            <a:spAutoFit/>
          </a:bodyPr>
          <a:lstStyle/>
          <a:p>
            <a:pPr algn="ctr"/>
            <a:r>
              <a:rPr lang="en-ZA" sz="2400" dirty="0" smtClean="0"/>
              <a:t>Discrimination and Classification</a:t>
            </a:r>
          </a:p>
          <a:p>
            <a:endParaRPr lang="en-ZA" dirty="0"/>
          </a:p>
          <a:p>
            <a:r>
              <a:rPr lang="en-ZA" dirty="0" err="1" smtClean="0"/>
              <a:t>Johnson,RA</a:t>
            </a:r>
            <a:r>
              <a:rPr lang="en-ZA" dirty="0" smtClean="0"/>
              <a:t> &amp; Wichern, DW. "Applied Multivariate Analysis", Chapter 11, 6th edition, Pearson International Edition, 2007.</a:t>
            </a:r>
          </a:p>
          <a:p>
            <a:endParaRPr lang="en-ZA" dirty="0"/>
          </a:p>
          <a:p>
            <a:r>
              <a:rPr lang="en-ZA" dirty="0" smtClean="0"/>
              <a:t>This chapter will focus on</a:t>
            </a:r>
          </a:p>
          <a:p>
            <a:endParaRPr lang="en-ZA" dirty="0" smtClean="0"/>
          </a:p>
          <a:p>
            <a:r>
              <a:rPr lang="en-ZA" dirty="0" smtClean="0"/>
              <a:t> (1) SEPARATING distinct sets of observations, and (2) ALLOCATING new observations to previously defined groups. </a:t>
            </a:r>
          </a:p>
          <a:p>
            <a:endParaRPr lang="en-ZA" dirty="0"/>
          </a:p>
          <a:p>
            <a:r>
              <a:rPr lang="en-ZA" dirty="0" smtClean="0"/>
              <a:t>The two goals can be described as</a:t>
            </a:r>
          </a:p>
          <a:p>
            <a:endParaRPr lang="en-ZA" dirty="0" smtClean="0"/>
          </a:p>
          <a:p>
            <a:r>
              <a:rPr lang="en-ZA" dirty="0" smtClean="0"/>
              <a:t>DISCRIMINATION = finding "discriminants", i.e. features, whose numerical values are such that collections of observations are separated as much as possible.</a:t>
            </a:r>
          </a:p>
          <a:p>
            <a:endParaRPr lang="en-ZA" dirty="0" smtClean="0"/>
          </a:p>
          <a:p>
            <a:r>
              <a:rPr lang="en-ZA" dirty="0" smtClean="0"/>
              <a:t>CLASSIFICATION = deriving a rule that can optimally allocate new observations to labelled classes.</a:t>
            </a:r>
          </a:p>
          <a:p>
            <a:endParaRPr lang="en-ZA" dirty="0" smtClean="0"/>
          </a:p>
          <a:p>
            <a:r>
              <a:rPr lang="en-ZA" dirty="0" smtClean="0"/>
              <a:t>Examples include</a:t>
            </a:r>
          </a:p>
          <a:p>
            <a:endParaRPr lang="en-ZA" dirty="0" smtClean="0"/>
          </a:p>
          <a:p>
            <a:pPr marL="285750" indent="-285750">
              <a:buFont typeface="Arial" panose="020B0604020202020204" pitchFamily="34" charset="0"/>
              <a:buChar char="•"/>
            </a:pPr>
            <a:r>
              <a:rPr lang="en-ZA" dirty="0" smtClean="0"/>
              <a:t>Using measurements on education, income, family size, amount of previous brand switching to classify consumers as either "purchasers of a new product" or as "laggards".	</a:t>
            </a:r>
          </a:p>
          <a:p>
            <a:pPr marL="285750" indent="-285750">
              <a:buFont typeface="Arial" panose="020B0604020202020204" pitchFamily="34" charset="0"/>
              <a:buChar char="•"/>
            </a:pPr>
            <a:r>
              <a:rPr lang="en-ZA" dirty="0" smtClean="0"/>
              <a:t>Using measurements on income, age, number of credit cards and family size to classify people as (1) good or (2) poor credits risks.</a:t>
            </a:r>
          </a:p>
          <a:p>
            <a:pPr marL="285750" indent="-285750">
              <a:buFont typeface="Arial" panose="020B0604020202020204" pitchFamily="34" charset="0"/>
              <a:buChar char="•"/>
            </a:pPr>
            <a:r>
              <a:rPr lang="en-ZA" dirty="0" smtClean="0"/>
              <a:t>Using measurements on easily observed external symptoms to classify people as either (1)diseased, or (2) </a:t>
            </a:r>
            <a:r>
              <a:rPr lang="en-ZA" dirty="0" err="1" smtClean="0"/>
              <a:t>nondiseased</a:t>
            </a:r>
            <a:r>
              <a:rPr lang="en-ZA" dirty="0" smtClean="0"/>
              <a:t>.</a:t>
            </a:r>
            <a:endParaRPr lang="en-ZA" dirty="0"/>
          </a:p>
        </p:txBody>
      </p:sp>
    </p:spTree>
    <p:extLst>
      <p:ext uri="{BB962C8B-B14F-4D97-AF65-F5344CB8AC3E}">
        <p14:creationId xmlns:p14="http://schemas.microsoft.com/office/powerpoint/2010/main" val="1149261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190500" y="44450"/>
                <a:ext cx="11766550" cy="6740307"/>
              </a:xfrm>
              <a:prstGeom prst="rect">
                <a:avLst/>
              </a:prstGeom>
              <a:noFill/>
              <a:ln>
                <a:solidFill>
                  <a:schemeClr val="accent1"/>
                </a:solidFill>
              </a:ln>
            </p:spPr>
            <p:txBody>
              <a:bodyPr wrap="square" rtlCol="0">
                <a:spAutoFit/>
              </a:bodyPr>
              <a:lstStyle/>
              <a:p>
                <a:r>
                  <a:rPr lang="en-ZA" dirty="0" smtClean="0"/>
                  <a:t>Contents:</a:t>
                </a:r>
              </a:p>
              <a:p>
                <a:pPr marL="285750" indent="-285750">
                  <a:buFont typeface="Arial" panose="020B0604020202020204" pitchFamily="34" charset="0"/>
                  <a:buChar char="•"/>
                </a:pPr>
                <a:r>
                  <a:rPr lang="en-ZA" dirty="0" smtClean="0"/>
                  <a:t>Introducing ideas of classification and misclassification</a:t>
                </a:r>
              </a:p>
              <a:p>
                <a:pPr marL="285750" indent="-285750">
                  <a:buFont typeface="Arial" panose="020B0604020202020204" pitchFamily="34" charset="0"/>
                  <a:buChar char="•"/>
                </a:pPr>
                <a:r>
                  <a:rPr lang="en-ZA" dirty="0" smtClean="0"/>
                  <a:t>EMC = Expected Cost of Misclassification</a:t>
                </a:r>
              </a:p>
              <a:p>
                <a:pPr marL="285750" indent="-285750">
                  <a:buFont typeface="Arial" panose="020B0604020202020204" pitchFamily="34" charset="0"/>
                  <a:buChar char="•"/>
                </a:pPr>
                <a:r>
                  <a:rPr lang="en-ZA" dirty="0" smtClean="0"/>
                  <a:t>Classification with two multivariate normal distributions</a:t>
                </a:r>
              </a:p>
              <a:p>
                <a:pPr marL="285750" indent="-285750">
                  <a:buFont typeface="Arial" panose="020B0604020202020204" pitchFamily="34" charset="0"/>
                  <a:buChar char="•"/>
                </a:pPr>
                <a:r>
                  <a:rPr lang="en-ZA" dirty="0" smtClean="0"/>
                  <a:t>Discrimination and classification from sample quantities</a:t>
                </a:r>
              </a:p>
              <a:p>
                <a:pPr marL="285750" indent="-285750">
                  <a:buFont typeface="Arial" panose="020B0604020202020204" pitchFamily="34" charset="0"/>
                  <a:buChar char="•"/>
                </a:pPr>
                <a:r>
                  <a:rPr lang="en-ZA" dirty="0" smtClean="0"/>
                  <a:t>Fisher's Discriminant Analysis</a:t>
                </a:r>
              </a:p>
              <a:p>
                <a:pPr marL="285750" indent="-285750">
                  <a:buFont typeface="Arial" panose="020B0604020202020204" pitchFamily="34" charset="0"/>
                  <a:buChar char="•"/>
                </a:pPr>
                <a:r>
                  <a:rPr lang="en-ZA" dirty="0" smtClean="0"/>
                  <a:t>Quadratic Discriminant Analysis</a:t>
                </a:r>
              </a:p>
              <a:p>
                <a:pPr marL="285750" indent="-285750">
                  <a:buFont typeface="Arial" panose="020B0604020202020204" pitchFamily="34" charset="0"/>
                  <a:buChar char="•"/>
                </a:pPr>
                <a:r>
                  <a:rPr lang="en-ZA" dirty="0" smtClean="0"/>
                  <a:t>Evaluating classification functions</a:t>
                </a:r>
              </a:p>
              <a:p>
                <a:pPr marL="285750" indent="-285750">
                  <a:buFont typeface="Arial" panose="020B0604020202020204" pitchFamily="34" charset="0"/>
                  <a:buChar char="•"/>
                </a:pPr>
                <a:r>
                  <a:rPr lang="en-ZA" dirty="0" smtClean="0"/>
                  <a:t>Classification of several populations</a:t>
                </a:r>
              </a:p>
              <a:p>
                <a:pPr marL="285750" indent="-285750">
                  <a:buFont typeface="Arial" panose="020B0604020202020204" pitchFamily="34" charset="0"/>
                  <a:buChar char="•"/>
                </a:pPr>
                <a:endParaRPr lang="en-ZA" dirty="0"/>
              </a:p>
              <a:p>
                <a:r>
                  <a:rPr lang="en-ZA" dirty="0" smtClean="0"/>
                  <a:t>The figure above illustrates the separation (or overlap) of owners and non-owners of riding lawnmowers in terms of their income and the lot size of their property.</a:t>
                </a:r>
              </a:p>
              <a:p>
                <a:r>
                  <a:rPr lang="en-ZA" dirty="0" smtClean="0"/>
                  <a:t>An "optimal" classification rule should</a:t>
                </a:r>
              </a:p>
              <a:p>
                <a:pPr marL="1200150" lvl="2" indent="-285750">
                  <a:buFont typeface="Arial" panose="020B0604020202020204" pitchFamily="34" charset="0"/>
                  <a:buChar char="•"/>
                </a:pPr>
                <a:r>
                  <a:rPr lang="en-ZA" dirty="0" smtClean="0"/>
                  <a:t>result in few misclassifications;</a:t>
                </a:r>
              </a:p>
              <a:p>
                <a:pPr marL="1200150" lvl="2" indent="-285750">
                  <a:buFont typeface="Arial" panose="020B0604020202020204" pitchFamily="34" charset="0"/>
                  <a:buChar char="•"/>
                </a:pPr>
                <a:r>
                  <a:rPr lang="en-ZA" dirty="0" smtClean="0"/>
                  <a:t>should take into account prior probabilities of occurrence of the two populations;</a:t>
                </a:r>
              </a:p>
              <a:p>
                <a:pPr marL="1200150" lvl="2" indent="-285750">
                  <a:buFont typeface="Arial" panose="020B0604020202020204" pitchFamily="34" charset="0"/>
                  <a:buChar char="•"/>
                </a:pPr>
                <a:r>
                  <a:rPr lang="en-ZA" dirty="0" smtClean="0"/>
                  <a:t>take into consideration the cost of misclassification.</a:t>
                </a:r>
              </a:p>
              <a:p>
                <a:pPr marL="1200150" lvl="2" indent="-285750">
                  <a:buFont typeface="Arial" panose="020B0604020202020204" pitchFamily="34" charset="0"/>
                  <a:buChar char="•"/>
                </a:pPr>
                <a:endParaRPr lang="en-ZA" dirty="0" smtClean="0"/>
              </a:p>
              <a:p>
                <a:r>
                  <a:rPr lang="en-ZA" dirty="0" smtClean="0"/>
                  <a:t>Can often be illustrated using a classification matrix:</a:t>
                </a:r>
              </a:p>
              <a:p>
                <a:r>
                  <a:rPr lang="en-ZA" dirty="0" smtClean="0"/>
                  <a:t>		Classification                         True group membership </a:t>
                </a:r>
              </a:p>
              <a:p>
                <a:r>
                  <a:rPr lang="en-ZA" dirty="0" smtClean="0"/>
                  <a:t>		based on X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oMath>
                </a14:m>
                <a:r>
                  <a:rPr lang="en-ZA" dirty="0" smtClean="0"/>
                  <a:t>                                      </a:t>
                </a:r>
                <a14:m>
                  <m:oMath xmlns:m="http://schemas.openxmlformats.org/officeDocument/2006/math">
                    <m:sSub>
                      <m:sSubPr>
                        <m:ctrlPr>
                          <a:rPr lang="en-ZA" i="1" dirty="0" smtClean="0">
                            <a:latin typeface="Cambria Math" panose="02040503050406030204" pitchFamily="18" charset="0"/>
                          </a:rPr>
                        </m:ctrlPr>
                      </m:sSubPr>
                      <m:e>
                        <m:r>
                          <a:rPr lang="en-ZA" i="1" dirty="0" smtClean="0">
                            <a:latin typeface="Cambria Math" panose="02040503050406030204" pitchFamily="18" charset="0"/>
                            <a:ea typeface="Cambria Math" panose="02040503050406030204" pitchFamily="18" charset="0"/>
                          </a:rPr>
                          <m:t>𝜋</m:t>
                        </m:r>
                      </m:e>
                      <m:sub>
                        <m:r>
                          <a:rPr lang="en-ZA" b="0" i="1" dirty="0" smtClean="0">
                            <a:latin typeface="Cambria Math" panose="02040503050406030204" pitchFamily="18" charset="0"/>
                          </a:rPr>
                          <m:t>2</m:t>
                        </m:r>
                      </m:sub>
                    </m:sSub>
                  </m:oMath>
                </a14:m>
                <a:endParaRPr lang="en-ZA" dirty="0" smtClean="0"/>
              </a:p>
              <a:p>
                <a:r>
                  <a:rPr lang="en-ZA" dirty="0"/>
                  <a:t> </a:t>
                </a:r>
                <a:r>
                  <a:rPr lang="en-ZA" dirty="0" smtClean="0"/>
                  <a:t>                                 -------------------------------------------------------------------------------------</a:t>
                </a:r>
              </a:p>
              <a:p>
                <a:r>
                  <a:rPr lang="en-ZA" dirty="0" smtClean="0"/>
                  <a:t>		</a:t>
                </a:r>
                <a14:m>
                  <m:oMath xmlns:m="http://schemas.openxmlformats.org/officeDocument/2006/math">
                    <m:r>
                      <a:rPr lang="en-ZA" b="0" i="1" smtClean="0">
                        <a:latin typeface="Cambria Math" panose="02040503050406030204" pitchFamily="18" charset="0"/>
                      </a:rPr>
                      <m:t>𝑋</m:t>
                    </m:r>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1</m:t>
                        </m:r>
                      </m:sub>
                    </m:sSub>
                  </m:oMath>
                </a14:m>
                <a:r>
                  <a:rPr lang="en-ZA" dirty="0" smtClean="0"/>
                  <a:t>                   Correct classification       </a:t>
                </a:r>
                <a:r>
                  <a:rPr lang="en-ZA" dirty="0" err="1" smtClean="0"/>
                  <a:t>Classification</a:t>
                </a:r>
                <a:r>
                  <a:rPr lang="en-ZA" dirty="0" smtClean="0"/>
                  <a:t> error</a:t>
                </a:r>
              </a:p>
              <a:p>
                <a:r>
                  <a:rPr lang="en-ZA" dirty="0" smtClean="0"/>
                  <a:t>		</a:t>
                </a:r>
                <a14:m>
                  <m:oMath xmlns:m="http://schemas.openxmlformats.org/officeDocument/2006/math">
                    <m:r>
                      <a:rPr lang="en-ZA" b="0" i="1" smtClean="0">
                        <a:latin typeface="Cambria Math" panose="02040503050406030204" pitchFamily="18" charset="0"/>
                      </a:rPr>
                      <m:t>𝑋</m:t>
                    </m:r>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2</m:t>
                        </m:r>
                      </m:sub>
                    </m:sSub>
                    <m:r>
                      <a:rPr lang="en-ZA" b="0" i="0" smtClean="0">
                        <a:latin typeface="Cambria Math" panose="02040503050406030204" pitchFamily="18" charset="0"/>
                        <a:ea typeface="Cambria Math" panose="02040503050406030204" pitchFamily="18" charset="0"/>
                      </a:rPr>
                      <m:t>  </m:t>
                    </m:r>
                  </m:oMath>
                </a14:m>
                <a:r>
                  <a:rPr lang="en-ZA" dirty="0" smtClean="0"/>
                  <a:t>                 Classification error           Correct classification</a:t>
                </a:r>
              </a:p>
              <a:p>
                <a:r>
                  <a:rPr lang="en-ZA" dirty="0"/>
                  <a:t> </a:t>
                </a:r>
                <a:r>
                  <a:rPr lang="en-ZA" dirty="0" smtClean="0"/>
                  <a:t>                                 -------------------------------------------------------------------------------------</a:t>
                </a:r>
                <a:endParaRPr lang="en-ZA" dirty="0"/>
              </a:p>
            </p:txBody>
          </p:sp>
        </mc:Choice>
        <mc:Fallback xmlns="">
          <p:sp>
            <p:nvSpPr>
              <p:cNvPr id="2" name="TextBox 1"/>
              <p:cNvSpPr txBox="1">
                <a:spLocks noRot="1" noChangeAspect="1" noMove="1" noResize="1" noEditPoints="1" noAdjustHandles="1" noChangeArrowheads="1" noChangeShapeType="1" noTextEdit="1"/>
              </p:cNvSpPr>
              <p:nvPr/>
            </p:nvSpPr>
            <p:spPr>
              <a:xfrm>
                <a:off x="190500" y="44450"/>
                <a:ext cx="11766550" cy="6740307"/>
              </a:xfrm>
              <a:prstGeom prst="rect">
                <a:avLst/>
              </a:prstGeom>
              <a:blipFill rotWithShape="0">
                <a:blip r:embed="rId2"/>
                <a:stretch>
                  <a:fillRect l="-362" t="-361" b="-361"/>
                </a:stretch>
              </a:blipFill>
              <a:ln>
                <a:solidFill>
                  <a:schemeClr val="accent1"/>
                </a:solidFill>
              </a:ln>
            </p:spPr>
            <p:txBody>
              <a:bodyPr/>
              <a:lstStyle/>
              <a:p>
                <a:r>
                  <a:rPr lang="en-ZA">
                    <a:noFill/>
                  </a:rPr>
                  <a:t> </a:t>
                </a:r>
              </a:p>
            </p:txBody>
          </p:sp>
        </mc:Fallback>
      </mc:AlternateContent>
      <p:pic>
        <p:nvPicPr>
          <p:cNvPr id="3" name="Picture 2"/>
          <p:cNvPicPr>
            <a:picLocks noChangeAspect="1"/>
          </p:cNvPicPr>
          <p:nvPr/>
        </p:nvPicPr>
        <p:blipFill>
          <a:blip r:embed="rId3"/>
          <a:stretch>
            <a:fillRect/>
          </a:stretch>
        </p:blipFill>
        <p:spPr>
          <a:xfrm>
            <a:off x="7660120" y="240405"/>
            <a:ext cx="3069360" cy="2620200"/>
          </a:xfrm>
          <a:prstGeom prst="rect">
            <a:avLst/>
          </a:prstGeom>
        </p:spPr>
      </p:pic>
      <p:sp>
        <p:nvSpPr>
          <p:cNvPr id="4" name="Oval Callout 3"/>
          <p:cNvSpPr/>
          <p:nvPr/>
        </p:nvSpPr>
        <p:spPr>
          <a:xfrm>
            <a:off x="9207500" y="3460750"/>
            <a:ext cx="2641600" cy="2006600"/>
          </a:xfrm>
          <a:prstGeom prst="wedgeEllipseCallout">
            <a:avLst>
              <a:gd name="adj1" fmla="val -54487"/>
              <a:gd name="adj2" fmla="val -120411"/>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Shows that owners and non-owners can be separated by linear line. Also shows that  owners had higher income whilst separation based on lots size slightly less clear.</a:t>
            </a:r>
            <a:endParaRPr lang="en-ZA" sz="1100" dirty="0"/>
          </a:p>
        </p:txBody>
      </p:sp>
    </p:spTree>
    <p:extLst>
      <p:ext uri="{BB962C8B-B14F-4D97-AF65-F5344CB8AC3E}">
        <p14:creationId xmlns:p14="http://schemas.microsoft.com/office/powerpoint/2010/main" val="3957154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184150" y="146050"/>
                <a:ext cx="11918950" cy="6568337"/>
              </a:xfrm>
              <a:prstGeom prst="rect">
                <a:avLst/>
              </a:prstGeom>
              <a:noFill/>
              <a:ln>
                <a:solidFill>
                  <a:schemeClr val="accent1"/>
                </a:solidFill>
              </a:ln>
            </p:spPr>
            <p:txBody>
              <a:bodyPr wrap="square" rtlCol="0">
                <a:spAutoFit/>
              </a:bodyPr>
              <a:lstStyle/>
              <a:p>
                <a:r>
                  <a:rPr lang="en-ZA" dirty="0" smtClean="0"/>
                  <a:t>Let's introduce some notation:</a:t>
                </a:r>
              </a:p>
              <a:p>
                <a:endParaRPr lang="en-ZA" dirty="0" smtClean="0"/>
              </a:p>
              <a:p>
                <a:pPr marL="285750" indent="-285750">
                  <a:buFont typeface="Arial" panose="020B0604020202020204" pitchFamily="34" charset="0"/>
                  <a:buChar char="•"/>
                </a:pPr>
                <a:r>
                  <a:rPr lang="en-ZA" dirty="0" smtClean="0"/>
                  <a:t>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oMath>
                </a14:m>
                <a:r>
                  <a:rPr lang="en-ZA" dirty="0" smtClean="0"/>
                  <a:t>and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2</m:t>
                        </m:r>
                      </m:sub>
                    </m:sSub>
                  </m:oMath>
                </a14:m>
                <a:r>
                  <a:rPr lang="en-ZA" dirty="0" smtClean="0"/>
                  <a:t>= the two </a:t>
                </a:r>
                <a:r>
                  <a:rPr lang="en-ZA" dirty="0" err="1" smtClean="0"/>
                  <a:t>labeled</a:t>
                </a:r>
                <a:r>
                  <a:rPr lang="en-ZA" dirty="0" smtClean="0"/>
                  <a:t> classes or populations.</a:t>
                </a:r>
              </a:p>
              <a:p>
                <a:pPr marL="285750" indent="-285750">
                  <a:buFont typeface="Arial" panose="020B0604020202020204" pitchFamily="34" charset="0"/>
                  <a:buChar char="•"/>
                </a:pPr>
                <a:r>
                  <a:rPr lang="en-ZA" dirty="0" smtClean="0"/>
                  <a:t> </a:t>
                </a:r>
                <a14:m>
                  <m:oMath xmlns:m="http://schemas.openxmlformats.org/officeDocument/2006/math">
                    <m:sSup>
                      <m:sSupPr>
                        <m:ctrlPr>
                          <a:rPr lang="en-ZA" b="0" i="1" smtClean="0">
                            <a:latin typeface="Cambria Math" panose="02040503050406030204" pitchFamily="18" charset="0"/>
                          </a:rPr>
                        </m:ctrlPr>
                      </m:sSupPr>
                      <m:e>
                        <m:r>
                          <a:rPr lang="en-ZA" b="1" i="1" smtClean="0">
                            <a:latin typeface="Cambria Math" panose="02040503050406030204" pitchFamily="18" charset="0"/>
                          </a:rPr>
                          <m:t>𝑿</m:t>
                        </m:r>
                      </m:e>
                      <m:sup>
                        <m:r>
                          <a:rPr lang="en-ZA" b="0" i="1" smtClean="0">
                            <a:latin typeface="Cambria Math" panose="02040503050406030204" pitchFamily="18" charset="0"/>
                          </a:rPr>
                          <m:t>′</m:t>
                        </m:r>
                      </m:sup>
                    </m:sSup>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sSub>
                          <m:sSubPr>
                            <m:ctrlPr>
                              <a:rPr lang="en-ZA" b="0" i="1" smtClean="0">
                                <a:latin typeface="Cambria Math" panose="02040503050406030204" pitchFamily="18" charset="0"/>
                              </a:rPr>
                            </m:ctrlPr>
                          </m:sSubPr>
                          <m:e>
                            <m:r>
                              <a:rPr lang="en-ZA" b="0" i="1" smtClean="0">
                                <a:latin typeface="Cambria Math" panose="02040503050406030204" pitchFamily="18" charset="0"/>
                              </a:rPr>
                              <m:t>𝑋</m:t>
                            </m:r>
                          </m:e>
                          <m:sub>
                            <m:r>
                              <a:rPr lang="en-ZA" b="0" i="1" smtClean="0">
                                <a:latin typeface="Cambria Math" panose="02040503050406030204" pitchFamily="18" charset="0"/>
                              </a:rPr>
                              <m:t>1</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𝑋</m:t>
                            </m:r>
                          </m:e>
                          <m:sub>
                            <m:r>
                              <a:rPr lang="en-ZA" b="0" i="1" smtClean="0">
                                <a:latin typeface="Cambria Math" panose="02040503050406030204" pitchFamily="18" charset="0"/>
                              </a:rPr>
                              <m:t>2</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𝑋</m:t>
                            </m:r>
                          </m:e>
                          <m:sub>
                            <m:r>
                              <a:rPr lang="en-ZA" b="0" i="1" smtClean="0">
                                <a:latin typeface="Cambria Math" panose="02040503050406030204" pitchFamily="18" charset="0"/>
                              </a:rPr>
                              <m:t>𝑝</m:t>
                            </m:r>
                          </m:sub>
                        </m:sSub>
                      </m:e>
                    </m:d>
                    <m:r>
                      <a:rPr lang="en-ZA" b="0" i="1" smtClean="0">
                        <a:latin typeface="Cambria Math" panose="02040503050406030204" pitchFamily="18" charset="0"/>
                      </a:rPr>
                      <m:t>=</m:t>
                    </m:r>
                  </m:oMath>
                </a14:m>
                <a:r>
                  <a:rPr lang="en-ZA" dirty="0" smtClean="0"/>
                  <a:t> the p random variables.</a:t>
                </a:r>
              </a:p>
              <a:p>
                <a:pPr marL="285750" indent="-285750">
                  <a:buFont typeface="Arial" panose="020B0604020202020204" pitchFamily="34" charset="0"/>
                  <a:buChar char="•"/>
                </a:pPr>
                <a14:m>
                  <m:oMath xmlns:m="http://schemas.openxmlformats.org/officeDocument/2006/math">
                    <m:r>
                      <a:rPr lang="en-ZA" b="1" i="1" smtClean="0">
                        <a:latin typeface="Cambria Math" panose="02040503050406030204" pitchFamily="18" charset="0"/>
                      </a:rPr>
                      <m:t>𝒙</m:t>
                    </m:r>
                    <m:r>
                      <a:rPr lang="en-ZA" b="0" i="1" smtClean="0">
                        <a:latin typeface="Cambria Math" panose="02040503050406030204" pitchFamily="18" charset="0"/>
                      </a:rPr>
                      <m:t>=</m:t>
                    </m:r>
                  </m:oMath>
                </a14:m>
                <a:r>
                  <a:rPr lang="en-ZA" dirty="0" smtClean="0"/>
                  <a:t>the population values for </a:t>
                </a:r>
                <a14:m>
                  <m:oMath xmlns:m="http://schemas.openxmlformats.org/officeDocument/2006/math">
                    <m:r>
                      <a:rPr lang="en-ZA" b="1" i="1" smtClean="0">
                        <a:latin typeface="Cambria Math" panose="02040503050406030204" pitchFamily="18" charset="0"/>
                      </a:rPr>
                      <m:t>𝑿</m:t>
                    </m:r>
                    <m:r>
                      <a:rPr lang="en-ZA" b="0" i="1" smtClean="0">
                        <a:latin typeface="Cambria Math" panose="02040503050406030204" pitchFamily="18" charset="0"/>
                      </a:rPr>
                      <m:t> </m:t>
                    </m:r>
                  </m:oMath>
                </a14:m>
                <a:r>
                  <a:rPr lang="en-ZA" dirty="0" smtClean="0"/>
                  <a:t>for populations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oMath>
                </a14:m>
                <a:r>
                  <a:rPr lang="en-ZA" dirty="0" smtClean="0"/>
                  <a:t>and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2</m:t>
                        </m:r>
                      </m:sub>
                    </m:sSub>
                  </m:oMath>
                </a14:m>
                <a:r>
                  <a:rPr lang="en-ZA" dirty="0" smtClean="0"/>
                  <a:t>.</a:t>
                </a:r>
              </a:p>
              <a:p>
                <a:pPr marL="285750" indent="-285750">
                  <a:buFont typeface="Arial" panose="020B0604020202020204" pitchFamily="34" charset="0"/>
                  <a:buChar char="•"/>
                </a:pP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1</m:t>
                        </m:r>
                      </m:sub>
                    </m:sSub>
                    <m:r>
                      <a:rPr lang="en-ZA" b="0" i="1" smtClean="0">
                        <a:latin typeface="Cambria Math" panose="02040503050406030204" pitchFamily="18" charset="0"/>
                      </a:rPr>
                      <m:t>(</m:t>
                    </m:r>
                    <m:r>
                      <a:rPr lang="en-ZA" b="1" i="1" smtClean="0">
                        <a:latin typeface="Cambria Math" panose="02040503050406030204" pitchFamily="18" charset="0"/>
                      </a:rPr>
                      <m:t>𝒙</m:t>
                    </m:r>
                    <m:r>
                      <a:rPr lang="en-ZA" b="0" i="1" smtClean="0">
                        <a:latin typeface="Cambria Math" panose="02040503050406030204" pitchFamily="18" charset="0"/>
                      </a:rPr>
                      <m:t>)</m:t>
                    </m:r>
                  </m:oMath>
                </a14:m>
                <a:r>
                  <a:rPr lang="en-ZA" dirty="0" smtClean="0"/>
                  <a:t> and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2</m:t>
                        </m:r>
                      </m:sub>
                    </m:sSub>
                    <m:r>
                      <a:rPr lang="en-ZA" b="0" i="1" smtClean="0">
                        <a:latin typeface="Cambria Math" panose="02040503050406030204" pitchFamily="18" charset="0"/>
                      </a:rPr>
                      <m:t>(</m:t>
                    </m:r>
                    <m:r>
                      <a:rPr lang="en-ZA" b="1" i="1" smtClean="0">
                        <a:latin typeface="Cambria Math" panose="02040503050406030204" pitchFamily="18" charset="0"/>
                      </a:rPr>
                      <m:t>𝒙</m:t>
                    </m:r>
                    <m:r>
                      <a:rPr lang="en-ZA" b="0" i="1" smtClean="0">
                        <a:latin typeface="Cambria Math" panose="02040503050406030204" pitchFamily="18" charset="0"/>
                      </a:rPr>
                      <m:t>)</m:t>
                    </m:r>
                  </m:oMath>
                </a14:m>
                <a:r>
                  <a:rPr lang="en-ZA" dirty="0" smtClean="0"/>
                  <a:t>   the probability density functions for the  </a:t>
                </a:r>
                <a14:m>
                  <m:oMath xmlns:m="http://schemas.openxmlformats.org/officeDocument/2006/math">
                    <m:r>
                      <a:rPr lang="en-ZA" b="1" i="1" smtClean="0">
                        <a:latin typeface="Cambria Math" panose="02040503050406030204" pitchFamily="18" charset="0"/>
                      </a:rPr>
                      <m:t>𝒙</m:t>
                    </m:r>
                  </m:oMath>
                </a14:m>
                <a:r>
                  <a:rPr lang="en-ZA" dirty="0" smtClean="0"/>
                  <a:t> values in the two populations.</a:t>
                </a:r>
              </a:p>
              <a:p>
                <a:endParaRPr lang="en-ZA" dirty="0" smtClean="0"/>
              </a:p>
              <a:p>
                <a:r>
                  <a:rPr lang="en-ZA" dirty="0" smtClean="0"/>
                  <a:t>The two probabilities of misclassification are</a:t>
                </a:r>
              </a:p>
              <a:p>
                <a:endParaRPr lang="en-ZA" dirty="0" smtClean="0"/>
              </a:p>
              <a:p>
                <a14:m>
                  <m:oMath xmlns:m="http://schemas.openxmlformats.org/officeDocument/2006/math">
                    <m:r>
                      <a:rPr lang="en-ZA" b="0" i="1" smtClean="0">
                        <a:latin typeface="Cambria Math" panose="02040503050406030204" pitchFamily="18" charset="0"/>
                      </a:rPr>
                      <m:t>                              </m:t>
                    </m:r>
                    <m:r>
                      <a:rPr lang="en-ZA" b="0" i="1" smtClean="0">
                        <a:latin typeface="Cambria Math" panose="02040503050406030204" pitchFamily="18" charset="0"/>
                      </a:rPr>
                      <m:t>𝑃</m:t>
                    </m:r>
                    <m:d>
                      <m:dPr>
                        <m:ctrlPr>
                          <a:rPr lang="en-ZA" b="0" i="1" smtClean="0">
                            <a:latin typeface="Cambria Math" panose="02040503050406030204" pitchFamily="18" charset="0"/>
                          </a:rPr>
                        </m:ctrlPr>
                      </m:dPr>
                      <m:e>
                        <m:r>
                          <a:rPr lang="en-ZA" b="0" i="1" smtClean="0">
                            <a:latin typeface="Cambria Math" panose="02040503050406030204" pitchFamily="18" charset="0"/>
                          </a:rPr>
                          <m:t>2</m:t>
                        </m:r>
                      </m:e>
                      <m:e>
                        <m:r>
                          <a:rPr lang="en-ZA" b="0" i="1" smtClean="0">
                            <a:latin typeface="Cambria Math" panose="02040503050406030204" pitchFamily="18" charset="0"/>
                          </a:rPr>
                          <m:t>1</m:t>
                        </m:r>
                      </m:e>
                    </m:d>
                    <m:r>
                      <a:rPr lang="en-ZA" b="0" i="1" smtClean="0">
                        <a:latin typeface="Cambria Math" panose="02040503050406030204" pitchFamily="18" charset="0"/>
                      </a:rPr>
                      <m:t>=</m:t>
                    </m:r>
                    <m:r>
                      <a:rPr lang="en-ZA" b="0" i="1" smtClean="0">
                        <a:latin typeface="Cambria Math" panose="02040503050406030204" pitchFamily="18" charset="0"/>
                      </a:rPr>
                      <m:t>𝑃</m:t>
                    </m:r>
                    <m:d>
                      <m:dPr>
                        <m:ctrlPr>
                          <a:rPr lang="en-ZA" b="0" i="1" smtClean="0">
                            <a:latin typeface="Cambria Math" panose="02040503050406030204" pitchFamily="18" charset="0"/>
                          </a:rPr>
                        </m:ctrlPr>
                      </m:dPr>
                      <m:e>
                        <m:r>
                          <a:rPr lang="en-ZA" b="1" i="1" smtClean="0">
                            <a:latin typeface="Cambria Math" panose="02040503050406030204" pitchFamily="18" charset="0"/>
                          </a:rPr>
                          <m:t>𝑿</m:t>
                        </m:r>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2</m:t>
                            </m:r>
                          </m:sub>
                        </m:sSub>
                      </m:e>
                      <m:e>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1</m:t>
                            </m:r>
                          </m:sub>
                        </m:sSub>
                      </m:e>
                    </m:d>
                    <m:r>
                      <a:rPr lang="en-ZA" b="0" i="1" smtClean="0">
                        <a:latin typeface="Cambria Math" panose="02040503050406030204" pitchFamily="18" charset="0"/>
                        <a:ea typeface="Cambria Math" panose="02040503050406030204" pitchFamily="18" charset="0"/>
                      </a:rPr>
                      <m:t>=</m:t>
                    </m:r>
                    <m:nary>
                      <m:naryPr>
                        <m:ctrlPr>
                          <a:rPr lang="en-ZA" b="0" i="1" smtClean="0">
                            <a:latin typeface="Cambria Math" panose="02040503050406030204" pitchFamily="18" charset="0"/>
                            <a:ea typeface="Cambria Math" panose="02040503050406030204" pitchFamily="18" charset="0"/>
                          </a:rPr>
                        </m:ctrlPr>
                      </m:naryPr>
                      <m:sub>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2</m:t>
                            </m:r>
                          </m:sub>
                        </m:sSub>
                      </m:sub>
                      <m:sup>
                        <m:r>
                          <a:rPr lang="en-ZA" b="0" i="1" smtClean="0">
                            <a:latin typeface="Cambria Math" panose="02040503050406030204" pitchFamily="18" charset="0"/>
                            <a:ea typeface="Cambria Math" panose="02040503050406030204" pitchFamily="18" charset="0"/>
                          </a:rPr>
                          <m:t> </m:t>
                        </m:r>
                      </m:sup>
                      <m:e>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𝑓</m:t>
                            </m:r>
                          </m:e>
                          <m:sub>
                            <m:r>
                              <a:rPr lang="en-ZA" b="0" i="1" smtClean="0">
                                <a:latin typeface="Cambria Math" panose="02040503050406030204" pitchFamily="18" charset="0"/>
                                <a:ea typeface="Cambria Math" panose="02040503050406030204" pitchFamily="18" charset="0"/>
                              </a:rPr>
                              <m:t>1</m:t>
                            </m:r>
                          </m:sub>
                        </m:sSub>
                        <m:d>
                          <m:dPr>
                            <m:ctrlPr>
                              <a:rPr lang="en-ZA" b="0" i="1" smtClean="0">
                                <a:latin typeface="Cambria Math" panose="02040503050406030204" pitchFamily="18" charset="0"/>
                                <a:ea typeface="Cambria Math" panose="02040503050406030204" pitchFamily="18" charset="0"/>
                              </a:rPr>
                            </m:ctrlPr>
                          </m:dPr>
                          <m:e>
                            <m:r>
                              <a:rPr lang="en-ZA" b="1" i="1" smtClean="0">
                                <a:latin typeface="Cambria Math" panose="02040503050406030204" pitchFamily="18" charset="0"/>
                                <a:ea typeface="Cambria Math" panose="02040503050406030204" pitchFamily="18" charset="0"/>
                              </a:rPr>
                              <m:t>𝒙</m:t>
                            </m:r>
                          </m:e>
                        </m:d>
                        <m:r>
                          <a:rPr lang="en-ZA" b="0" i="1" smtClean="0">
                            <a:latin typeface="Cambria Math" panose="02040503050406030204" pitchFamily="18" charset="0"/>
                            <a:ea typeface="Cambria Math" panose="02040503050406030204" pitchFamily="18" charset="0"/>
                          </a:rPr>
                          <m:t>𝑑</m:t>
                        </m:r>
                        <m:r>
                          <a:rPr lang="en-ZA" b="1" i="1" smtClean="0">
                            <a:latin typeface="Cambria Math" panose="02040503050406030204" pitchFamily="18" charset="0"/>
                            <a:ea typeface="Cambria Math" panose="02040503050406030204" pitchFamily="18" charset="0"/>
                          </a:rPr>
                          <m:t>𝒙</m:t>
                        </m:r>
                      </m:e>
                    </m:nary>
                  </m:oMath>
                </a14:m>
                <a:r>
                  <a:rPr lang="en-ZA" dirty="0" smtClean="0"/>
                  <a:t>,</a:t>
                </a:r>
              </a:p>
              <a:p>
                <a:r>
                  <a:rPr lang="en-ZA" dirty="0"/>
                  <a:t>a</a:t>
                </a:r>
                <a:r>
                  <a:rPr lang="en-ZA" dirty="0" smtClean="0"/>
                  <a:t>nd</a:t>
                </a:r>
              </a:p>
              <a:p>
                <a14:m>
                  <m:oMath xmlns:m="http://schemas.openxmlformats.org/officeDocument/2006/math">
                    <m:r>
                      <a:rPr lang="en-ZA" b="0" i="1" smtClean="0">
                        <a:latin typeface="Cambria Math" panose="02040503050406030204" pitchFamily="18" charset="0"/>
                      </a:rPr>
                      <m:t>                              </m:t>
                    </m:r>
                    <m:r>
                      <a:rPr lang="en-ZA" b="0" i="1" smtClean="0">
                        <a:latin typeface="Cambria Math" panose="02040503050406030204" pitchFamily="18" charset="0"/>
                      </a:rPr>
                      <m:t>𝑃</m:t>
                    </m:r>
                    <m:d>
                      <m:dPr>
                        <m:ctrlPr>
                          <a:rPr lang="en-ZA" b="0" i="1" smtClean="0">
                            <a:latin typeface="Cambria Math" panose="02040503050406030204" pitchFamily="18" charset="0"/>
                          </a:rPr>
                        </m:ctrlPr>
                      </m:dPr>
                      <m:e>
                        <m:r>
                          <a:rPr lang="en-ZA" b="0" i="1" smtClean="0">
                            <a:latin typeface="Cambria Math" panose="02040503050406030204" pitchFamily="18" charset="0"/>
                          </a:rPr>
                          <m:t>1</m:t>
                        </m:r>
                      </m:e>
                      <m:e>
                        <m:r>
                          <a:rPr lang="en-ZA" b="0" i="1" smtClean="0">
                            <a:latin typeface="Cambria Math" panose="02040503050406030204" pitchFamily="18" charset="0"/>
                          </a:rPr>
                          <m:t>2</m:t>
                        </m:r>
                      </m:e>
                    </m:d>
                    <m:r>
                      <a:rPr lang="en-ZA" b="0" i="1" smtClean="0">
                        <a:latin typeface="Cambria Math" panose="02040503050406030204" pitchFamily="18" charset="0"/>
                      </a:rPr>
                      <m:t>=</m:t>
                    </m:r>
                    <m:r>
                      <a:rPr lang="en-ZA" b="0" i="1" smtClean="0">
                        <a:latin typeface="Cambria Math" panose="02040503050406030204" pitchFamily="18" charset="0"/>
                      </a:rPr>
                      <m:t>𝑃</m:t>
                    </m:r>
                    <m:d>
                      <m:dPr>
                        <m:ctrlPr>
                          <a:rPr lang="en-ZA" b="0" i="1" smtClean="0">
                            <a:latin typeface="Cambria Math" panose="02040503050406030204" pitchFamily="18" charset="0"/>
                          </a:rPr>
                        </m:ctrlPr>
                      </m:dPr>
                      <m:e>
                        <m:r>
                          <a:rPr lang="en-ZA" b="1" i="1" smtClean="0">
                            <a:latin typeface="Cambria Math" panose="02040503050406030204" pitchFamily="18" charset="0"/>
                          </a:rPr>
                          <m:t>𝑿</m:t>
                        </m:r>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1</m:t>
                            </m:r>
                          </m:sub>
                        </m:sSub>
                      </m:e>
                      <m:e>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2</m:t>
                            </m:r>
                          </m:sub>
                        </m:sSub>
                      </m:e>
                    </m:d>
                    <m:r>
                      <a:rPr lang="en-ZA" b="0" i="1" smtClean="0">
                        <a:latin typeface="Cambria Math" panose="02040503050406030204" pitchFamily="18" charset="0"/>
                        <a:ea typeface="Cambria Math" panose="02040503050406030204" pitchFamily="18" charset="0"/>
                      </a:rPr>
                      <m:t>=</m:t>
                    </m:r>
                    <m:nary>
                      <m:naryPr>
                        <m:ctrlPr>
                          <a:rPr lang="en-ZA" b="0" i="1" smtClean="0">
                            <a:latin typeface="Cambria Math" panose="02040503050406030204" pitchFamily="18" charset="0"/>
                            <a:ea typeface="Cambria Math" panose="02040503050406030204" pitchFamily="18" charset="0"/>
                          </a:rPr>
                        </m:ctrlPr>
                      </m:naryPr>
                      <m:sub>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1</m:t>
                            </m:r>
                          </m:sub>
                        </m:sSub>
                      </m:sub>
                      <m:sup>
                        <m:r>
                          <a:rPr lang="en-ZA" b="0" i="1" smtClean="0">
                            <a:latin typeface="Cambria Math" panose="02040503050406030204" pitchFamily="18" charset="0"/>
                            <a:ea typeface="Cambria Math" panose="02040503050406030204" pitchFamily="18" charset="0"/>
                          </a:rPr>
                          <m:t> </m:t>
                        </m:r>
                      </m:sup>
                      <m:e>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𝑓</m:t>
                            </m:r>
                          </m:e>
                          <m:sub>
                            <m:r>
                              <a:rPr lang="en-ZA" b="0" i="1" smtClean="0">
                                <a:latin typeface="Cambria Math" panose="02040503050406030204" pitchFamily="18" charset="0"/>
                                <a:ea typeface="Cambria Math" panose="02040503050406030204" pitchFamily="18" charset="0"/>
                              </a:rPr>
                              <m:t>2</m:t>
                            </m:r>
                          </m:sub>
                        </m:sSub>
                        <m:d>
                          <m:dPr>
                            <m:ctrlPr>
                              <a:rPr lang="en-ZA" b="0" i="1" smtClean="0">
                                <a:latin typeface="Cambria Math" panose="02040503050406030204" pitchFamily="18" charset="0"/>
                                <a:ea typeface="Cambria Math" panose="02040503050406030204" pitchFamily="18" charset="0"/>
                              </a:rPr>
                            </m:ctrlPr>
                          </m:dPr>
                          <m:e>
                            <m:r>
                              <a:rPr lang="en-ZA" b="1" i="1" smtClean="0">
                                <a:latin typeface="Cambria Math" panose="02040503050406030204" pitchFamily="18" charset="0"/>
                                <a:ea typeface="Cambria Math" panose="02040503050406030204" pitchFamily="18" charset="0"/>
                              </a:rPr>
                              <m:t>𝒙</m:t>
                            </m:r>
                          </m:e>
                        </m:d>
                        <m:r>
                          <a:rPr lang="en-ZA" b="0" i="1" smtClean="0">
                            <a:latin typeface="Cambria Math" panose="02040503050406030204" pitchFamily="18" charset="0"/>
                            <a:ea typeface="Cambria Math" panose="02040503050406030204" pitchFamily="18" charset="0"/>
                          </a:rPr>
                          <m:t>𝑑</m:t>
                        </m:r>
                        <m:r>
                          <a:rPr lang="en-ZA" b="1" i="1" smtClean="0">
                            <a:latin typeface="Cambria Math" panose="02040503050406030204" pitchFamily="18" charset="0"/>
                            <a:ea typeface="Cambria Math" panose="02040503050406030204" pitchFamily="18" charset="0"/>
                          </a:rPr>
                          <m:t>𝒙</m:t>
                        </m:r>
                      </m:e>
                    </m:nary>
                  </m:oMath>
                </a14:m>
                <a:r>
                  <a:rPr lang="en-ZA" dirty="0" smtClean="0"/>
                  <a:t>.</a:t>
                </a:r>
              </a:p>
              <a:p>
                <a:endParaRPr lang="en-ZA" dirty="0" smtClean="0"/>
              </a:p>
              <a:p>
                <a:r>
                  <a:rPr lang="en-ZA" dirty="0" smtClean="0"/>
                  <a:t>If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1</m:t>
                        </m:r>
                      </m:sub>
                    </m:sSub>
                  </m:oMath>
                </a14:m>
                <a:r>
                  <a:rPr lang="en-ZA" dirty="0" smtClean="0"/>
                  <a:t>is the prior probability of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oMath>
                </a14:m>
                <a:r>
                  <a:rPr lang="en-ZA" dirty="0" smtClean="0"/>
                  <a:t>and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2</m:t>
                        </m:r>
                      </m:sub>
                    </m:sSub>
                    <m:r>
                      <a:rPr lang="en-ZA" b="0" i="1" smtClean="0">
                        <a:latin typeface="Cambria Math" panose="02040503050406030204" pitchFamily="18" charset="0"/>
                      </a:rPr>
                      <m:t> </m:t>
                    </m:r>
                  </m:oMath>
                </a14:m>
                <a:r>
                  <a:rPr lang="en-ZA" dirty="0" smtClean="0"/>
                  <a:t>is the prior probability of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2</m:t>
                        </m:r>
                      </m:sub>
                    </m:sSub>
                  </m:oMath>
                </a14:m>
                <a:r>
                  <a:rPr lang="en-ZA" dirty="0" smtClean="0"/>
                  <a:t> with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1</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2</m:t>
                        </m:r>
                      </m:sub>
                    </m:sSub>
                    <m:r>
                      <a:rPr lang="en-ZA" b="0" i="1" smtClean="0">
                        <a:latin typeface="Cambria Math" panose="02040503050406030204" pitchFamily="18" charset="0"/>
                      </a:rPr>
                      <m:t>=1 </m:t>
                    </m:r>
                  </m:oMath>
                </a14:m>
                <a:r>
                  <a:rPr lang="en-ZA" dirty="0" smtClean="0"/>
                  <a:t>then</a:t>
                </a:r>
              </a:p>
              <a:p>
                <a:pPr/>
                <a14:m>
                  <m:oMathPara xmlns:m="http://schemas.openxmlformats.org/officeDocument/2006/math">
                    <m:oMathParaPr>
                      <m:jc m:val="centerGroup"/>
                    </m:oMathParaPr>
                    <m:oMath xmlns:m="http://schemas.openxmlformats.org/officeDocument/2006/math">
                      <m:r>
                        <a:rPr lang="en-ZA" b="0" i="1" smtClean="0">
                          <a:latin typeface="Cambria Math" panose="02040503050406030204" pitchFamily="18" charset="0"/>
                        </a:rPr>
                        <m:t>𝑃</m:t>
                      </m:r>
                      <m:d>
                        <m:dPr>
                          <m:ctrlPr>
                            <a:rPr lang="en-ZA" b="0" i="1" smtClean="0">
                              <a:latin typeface="Cambria Math" panose="02040503050406030204" pitchFamily="18" charset="0"/>
                            </a:rPr>
                          </m:ctrlPr>
                        </m:dPr>
                        <m:e>
                          <m:r>
                            <a:rPr lang="en-ZA" b="0" i="1" smtClean="0">
                              <a:latin typeface="Cambria Math" panose="02040503050406030204" pitchFamily="18" charset="0"/>
                            </a:rPr>
                            <m:t>𝑐𝑜𝑟𝑟𝑒𝑐𝑡</m:t>
                          </m:r>
                          <m:r>
                            <a:rPr lang="en-ZA" b="0" i="1" smtClean="0">
                              <a:latin typeface="Cambria Math" panose="02040503050406030204" pitchFamily="18" charset="0"/>
                            </a:rPr>
                            <m:t> </m:t>
                          </m:r>
                          <m:r>
                            <a:rPr lang="en-ZA" b="0" i="1" smtClean="0">
                              <a:latin typeface="Cambria Math" panose="02040503050406030204" pitchFamily="18" charset="0"/>
                            </a:rPr>
                            <m:t>𝑐𝑙𝑎𝑠𝑠𝑖𝑓𝑖𝑐𝑎𝑡𝑖𝑜𝑛</m:t>
                          </m:r>
                          <m:r>
                            <a:rPr lang="en-ZA" b="0" i="1" smtClean="0">
                              <a:latin typeface="Cambria Math" panose="02040503050406030204" pitchFamily="18" charset="0"/>
                            </a:rPr>
                            <m:t> </m:t>
                          </m:r>
                          <m:r>
                            <a:rPr lang="en-ZA" b="0" i="1" smtClean="0">
                              <a:latin typeface="Cambria Math" panose="02040503050406030204" pitchFamily="18" charset="0"/>
                            </a:rPr>
                            <m:t>𝑎𝑠</m:t>
                          </m:r>
                          <m:r>
                            <a:rPr lang="en-ZA" b="0" i="1" smtClean="0">
                              <a:latin typeface="Cambria Math" panose="02040503050406030204" pitchFamily="18" charset="0"/>
                            </a:rPr>
                            <m:t> </m:t>
                          </m:r>
                          <m:sSub>
                            <m:sSubPr>
                              <m:ctrlPr>
                                <a:rPr lang="en-ZA" b="0" i="1" smtClean="0">
                                  <a:latin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e>
                      </m:d>
                      <m:r>
                        <a:rPr lang="en-ZA" b="0" i="1" smtClean="0">
                          <a:latin typeface="Cambria Math" panose="02040503050406030204" pitchFamily="18" charset="0"/>
                        </a:rPr>
                        <m:t>=</m:t>
                      </m:r>
                      <m:r>
                        <a:rPr lang="en-ZA" b="0" i="1" smtClean="0">
                          <a:latin typeface="Cambria Math" panose="02040503050406030204" pitchFamily="18" charset="0"/>
                        </a:rPr>
                        <m:t>𝑃</m:t>
                      </m:r>
                      <m:d>
                        <m:dPr>
                          <m:ctrlPr>
                            <a:rPr lang="en-ZA" b="0" i="1" smtClean="0">
                              <a:latin typeface="Cambria Math" panose="02040503050406030204" pitchFamily="18" charset="0"/>
                            </a:rPr>
                          </m:ctrlPr>
                        </m:dPr>
                        <m:e>
                          <m:r>
                            <a:rPr lang="en-ZA" b="1" i="1" smtClean="0">
                              <a:latin typeface="Cambria Math" panose="02040503050406030204" pitchFamily="18" charset="0"/>
                            </a:rPr>
                            <m:t>𝑿</m:t>
                          </m:r>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1</m:t>
                              </m:r>
                            </m:sub>
                          </m:sSub>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1</m:t>
                              </m:r>
                            </m:sub>
                          </m:sSub>
                        </m:e>
                      </m:d>
                      <m:r>
                        <a:rPr lang="en-ZA" b="0" i="1" smtClean="0">
                          <a:latin typeface="Cambria Math" panose="02040503050406030204" pitchFamily="18" charset="0"/>
                          <a:ea typeface="Cambria Math" panose="02040503050406030204" pitchFamily="18" charset="0"/>
                        </a:rPr>
                        <m:t>=</m:t>
                      </m:r>
                      <m:r>
                        <a:rPr lang="en-ZA" b="0" i="1" smtClean="0">
                          <a:latin typeface="Cambria Math" panose="02040503050406030204" pitchFamily="18" charset="0"/>
                          <a:ea typeface="Cambria Math" panose="02040503050406030204" pitchFamily="18" charset="0"/>
                        </a:rPr>
                        <m:t>𝑃</m:t>
                      </m:r>
                      <m:d>
                        <m:dPr>
                          <m:ctrlPr>
                            <a:rPr lang="en-ZA" b="0" i="1" smtClean="0">
                              <a:latin typeface="Cambria Math" panose="02040503050406030204" pitchFamily="18" charset="0"/>
                              <a:ea typeface="Cambria Math" panose="02040503050406030204" pitchFamily="18" charset="0"/>
                            </a:rPr>
                          </m:ctrlPr>
                        </m:dPr>
                        <m:e>
                          <m:r>
                            <a:rPr lang="en-ZA" b="1" i="1" smtClean="0">
                              <a:latin typeface="Cambria Math" panose="02040503050406030204" pitchFamily="18" charset="0"/>
                              <a:ea typeface="Cambria Math" panose="02040503050406030204" pitchFamily="18" charset="0"/>
                            </a:rPr>
                            <m:t>𝑿</m:t>
                          </m:r>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1</m:t>
                              </m:r>
                            </m:sub>
                          </m:sSub>
                        </m:e>
                        <m:e>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1</m:t>
                              </m:r>
                            </m:sub>
                          </m:sSub>
                        </m:e>
                      </m:d>
                      <m:r>
                        <a:rPr lang="en-ZA" b="0" i="1" smtClean="0">
                          <a:latin typeface="Cambria Math" panose="02040503050406030204" pitchFamily="18" charset="0"/>
                          <a:ea typeface="Cambria Math" panose="02040503050406030204" pitchFamily="18" charset="0"/>
                        </a:rPr>
                        <m:t>𝑃</m:t>
                      </m:r>
                      <m:d>
                        <m:dPr>
                          <m:ctrlPr>
                            <a:rPr lang="en-ZA" b="0" i="1" smtClean="0">
                              <a:latin typeface="Cambria Math" panose="02040503050406030204" pitchFamily="18" charset="0"/>
                              <a:ea typeface="Cambria Math" panose="02040503050406030204" pitchFamily="18" charset="0"/>
                            </a:rPr>
                          </m:ctrlPr>
                        </m:dPr>
                        <m:e>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1</m:t>
                              </m:r>
                            </m:sub>
                          </m:sSub>
                        </m:e>
                      </m:d>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𝑝</m:t>
                          </m:r>
                        </m:e>
                        <m:sub>
                          <m:r>
                            <a:rPr lang="en-ZA" b="0" i="1" smtClean="0">
                              <a:latin typeface="Cambria Math" panose="02040503050406030204" pitchFamily="18" charset="0"/>
                              <a:ea typeface="Cambria Math" panose="02040503050406030204" pitchFamily="18" charset="0"/>
                            </a:rPr>
                            <m:t>1</m:t>
                          </m:r>
                        </m:sub>
                      </m:sSub>
                      <m:nary>
                        <m:naryPr>
                          <m:ctrlPr>
                            <a:rPr lang="en-ZA" b="0" i="1" smtClean="0">
                              <a:latin typeface="Cambria Math" panose="02040503050406030204" pitchFamily="18" charset="0"/>
                              <a:ea typeface="Cambria Math" panose="02040503050406030204" pitchFamily="18" charset="0"/>
                            </a:rPr>
                          </m:ctrlPr>
                        </m:naryPr>
                        <m:sub>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1</m:t>
                              </m:r>
                            </m:sub>
                          </m:sSub>
                        </m:sub>
                        <m:sup>
                          <m:r>
                            <a:rPr lang="en-ZA" b="0" i="1" smtClean="0">
                              <a:latin typeface="Cambria Math" panose="02040503050406030204" pitchFamily="18" charset="0"/>
                              <a:ea typeface="Cambria Math" panose="02040503050406030204" pitchFamily="18" charset="0"/>
                            </a:rPr>
                            <m:t> </m:t>
                          </m:r>
                        </m:sup>
                        <m:e>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𝑓</m:t>
                              </m:r>
                            </m:e>
                            <m:sub>
                              <m:r>
                                <a:rPr lang="en-ZA" b="0" i="1" smtClean="0">
                                  <a:latin typeface="Cambria Math" panose="02040503050406030204" pitchFamily="18" charset="0"/>
                                  <a:ea typeface="Cambria Math" panose="02040503050406030204" pitchFamily="18" charset="0"/>
                                </a:rPr>
                                <m:t>1</m:t>
                              </m:r>
                            </m:sub>
                          </m:sSub>
                          <m:d>
                            <m:dPr>
                              <m:ctrlPr>
                                <a:rPr lang="en-ZA" b="0" i="1" smtClean="0">
                                  <a:latin typeface="Cambria Math" panose="02040503050406030204" pitchFamily="18" charset="0"/>
                                  <a:ea typeface="Cambria Math" panose="02040503050406030204" pitchFamily="18" charset="0"/>
                                </a:rPr>
                              </m:ctrlPr>
                            </m:dPr>
                            <m:e>
                              <m:r>
                                <a:rPr lang="en-ZA" b="1" i="1" smtClean="0">
                                  <a:latin typeface="Cambria Math" panose="02040503050406030204" pitchFamily="18" charset="0"/>
                                  <a:ea typeface="Cambria Math" panose="02040503050406030204" pitchFamily="18" charset="0"/>
                                </a:rPr>
                                <m:t>𝒙</m:t>
                              </m:r>
                            </m:e>
                          </m:d>
                          <m:r>
                            <a:rPr lang="en-ZA" b="0" i="1" smtClean="0">
                              <a:latin typeface="Cambria Math" panose="02040503050406030204" pitchFamily="18" charset="0"/>
                              <a:ea typeface="Cambria Math" panose="02040503050406030204" pitchFamily="18" charset="0"/>
                            </a:rPr>
                            <m:t>𝑑</m:t>
                          </m:r>
                          <m:r>
                            <a:rPr lang="en-ZA" b="1" i="1" smtClean="0">
                              <a:latin typeface="Cambria Math" panose="02040503050406030204" pitchFamily="18" charset="0"/>
                              <a:ea typeface="Cambria Math" panose="02040503050406030204" pitchFamily="18" charset="0"/>
                            </a:rPr>
                            <m:t>𝒙</m:t>
                          </m:r>
                        </m:e>
                      </m:nary>
                    </m:oMath>
                  </m:oMathPara>
                </a14:m>
                <a:endParaRPr lang="en-ZA" dirty="0" smtClean="0"/>
              </a:p>
              <a:p>
                <a:pPr/>
                <a14:m>
                  <m:oMathPara xmlns:m="http://schemas.openxmlformats.org/officeDocument/2006/math">
                    <m:oMathParaPr>
                      <m:jc m:val="centerGroup"/>
                    </m:oMathParaPr>
                    <m:oMath xmlns:m="http://schemas.openxmlformats.org/officeDocument/2006/math">
                      <m:r>
                        <a:rPr lang="en-ZA" b="0" i="1" smtClean="0">
                          <a:latin typeface="Cambria Math" panose="02040503050406030204" pitchFamily="18" charset="0"/>
                        </a:rPr>
                        <m:t>𝑃</m:t>
                      </m:r>
                      <m:d>
                        <m:dPr>
                          <m:ctrlPr>
                            <a:rPr lang="en-ZA" b="0" i="1" smtClean="0">
                              <a:latin typeface="Cambria Math" panose="02040503050406030204" pitchFamily="18" charset="0"/>
                            </a:rPr>
                          </m:ctrlPr>
                        </m:dPr>
                        <m:e>
                          <m:r>
                            <a:rPr lang="en-ZA" b="0" i="1" smtClean="0">
                              <a:latin typeface="Cambria Math" panose="02040503050406030204" pitchFamily="18" charset="0"/>
                            </a:rPr>
                            <m:t>𝑚𝑖𝑠𝑐𝑙𝑎𝑠𝑠𝑖𝑓𝑖𝑐𝑎𝑡𝑖𝑜𝑛</m:t>
                          </m:r>
                          <m:r>
                            <a:rPr lang="en-ZA" b="0" i="1" smtClean="0">
                              <a:latin typeface="Cambria Math" panose="02040503050406030204" pitchFamily="18" charset="0"/>
                            </a:rPr>
                            <m:t> </m:t>
                          </m:r>
                          <m:r>
                            <a:rPr lang="en-ZA" b="0" i="1" smtClean="0">
                              <a:latin typeface="Cambria Math" panose="02040503050406030204" pitchFamily="18" charset="0"/>
                            </a:rPr>
                            <m:t>𝑎𝑠</m:t>
                          </m:r>
                          <m:r>
                            <a:rPr lang="en-ZA" b="0" i="1" smtClean="0">
                              <a:latin typeface="Cambria Math" panose="02040503050406030204" pitchFamily="18" charset="0"/>
                            </a:rPr>
                            <m:t> </m:t>
                          </m:r>
                          <m:sSub>
                            <m:sSubPr>
                              <m:ctrlPr>
                                <a:rPr lang="en-ZA" b="0" i="1" smtClean="0">
                                  <a:latin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e>
                      </m:d>
                      <m:r>
                        <a:rPr lang="en-ZA" b="0" i="1" smtClean="0">
                          <a:latin typeface="Cambria Math" panose="02040503050406030204" pitchFamily="18" charset="0"/>
                        </a:rPr>
                        <m:t>=</m:t>
                      </m:r>
                      <m:r>
                        <a:rPr lang="en-ZA" b="0" i="1" smtClean="0">
                          <a:latin typeface="Cambria Math" panose="02040503050406030204" pitchFamily="18" charset="0"/>
                        </a:rPr>
                        <m:t>𝑃</m:t>
                      </m:r>
                      <m:d>
                        <m:dPr>
                          <m:ctrlPr>
                            <a:rPr lang="en-ZA" b="0" i="1" smtClean="0">
                              <a:latin typeface="Cambria Math" panose="02040503050406030204" pitchFamily="18" charset="0"/>
                            </a:rPr>
                          </m:ctrlPr>
                        </m:dPr>
                        <m:e>
                          <m:r>
                            <a:rPr lang="en-ZA" b="1" i="1" smtClean="0">
                              <a:latin typeface="Cambria Math" panose="02040503050406030204" pitchFamily="18" charset="0"/>
                            </a:rPr>
                            <m:t>𝑿</m:t>
                          </m:r>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1</m:t>
                              </m:r>
                            </m:sub>
                          </m:sSub>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2</m:t>
                              </m:r>
                            </m:sub>
                          </m:sSub>
                        </m:e>
                      </m:d>
                      <m:r>
                        <a:rPr lang="en-ZA" b="0" i="1" smtClean="0">
                          <a:latin typeface="Cambria Math" panose="02040503050406030204" pitchFamily="18" charset="0"/>
                          <a:ea typeface="Cambria Math" panose="02040503050406030204" pitchFamily="18" charset="0"/>
                        </a:rPr>
                        <m:t>=</m:t>
                      </m:r>
                      <m:r>
                        <a:rPr lang="en-ZA" b="0" i="1" smtClean="0">
                          <a:latin typeface="Cambria Math" panose="02040503050406030204" pitchFamily="18" charset="0"/>
                          <a:ea typeface="Cambria Math" panose="02040503050406030204" pitchFamily="18" charset="0"/>
                        </a:rPr>
                        <m:t>𝑃</m:t>
                      </m:r>
                      <m:d>
                        <m:dPr>
                          <m:ctrlPr>
                            <a:rPr lang="en-ZA" b="0" i="1" smtClean="0">
                              <a:latin typeface="Cambria Math" panose="02040503050406030204" pitchFamily="18" charset="0"/>
                              <a:ea typeface="Cambria Math" panose="02040503050406030204" pitchFamily="18" charset="0"/>
                            </a:rPr>
                          </m:ctrlPr>
                        </m:dPr>
                        <m:e>
                          <m:r>
                            <a:rPr lang="en-ZA" b="1" i="1" smtClean="0">
                              <a:latin typeface="Cambria Math" panose="02040503050406030204" pitchFamily="18" charset="0"/>
                              <a:ea typeface="Cambria Math" panose="02040503050406030204" pitchFamily="18" charset="0"/>
                            </a:rPr>
                            <m:t>𝑿</m:t>
                          </m:r>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1</m:t>
                              </m:r>
                            </m:sub>
                          </m:sSub>
                        </m:e>
                        <m:e>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2</m:t>
                              </m:r>
                            </m:sub>
                          </m:sSub>
                        </m:e>
                      </m:d>
                      <m:r>
                        <a:rPr lang="en-ZA" b="0" i="1" smtClean="0">
                          <a:latin typeface="Cambria Math" panose="02040503050406030204" pitchFamily="18" charset="0"/>
                          <a:ea typeface="Cambria Math" panose="02040503050406030204" pitchFamily="18" charset="0"/>
                        </a:rPr>
                        <m:t>𝑃</m:t>
                      </m:r>
                      <m:d>
                        <m:dPr>
                          <m:ctrlPr>
                            <a:rPr lang="en-ZA" b="0" i="1" smtClean="0">
                              <a:latin typeface="Cambria Math" panose="02040503050406030204" pitchFamily="18" charset="0"/>
                              <a:ea typeface="Cambria Math" panose="02040503050406030204" pitchFamily="18" charset="0"/>
                            </a:rPr>
                          </m:ctrlPr>
                        </m:dPr>
                        <m:e>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2</m:t>
                              </m:r>
                            </m:sub>
                          </m:sSub>
                        </m:e>
                      </m:d>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𝑝</m:t>
                          </m:r>
                        </m:e>
                        <m:sub>
                          <m:r>
                            <a:rPr lang="en-ZA" b="0" i="1" smtClean="0">
                              <a:latin typeface="Cambria Math" panose="02040503050406030204" pitchFamily="18" charset="0"/>
                              <a:ea typeface="Cambria Math" panose="02040503050406030204" pitchFamily="18" charset="0"/>
                            </a:rPr>
                            <m:t>2</m:t>
                          </m:r>
                        </m:sub>
                      </m:sSub>
                      <m:nary>
                        <m:naryPr>
                          <m:ctrlPr>
                            <a:rPr lang="en-ZA" b="0" i="1" smtClean="0">
                              <a:latin typeface="Cambria Math" panose="02040503050406030204" pitchFamily="18" charset="0"/>
                              <a:ea typeface="Cambria Math" panose="02040503050406030204" pitchFamily="18" charset="0"/>
                            </a:rPr>
                          </m:ctrlPr>
                        </m:naryPr>
                        <m:sub>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1</m:t>
                              </m:r>
                            </m:sub>
                          </m:sSub>
                        </m:sub>
                        <m:sup>
                          <m:r>
                            <a:rPr lang="en-ZA" b="0" i="1" smtClean="0">
                              <a:latin typeface="Cambria Math" panose="02040503050406030204" pitchFamily="18" charset="0"/>
                              <a:ea typeface="Cambria Math" panose="02040503050406030204" pitchFamily="18" charset="0"/>
                            </a:rPr>
                            <m:t> </m:t>
                          </m:r>
                        </m:sup>
                        <m:e>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𝑓</m:t>
                              </m:r>
                            </m:e>
                            <m:sub>
                              <m:r>
                                <a:rPr lang="en-ZA" b="0" i="1" smtClean="0">
                                  <a:latin typeface="Cambria Math" panose="02040503050406030204" pitchFamily="18" charset="0"/>
                                  <a:ea typeface="Cambria Math" panose="02040503050406030204" pitchFamily="18" charset="0"/>
                                </a:rPr>
                                <m:t>2</m:t>
                              </m:r>
                            </m:sub>
                          </m:sSub>
                          <m:d>
                            <m:dPr>
                              <m:ctrlPr>
                                <a:rPr lang="en-ZA" b="0" i="1" smtClean="0">
                                  <a:latin typeface="Cambria Math" panose="02040503050406030204" pitchFamily="18" charset="0"/>
                                  <a:ea typeface="Cambria Math" panose="02040503050406030204" pitchFamily="18" charset="0"/>
                                </a:rPr>
                              </m:ctrlPr>
                            </m:dPr>
                            <m:e>
                              <m:r>
                                <a:rPr lang="en-ZA" b="1" i="1" smtClean="0">
                                  <a:latin typeface="Cambria Math" panose="02040503050406030204" pitchFamily="18" charset="0"/>
                                  <a:ea typeface="Cambria Math" panose="02040503050406030204" pitchFamily="18" charset="0"/>
                                </a:rPr>
                                <m:t>𝒙</m:t>
                              </m:r>
                            </m:e>
                          </m:d>
                          <m:r>
                            <a:rPr lang="en-ZA" b="0" i="1" smtClean="0">
                              <a:latin typeface="Cambria Math" panose="02040503050406030204" pitchFamily="18" charset="0"/>
                              <a:ea typeface="Cambria Math" panose="02040503050406030204" pitchFamily="18" charset="0"/>
                            </a:rPr>
                            <m:t>𝑑</m:t>
                          </m:r>
                          <m:r>
                            <a:rPr lang="en-ZA" b="1" i="1" smtClean="0">
                              <a:latin typeface="Cambria Math" panose="02040503050406030204" pitchFamily="18" charset="0"/>
                              <a:ea typeface="Cambria Math" panose="02040503050406030204" pitchFamily="18" charset="0"/>
                            </a:rPr>
                            <m:t>𝒙</m:t>
                          </m:r>
                        </m:e>
                      </m:nary>
                    </m:oMath>
                  </m:oMathPara>
                </a14:m>
                <a:endParaRPr lang="en-ZA" dirty="0" smtClean="0"/>
              </a:p>
              <a:p>
                <a:pPr/>
                <a14:m>
                  <m:oMathPara xmlns:m="http://schemas.openxmlformats.org/officeDocument/2006/math">
                    <m:oMathParaPr>
                      <m:jc m:val="centerGroup"/>
                    </m:oMathParaPr>
                    <m:oMath xmlns:m="http://schemas.openxmlformats.org/officeDocument/2006/math">
                      <m:r>
                        <a:rPr lang="en-ZA" b="0" i="1" smtClean="0">
                          <a:latin typeface="Cambria Math" panose="02040503050406030204" pitchFamily="18" charset="0"/>
                        </a:rPr>
                        <m:t>𝑃</m:t>
                      </m:r>
                      <m:d>
                        <m:dPr>
                          <m:ctrlPr>
                            <a:rPr lang="en-ZA" b="0" i="1" smtClean="0">
                              <a:latin typeface="Cambria Math" panose="02040503050406030204" pitchFamily="18" charset="0"/>
                            </a:rPr>
                          </m:ctrlPr>
                        </m:dPr>
                        <m:e>
                          <m:r>
                            <a:rPr lang="en-ZA" b="0" i="1" smtClean="0">
                              <a:latin typeface="Cambria Math" panose="02040503050406030204" pitchFamily="18" charset="0"/>
                            </a:rPr>
                            <m:t>𝑐𝑜𝑟𝑟𝑒𝑐𝑡</m:t>
                          </m:r>
                          <m:r>
                            <a:rPr lang="en-ZA" b="0" i="1" smtClean="0">
                              <a:latin typeface="Cambria Math" panose="02040503050406030204" pitchFamily="18" charset="0"/>
                            </a:rPr>
                            <m:t> </m:t>
                          </m:r>
                          <m:r>
                            <a:rPr lang="en-ZA" b="0" i="1" smtClean="0">
                              <a:latin typeface="Cambria Math" panose="02040503050406030204" pitchFamily="18" charset="0"/>
                            </a:rPr>
                            <m:t>𝑐𝑙𝑎𝑠𝑠𝑖𝑓𝑖𝑐𝑎𝑡𝑖𝑜𝑛</m:t>
                          </m:r>
                          <m:r>
                            <a:rPr lang="en-ZA" b="0" i="1" smtClean="0">
                              <a:latin typeface="Cambria Math" panose="02040503050406030204" pitchFamily="18" charset="0"/>
                            </a:rPr>
                            <m:t> </m:t>
                          </m:r>
                          <m:r>
                            <a:rPr lang="en-ZA" b="0" i="1" smtClean="0">
                              <a:latin typeface="Cambria Math" panose="02040503050406030204" pitchFamily="18" charset="0"/>
                            </a:rPr>
                            <m:t>𝑎𝑠</m:t>
                          </m:r>
                          <m:r>
                            <a:rPr lang="en-ZA" b="0" i="1" smtClean="0">
                              <a:latin typeface="Cambria Math" panose="02040503050406030204" pitchFamily="18" charset="0"/>
                            </a:rPr>
                            <m:t> </m:t>
                          </m:r>
                          <m:sSub>
                            <m:sSubPr>
                              <m:ctrlPr>
                                <a:rPr lang="en-ZA" b="0" i="1" smtClean="0">
                                  <a:latin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2</m:t>
                              </m:r>
                            </m:sub>
                          </m:sSub>
                        </m:e>
                      </m:d>
                      <m:r>
                        <a:rPr lang="en-ZA" b="0" i="1" smtClean="0">
                          <a:latin typeface="Cambria Math" panose="02040503050406030204" pitchFamily="18" charset="0"/>
                        </a:rPr>
                        <m:t>=</m:t>
                      </m:r>
                      <m:r>
                        <a:rPr lang="en-ZA" b="0" i="1" smtClean="0">
                          <a:latin typeface="Cambria Math" panose="02040503050406030204" pitchFamily="18" charset="0"/>
                        </a:rPr>
                        <m:t>𝑃</m:t>
                      </m:r>
                      <m:d>
                        <m:dPr>
                          <m:ctrlPr>
                            <a:rPr lang="en-ZA" b="0" i="1" smtClean="0">
                              <a:latin typeface="Cambria Math" panose="02040503050406030204" pitchFamily="18" charset="0"/>
                            </a:rPr>
                          </m:ctrlPr>
                        </m:dPr>
                        <m:e>
                          <m:r>
                            <a:rPr lang="en-ZA" b="1" i="1" smtClean="0">
                              <a:latin typeface="Cambria Math" panose="02040503050406030204" pitchFamily="18" charset="0"/>
                            </a:rPr>
                            <m:t>𝑿</m:t>
                          </m:r>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2</m:t>
                              </m:r>
                            </m:sub>
                          </m:sSub>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2</m:t>
                              </m:r>
                            </m:sub>
                          </m:sSub>
                        </m:e>
                      </m:d>
                      <m:r>
                        <a:rPr lang="en-ZA" b="0" i="1" smtClean="0">
                          <a:latin typeface="Cambria Math" panose="02040503050406030204" pitchFamily="18" charset="0"/>
                          <a:ea typeface="Cambria Math" panose="02040503050406030204" pitchFamily="18" charset="0"/>
                        </a:rPr>
                        <m:t>=</m:t>
                      </m:r>
                      <m:r>
                        <a:rPr lang="en-ZA" b="0" i="1" smtClean="0">
                          <a:latin typeface="Cambria Math" panose="02040503050406030204" pitchFamily="18" charset="0"/>
                          <a:ea typeface="Cambria Math" panose="02040503050406030204" pitchFamily="18" charset="0"/>
                        </a:rPr>
                        <m:t>𝑃</m:t>
                      </m:r>
                      <m:d>
                        <m:dPr>
                          <m:ctrlPr>
                            <a:rPr lang="en-ZA" b="0" i="1" smtClean="0">
                              <a:latin typeface="Cambria Math" panose="02040503050406030204" pitchFamily="18" charset="0"/>
                              <a:ea typeface="Cambria Math" panose="02040503050406030204" pitchFamily="18" charset="0"/>
                            </a:rPr>
                          </m:ctrlPr>
                        </m:dPr>
                        <m:e>
                          <m:r>
                            <a:rPr lang="en-ZA" b="1" i="1" smtClean="0">
                              <a:latin typeface="Cambria Math" panose="02040503050406030204" pitchFamily="18" charset="0"/>
                              <a:ea typeface="Cambria Math" panose="02040503050406030204" pitchFamily="18" charset="0"/>
                            </a:rPr>
                            <m:t>𝑿</m:t>
                          </m:r>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2</m:t>
                              </m:r>
                            </m:sub>
                          </m:sSub>
                        </m:e>
                        <m:e>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2</m:t>
                              </m:r>
                            </m:sub>
                          </m:sSub>
                        </m:e>
                      </m:d>
                      <m:r>
                        <a:rPr lang="en-ZA" b="0" i="1" smtClean="0">
                          <a:latin typeface="Cambria Math" panose="02040503050406030204" pitchFamily="18" charset="0"/>
                          <a:ea typeface="Cambria Math" panose="02040503050406030204" pitchFamily="18" charset="0"/>
                        </a:rPr>
                        <m:t>𝑃</m:t>
                      </m:r>
                      <m:d>
                        <m:dPr>
                          <m:ctrlPr>
                            <a:rPr lang="en-ZA" b="0" i="1" smtClean="0">
                              <a:latin typeface="Cambria Math" panose="02040503050406030204" pitchFamily="18" charset="0"/>
                              <a:ea typeface="Cambria Math" panose="02040503050406030204" pitchFamily="18" charset="0"/>
                            </a:rPr>
                          </m:ctrlPr>
                        </m:dPr>
                        <m:e>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2</m:t>
                              </m:r>
                            </m:sub>
                          </m:sSub>
                        </m:e>
                      </m:d>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𝑝</m:t>
                          </m:r>
                        </m:e>
                        <m:sub>
                          <m:r>
                            <a:rPr lang="en-ZA" b="0" i="1" smtClean="0">
                              <a:latin typeface="Cambria Math" panose="02040503050406030204" pitchFamily="18" charset="0"/>
                              <a:ea typeface="Cambria Math" panose="02040503050406030204" pitchFamily="18" charset="0"/>
                            </a:rPr>
                            <m:t>2</m:t>
                          </m:r>
                        </m:sub>
                      </m:sSub>
                      <m:nary>
                        <m:naryPr>
                          <m:ctrlPr>
                            <a:rPr lang="en-ZA" b="0" i="1" smtClean="0">
                              <a:latin typeface="Cambria Math" panose="02040503050406030204" pitchFamily="18" charset="0"/>
                              <a:ea typeface="Cambria Math" panose="02040503050406030204" pitchFamily="18" charset="0"/>
                            </a:rPr>
                          </m:ctrlPr>
                        </m:naryPr>
                        <m:sub>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2</m:t>
                              </m:r>
                            </m:sub>
                          </m:sSub>
                        </m:sub>
                        <m:sup>
                          <m:r>
                            <a:rPr lang="en-ZA" b="0" i="1" smtClean="0">
                              <a:latin typeface="Cambria Math" panose="02040503050406030204" pitchFamily="18" charset="0"/>
                              <a:ea typeface="Cambria Math" panose="02040503050406030204" pitchFamily="18" charset="0"/>
                            </a:rPr>
                            <m:t> </m:t>
                          </m:r>
                        </m:sup>
                        <m:e>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𝑓</m:t>
                              </m:r>
                            </m:e>
                            <m:sub>
                              <m:r>
                                <a:rPr lang="en-ZA" b="0" i="1" smtClean="0">
                                  <a:latin typeface="Cambria Math" panose="02040503050406030204" pitchFamily="18" charset="0"/>
                                  <a:ea typeface="Cambria Math" panose="02040503050406030204" pitchFamily="18" charset="0"/>
                                </a:rPr>
                                <m:t>2</m:t>
                              </m:r>
                            </m:sub>
                          </m:sSub>
                          <m:d>
                            <m:dPr>
                              <m:ctrlPr>
                                <a:rPr lang="en-ZA" b="0" i="1" smtClean="0">
                                  <a:latin typeface="Cambria Math" panose="02040503050406030204" pitchFamily="18" charset="0"/>
                                  <a:ea typeface="Cambria Math" panose="02040503050406030204" pitchFamily="18" charset="0"/>
                                </a:rPr>
                              </m:ctrlPr>
                            </m:dPr>
                            <m:e>
                              <m:r>
                                <a:rPr lang="en-ZA" b="1" i="1" smtClean="0">
                                  <a:latin typeface="Cambria Math" panose="02040503050406030204" pitchFamily="18" charset="0"/>
                                  <a:ea typeface="Cambria Math" panose="02040503050406030204" pitchFamily="18" charset="0"/>
                                </a:rPr>
                                <m:t>𝒙</m:t>
                              </m:r>
                            </m:e>
                          </m:d>
                          <m:r>
                            <a:rPr lang="en-ZA" b="0" i="1" smtClean="0">
                              <a:latin typeface="Cambria Math" panose="02040503050406030204" pitchFamily="18" charset="0"/>
                              <a:ea typeface="Cambria Math" panose="02040503050406030204" pitchFamily="18" charset="0"/>
                            </a:rPr>
                            <m:t>𝑑</m:t>
                          </m:r>
                          <m:r>
                            <a:rPr lang="en-ZA" b="1" i="1" smtClean="0">
                              <a:latin typeface="Cambria Math" panose="02040503050406030204" pitchFamily="18" charset="0"/>
                              <a:ea typeface="Cambria Math" panose="02040503050406030204" pitchFamily="18" charset="0"/>
                            </a:rPr>
                            <m:t>𝒙</m:t>
                          </m:r>
                        </m:e>
                      </m:nary>
                    </m:oMath>
                  </m:oMathPara>
                </a14:m>
                <a:endParaRPr lang="en-ZA" dirty="0" smtClean="0"/>
              </a:p>
              <a:p>
                <a:pPr/>
                <a14:m>
                  <m:oMathPara xmlns:m="http://schemas.openxmlformats.org/officeDocument/2006/math">
                    <m:oMathParaPr>
                      <m:jc m:val="centerGroup"/>
                    </m:oMathParaPr>
                    <m:oMath xmlns:m="http://schemas.openxmlformats.org/officeDocument/2006/math">
                      <m:r>
                        <a:rPr lang="en-ZA" b="0" i="1" smtClean="0">
                          <a:latin typeface="Cambria Math" panose="02040503050406030204" pitchFamily="18" charset="0"/>
                        </a:rPr>
                        <m:t>𝑃</m:t>
                      </m:r>
                      <m:d>
                        <m:dPr>
                          <m:ctrlPr>
                            <a:rPr lang="en-ZA" b="0" i="1" smtClean="0">
                              <a:latin typeface="Cambria Math" panose="02040503050406030204" pitchFamily="18" charset="0"/>
                            </a:rPr>
                          </m:ctrlPr>
                        </m:dPr>
                        <m:e>
                          <m:r>
                            <a:rPr lang="en-ZA" b="0" i="1" smtClean="0">
                              <a:latin typeface="Cambria Math" panose="02040503050406030204" pitchFamily="18" charset="0"/>
                            </a:rPr>
                            <m:t>𝑚𝑖𝑠𝑐𝑙𝑎𝑠𝑠𝑖𝑓𝑖𝑐𝑎𝑡𝑖𝑜𝑛</m:t>
                          </m:r>
                          <m:r>
                            <a:rPr lang="en-ZA" b="0" i="1" smtClean="0">
                              <a:latin typeface="Cambria Math" panose="02040503050406030204" pitchFamily="18" charset="0"/>
                            </a:rPr>
                            <m:t> </m:t>
                          </m:r>
                          <m:r>
                            <a:rPr lang="en-ZA" b="0" i="1" smtClean="0">
                              <a:latin typeface="Cambria Math" panose="02040503050406030204" pitchFamily="18" charset="0"/>
                            </a:rPr>
                            <m:t>𝑎𝑠</m:t>
                          </m:r>
                          <m:r>
                            <a:rPr lang="en-ZA" b="0" i="1" smtClean="0">
                              <a:latin typeface="Cambria Math" panose="02040503050406030204" pitchFamily="18" charset="0"/>
                            </a:rPr>
                            <m:t> </m:t>
                          </m:r>
                          <m:sSub>
                            <m:sSubPr>
                              <m:ctrlPr>
                                <a:rPr lang="en-ZA" b="0" i="1" smtClean="0">
                                  <a:latin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2</m:t>
                              </m:r>
                            </m:sub>
                          </m:sSub>
                        </m:e>
                      </m:d>
                      <m:r>
                        <a:rPr lang="en-ZA" b="0" i="1" smtClean="0">
                          <a:latin typeface="Cambria Math" panose="02040503050406030204" pitchFamily="18" charset="0"/>
                        </a:rPr>
                        <m:t>=</m:t>
                      </m:r>
                      <m:r>
                        <a:rPr lang="en-ZA" b="0" i="1" smtClean="0">
                          <a:latin typeface="Cambria Math" panose="02040503050406030204" pitchFamily="18" charset="0"/>
                        </a:rPr>
                        <m:t>𝑃</m:t>
                      </m:r>
                      <m:d>
                        <m:dPr>
                          <m:ctrlPr>
                            <a:rPr lang="en-ZA" b="0" i="1" smtClean="0">
                              <a:latin typeface="Cambria Math" panose="02040503050406030204" pitchFamily="18" charset="0"/>
                            </a:rPr>
                          </m:ctrlPr>
                        </m:dPr>
                        <m:e>
                          <m:r>
                            <a:rPr lang="en-ZA" b="1" i="1" smtClean="0">
                              <a:latin typeface="Cambria Math" panose="02040503050406030204" pitchFamily="18" charset="0"/>
                            </a:rPr>
                            <m:t>𝑿</m:t>
                          </m:r>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2</m:t>
                              </m:r>
                            </m:sub>
                          </m:sSub>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1</m:t>
                              </m:r>
                            </m:sub>
                          </m:sSub>
                        </m:e>
                      </m:d>
                      <m:r>
                        <a:rPr lang="en-ZA" b="0" i="1" smtClean="0">
                          <a:latin typeface="Cambria Math" panose="02040503050406030204" pitchFamily="18" charset="0"/>
                          <a:ea typeface="Cambria Math" panose="02040503050406030204" pitchFamily="18" charset="0"/>
                        </a:rPr>
                        <m:t>=</m:t>
                      </m:r>
                      <m:r>
                        <a:rPr lang="en-ZA" b="0" i="1" smtClean="0">
                          <a:latin typeface="Cambria Math" panose="02040503050406030204" pitchFamily="18" charset="0"/>
                          <a:ea typeface="Cambria Math" panose="02040503050406030204" pitchFamily="18" charset="0"/>
                        </a:rPr>
                        <m:t>𝑃</m:t>
                      </m:r>
                      <m:d>
                        <m:dPr>
                          <m:ctrlPr>
                            <a:rPr lang="en-ZA" b="0" i="1" smtClean="0">
                              <a:latin typeface="Cambria Math" panose="02040503050406030204" pitchFamily="18" charset="0"/>
                              <a:ea typeface="Cambria Math" panose="02040503050406030204" pitchFamily="18" charset="0"/>
                            </a:rPr>
                          </m:ctrlPr>
                        </m:dPr>
                        <m:e>
                          <m:r>
                            <a:rPr lang="en-ZA" b="1" i="1" smtClean="0">
                              <a:latin typeface="Cambria Math" panose="02040503050406030204" pitchFamily="18" charset="0"/>
                              <a:ea typeface="Cambria Math" panose="02040503050406030204" pitchFamily="18" charset="0"/>
                            </a:rPr>
                            <m:t>𝑿</m:t>
                          </m:r>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2</m:t>
                              </m:r>
                            </m:sub>
                          </m:sSub>
                        </m:e>
                        <m:e>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1</m:t>
                              </m:r>
                            </m:sub>
                          </m:sSub>
                        </m:e>
                      </m:d>
                      <m:r>
                        <a:rPr lang="en-ZA" b="0" i="1" smtClean="0">
                          <a:latin typeface="Cambria Math" panose="02040503050406030204" pitchFamily="18" charset="0"/>
                          <a:ea typeface="Cambria Math" panose="02040503050406030204" pitchFamily="18" charset="0"/>
                        </a:rPr>
                        <m:t>𝑃</m:t>
                      </m:r>
                      <m:d>
                        <m:dPr>
                          <m:ctrlPr>
                            <a:rPr lang="en-ZA" b="0" i="1" smtClean="0">
                              <a:latin typeface="Cambria Math" panose="02040503050406030204" pitchFamily="18" charset="0"/>
                              <a:ea typeface="Cambria Math" panose="02040503050406030204" pitchFamily="18" charset="0"/>
                            </a:rPr>
                          </m:ctrlPr>
                        </m:dPr>
                        <m:e>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1</m:t>
                              </m:r>
                            </m:sub>
                          </m:sSub>
                        </m:e>
                      </m:d>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𝑝</m:t>
                          </m:r>
                        </m:e>
                        <m:sub>
                          <m:r>
                            <a:rPr lang="en-ZA" b="0" i="1" smtClean="0">
                              <a:latin typeface="Cambria Math" panose="02040503050406030204" pitchFamily="18" charset="0"/>
                              <a:ea typeface="Cambria Math" panose="02040503050406030204" pitchFamily="18" charset="0"/>
                            </a:rPr>
                            <m:t>1</m:t>
                          </m:r>
                        </m:sub>
                      </m:sSub>
                      <m:nary>
                        <m:naryPr>
                          <m:ctrlPr>
                            <a:rPr lang="en-ZA" b="0" i="1" smtClean="0">
                              <a:latin typeface="Cambria Math" panose="02040503050406030204" pitchFamily="18" charset="0"/>
                              <a:ea typeface="Cambria Math" panose="02040503050406030204" pitchFamily="18" charset="0"/>
                            </a:rPr>
                          </m:ctrlPr>
                        </m:naryPr>
                        <m:sub>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2</m:t>
                              </m:r>
                            </m:sub>
                          </m:sSub>
                        </m:sub>
                        <m:sup>
                          <m:r>
                            <a:rPr lang="en-ZA" b="0" i="1" smtClean="0">
                              <a:latin typeface="Cambria Math" panose="02040503050406030204" pitchFamily="18" charset="0"/>
                              <a:ea typeface="Cambria Math" panose="02040503050406030204" pitchFamily="18" charset="0"/>
                            </a:rPr>
                            <m:t> </m:t>
                          </m:r>
                        </m:sup>
                        <m:e>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𝑓</m:t>
                              </m:r>
                            </m:e>
                            <m:sub>
                              <m:r>
                                <a:rPr lang="en-ZA" b="0" i="1" smtClean="0">
                                  <a:latin typeface="Cambria Math" panose="02040503050406030204" pitchFamily="18" charset="0"/>
                                  <a:ea typeface="Cambria Math" panose="02040503050406030204" pitchFamily="18" charset="0"/>
                                </a:rPr>
                                <m:t>1</m:t>
                              </m:r>
                            </m:sub>
                          </m:sSub>
                          <m:d>
                            <m:dPr>
                              <m:ctrlPr>
                                <a:rPr lang="en-ZA" b="0" i="1" smtClean="0">
                                  <a:latin typeface="Cambria Math" panose="02040503050406030204" pitchFamily="18" charset="0"/>
                                  <a:ea typeface="Cambria Math" panose="02040503050406030204" pitchFamily="18" charset="0"/>
                                </a:rPr>
                              </m:ctrlPr>
                            </m:dPr>
                            <m:e>
                              <m:r>
                                <a:rPr lang="en-ZA" b="1" i="1" smtClean="0">
                                  <a:latin typeface="Cambria Math" panose="02040503050406030204" pitchFamily="18" charset="0"/>
                                  <a:ea typeface="Cambria Math" panose="02040503050406030204" pitchFamily="18" charset="0"/>
                                </a:rPr>
                                <m:t>𝒙</m:t>
                              </m:r>
                            </m:e>
                          </m:d>
                          <m:r>
                            <a:rPr lang="en-ZA" b="0" i="1" smtClean="0">
                              <a:latin typeface="Cambria Math" panose="02040503050406030204" pitchFamily="18" charset="0"/>
                              <a:ea typeface="Cambria Math" panose="02040503050406030204" pitchFamily="18" charset="0"/>
                            </a:rPr>
                            <m:t>𝑑</m:t>
                          </m:r>
                          <m:r>
                            <a:rPr lang="en-ZA" b="1" i="1" smtClean="0">
                              <a:latin typeface="Cambria Math" panose="02040503050406030204" pitchFamily="18" charset="0"/>
                              <a:ea typeface="Cambria Math" panose="02040503050406030204" pitchFamily="18" charset="0"/>
                            </a:rPr>
                            <m:t>𝒙</m:t>
                          </m:r>
                        </m:e>
                      </m:nary>
                    </m:oMath>
                  </m:oMathPara>
                </a14:m>
                <a:endParaRPr lang="en-ZA" dirty="0" smtClean="0"/>
              </a:p>
            </p:txBody>
          </p:sp>
        </mc:Choice>
        <mc:Fallback xmlns="">
          <p:sp>
            <p:nvSpPr>
              <p:cNvPr id="2" name="TextBox 1"/>
              <p:cNvSpPr txBox="1">
                <a:spLocks noRot="1" noChangeAspect="1" noMove="1" noResize="1" noEditPoints="1" noAdjustHandles="1" noChangeArrowheads="1" noChangeShapeType="1" noTextEdit="1"/>
              </p:cNvSpPr>
              <p:nvPr/>
            </p:nvSpPr>
            <p:spPr>
              <a:xfrm>
                <a:off x="184150" y="146050"/>
                <a:ext cx="11918950" cy="6568337"/>
              </a:xfrm>
              <a:prstGeom prst="rect">
                <a:avLst/>
              </a:prstGeom>
              <a:blipFill rotWithShape="0">
                <a:blip r:embed="rId2"/>
                <a:stretch>
                  <a:fillRect l="-358" t="-463"/>
                </a:stretch>
              </a:blipFill>
              <a:ln>
                <a:solidFill>
                  <a:schemeClr val="accent1"/>
                </a:solidFill>
              </a:ln>
            </p:spPr>
            <p:txBody>
              <a:bodyPr/>
              <a:lstStyle/>
              <a:p>
                <a:r>
                  <a:rPr lang="en-ZA">
                    <a:noFill/>
                  </a:rPr>
                  <a:t> </a:t>
                </a:r>
              </a:p>
            </p:txBody>
          </p:sp>
        </mc:Fallback>
      </mc:AlternateContent>
      <p:pic>
        <p:nvPicPr>
          <p:cNvPr id="3" name="Picture 2"/>
          <p:cNvPicPr>
            <a:picLocks noChangeAspect="1"/>
          </p:cNvPicPr>
          <p:nvPr/>
        </p:nvPicPr>
        <p:blipFill>
          <a:blip r:embed="rId3"/>
          <a:stretch>
            <a:fillRect/>
          </a:stretch>
        </p:blipFill>
        <p:spPr>
          <a:xfrm>
            <a:off x="6613674" y="1803400"/>
            <a:ext cx="5091545" cy="2133600"/>
          </a:xfrm>
          <a:prstGeom prst="rect">
            <a:avLst/>
          </a:prstGeom>
        </p:spPr>
      </p:pic>
      <p:sp>
        <p:nvSpPr>
          <p:cNvPr id="4" name="Oval Callout 3"/>
          <p:cNvSpPr/>
          <p:nvPr/>
        </p:nvSpPr>
        <p:spPr>
          <a:xfrm>
            <a:off x="7473950" y="247650"/>
            <a:ext cx="2717800" cy="1250950"/>
          </a:xfrm>
          <a:prstGeom prst="wedgeEllipseCallout">
            <a:avLst>
              <a:gd name="adj1" fmla="val -151343"/>
              <a:gd name="adj2" fmla="val 161986"/>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This integral measure the area under f_1(x) that falls in region 2. So f_1(x) refers to correct population and integral measures misclassifications.</a:t>
            </a:r>
            <a:endParaRPr lang="en-ZA" sz="1100" dirty="0"/>
          </a:p>
        </p:txBody>
      </p:sp>
      <p:sp>
        <p:nvSpPr>
          <p:cNvPr id="5" name="Oval Callout 4"/>
          <p:cNvSpPr/>
          <p:nvPr/>
        </p:nvSpPr>
        <p:spPr>
          <a:xfrm>
            <a:off x="10591800" y="4324350"/>
            <a:ext cx="1511300" cy="1771650"/>
          </a:xfrm>
          <a:prstGeom prst="wedgeEllipseCallout">
            <a:avLst>
              <a:gd name="adj1" fmla="val -82230"/>
              <a:gd name="adj2" fmla="val 100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Note the inclusion of prior probabilities based on relationship between joint and conditional probabilities.</a:t>
            </a:r>
            <a:endParaRPr lang="en-ZA" sz="1100" dirty="0"/>
          </a:p>
        </p:txBody>
      </p:sp>
    </p:spTree>
    <p:extLst>
      <p:ext uri="{BB962C8B-B14F-4D97-AF65-F5344CB8AC3E}">
        <p14:creationId xmlns:p14="http://schemas.microsoft.com/office/powerpoint/2010/main" val="2258229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74" y="67818"/>
            <a:ext cx="5765800" cy="2308324"/>
          </a:xfrm>
          <a:prstGeom prst="rect">
            <a:avLst/>
          </a:prstGeom>
          <a:noFill/>
          <a:ln>
            <a:solidFill>
              <a:schemeClr val="accent1"/>
            </a:solidFill>
          </a:ln>
        </p:spPr>
        <p:txBody>
          <a:bodyPr wrap="square" rtlCol="0">
            <a:spAutoFit/>
          </a:bodyPr>
          <a:lstStyle/>
          <a:p>
            <a:r>
              <a:rPr lang="en-ZA" dirty="0" smtClean="0"/>
              <a:t>The costs of misclassification can be defined by a cost         </a:t>
            </a:r>
            <a:r>
              <a:rPr lang="en-ZA" dirty="0" smtClean="0">
                <a:solidFill>
                  <a:schemeClr val="accent1">
                    <a:lumMod val="60000"/>
                    <a:lumOff val="40000"/>
                  </a:schemeClr>
                </a:solidFill>
              </a:rPr>
              <a:t>1</a:t>
            </a:r>
            <a:r>
              <a:rPr lang="en-ZA" dirty="0" smtClean="0"/>
              <a:t> matrix,</a:t>
            </a:r>
          </a:p>
          <a:p>
            <a:endParaRPr lang="en-ZA" dirty="0"/>
          </a:p>
          <a:p>
            <a:endParaRPr lang="en-ZA" dirty="0" smtClean="0"/>
          </a:p>
          <a:p>
            <a:endParaRPr lang="en-ZA" dirty="0"/>
          </a:p>
          <a:p>
            <a:endParaRPr lang="en-ZA" dirty="0" smtClean="0"/>
          </a:p>
          <a:p>
            <a:endParaRPr lang="en-ZA" dirty="0"/>
          </a:p>
          <a:p>
            <a:endParaRPr lang="en-ZA"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507656487"/>
                  </p:ext>
                </p:extLst>
              </p:nvPr>
            </p:nvGraphicFramePr>
            <p:xfrm>
              <a:off x="276223" y="685197"/>
              <a:ext cx="5321301" cy="1463040"/>
            </p:xfrm>
            <a:graphic>
              <a:graphicData uri="http://schemas.openxmlformats.org/drawingml/2006/table">
                <a:tbl>
                  <a:tblPr bandRow="1" bandCol="1">
                    <a:tableStyleId>{2D5ABB26-0587-4C30-8999-92F81FD0307C}</a:tableStyleId>
                  </a:tblPr>
                  <a:tblGrid>
                    <a:gridCol w="1773767"/>
                    <a:gridCol w="1773767"/>
                    <a:gridCol w="1773767"/>
                  </a:tblGrid>
                  <a:tr h="147970">
                    <a:tc rowSpan="2">
                      <a:txBody>
                        <a:bodyPr/>
                        <a:lstStyle/>
                        <a:p>
                          <a:pPr algn="ctr"/>
                          <a:r>
                            <a:rPr lang="en-ZA" dirty="0" smtClean="0"/>
                            <a:t>Classification </a:t>
                          </a:r>
                          <a:endParaRPr lang="en-ZA" dirty="0"/>
                        </a:p>
                        <a:p>
                          <a:pPr algn="ctr"/>
                          <a:r>
                            <a:rPr lang="en-ZA" dirty="0" smtClean="0"/>
                            <a:t>Based on X</a:t>
                          </a:r>
                          <a:endParaRPr lang="en-Z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ZA" dirty="0" smtClean="0"/>
                            <a:t>True group membership</a:t>
                          </a:r>
                          <a:endParaRPr lang="en-Z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ZA" dirty="0"/>
                        </a:p>
                      </a:txBody>
                      <a:tcPr/>
                    </a:tc>
                  </a:tr>
                  <a:tr h="150025">
                    <a:tc vMerge="1">
                      <a:txBody>
                        <a:bodyPr/>
                        <a:lstStyle/>
                        <a:p>
                          <a:endParaRPr lang="en-Z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ZA" i="1" smtClean="0">
                                        <a:latin typeface="Cambria Math" panose="02040503050406030204" pitchFamily="18" charset="0"/>
                                      </a:rPr>
                                    </m:ctrlPr>
                                  </m:sSubPr>
                                  <m:e>
                                    <m:r>
                                      <a:rPr lang="en-ZA" smtClean="0">
                                        <a:latin typeface="Cambria Math" panose="02040503050406030204" pitchFamily="18" charset="0"/>
                                      </a:rPr>
                                      <m:t>𝜋</m:t>
                                    </m:r>
                                  </m:e>
                                  <m:sub>
                                    <m:r>
                                      <a:rPr lang="en-ZA" smtClean="0">
                                        <a:latin typeface="Cambria Math" panose="02040503050406030204" pitchFamily="18" charset="0"/>
                                      </a:rPr>
                                      <m:t>1</m:t>
                                    </m:r>
                                  </m:sub>
                                </m:sSub>
                              </m:oMath>
                            </m:oMathPara>
                          </a14:m>
                          <a:endParaRPr lang="en-Z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ZA" i="1" smtClean="0">
                                        <a:latin typeface="Cambria Math" panose="02040503050406030204" pitchFamily="18" charset="0"/>
                                      </a:rPr>
                                    </m:ctrlPr>
                                  </m:sSubPr>
                                  <m:e>
                                    <m:r>
                                      <a:rPr lang="en-ZA" smtClean="0">
                                        <a:latin typeface="Cambria Math" panose="02040503050406030204" pitchFamily="18" charset="0"/>
                                      </a:rPr>
                                      <m:t>𝜋</m:t>
                                    </m:r>
                                  </m:e>
                                  <m:sub>
                                    <m:r>
                                      <a:rPr lang="en-ZA" smtClean="0">
                                        <a:latin typeface="Cambria Math" panose="02040503050406030204" pitchFamily="18" charset="0"/>
                                      </a:rPr>
                                      <m:t>2</m:t>
                                    </m:r>
                                  </m:sub>
                                </m:sSub>
                              </m:oMath>
                            </m:oMathPara>
                          </a14:m>
                          <a:endParaRPr lang="en-Z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47970">
                    <a:tc>
                      <a:txBody>
                        <a:bodyPr/>
                        <a:lstStyle/>
                        <a:p>
                          <a:pPr/>
                          <a14:m>
                            <m:oMathPara xmlns:m="http://schemas.openxmlformats.org/officeDocument/2006/math">
                              <m:oMathParaPr>
                                <m:jc m:val="centerGroup"/>
                              </m:oMathParaPr>
                              <m:oMath xmlns:m="http://schemas.openxmlformats.org/officeDocument/2006/math">
                                <m:r>
                                  <a:rPr lang="en-ZA" smtClean="0">
                                    <a:latin typeface="Cambria Math" panose="02040503050406030204" pitchFamily="18" charset="0"/>
                                  </a:rPr>
                                  <m:t>𝑋</m:t>
                                </m:r>
                                <m:r>
                                  <a:rPr lang="en-ZA" smtClean="0">
                                    <a:latin typeface="Cambria Math" panose="02040503050406030204" pitchFamily="18" charset="0"/>
                                  </a:rPr>
                                  <m:t>∈</m:t>
                                </m:r>
                                <m:sSub>
                                  <m:sSubPr>
                                    <m:ctrlPr>
                                      <a:rPr lang="en-ZA" i="1" smtClean="0">
                                        <a:latin typeface="Cambria Math" panose="02040503050406030204" pitchFamily="18" charset="0"/>
                                      </a:rPr>
                                    </m:ctrlPr>
                                  </m:sSubPr>
                                  <m:e>
                                    <m:r>
                                      <a:rPr lang="en-ZA" smtClean="0">
                                        <a:latin typeface="Cambria Math" panose="02040503050406030204" pitchFamily="18" charset="0"/>
                                      </a:rPr>
                                      <m:t>𝑅</m:t>
                                    </m:r>
                                  </m:e>
                                  <m:sub>
                                    <m:r>
                                      <a:rPr lang="en-ZA" smtClean="0">
                                        <a:latin typeface="Cambria Math" panose="02040503050406030204" pitchFamily="18" charset="0"/>
                                      </a:rPr>
                                      <m:t>1</m:t>
                                    </m:r>
                                  </m:sub>
                                </m:sSub>
                              </m:oMath>
                            </m:oMathPara>
                          </a14:m>
                          <a:endParaRPr lang="en-Z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ZA" dirty="0" smtClean="0"/>
                            <a:t>0</a:t>
                          </a:r>
                          <a:endParaRPr lang="en-Z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ZA" dirty="0" smtClean="0"/>
                            <a:t>c(1|2)</a:t>
                          </a:r>
                          <a:endParaRPr lang="en-Z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47970">
                    <a:tc>
                      <a:txBody>
                        <a:bodyPr/>
                        <a:lstStyle/>
                        <a:p>
                          <a:pPr/>
                          <a14:m>
                            <m:oMathPara xmlns:m="http://schemas.openxmlformats.org/officeDocument/2006/math">
                              <m:oMathParaPr>
                                <m:jc m:val="centerGroup"/>
                              </m:oMathParaPr>
                              <m:oMath xmlns:m="http://schemas.openxmlformats.org/officeDocument/2006/math">
                                <m:r>
                                  <a:rPr lang="en-ZA" smtClean="0">
                                    <a:latin typeface="Cambria Math" panose="02040503050406030204" pitchFamily="18" charset="0"/>
                                  </a:rPr>
                                  <m:t>𝑋</m:t>
                                </m:r>
                                <m:r>
                                  <a:rPr lang="en-ZA" smtClean="0">
                                    <a:latin typeface="Cambria Math" panose="02040503050406030204" pitchFamily="18" charset="0"/>
                                  </a:rPr>
                                  <m:t>∈</m:t>
                                </m:r>
                                <m:sSub>
                                  <m:sSubPr>
                                    <m:ctrlPr>
                                      <a:rPr lang="en-ZA" i="1" smtClean="0">
                                        <a:latin typeface="Cambria Math" panose="02040503050406030204" pitchFamily="18" charset="0"/>
                                      </a:rPr>
                                    </m:ctrlPr>
                                  </m:sSubPr>
                                  <m:e>
                                    <m:r>
                                      <a:rPr lang="en-ZA" smtClean="0">
                                        <a:latin typeface="Cambria Math" panose="02040503050406030204" pitchFamily="18" charset="0"/>
                                      </a:rPr>
                                      <m:t>𝑅</m:t>
                                    </m:r>
                                  </m:e>
                                  <m:sub>
                                    <m:r>
                                      <a:rPr lang="en-ZA" smtClean="0">
                                        <a:latin typeface="Cambria Math" panose="02040503050406030204" pitchFamily="18" charset="0"/>
                                      </a:rPr>
                                      <m:t>2</m:t>
                                    </m:r>
                                  </m:sub>
                                </m:sSub>
                              </m:oMath>
                            </m:oMathPara>
                          </a14:m>
                          <a:endParaRPr lang="en-Z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ZA" dirty="0" smtClean="0"/>
                            <a:t>c(2|1)</a:t>
                          </a:r>
                          <a:endParaRPr lang="en-Z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ZA" dirty="0" smtClean="0"/>
                            <a:t>0</a:t>
                          </a:r>
                          <a:endParaRPr lang="en-Z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507656487"/>
                  </p:ext>
                </p:extLst>
              </p:nvPr>
            </p:nvGraphicFramePr>
            <p:xfrm>
              <a:off x="276223" y="685197"/>
              <a:ext cx="5321301" cy="1463040"/>
            </p:xfrm>
            <a:graphic>
              <a:graphicData uri="http://schemas.openxmlformats.org/drawingml/2006/table">
                <a:tbl>
                  <a:tblPr bandRow="1" bandCol="1">
                    <a:tableStyleId>{2D5ABB26-0587-4C30-8999-92F81FD0307C}</a:tableStyleId>
                  </a:tblPr>
                  <a:tblGrid>
                    <a:gridCol w="1773767"/>
                    <a:gridCol w="1773767"/>
                    <a:gridCol w="1773767"/>
                  </a:tblGrid>
                  <a:tr h="365760">
                    <a:tc rowSpan="2">
                      <a:txBody>
                        <a:bodyPr/>
                        <a:lstStyle/>
                        <a:p>
                          <a:pPr algn="ctr"/>
                          <a:r>
                            <a:rPr lang="en-ZA" dirty="0" smtClean="0"/>
                            <a:t>Classification </a:t>
                          </a:r>
                          <a:endParaRPr lang="en-ZA" dirty="0"/>
                        </a:p>
                        <a:p>
                          <a:pPr algn="ctr"/>
                          <a:r>
                            <a:rPr lang="en-ZA" dirty="0" smtClean="0"/>
                            <a:t>Based on X</a:t>
                          </a:r>
                          <a:endParaRPr lang="en-Z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ZA" dirty="0" smtClean="0"/>
                            <a:t>True group membership</a:t>
                          </a:r>
                          <a:endParaRPr lang="en-Z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ZA" dirty="0"/>
                        </a:p>
                      </a:txBody>
                      <a:tcPr/>
                    </a:tc>
                  </a:tr>
                  <a:tr h="365760">
                    <a:tc vMerge="1">
                      <a:txBody>
                        <a:bodyPr/>
                        <a:lstStyle/>
                        <a:p>
                          <a:endParaRPr lang="en-Z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100000" t="-106557" r="-100342" b="-22131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200687" t="-106557" r="-687" b="-221311"/>
                          </a:stretch>
                        </a:blipFill>
                      </a:tcPr>
                    </a:tc>
                  </a:tr>
                  <a:tr h="3657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4" t="-210000" r="-201031" b="-125000"/>
                          </a:stretch>
                        </a:blipFill>
                      </a:tcPr>
                    </a:tc>
                    <a:tc>
                      <a:txBody>
                        <a:bodyPr/>
                        <a:lstStyle/>
                        <a:p>
                          <a:pPr algn="ctr"/>
                          <a:r>
                            <a:rPr lang="en-ZA" dirty="0" smtClean="0"/>
                            <a:t>0</a:t>
                          </a:r>
                          <a:endParaRPr lang="en-Z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ZA" dirty="0" smtClean="0"/>
                            <a:t>c(1|2)</a:t>
                          </a:r>
                          <a:endParaRPr lang="en-Z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57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4" t="-310000" r="-201031" b="-25000"/>
                          </a:stretch>
                        </a:blipFill>
                      </a:tcPr>
                    </a:tc>
                    <a:tc>
                      <a:txBody>
                        <a:bodyPr/>
                        <a:lstStyle/>
                        <a:p>
                          <a:pPr algn="ctr"/>
                          <a:r>
                            <a:rPr lang="en-ZA" dirty="0" smtClean="0"/>
                            <a:t>c(2|1)</a:t>
                          </a:r>
                          <a:endParaRPr lang="en-Z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ZA" dirty="0" smtClean="0"/>
                            <a:t>0</a:t>
                          </a:r>
                          <a:endParaRPr lang="en-Z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mc:AlternateContent xmlns:mc="http://schemas.openxmlformats.org/markup-compatibility/2006" xmlns:a14="http://schemas.microsoft.com/office/drawing/2010/main">
        <mc:Choice Requires="a14">
          <p:sp>
            <p:nvSpPr>
              <p:cNvPr id="7" name="TextBox 6"/>
              <p:cNvSpPr txBox="1"/>
              <p:nvPr/>
            </p:nvSpPr>
            <p:spPr>
              <a:xfrm>
                <a:off x="5911850" y="67818"/>
                <a:ext cx="6127750" cy="2217530"/>
              </a:xfrm>
              <a:prstGeom prst="rect">
                <a:avLst/>
              </a:prstGeom>
              <a:noFill/>
              <a:ln>
                <a:solidFill>
                  <a:schemeClr val="accent1"/>
                </a:solidFill>
              </a:ln>
            </p:spPr>
            <p:txBody>
              <a:bodyPr wrap="square" rtlCol="0">
                <a:spAutoFit/>
              </a:bodyPr>
              <a:lstStyle/>
              <a:p>
                <a:r>
                  <a:rPr lang="en-ZA" dirty="0" smtClean="0"/>
                  <a:t>We then define the Expected Cost of Misclassification,               </a:t>
                </a:r>
                <a:r>
                  <a:rPr lang="en-ZA" dirty="0" smtClean="0">
                    <a:solidFill>
                      <a:schemeClr val="accent1">
                        <a:lumMod val="60000"/>
                        <a:lumOff val="40000"/>
                      </a:schemeClr>
                    </a:solidFill>
                  </a:rPr>
                  <a:t>2</a:t>
                </a:r>
              </a:p>
              <a:p>
                <a:pPr/>
                <a14:m>
                  <m:oMathPara xmlns:m="http://schemas.openxmlformats.org/officeDocument/2006/math">
                    <m:oMathParaPr>
                      <m:jc m:val="centerGroup"/>
                    </m:oMathParaPr>
                    <m:oMath xmlns:m="http://schemas.openxmlformats.org/officeDocument/2006/math">
                      <m:r>
                        <a:rPr lang="en-ZA" sz="1600" b="0" i="1" smtClean="0">
                          <a:latin typeface="Cambria Math" panose="02040503050406030204" pitchFamily="18" charset="0"/>
                        </a:rPr>
                        <m:t>   </m:t>
                      </m:r>
                      <m:r>
                        <a:rPr lang="en-ZA" sz="1600" b="0" i="1" smtClean="0">
                          <a:latin typeface="Cambria Math" panose="02040503050406030204" pitchFamily="18" charset="0"/>
                        </a:rPr>
                        <m:t>𝐸𝑀𝐶</m:t>
                      </m:r>
                      <m:r>
                        <a:rPr lang="en-ZA" sz="1600" b="0" i="1" smtClean="0">
                          <a:latin typeface="Cambria Math" panose="02040503050406030204" pitchFamily="18" charset="0"/>
                        </a:rPr>
                        <m:t>=</m:t>
                      </m:r>
                      <m:r>
                        <a:rPr lang="en-ZA" sz="1600" b="0" i="1" smtClean="0">
                          <a:latin typeface="Cambria Math" panose="02040503050406030204" pitchFamily="18" charset="0"/>
                        </a:rPr>
                        <m:t>𝑐</m:t>
                      </m:r>
                      <m:d>
                        <m:dPr>
                          <m:ctrlPr>
                            <a:rPr lang="en-ZA" sz="1600" b="0" i="1" smtClean="0">
                              <a:latin typeface="Cambria Math" panose="02040503050406030204" pitchFamily="18" charset="0"/>
                            </a:rPr>
                          </m:ctrlPr>
                        </m:dPr>
                        <m:e>
                          <m:r>
                            <a:rPr lang="en-ZA" sz="1600" b="0" i="1" smtClean="0">
                              <a:latin typeface="Cambria Math" panose="02040503050406030204" pitchFamily="18" charset="0"/>
                            </a:rPr>
                            <m:t>2</m:t>
                          </m:r>
                        </m:e>
                        <m:e>
                          <m:r>
                            <a:rPr lang="en-ZA" sz="1600" b="0" i="1" smtClean="0">
                              <a:latin typeface="Cambria Math" panose="02040503050406030204" pitchFamily="18" charset="0"/>
                            </a:rPr>
                            <m:t>1</m:t>
                          </m:r>
                        </m:e>
                      </m:d>
                      <m:r>
                        <a:rPr lang="en-ZA" sz="1600" b="0" i="1" smtClean="0">
                          <a:latin typeface="Cambria Math" panose="02040503050406030204" pitchFamily="18" charset="0"/>
                        </a:rPr>
                        <m:t>𝑃</m:t>
                      </m:r>
                      <m:d>
                        <m:dPr>
                          <m:ctrlPr>
                            <a:rPr lang="en-ZA" sz="1600" b="0" i="1" smtClean="0">
                              <a:latin typeface="Cambria Math" panose="02040503050406030204" pitchFamily="18" charset="0"/>
                            </a:rPr>
                          </m:ctrlPr>
                        </m:dPr>
                        <m:e>
                          <m:r>
                            <a:rPr lang="en-ZA" sz="1600" b="0" i="1" smtClean="0">
                              <a:latin typeface="Cambria Math" panose="02040503050406030204" pitchFamily="18" charset="0"/>
                            </a:rPr>
                            <m:t>2</m:t>
                          </m:r>
                        </m:e>
                        <m:e>
                          <m:r>
                            <a:rPr lang="en-ZA" sz="1600" b="0" i="1" smtClean="0">
                              <a:latin typeface="Cambria Math" panose="02040503050406030204" pitchFamily="18" charset="0"/>
                            </a:rPr>
                            <m:t>1</m:t>
                          </m:r>
                        </m:e>
                      </m:d>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𝑝</m:t>
                          </m:r>
                        </m:e>
                        <m:sub>
                          <m:r>
                            <a:rPr lang="en-ZA" sz="1600" b="0" i="1" smtClean="0">
                              <a:latin typeface="Cambria Math" panose="02040503050406030204" pitchFamily="18" charset="0"/>
                            </a:rPr>
                            <m:t>1</m:t>
                          </m:r>
                        </m:sub>
                      </m:sSub>
                      <m:r>
                        <a:rPr lang="en-ZA" sz="1600" b="0" i="1" smtClean="0">
                          <a:latin typeface="Cambria Math" panose="02040503050406030204" pitchFamily="18" charset="0"/>
                        </a:rPr>
                        <m:t>                  +          </m:t>
                      </m:r>
                      <m:r>
                        <a:rPr lang="en-ZA" sz="1600" b="0" i="1" smtClean="0">
                          <a:latin typeface="Cambria Math" panose="02040503050406030204" pitchFamily="18" charset="0"/>
                        </a:rPr>
                        <m:t>𝑐</m:t>
                      </m:r>
                      <m:d>
                        <m:dPr>
                          <m:ctrlPr>
                            <a:rPr lang="en-ZA" sz="1600" b="0" i="1" smtClean="0">
                              <a:latin typeface="Cambria Math" panose="02040503050406030204" pitchFamily="18" charset="0"/>
                            </a:rPr>
                          </m:ctrlPr>
                        </m:dPr>
                        <m:e>
                          <m:r>
                            <a:rPr lang="en-ZA" sz="1600" b="0" i="1" smtClean="0">
                              <a:latin typeface="Cambria Math" panose="02040503050406030204" pitchFamily="18" charset="0"/>
                            </a:rPr>
                            <m:t>1</m:t>
                          </m:r>
                        </m:e>
                        <m:e>
                          <m:r>
                            <a:rPr lang="en-ZA" sz="1600" b="0" i="1" smtClean="0">
                              <a:latin typeface="Cambria Math" panose="02040503050406030204" pitchFamily="18" charset="0"/>
                            </a:rPr>
                            <m:t>2</m:t>
                          </m:r>
                        </m:e>
                      </m:d>
                      <m:r>
                        <a:rPr lang="en-ZA" sz="1600" b="0" i="1" smtClean="0">
                          <a:latin typeface="Cambria Math" panose="02040503050406030204" pitchFamily="18" charset="0"/>
                        </a:rPr>
                        <m:t>𝑃</m:t>
                      </m:r>
                      <m:d>
                        <m:dPr>
                          <m:ctrlPr>
                            <a:rPr lang="en-ZA" sz="1600" b="0" i="1" smtClean="0">
                              <a:latin typeface="Cambria Math" panose="02040503050406030204" pitchFamily="18" charset="0"/>
                            </a:rPr>
                          </m:ctrlPr>
                        </m:dPr>
                        <m:e>
                          <m:r>
                            <a:rPr lang="en-ZA" sz="1600" b="0" i="1" smtClean="0">
                              <a:latin typeface="Cambria Math" panose="02040503050406030204" pitchFamily="18" charset="0"/>
                            </a:rPr>
                            <m:t>1</m:t>
                          </m:r>
                        </m:e>
                        <m:e>
                          <m:r>
                            <a:rPr lang="en-ZA" sz="1600" b="0" i="1" smtClean="0">
                              <a:latin typeface="Cambria Math" panose="02040503050406030204" pitchFamily="18" charset="0"/>
                            </a:rPr>
                            <m:t>2</m:t>
                          </m:r>
                        </m:e>
                      </m:d>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𝑝</m:t>
                          </m:r>
                        </m:e>
                        <m:sub>
                          <m:r>
                            <a:rPr lang="en-ZA" sz="1600" b="0" i="1" smtClean="0">
                              <a:latin typeface="Cambria Math" panose="02040503050406030204" pitchFamily="18" charset="0"/>
                            </a:rPr>
                            <m:t>2</m:t>
                          </m:r>
                        </m:sub>
                      </m:sSub>
                    </m:oMath>
                  </m:oMathPara>
                </a14:m>
                <a:endParaRPr lang="en-ZA" sz="1600" b="0" dirty="0" smtClean="0"/>
              </a:p>
              <a:p>
                <a:pPr/>
                <a14:m>
                  <m:oMathPara xmlns:m="http://schemas.openxmlformats.org/officeDocument/2006/math">
                    <m:oMathParaPr>
                      <m:jc m:val="centerGroup"/>
                    </m:oMathParaPr>
                    <m:oMath xmlns:m="http://schemas.openxmlformats.org/officeDocument/2006/math">
                      <m:r>
                        <a:rPr lang="en-ZA" sz="1600" b="0" i="1" smtClean="0">
                          <a:latin typeface="Cambria Math" panose="02040503050406030204" pitchFamily="18" charset="0"/>
                        </a:rPr>
                        <m:t>                   =</m:t>
                      </m:r>
                      <m:r>
                        <a:rPr lang="en-ZA" sz="1600" b="0" i="1" smtClean="0">
                          <a:latin typeface="Cambria Math" panose="02040503050406030204" pitchFamily="18" charset="0"/>
                        </a:rPr>
                        <m:t>𝑐</m:t>
                      </m:r>
                      <m:d>
                        <m:dPr>
                          <m:ctrlPr>
                            <a:rPr lang="en-ZA" sz="1600" b="0" i="1" smtClean="0">
                              <a:latin typeface="Cambria Math" panose="02040503050406030204" pitchFamily="18" charset="0"/>
                            </a:rPr>
                          </m:ctrlPr>
                        </m:dPr>
                        <m:e>
                          <m:r>
                            <a:rPr lang="en-ZA" sz="1600" b="0" i="1" smtClean="0">
                              <a:latin typeface="Cambria Math" panose="02040503050406030204" pitchFamily="18" charset="0"/>
                            </a:rPr>
                            <m:t>2</m:t>
                          </m:r>
                        </m:e>
                        <m:e>
                          <m:r>
                            <a:rPr lang="en-ZA" sz="1600" b="0" i="1" smtClean="0">
                              <a:latin typeface="Cambria Math" panose="02040503050406030204" pitchFamily="18" charset="0"/>
                            </a:rPr>
                            <m:t>1</m:t>
                          </m:r>
                        </m:e>
                      </m:d>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𝑝</m:t>
                          </m:r>
                        </m:e>
                        <m:sub>
                          <m:r>
                            <a:rPr lang="en-ZA" sz="1600" b="0" i="1" smtClean="0">
                              <a:latin typeface="Cambria Math" panose="02040503050406030204" pitchFamily="18" charset="0"/>
                            </a:rPr>
                            <m:t>1</m:t>
                          </m:r>
                        </m:sub>
                      </m:sSub>
                      <m:nary>
                        <m:naryPr>
                          <m:ctrlPr>
                            <a:rPr lang="en-ZA" sz="1600" b="0" i="1" smtClean="0">
                              <a:latin typeface="Cambria Math" panose="02040503050406030204" pitchFamily="18" charset="0"/>
                            </a:rPr>
                          </m:ctrlPr>
                        </m:naryPr>
                        <m:sub>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𝑅</m:t>
                              </m:r>
                            </m:e>
                            <m:sub>
                              <m:r>
                                <a:rPr lang="en-ZA" sz="1600" b="0" i="1" smtClean="0">
                                  <a:latin typeface="Cambria Math" panose="02040503050406030204" pitchFamily="18" charset="0"/>
                                </a:rPr>
                                <m:t>2</m:t>
                              </m:r>
                            </m:sub>
                          </m:sSub>
                        </m:sub>
                        <m:sup>
                          <m:r>
                            <a:rPr lang="en-ZA" sz="1600" b="0" i="1" smtClean="0">
                              <a:latin typeface="Cambria Math" panose="02040503050406030204" pitchFamily="18" charset="0"/>
                            </a:rPr>
                            <m:t> </m:t>
                          </m:r>
                        </m:sup>
                        <m:e>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1</m:t>
                              </m:r>
                            </m:sub>
                          </m:sSub>
                          <m:d>
                            <m:dPr>
                              <m:ctrlPr>
                                <a:rPr lang="en-ZA" sz="1600" b="0" i="1" smtClean="0">
                                  <a:latin typeface="Cambria Math" panose="02040503050406030204" pitchFamily="18" charset="0"/>
                                </a:rPr>
                              </m:ctrlPr>
                            </m:dPr>
                            <m:e>
                              <m:r>
                                <a:rPr lang="en-ZA" sz="1600" b="0" i="1" smtClean="0">
                                  <a:latin typeface="Cambria Math" panose="02040503050406030204" pitchFamily="18" charset="0"/>
                                </a:rPr>
                                <m:t>𝑥</m:t>
                              </m:r>
                            </m:e>
                          </m:d>
                          <m:r>
                            <a:rPr lang="en-ZA" sz="1600" b="0" i="1" smtClean="0">
                              <a:latin typeface="Cambria Math" panose="02040503050406030204" pitchFamily="18" charset="0"/>
                            </a:rPr>
                            <m:t>𝑑𝑥</m:t>
                          </m:r>
                          <m:r>
                            <a:rPr lang="en-ZA" sz="1600" b="0" i="1" smtClean="0">
                              <a:latin typeface="Cambria Math" panose="02040503050406030204" pitchFamily="18" charset="0"/>
                            </a:rPr>
                            <m:t>         +      </m:t>
                          </m:r>
                          <m:r>
                            <a:rPr lang="en-ZA" sz="1600" b="0" i="1" smtClean="0">
                              <a:latin typeface="Cambria Math" panose="02040503050406030204" pitchFamily="18" charset="0"/>
                            </a:rPr>
                            <m:t>𝑐</m:t>
                          </m:r>
                          <m:d>
                            <m:dPr>
                              <m:ctrlPr>
                                <a:rPr lang="en-ZA" sz="1600" b="0" i="1" smtClean="0">
                                  <a:latin typeface="Cambria Math" panose="02040503050406030204" pitchFamily="18" charset="0"/>
                                </a:rPr>
                              </m:ctrlPr>
                            </m:dPr>
                            <m:e>
                              <m:r>
                                <a:rPr lang="en-ZA" sz="1600" b="0" i="1" smtClean="0">
                                  <a:latin typeface="Cambria Math" panose="02040503050406030204" pitchFamily="18" charset="0"/>
                                </a:rPr>
                                <m:t>1</m:t>
                              </m:r>
                            </m:e>
                            <m:e>
                              <m:r>
                                <a:rPr lang="en-ZA" sz="1600" b="0" i="1" smtClean="0">
                                  <a:latin typeface="Cambria Math" panose="02040503050406030204" pitchFamily="18" charset="0"/>
                                </a:rPr>
                                <m:t>2</m:t>
                              </m:r>
                            </m:e>
                          </m:d>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𝑝</m:t>
                              </m:r>
                            </m:e>
                            <m:sub>
                              <m:r>
                                <a:rPr lang="en-ZA" sz="1600" b="0" i="1" smtClean="0">
                                  <a:latin typeface="Cambria Math" panose="02040503050406030204" pitchFamily="18" charset="0"/>
                                </a:rPr>
                                <m:t>2</m:t>
                              </m:r>
                            </m:sub>
                          </m:sSub>
                          <m:nary>
                            <m:naryPr>
                              <m:ctrlPr>
                                <a:rPr lang="en-ZA" sz="1600" b="0" i="1" smtClean="0">
                                  <a:latin typeface="Cambria Math" panose="02040503050406030204" pitchFamily="18" charset="0"/>
                                </a:rPr>
                              </m:ctrlPr>
                            </m:naryPr>
                            <m:sub>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𝑅</m:t>
                                  </m:r>
                                </m:e>
                                <m:sub>
                                  <m:r>
                                    <a:rPr lang="en-ZA" sz="1600" b="0" i="1" smtClean="0">
                                      <a:latin typeface="Cambria Math" panose="02040503050406030204" pitchFamily="18" charset="0"/>
                                    </a:rPr>
                                    <m:t>1</m:t>
                                  </m:r>
                                </m:sub>
                              </m:sSub>
                            </m:sub>
                            <m:sup>
                              <m:r>
                                <a:rPr lang="en-ZA" sz="1600" b="0" i="1" smtClean="0">
                                  <a:latin typeface="Cambria Math" panose="02040503050406030204" pitchFamily="18" charset="0"/>
                                </a:rPr>
                                <m:t> </m:t>
                              </m:r>
                            </m:sup>
                            <m:e>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2</m:t>
                                  </m:r>
                                </m:sub>
                              </m:sSub>
                              <m:d>
                                <m:dPr>
                                  <m:ctrlPr>
                                    <a:rPr lang="en-ZA" sz="1600" b="0" i="1" smtClean="0">
                                      <a:latin typeface="Cambria Math" panose="02040503050406030204" pitchFamily="18" charset="0"/>
                                    </a:rPr>
                                  </m:ctrlPr>
                                </m:dPr>
                                <m:e>
                                  <m:r>
                                    <a:rPr lang="en-ZA" sz="1600" b="0" i="1" smtClean="0">
                                      <a:latin typeface="Cambria Math" panose="02040503050406030204" pitchFamily="18" charset="0"/>
                                    </a:rPr>
                                    <m:t>𝑥</m:t>
                                  </m:r>
                                </m:e>
                              </m:d>
                              <m:r>
                                <a:rPr lang="en-ZA" sz="1600" b="0" i="1" smtClean="0">
                                  <a:latin typeface="Cambria Math" panose="02040503050406030204" pitchFamily="18" charset="0"/>
                                </a:rPr>
                                <m:t>𝑑𝑥</m:t>
                              </m:r>
                            </m:e>
                          </m:nary>
                        </m:e>
                      </m:nary>
                    </m:oMath>
                  </m:oMathPara>
                </a14:m>
                <a:endParaRPr lang="en-ZA" sz="1600" b="0" dirty="0" smtClean="0"/>
              </a:p>
              <a:p>
                <a:pPr/>
                <a14:m>
                  <m:oMathPara xmlns:m="http://schemas.openxmlformats.org/officeDocument/2006/math">
                    <m:oMathParaPr>
                      <m:jc m:val="centerGroup"/>
                    </m:oMathParaPr>
                    <m:oMath xmlns:m="http://schemas.openxmlformats.org/officeDocument/2006/math">
                      <m:r>
                        <a:rPr lang="en-ZA" sz="1600" b="0" i="1" smtClean="0">
                          <a:latin typeface="Cambria Math" panose="02040503050406030204" pitchFamily="18" charset="0"/>
                        </a:rPr>
                        <m:t>                  =</m:t>
                      </m:r>
                      <m:r>
                        <a:rPr lang="en-ZA" sz="1600" b="0" i="1" smtClean="0">
                          <a:latin typeface="Cambria Math" panose="02040503050406030204" pitchFamily="18" charset="0"/>
                        </a:rPr>
                        <m:t>𝑐</m:t>
                      </m:r>
                      <m:d>
                        <m:dPr>
                          <m:ctrlPr>
                            <a:rPr lang="en-ZA" sz="1600" b="0" i="1" smtClean="0">
                              <a:latin typeface="Cambria Math" panose="02040503050406030204" pitchFamily="18" charset="0"/>
                            </a:rPr>
                          </m:ctrlPr>
                        </m:dPr>
                        <m:e>
                          <m:r>
                            <a:rPr lang="en-ZA" sz="1600" b="0" i="1" smtClean="0">
                              <a:latin typeface="Cambria Math" panose="02040503050406030204" pitchFamily="18" charset="0"/>
                            </a:rPr>
                            <m:t>2</m:t>
                          </m:r>
                        </m:e>
                        <m:e>
                          <m:r>
                            <a:rPr lang="en-ZA" sz="1600" b="0" i="1" smtClean="0">
                              <a:latin typeface="Cambria Math" panose="02040503050406030204" pitchFamily="18" charset="0"/>
                            </a:rPr>
                            <m:t>1</m:t>
                          </m:r>
                        </m:e>
                      </m:d>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𝑝</m:t>
                          </m:r>
                        </m:e>
                        <m:sub>
                          <m:r>
                            <a:rPr lang="en-ZA" sz="1600" b="0" i="1" smtClean="0">
                              <a:latin typeface="Cambria Math" panose="02040503050406030204" pitchFamily="18" charset="0"/>
                            </a:rPr>
                            <m:t>1</m:t>
                          </m:r>
                        </m:sub>
                      </m:sSub>
                      <m:r>
                        <a:rPr lang="en-ZA" sz="1600" b="0" i="1" smtClean="0">
                          <a:latin typeface="Cambria Math" panose="02040503050406030204" pitchFamily="18" charset="0"/>
                        </a:rPr>
                        <m:t>[1−</m:t>
                      </m:r>
                      <m:nary>
                        <m:naryPr>
                          <m:ctrlPr>
                            <a:rPr lang="en-ZA" sz="1600" b="0" i="1" smtClean="0">
                              <a:latin typeface="Cambria Math" panose="02040503050406030204" pitchFamily="18" charset="0"/>
                            </a:rPr>
                          </m:ctrlPr>
                        </m:naryPr>
                        <m:sub>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𝑅</m:t>
                              </m:r>
                            </m:e>
                            <m:sub>
                              <m:r>
                                <a:rPr lang="en-ZA" sz="1600" b="0" i="1" smtClean="0">
                                  <a:latin typeface="Cambria Math" panose="02040503050406030204" pitchFamily="18" charset="0"/>
                                </a:rPr>
                                <m:t>1</m:t>
                              </m:r>
                            </m:sub>
                          </m:sSub>
                        </m:sub>
                        <m:sup>
                          <m:r>
                            <a:rPr lang="en-ZA" sz="1600" b="0" i="1" smtClean="0">
                              <a:latin typeface="Cambria Math" panose="02040503050406030204" pitchFamily="18" charset="0"/>
                            </a:rPr>
                            <m:t> </m:t>
                          </m:r>
                        </m:sup>
                        <m:e>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1</m:t>
                              </m:r>
                            </m:sub>
                          </m:sSub>
                          <m:d>
                            <m:dPr>
                              <m:ctrlPr>
                                <a:rPr lang="en-ZA" sz="1600" b="0" i="1" smtClean="0">
                                  <a:latin typeface="Cambria Math" panose="02040503050406030204" pitchFamily="18" charset="0"/>
                                </a:rPr>
                              </m:ctrlPr>
                            </m:dPr>
                            <m:e>
                              <m:r>
                                <a:rPr lang="en-ZA" sz="1600" b="0" i="1" smtClean="0">
                                  <a:latin typeface="Cambria Math" panose="02040503050406030204" pitchFamily="18" charset="0"/>
                                </a:rPr>
                                <m:t>𝑥</m:t>
                              </m:r>
                            </m:e>
                          </m:d>
                          <m:r>
                            <a:rPr lang="en-ZA" sz="1600" b="0" i="1" smtClean="0">
                              <a:latin typeface="Cambria Math" panose="02040503050406030204" pitchFamily="18" charset="0"/>
                            </a:rPr>
                            <m:t>𝑑𝑥</m:t>
                          </m:r>
                          <m:r>
                            <a:rPr lang="en-ZA" sz="1600" b="0" i="1" smtClean="0">
                              <a:latin typeface="Cambria Math" panose="02040503050406030204" pitchFamily="18" charset="0"/>
                            </a:rPr>
                            <m:t>]+     </m:t>
                          </m:r>
                          <m:r>
                            <a:rPr lang="en-ZA" sz="1600" b="0" i="1" smtClean="0">
                              <a:latin typeface="Cambria Math" panose="02040503050406030204" pitchFamily="18" charset="0"/>
                            </a:rPr>
                            <m:t>𝑐</m:t>
                          </m:r>
                          <m:r>
                            <a:rPr lang="en-ZA" sz="1600" b="0" i="1" smtClean="0">
                              <a:latin typeface="Cambria Math" panose="02040503050406030204" pitchFamily="18" charset="0"/>
                            </a:rPr>
                            <m:t>(1|2)</m:t>
                          </m:r>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𝑝</m:t>
                              </m:r>
                            </m:e>
                            <m:sub>
                              <m:r>
                                <a:rPr lang="en-ZA" sz="1600" b="0" i="1" smtClean="0">
                                  <a:latin typeface="Cambria Math" panose="02040503050406030204" pitchFamily="18" charset="0"/>
                                </a:rPr>
                                <m:t>2</m:t>
                              </m:r>
                            </m:sub>
                          </m:sSub>
                          <m:nary>
                            <m:naryPr>
                              <m:ctrlPr>
                                <a:rPr lang="en-ZA" sz="1600" b="0" i="1" smtClean="0">
                                  <a:latin typeface="Cambria Math" panose="02040503050406030204" pitchFamily="18" charset="0"/>
                                </a:rPr>
                              </m:ctrlPr>
                            </m:naryPr>
                            <m:sub>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𝑅</m:t>
                                  </m:r>
                                </m:e>
                                <m:sub>
                                  <m:r>
                                    <a:rPr lang="en-ZA" sz="1600" b="0" i="1" smtClean="0">
                                      <a:latin typeface="Cambria Math" panose="02040503050406030204" pitchFamily="18" charset="0"/>
                                    </a:rPr>
                                    <m:t>1</m:t>
                                  </m:r>
                                </m:sub>
                              </m:sSub>
                            </m:sub>
                            <m:sup>
                              <m:r>
                                <a:rPr lang="en-ZA" sz="1600" b="0" i="1" smtClean="0">
                                  <a:latin typeface="Cambria Math" panose="02040503050406030204" pitchFamily="18" charset="0"/>
                                </a:rPr>
                                <m:t> </m:t>
                              </m:r>
                            </m:sup>
                            <m:e>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2</m:t>
                                  </m:r>
                                </m:sub>
                              </m:sSub>
                              <m:d>
                                <m:dPr>
                                  <m:ctrlPr>
                                    <a:rPr lang="en-ZA" sz="1600" b="0" i="1" smtClean="0">
                                      <a:latin typeface="Cambria Math" panose="02040503050406030204" pitchFamily="18" charset="0"/>
                                    </a:rPr>
                                  </m:ctrlPr>
                                </m:dPr>
                                <m:e>
                                  <m:r>
                                    <a:rPr lang="en-ZA" sz="1600" b="0" i="1" smtClean="0">
                                      <a:latin typeface="Cambria Math" panose="02040503050406030204" pitchFamily="18" charset="0"/>
                                    </a:rPr>
                                    <m:t>𝑥</m:t>
                                  </m:r>
                                </m:e>
                              </m:d>
                              <m:r>
                                <a:rPr lang="en-ZA" sz="1600" b="0" i="1" smtClean="0">
                                  <a:latin typeface="Cambria Math" panose="02040503050406030204" pitchFamily="18" charset="0"/>
                                </a:rPr>
                                <m:t>𝑑𝑥</m:t>
                              </m:r>
                            </m:e>
                          </m:nary>
                        </m:e>
                      </m:nary>
                    </m:oMath>
                  </m:oMathPara>
                </a14:m>
                <a:endParaRPr lang="en-ZA" sz="1600" dirty="0" smtClean="0"/>
              </a:p>
              <a:p>
                <a:pPr/>
                <a14:m>
                  <m:oMathPara xmlns:m="http://schemas.openxmlformats.org/officeDocument/2006/math">
                    <m:oMathParaPr>
                      <m:jc m:val="centerGroup"/>
                    </m:oMathParaPr>
                    <m:oMath xmlns:m="http://schemas.openxmlformats.org/officeDocument/2006/math">
                      <m:r>
                        <a:rPr lang="en-ZA" sz="1600" b="0" i="1" smtClean="0">
                          <a:latin typeface="Cambria Math" panose="02040503050406030204" pitchFamily="18" charset="0"/>
                        </a:rPr>
                        <m:t>               =</m:t>
                      </m:r>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𝑝</m:t>
                          </m:r>
                        </m:e>
                        <m:sub>
                          <m:r>
                            <a:rPr lang="en-ZA" sz="1600" b="0" i="1" smtClean="0">
                              <a:latin typeface="Cambria Math" panose="02040503050406030204" pitchFamily="18" charset="0"/>
                            </a:rPr>
                            <m:t>1</m:t>
                          </m:r>
                        </m:sub>
                      </m:sSub>
                      <m:r>
                        <a:rPr lang="en-ZA" sz="1600" b="0" i="1" smtClean="0">
                          <a:latin typeface="Cambria Math" panose="02040503050406030204" pitchFamily="18" charset="0"/>
                        </a:rPr>
                        <m:t>𝑐</m:t>
                      </m:r>
                      <m:d>
                        <m:dPr>
                          <m:ctrlPr>
                            <a:rPr lang="en-ZA" sz="1600" b="0" i="1" smtClean="0">
                              <a:latin typeface="Cambria Math" panose="02040503050406030204" pitchFamily="18" charset="0"/>
                            </a:rPr>
                          </m:ctrlPr>
                        </m:dPr>
                        <m:e>
                          <m:r>
                            <a:rPr lang="en-ZA" sz="1600" b="0" i="1" smtClean="0">
                              <a:latin typeface="Cambria Math" panose="02040503050406030204" pitchFamily="18" charset="0"/>
                            </a:rPr>
                            <m:t>2</m:t>
                          </m:r>
                        </m:e>
                        <m:e>
                          <m:r>
                            <a:rPr lang="en-ZA" sz="1600" b="0" i="1" smtClean="0">
                              <a:latin typeface="Cambria Math" panose="02040503050406030204" pitchFamily="18" charset="0"/>
                            </a:rPr>
                            <m:t>1</m:t>
                          </m:r>
                        </m:e>
                      </m:d>
                      <m:r>
                        <a:rPr lang="en-ZA" sz="1600" b="0" i="1" smtClean="0">
                          <a:latin typeface="Cambria Math" panose="02040503050406030204" pitchFamily="18" charset="0"/>
                        </a:rPr>
                        <m:t>+</m:t>
                      </m:r>
                      <m:nary>
                        <m:naryPr>
                          <m:ctrlPr>
                            <a:rPr lang="en-ZA" sz="1600" b="0" i="1" smtClean="0">
                              <a:latin typeface="Cambria Math" panose="02040503050406030204" pitchFamily="18" charset="0"/>
                            </a:rPr>
                          </m:ctrlPr>
                        </m:naryPr>
                        <m:sub>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𝑅</m:t>
                              </m:r>
                            </m:e>
                            <m:sub>
                              <m:r>
                                <a:rPr lang="en-ZA" sz="1600" b="0" i="1" smtClean="0">
                                  <a:latin typeface="Cambria Math" panose="02040503050406030204" pitchFamily="18" charset="0"/>
                                </a:rPr>
                                <m:t>1</m:t>
                              </m:r>
                            </m:sub>
                          </m:sSub>
                        </m:sub>
                        <m:sup>
                          <m:r>
                            <a:rPr lang="en-ZA" sz="1600" b="0" i="1" smtClean="0">
                              <a:latin typeface="Cambria Math" panose="02040503050406030204" pitchFamily="18" charset="0"/>
                            </a:rPr>
                            <m:t> </m:t>
                          </m:r>
                        </m:sup>
                        <m:e>
                          <m:d>
                            <m:dPr>
                              <m:begChr m:val="{"/>
                              <m:endChr m:val="}"/>
                              <m:ctrlPr>
                                <a:rPr lang="en-ZA" sz="1600" b="0" i="1" smtClean="0">
                                  <a:latin typeface="Cambria Math" panose="02040503050406030204" pitchFamily="18" charset="0"/>
                                </a:rPr>
                              </m:ctrlPr>
                            </m:dPr>
                            <m:e>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𝑝</m:t>
                                  </m:r>
                                </m:e>
                                <m:sub>
                                  <m:r>
                                    <a:rPr lang="en-ZA" sz="1600" b="0" i="1" smtClean="0">
                                      <a:latin typeface="Cambria Math" panose="02040503050406030204" pitchFamily="18" charset="0"/>
                                    </a:rPr>
                                    <m:t>2</m:t>
                                  </m:r>
                                </m:sub>
                              </m:sSub>
                              <m:r>
                                <a:rPr lang="en-ZA" sz="1600" b="0" i="1" smtClean="0">
                                  <a:latin typeface="Cambria Math" panose="02040503050406030204" pitchFamily="18" charset="0"/>
                                </a:rPr>
                                <m:t>𝑐</m:t>
                              </m:r>
                              <m:d>
                                <m:dPr>
                                  <m:ctrlPr>
                                    <a:rPr lang="en-ZA" sz="1600" b="0" i="1" smtClean="0">
                                      <a:latin typeface="Cambria Math" panose="02040503050406030204" pitchFamily="18" charset="0"/>
                                    </a:rPr>
                                  </m:ctrlPr>
                                </m:dPr>
                                <m:e>
                                  <m:r>
                                    <a:rPr lang="en-ZA" sz="1600" b="0" i="1" smtClean="0">
                                      <a:latin typeface="Cambria Math" panose="02040503050406030204" pitchFamily="18" charset="0"/>
                                    </a:rPr>
                                    <m:t>1</m:t>
                                  </m:r>
                                </m:e>
                                <m:e>
                                  <m:r>
                                    <a:rPr lang="en-ZA" sz="1600" b="0" i="1" smtClean="0">
                                      <a:latin typeface="Cambria Math" panose="02040503050406030204" pitchFamily="18" charset="0"/>
                                    </a:rPr>
                                    <m:t>2</m:t>
                                  </m:r>
                                </m:e>
                              </m:d>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2</m:t>
                                  </m:r>
                                </m:sub>
                              </m:sSub>
                              <m:d>
                                <m:dPr>
                                  <m:ctrlPr>
                                    <a:rPr lang="en-ZA" sz="1600" b="0" i="1" smtClean="0">
                                      <a:latin typeface="Cambria Math" panose="02040503050406030204" pitchFamily="18" charset="0"/>
                                    </a:rPr>
                                  </m:ctrlPr>
                                </m:dPr>
                                <m:e>
                                  <m:r>
                                    <a:rPr lang="en-ZA" sz="1600" b="0" i="1" smtClean="0">
                                      <a:latin typeface="Cambria Math" panose="02040503050406030204" pitchFamily="18" charset="0"/>
                                    </a:rPr>
                                    <m:t>𝑥</m:t>
                                  </m:r>
                                </m:e>
                              </m:d>
                              <m:r>
                                <a:rPr lang="en-ZA" sz="1600" b="0" i="1" smtClean="0">
                                  <a:latin typeface="Cambria Math" panose="02040503050406030204" pitchFamily="18" charset="0"/>
                                </a:rPr>
                                <m:t>−</m:t>
                              </m:r>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𝑝</m:t>
                                  </m:r>
                                </m:e>
                                <m:sub>
                                  <m:r>
                                    <a:rPr lang="en-ZA" sz="1600" b="0" i="1" smtClean="0">
                                      <a:latin typeface="Cambria Math" panose="02040503050406030204" pitchFamily="18" charset="0"/>
                                    </a:rPr>
                                    <m:t>1</m:t>
                                  </m:r>
                                </m:sub>
                              </m:sSub>
                              <m:r>
                                <a:rPr lang="en-ZA" sz="1600" b="0" i="1" smtClean="0">
                                  <a:latin typeface="Cambria Math" panose="02040503050406030204" pitchFamily="18" charset="0"/>
                                </a:rPr>
                                <m:t>𝑐</m:t>
                              </m:r>
                              <m:d>
                                <m:dPr>
                                  <m:ctrlPr>
                                    <a:rPr lang="en-ZA" sz="1600" b="0" i="1" smtClean="0">
                                      <a:latin typeface="Cambria Math" panose="02040503050406030204" pitchFamily="18" charset="0"/>
                                    </a:rPr>
                                  </m:ctrlPr>
                                </m:dPr>
                                <m:e>
                                  <m:r>
                                    <a:rPr lang="en-ZA" sz="1600" b="0" i="1" smtClean="0">
                                      <a:latin typeface="Cambria Math" panose="02040503050406030204" pitchFamily="18" charset="0"/>
                                    </a:rPr>
                                    <m:t>2</m:t>
                                  </m:r>
                                </m:e>
                                <m:e>
                                  <m:r>
                                    <a:rPr lang="en-ZA" sz="1600" b="0" i="1" smtClean="0">
                                      <a:latin typeface="Cambria Math" panose="02040503050406030204" pitchFamily="18" charset="0"/>
                                    </a:rPr>
                                    <m:t>1</m:t>
                                  </m:r>
                                </m:e>
                              </m:d>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1</m:t>
                                  </m:r>
                                </m:sub>
                              </m:sSub>
                              <m:d>
                                <m:dPr>
                                  <m:ctrlPr>
                                    <a:rPr lang="en-ZA" sz="1600" b="0" i="1" smtClean="0">
                                      <a:latin typeface="Cambria Math" panose="02040503050406030204" pitchFamily="18" charset="0"/>
                                    </a:rPr>
                                  </m:ctrlPr>
                                </m:dPr>
                                <m:e>
                                  <m:r>
                                    <a:rPr lang="en-ZA" sz="1600" b="0" i="1" smtClean="0">
                                      <a:latin typeface="Cambria Math" panose="02040503050406030204" pitchFamily="18" charset="0"/>
                                    </a:rPr>
                                    <m:t>𝑥</m:t>
                                  </m:r>
                                </m:e>
                              </m:d>
                            </m:e>
                          </m:d>
                          <m:r>
                            <a:rPr lang="en-ZA" sz="1600" b="0" i="1" smtClean="0">
                              <a:latin typeface="Cambria Math" panose="02040503050406030204" pitchFamily="18" charset="0"/>
                            </a:rPr>
                            <m:t>𝑑𝑥</m:t>
                          </m:r>
                        </m:e>
                      </m:nary>
                    </m:oMath>
                  </m:oMathPara>
                </a14:m>
                <a:endParaRPr lang="en-ZA" sz="1600" dirty="0"/>
              </a:p>
            </p:txBody>
          </p:sp>
        </mc:Choice>
        <mc:Fallback xmlns="">
          <p:sp>
            <p:nvSpPr>
              <p:cNvPr id="7" name="TextBox 6"/>
              <p:cNvSpPr txBox="1">
                <a:spLocks noRot="1" noChangeAspect="1" noMove="1" noResize="1" noEditPoints="1" noAdjustHandles="1" noChangeArrowheads="1" noChangeShapeType="1" noTextEdit="1"/>
              </p:cNvSpPr>
              <p:nvPr/>
            </p:nvSpPr>
            <p:spPr>
              <a:xfrm>
                <a:off x="5911850" y="67818"/>
                <a:ext cx="6127750" cy="2217530"/>
              </a:xfrm>
              <a:prstGeom prst="rect">
                <a:avLst/>
              </a:prstGeom>
              <a:blipFill rotWithShape="0">
                <a:blip r:embed="rId3"/>
                <a:stretch>
                  <a:fillRect l="-794" t="-21311" r="-2781" b="-62295"/>
                </a:stretch>
              </a:blipFill>
              <a:ln>
                <a:solidFill>
                  <a:schemeClr val="accent1"/>
                </a:solidFill>
              </a:ln>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3973" y="2425700"/>
                <a:ext cx="5765800" cy="4354012"/>
              </a:xfrm>
              <a:prstGeom prst="rect">
                <a:avLst/>
              </a:prstGeom>
              <a:noFill/>
              <a:ln>
                <a:solidFill>
                  <a:schemeClr val="accent1"/>
                </a:solidFill>
              </a:ln>
            </p:spPr>
            <p:txBody>
              <a:bodyPr wrap="square" rtlCol="0">
                <a:spAutoFit/>
              </a:bodyPr>
              <a:lstStyle/>
              <a:p>
                <a:r>
                  <a:rPr lang="en-ZA" dirty="0" smtClean="0"/>
                  <a:t>This shows that the EMC will be a minimum if we choose   </a:t>
                </a:r>
                <a:r>
                  <a:rPr lang="en-ZA" dirty="0" smtClean="0">
                    <a:solidFill>
                      <a:schemeClr val="accent1">
                        <a:lumMod val="60000"/>
                        <a:lumOff val="40000"/>
                      </a:schemeClr>
                    </a:solidFill>
                  </a:rPr>
                  <a:t>3 </a:t>
                </a:r>
                <a:r>
                  <a:rPr lang="en-ZA" dirty="0" smtClean="0"/>
                  <a:t>the partition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𝑅</m:t>
                        </m:r>
                      </m:e>
                      <m:sub>
                        <m:r>
                          <a:rPr lang="en-ZA" b="0" i="1" smtClean="0">
                            <a:latin typeface="Cambria Math" panose="02040503050406030204" pitchFamily="18" charset="0"/>
                          </a:rPr>
                          <m:t>1</m:t>
                        </m:r>
                      </m:sub>
                    </m:sSub>
                  </m:oMath>
                </a14:m>
                <a:r>
                  <a:rPr lang="en-ZA" dirty="0" smtClean="0"/>
                  <a:t> such that </a:t>
                </a:r>
              </a:p>
              <a:p>
                <a:pPr/>
                <a14:m>
                  <m:oMathPara xmlns:m="http://schemas.openxmlformats.org/officeDocument/2006/math">
                    <m:oMathParaPr>
                      <m:jc m:val="centerGroup"/>
                    </m:oMathParaPr>
                    <m:oMath xmlns:m="http://schemas.openxmlformats.org/officeDocument/2006/math">
                      <m:nary>
                        <m:naryPr>
                          <m:ctrlPr>
                            <a:rPr lang="en-ZA" i="1" smtClean="0">
                              <a:latin typeface="Cambria Math" panose="02040503050406030204" pitchFamily="18" charset="0"/>
                            </a:rPr>
                          </m:ctrlPr>
                        </m:naryPr>
                        <m:sub>
                          <m:sSub>
                            <m:sSubPr>
                              <m:ctrlPr>
                                <a:rPr lang="en-ZA" i="1" smtClean="0">
                                  <a:latin typeface="Cambria Math" panose="02040503050406030204" pitchFamily="18" charset="0"/>
                                </a:rPr>
                              </m:ctrlPr>
                            </m:sSubPr>
                            <m:e>
                              <m:r>
                                <a:rPr lang="en-ZA" b="0" i="1" smtClean="0">
                                  <a:latin typeface="Cambria Math" panose="02040503050406030204" pitchFamily="18" charset="0"/>
                                </a:rPr>
                                <m:t>𝑅</m:t>
                              </m:r>
                            </m:e>
                            <m:sub>
                              <m:r>
                                <a:rPr lang="en-ZA" b="0" i="1" smtClean="0">
                                  <a:latin typeface="Cambria Math" panose="02040503050406030204" pitchFamily="18" charset="0"/>
                                </a:rPr>
                                <m:t>1</m:t>
                              </m:r>
                            </m:sub>
                          </m:sSub>
                        </m:sub>
                        <m:sup>
                          <m:r>
                            <a:rPr lang="en-ZA" b="0" i="1" smtClean="0">
                              <a:latin typeface="Cambria Math" panose="02040503050406030204" pitchFamily="18" charset="0"/>
                            </a:rPr>
                            <m:t>.</m:t>
                          </m:r>
                        </m:sup>
                        <m:e>
                          <m:d>
                            <m:dPr>
                              <m:begChr m:val="{"/>
                              <m:endChr m:val="}"/>
                              <m:ctrlPr>
                                <a:rPr lang="en-ZA" b="0" i="1" smtClean="0">
                                  <a:latin typeface="Cambria Math" panose="02040503050406030204" pitchFamily="18" charset="0"/>
                                </a:rPr>
                              </m:ctrlPr>
                            </m:dPr>
                            <m:e>
                              <m:sSub>
                                <m:sSubPr>
                                  <m:ctrlPr>
                                    <a:rPr lang="en-ZA" b="0"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2</m:t>
                                  </m:r>
                                </m:sub>
                              </m:sSub>
                              <m:r>
                                <a:rPr lang="en-ZA" b="0" i="1" smtClean="0">
                                  <a:latin typeface="Cambria Math" panose="02040503050406030204" pitchFamily="18" charset="0"/>
                                </a:rPr>
                                <m:t>𝑐</m:t>
                              </m:r>
                              <m:d>
                                <m:dPr>
                                  <m:ctrlPr>
                                    <a:rPr lang="en-ZA" b="0" i="1" smtClean="0">
                                      <a:latin typeface="Cambria Math" panose="02040503050406030204" pitchFamily="18" charset="0"/>
                                    </a:rPr>
                                  </m:ctrlPr>
                                </m:dPr>
                                <m:e>
                                  <m:r>
                                    <a:rPr lang="en-ZA" b="0" i="1" smtClean="0">
                                      <a:latin typeface="Cambria Math" panose="02040503050406030204" pitchFamily="18" charset="0"/>
                                    </a:rPr>
                                    <m:t>1</m:t>
                                  </m:r>
                                </m:e>
                                <m:e>
                                  <m:r>
                                    <a:rPr lang="en-ZA" b="0" i="1" smtClean="0">
                                      <a:latin typeface="Cambria Math" panose="02040503050406030204" pitchFamily="18" charset="0"/>
                                    </a:rPr>
                                    <m:t>2</m:t>
                                  </m:r>
                                </m:e>
                              </m:d>
                              <m:sSub>
                                <m:sSubPr>
                                  <m:ctrlPr>
                                    <a:rPr lang="en-ZA" b="0"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2</m:t>
                                  </m:r>
                                </m:sub>
                              </m:sSub>
                              <m:d>
                                <m:dPr>
                                  <m:ctrlPr>
                                    <a:rPr lang="en-ZA" b="0" i="1" smtClean="0">
                                      <a:latin typeface="Cambria Math" panose="02040503050406030204" pitchFamily="18" charset="0"/>
                                    </a:rPr>
                                  </m:ctrlPr>
                                </m:dPr>
                                <m:e>
                                  <m:r>
                                    <a:rPr lang="en-ZA" b="0" i="1" smtClean="0">
                                      <a:latin typeface="Cambria Math" panose="02040503050406030204" pitchFamily="18" charset="0"/>
                                    </a:rPr>
                                    <m:t>𝑥</m:t>
                                  </m:r>
                                </m:e>
                              </m:d>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1</m:t>
                                  </m:r>
                                </m:sub>
                              </m:sSub>
                              <m:r>
                                <a:rPr lang="en-ZA" b="0" i="1" smtClean="0">
                                  <a:latin typeface="Cambria Math" panose="02040503050406030204" pitchFamily="18" charset="0"/>
                                </a:rPr>
                                <m:t>𝑐</m:t>
                              </m:r>
                              <m:d>
                                <m:dPr>
                                  <m:ctrlPr>
                                    <a:rPr lang="en-ZA" b="0" i="1" smtClean="0">
                                      <a:latin typeface="Cambria Math" panose="02040503050406030204" pitchFamily="18" charset="0"/>
                                    </a:rPr>
                                  </m:ctrlPr>
                                </m:dPr>
                                <m:e>
                                  <m:r>
                                    <a:rPr lang="en-ZA" b="0" i="1" smtClean="0">
                                      <a:latin typeface="Cambria Math" panose="02040503050406030204" pitchFamily="18" charset="0"/>
                                    </a:rPr>
                                    <m:t>2</m:t>
                                  </m:r>
                                </m:e>
                                <m:e>
                                  <m:r>
                                    <a:rPr lang="en-ZA" b="0" i="1" smtClean="0">
                                      <a:latin typeface="Cambria Math" panose="02040503050406030204" pitchFamily="18" charset="0"/>
                                    </a:rPr>
                                    <m:t>1</m:t>
                                  </m:r>
                                </m:e>
                              </m:d>
                              <m:sSub>
                                <m:sSubPr>
                                  <m:ctrlPr>
                                    <a:rPr lang="en-ZA" b="0"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1</m:t>
                                  </m:r>
                                </m:sub>
                              </m:sSub>
                              <m:d>
                                <m:dPr>
                                  <m:ctrlPr>
                                    <a:rPr lang="en-ZA" b="0" i="1" smtClean="0">
                                      <a:latin typeface="Cambria Math" panose="02040503050406030204" pitchFamily="18" charset="0"/>
                                    </a:rPr>
                                  </m:ctrlPr>
                                </m:dPr>
                                <m:e>
                                  <m:r>
                                    <a:rPr lang="en-ZA" b="0" i="1" smtClean="0">
                                      <a:latin typeface="Cambria Math" panose="02040503050406030204" pitchFamily="18" charset="0"/>
                                    </a:rPr>
                                    <m:t>𝑥</m:t>
                                  </m:r>
                                </m:e>
                              </m:d>
                            </m:e>
                          </m:d>
                          <m:r>
                            <a:rPr lang="en-ZA" b="0" i="1" smtClean="0">
                              <a:latin typeface="Cambria Math" panose="02040503050406030204" pitchFamily="18" charset="0"/>
                            </a:rPr>
                            <m:t>𝑑𝑥</m:t>
                          </m:r>
                        </m:e>
                      </m:nary>
                    </m:oMath>
                  </m:oMathPara>
                </a14:m>
                <a:endParaRPr lang="en-ZA" dirty="0" smtClean="0"/>
              </a:p>
              <a:p>
                <a:r>
                  <a:rPr lang="en-ZA" dirty="0"/>
                  <a:t>i</a:t>
                </a:r>
                <a:r>
                  <a:rPr lang="en-ZA" dirty="0" smtClean="0"/>
                  <a:t>s as small as possible, or equivalently,</a:t>
                </a:r>
              </a:p>
              <a:p>
                <a:pPr/>
                <a14:m>
                  <m:oMathPara xmlns:m="http://schemas.openxmlformats.org/officeDocument/2006/math">
                    <m:oMathParaPr>
                      <m:jc m:val="centerGroup"/>
                    </m:oMathParaPr>
                    <m:oMath xmlns:m="http://schemas.openxmlformats.org/officeDocument/2006/math">
                      <m:r>
                        <a:rPr lang="en-ZA" sz="1600" b="0" i="1" smtClean="0">
                          <a:latin typeface="Cambria Math" panose="02040503050406030204" pitchFamily="18" charset="0"/>
                        </a:rPr>
                        <m:t>𝑥</m:t>
                      </m:r>
                      <m:r>
                        <a:rPr lang="en-ZA" sz="1600" b="0" i="1" smtClean="0">
                          <a:latin typeface="Cambria Math" panose="02040503050406030204" pitchFamily="18" charset="0"/>
                          <a:ea typeface="Cambria Math" panose="02040503050406030204" pitchFamily="18" charset="0"/>
                        </a:rPr>
                        <m:t>∈</m:t>
                      </m:r>
                      <m:sSub>
                        <m:sSubPr>
                          <m:ctrlPr>
                            <a:rPr lang="en-ZA" sz="1600" b="0" i="1" smtClean="0">
                              <a:latin typeface="Cambria Math" panose="02040503050406030204" pitchFamily="18" charset="0"/>
                              <a:ea typeface="Cambria Math" panose="02040503050406030204" pitchFamily="18" charset="0"/>
                            </a:rPr>
                          </m:ctrlPr>
                        </m:sSubPr>
                        <m:e>
                          <m:r>
                            <a:rPr lang="en-ZA" sz="1600" b="0" i="1" smtClean="0">
                              <a:latin typeface="Cambria Math" panose="02040503050406030204" pitchFamily="18" charset="0"/>
                              <a:ea typeface="Cambria Math" panose="02040503050406030204" pitchFamily="18" charset="0"/>
                            </a:rPr>
                            <m:t>𝑅</m:t>
                          </m:r>
                        </m:e>
                        <m:sub>
                          <m:r>
                            <a:rPr lang="en-ZA" sz="1600" b="0" i="1" smtClean="0">
                              <a:latin typeface="Cambria Math" panose="02040503050406030204" pitchFamily="18" charset="0"/>
                              <a:ea typeface="Cambria Math" panose="02040503050406030204" pitchFamily="18" charset="0"/>
                            </a:rPr>
                            <m:t>1</m:t>
                          </m:r>
                        </m:sub>
                      </m:sSub>
                    </m:oMath>
                  </m:oMathPara>
                </a14:m>
                <a:endParaRPr lang="en-ZA" sz="1600" b="0" dirty="0" smtClean="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𝑝</m:t>
                          </m:r>
                        </m:e>
                        <m:sub>
                          <m:r>
                            <a:rPr lang="en-ZA" sz="1600" b="0" i="1" smtClean="0">
                              <a:latin typeface="Cambria Math" panose="02040503050406030204" pitchFamily="18" charset="0"/>
                            </a:rPr>
                            <m:t>2</m:t>
                          </m:r>
                        </m:sub>
                      </m:sSub>
                      <m:r>
                        <a:rPr lang="en-ZA" sz="1600" b="0" i="1" smtClean="0">
                          <a:latin typeface="Cambria Math" panose="02040503050406030204" pitchFamily="18" charset="0"/>
                        </a:rPr>
                        <m:t>𝑐</m:t>
                      </m:r>
                      <m:d>
                        <m:dPr>
                          <m:ctrlPr>
                            <a:rPr lang="en-ZA" sz="1600" b="0" i="1" smtClean="0">
                              <a:latin typeface="Cambria Math" panose="02040503050406030204" pitchFamily="18" charset="0"/>
                            </a:rPr>
                          </m:ctrlPr>
                        </m:dPr>
                        <m:e>
                          <m:r>
                            <a:rPr lang="en-ZA" sz="1600" b="0" i="1" smtClean="0">
                              <a:latin typeface="Cambria Math" panose="02040503050406030204" pitchFamily="18" charset="0"/>
                            </a:rPr>
                            <m:t>1</m:t>
                          </m:r>
                        </m:e>
                        <m:e>
                          <m:r>
                            <a:rPr lang="en-ZA" sz="1600" b="0" i="1" smtClean="0">
                              <a:latin typeface="Cambria Math" panose="02040503050406030204" pitchFamily="18" charset="0"/>
                            </a:rPr>
                            <m:t>2</m:t>
                          </m:r>
                        </m:e>
                      </m:d>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2</m:t>
                          </m:r>
                        </m:sub>
                      </m:sSub>
                      <m:d>
                        <m:dPr>
                          <m:ctrlPr>
                            <a:rPr lang="en-ZA" sz="1600" b="0" i="1" smtClean="0">
                              <a:latin typeface="Cambria Math" panose="02040503050406030204" pitchFamily="18" charset="0"/>
                            </a:rPr>
                          </m:ctrlPr>
                        </m:dPr>
                        <m:e>
                          <m:r>
                            <a:rPr lang="en-ZA" sz="1600" b="0" i="1" smtClean="0">
                              <a:latin typeface="Cambria Math" panose="02040503050406030204" pitchFamily="18" charset="0"/>
                            </a:rPr>
                            <m:t>𝑥</m:t>
                          </m:r>
                        </m:e>
                      </m:d>
                      <m:r>
                        <a:rPr lang="en-ZA" sz="1600" b="0" i="1" smtClean="0">
                          <a:latin typeface="Cambria Math" panose="02040503050406030204" pitchFamily="18" charset="0"/>
                        </a:rPr>
                        <m:t>−</m:t>
                      </m:r>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𝑝</m:t>
                          </m:r>
                        </m:e>
                        <m:sub>
                          <m:r>
                            <a:rPr lang="en-ZA" sz="1600" b="0" i="1" smtClean="0">
                              <a:latin typeface="Cambria Math" panose="02040503050406030204" pitchFamily="18" charset="0"/>
                            </a:rPr>
                            <m:t>1</m:t>
                          </m:r>
                        </m:sub>
                      </m:sSub>
                      <m:r>
                        <a:rPr lang="en-ZA" sz="1600" b="0" i="1" smtClean="0">
                          <a:latin typeface="Cambria Math" panose="02040503050406030204" pitchFamily="18" charset="0"/>
                        </a:rPr>
                        <m:t>𝑐</m:t>
                      </m:r>
                      <m:d>
                        <m:dPr>
                          <m:ctrlPr>
                            <a:rPr lang="en-ZA" sz="1600" b="0" i="1" smtClean="0">
                              <a:latin typeface="Cambria Math" panose="02040503050406030204" pitchFamily="18" charset="0"/>
                            </a:rPr>
                          </m:ctrlPr>
                        </m:dPr>
                        <m:e>
                          <m:r>
                            <a:rPr lang="en-ZA" sz="1600" b="0" i="1" smtClean="0">
                              <a:latin typeface="Cambria Math" panose="02040503050406030204" pitchFamily="18" charset="0"/>
                            </a:rPr>
                            <m:t>2</m:t>
                          </m:r>
                        </m:e>
                        <m:e>
                          <m:r>
                            <a:rPr lang="en-ZA" sz="1600" b="0" i="1" smtClean="0">
                              <a:latin typeface="Cambria Math" panose="02040503050406030204" pitchFamily="18" charset="0"/>
                            </a:rPr>
                            <m:t>1</m:t>
                          </m:r>
                        </m:e>
                      </m:d>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1</m:t>
                          </m:r>
                        </m:sub>
                      </m:sSub>
                      <m:d>
                        <m:dPr>
                          <m:ctrlPr>
                            <a:rPr lang="en-ZA" sz="1600" b="0" i="1" smtClean="0">
                              <a:latin typeface="Cambria Math" panose="02040503050406030204" pitchFamily="18" charset="0"/>
                            </a:rPr>
                          </m:ctrlPr>
                        </m:dPr>
                        <m:e>
                          <m:r>
                            <a:rPr lang="en-ZA" sz="1600" b="0" i="1" smtClean="0">
                              <a:latin typeface="Cambria Math" panose="02040503050406030204" pitchFamily="18" charset="0"/>
                            </a:rPr>
                            <m:t>𝑥</m:t>
                          </m:r>
                        </m:e>
                      </m:d>
                      <m:r>
                        <a:rPr lang="en-ZA" sz="1600" b="0" i="1" smtClean="0">
                          <a:latin typeface="Cambria Math" panose="02040503050406030204" pitchFamily="18" charset="0"/>
                          <a:ea typeface="Cambria Math" panose="02040503050406030204" pitchFamily="18" charset="0"/>
                        </a:rPr>
                        <m:t>≤0</m:t>
                      </m:r>
                    </m:oMath>
                  </m:oMathPara>
                </a14:m>
                <a:endParaRPr lang="en-ZA" sz="1600" b="0" dirty="0" smtClean="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𝑝</m:t>
                          </m:r>
                        </m:e>
                        <m:sub>
                          <m:r>
                            <a:rPr lang="en-ZA" sz="1600" b="0" i="1" smtClean="0">
                              <a:latin typeface="Cambria Math" panose="02040503050406030204" pitchFamily="18" charset="0"/>
                            </a:rPr>
                            <m:t>2</m:t>
                          </m:r>
                        </m:sub>
                      </m:sSub>
                      <m:r>
                        <a:rPr lang="en-ZA" sz="1600" b="0" i="1" smtClean="0">
                          <a:latin typeface="Cambria Math" panose="02040503050406030204" pitchFamily="18" charset="0"/>
                        </a:rPr>
                        <m:t>𝑐</m:t>
                      </m:r>
                      <m:d>
                        <m:dPr>
                          <m:ctrlPr>
                            <a:rPr lang="en-ZA" sz="1600" b="0" i="1" smtClean="0">
                              <a:latin typeface="Cambria Math" panose="02040503050406030204" pitchFamily="18" charset="0"/>
                            </a:rPr>
                          </m:ctrlPr>
                        </m:dPr>
                        <m:e>
                          <m:r>
                            <a:rPr lang="en-ZA" sz="1600" b="0" i="1" smtClean="0">
                              <a:latin typeface="Cambria Math" panose="02040503050406030204" pitchFamily="18" charset="0"/>
                            </a:rPr>
                            <m:t>1</m:t>
                          </m:r>
                        </m:e>
                        <m:e>
                          <m:r>
                            <a:rPr lang="en-ZA" sz="1600" b="0" i="1" smtClean="0">
                              <a:latin typeface="Cambria Math" panose="02040503050406030204" pitchFamily="18" charset="0"/>
                            </a:rPr>
                            <m:t>2</m:t>
                          </m:r>
                        </m:e>
                      </m:d>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2</m:t>
                          </m:r>
                        </m:sub>
                      </m:sSub>
                      <m:d>
                        <m:dPr>
                          <m:ctrlPr>
                            <a:rPr lang="en-ZA" sz="1600" b="0" i="1" smtClean="0">
                              <a:latin typeface="Cambria Math" panose="02040503050406030204" pitchFamily="18" charset="0"/>
                            </a:rPr>
                          </m:ctrlPr>
                        </m:dPr>
                        <m:e>
                          <m:r>
                            <a:rPr lang="en-ZA" sz="1600" b="0" i="1" smtClean="0">
                              <a:latin typeface="Cambria Math" panose="02040503050406030204" pitchFamily="18" charset="0"/>
                            </a:rPr>
                            <m:t>𝑥</m:t>
                          </m:r>
                        </m:e>
                      </m:d>
                      <m:r>
                        <a:rPr lang="en-ZA" sz="1600" i="1">
                          <a:latin typeface="Cambria Math" panose="02040503050406030204" pitchFamily="18" charset="0"/>
                          <a:ea typeface="Cambria Math" panose="02040503050406030204" pitchFamily="18" charset="0"/>
                        </a:rPr>
                        <m:t>≤</m:t>
                      </m:r>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𝑝</m:t>
                          </m:r>
                        </m:e>
                        <m:sub>
                          <m:r>
                            <a:rPr lang="en-ZA" sz="1600" b="0" i="1" smtClean="0">
                              <a:latin typeface="Cambria Math" panose="02040503050406030204" pitchFamily="18" charset="0"/>
                            </a:rPr>
                            <m:t>1</m:t>
                          </m:r>
                        </m:sub>
                      </m:sSub>
                      <m:r>
                        <a:rPr lang="en-ZA" sz="1600" b="0" i="1" smtClean="0">
                          <a:latin typeface="Cambria Math" panose="02040503050406030204" pitchFamily="18" charset="0"/>
                        </a:rPr>
                        <m:t>𝑐</m:t>
                      </m:r>
                      <m:d>
                        <m:dPr>
                          <m:ctrlPr>
                            <a:rPr lang="en-ZA" sz="1600" b="0" i="1" smtClean="0">
                              <a:latin typeface="Cambria Math" panose="02040503050406030204" pitchFamily="18" charset="0"/>
                            </a:rPr>
                          </m:ctrlPr>
                        </m:dPr>
                        <m:e>
                          <m:r>
                            <a:rPr lang="en-ZA" sz="1600" b="0" i="1" smtClean="0">
                              <a:latin typeface="Cambria Math" panose="02040503050406030204" pitchFamily="18" charset="0"/>
                            </a:rPr>
                            <m:t>2</m:t>
                          </m:r>
                        </m:e>
                        <m:e>
                          <m:r>
                            <a:rPr lang="en-ZA" sz="1600" b="0" i="1" smtClean="0">
                              <a:latin typeface="Cambria Math" panose="02040503050406030204" pitchFamily="18" charset="0"/>
                            </a:rPr>
                            <m:t>1</m:t>
                          </m:r>
                        </m:e>
                      </m:d>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1</m:t>
                          </m:r>
                        </m:sub>
                      </m:sSub>
                      <m:d>
                        <m:dPr>
                          <m:ctrlPr>
                            <a:rPr lang="en-ZA" sz="1600" b="0" i="1" smtClean="0">
                              <a:latin typeface="Cambria Math" panose="02040503050406030204" pitchFamily="18" charset="0"/>
                            </a:rPr>
                          </m:ctrlPr>
                        </m:dPr>
                        <m:e>
                          <m:r>
                            <a:rPr lang="en-ZA" sz="1600" b="0" i="1" smtClean="0">
                              <a:latin typeface="Cambria Math" panose="02040503050406030204" pitchFamily="18" charset="0"/>
                            </a:rPr>
                            <m:t>𝑥</m:t>
                          </m:r>
                        </m:e>
                      </m:d>
                    </m:oMath>
                  </m:oMathPara>
                </a14:m>
                <a:endParaRPr lang="en-ZA" sz="1600" dirty="0" smtClean="0"/>
              </a:p>
              <a:p>
                <a:pPr/>
                <a14:m>
                  <m:oMathPara xmlns:m="http://schemas.openxmlformats.org/officeDocument/2006/math">
                    <m:oMathParaPr>
                      <m:jc m:val="centerGroup"/>
                    </m:oMathParaPr>
                    <m:oMath xmlns:m="http://schemas.openxmlformats.org/officeDocument/2006/math">
                      <m:f>
                        <m:fPr>
                          <m:ctrlPr>
                            <a:rPr lang="en-ZA" sz="1600" i="1" smtClean="0">
                              <a:latin typeface="Cambria Math" panose="02040503050406030204" pitchFamily="18" charset="0"/>
                            </a:rPr>
                          </m:ctrlPr>
                        </m:fPr>
                        <m:num>
                          <m:sSub>
                            <m:sSubPr>
                              <m:ctrlPr>
                                <a:rPr lang="en-ZA" sz="160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1</m:t>
                              </m:r>
                            </m:sub>
                          </m:sSub>
                          <m:r>
                            <a:rPr lang="en-ZA" sz="1600" b="0" i="1" smtClean="0">
                              <a:latin typeface="Cambria Math" panose="02040503050406030204" pitchFamily="18" charset="0"/>
                            </a:rPr>
                            <m:t>(</m:t>
                          </m:r>
                          <m:r>
                            <a:rPr lang="en-ZA" sz="1600" b="0" i="1" smtClean="0">
                              <a:latin typeface="Cambria Math" panose="02040503050406030204" pitchFamily="18" charset="0"/>
                            </a:rPr>
                            <m:t>𝑥</m:t>
                          </m:r>
                          <m:r>
                            <a:rPr lang="en-ZA" sz="1600" b="0" i="1" smtClean="0">
                              <a:latin typeface="Cambria Math" panose="02040503050406030204" pitchFamily="18" charset="0"/>
                            </a:rPr>
                            <m:t>)</m:t>
                          </m:r>
                        </m:num>
                        <m:den>
                          <m:sSub>
                            <m:sSubPr>
                              <m:ctrlPr>
                                <a:rPr lang="en-ZA" sz="160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2</m:t>
                              </m:r>
                            </m:sub>
                          </m:sSub>
                          <m:r>
                            <a:rPr lang="en-ZA" sz="1600" b="0" i="1" smtClean="0">
                              <a:latin typeface="Cambria Math" panose="02040503050406030204" pitchFamily="18" charset="0"/>
                            </a:rPr>
                            <m:t>(</m:t>
                          </m:r>
                          <m:r>
                            <a:rPr lang="en-ZA" sz="1600" b="0" i="1" smtClean="0">
                              <a:latin typeface="Cambria Math" panose="02040503050406030204" pitchFamily="18" charset="0"/>
                            </a:rPr>
                            <m:t>𝑥</m:t>
                          </m:r>
                          <m:r>
                            <a:rPr lang="en-ZA" sz="1600" b="0" i="1" smtClean="0">
                              <a:latin typeface="Cambria Math" panose="02040503050406030204" pitchFamily="18" charset="0"/>
                            </a:rPr>
                            <m:t>)</m:t>
                          </m:r>
                        </m:den>
                      </m:f>
                      <m:r>
                        <a:rPr lang="en-ZA" sz="1600" i="1" smtClean="0">
                          <a:latin typeface="Cambria Math" panose="02040503050406030204" pitchFamily="18" charset="0"/>
                          <a:ea typeface="Cambria Math" panose="02040503050406030204" pitchFamily="18" charset="0"/>
                        </a:rPr>
                        <m:t>≥</m:t>
                      </m:r>
                      <m:d>
                        <m:dPr>
                          <m:ctrlPr>
                            <a:rPr lang="en-ZA" sz="1600" i="1" smtClean="0">
                              <a:latin typeface="Cambria Math" panose="02040503050406030204" pitchFamily="18" charset="0"/>
                              <a:ea typeface="Cambria Math" panose="02040503050406030204" pitchFamily="18" charset="0"/>
                            </a:rPr>
                          </m:ctrlPr>
                        </m:dPr>
                        <m:e>
                          <m:f>
                            <m:fPr>
                              <m:ctrlPr>
                                <a:rPr lang="en-ZA" sz="1600" i="1" smtClean="0">
                                  <a:latin typeface="Cambria Math" panose="02040503050406030204" pitchFamily="18" charset="0"/>
                                  <a:ea typeface="Cambria Math" panose="02040503050406030204" pitchFamily="18" charset="0"/>
                                </a:rPr>
                              </m:ctrlPr>
                            </m:fPr>
                            <m:num>
                              <m:r>
                                <a:rPr lang="en-ZA" sz="1600" b="0" i="1" smtClean="0">
                                  <a:latin typeface="Cambria Math" panose="02040503050406030204" pitchFamily="18" charset="0"/>
                                  <a:ea typeface="Cambria Math" panose="02040503050406030204" pitchFamily="18" charset="0"/>
                                </a:rPr>
                                <m:t>𝑐</m:t>
                              </m:r>
                              <m:r>
                                <a:rPr lang="en-ZA" sz="1600" b="0" i="1" smtClean="0">
                                  <a:latin typeface="Cambria Math" panose="02040503050406030204" pitchFamily="18" charset="0"/>
                                  <a:ea typeface="Cambria Math" panose="02040503050406030204" pitchFamily="18" charset="0"/>
                                </a:rPr>
                                <m:t>(1|2)</m:t>
                              </m:r>
                            </m:num>
                            <m:den>
                              <m:r>
                                <a:rPr lang="en-ZA" sz="1600" b="0" i="1" smtClean="0">
                                  <a:latin typeface="Cambria Math" panose="02040503050406030204" pitchFamily="18" charset="0"/>
                                  <a:ea typeface="Cambria Math" panose="02040503050406030204" pitchFamily="18" charset="0"/>
                                </a:rPr>
                                <m:t>𝑐</m:t>
                              </m:r>
                              <m:r>
                                <a:rPr lang="en-ZA" sz="1600" b="0" i="1" smtClean="0">
                                  <a:latin typeface="Cambria Math" panose="02040503050406030204" pitchFamily="18" charset="0"/>
                                  <a:ea typeface="Cambria Math" panose="02040503050406030204" pitchFamily="18" charset="0"/>
                                </a:rPr>
                                <m:t>(2|1)</m:t>
                              </m:r>
                            </m:den>
                          </m:f>
                        </m:e>
                      </m:d>
                      <m:d>
                        <m:dPr>
                          <m:ctrlPr>
                            <a:rPr lang="en-ZA" sz="1600" i="1" smtClean="0">
                              <a:latin typeface="Cambria Math" panose="02040503050406030204" pitchFamily="18" charset="0"/>
                              <a:ea typeface="Cambria Math" panose="02040503050406030204" pitchFamily="18" charset="0"/>
                            </a:rPr>
                          </m:ctrlPr>
                        </m:dPr>
                        <m:e>
                          <m:f>
                            <m:fPr>
                              <m:ctrlPr>
                                <a:rPr lang="en-ZA" sz="1600" i="1" smtClean="0">
                                  <a:latin typeface="Cambria Math" panose="02040503050406030204" pitchFamily="18" charset="0"/>
                                  <a:ea typeface="Cambria Math" panose="02040503050406030204" pitchFamily="18" charset="0"/>
                                </a:rPr>
                              </m:ctrlPr>
                            </m:fPr>
                            <m:num>
                              <m:sSub>
                                <m:sSubPr>
                                  <m:ctrlPr>
                                    <a:rPr lang="en-ZA" sz="1600" i="1" smtClean="0">
                                      <a:latin typeface="Cambria Math" panose="02040503050406030204" pitchFamily="18" charset="0"/>
                                      <a:ea typeface="Cambria Math" panose="02040503050406030204" pitchFamily="18" charset="0"/>
                                    </a:rPr>
                                  </m:ctrlPr>
                                </m:sSubPr>
                                <m:e>
                                  <m:r>
                                    <a:rPr lang="en-ZA" sz="1600" b="0" i="1" smtClean="0">
                                      <a:latin typeface="Cambria Math" panose="02040503050406030204" pitchFamily="18" charset="0"/>
                                      <a:ea typeface="Cambria Math" panose="02040503050406030204" pitchFamily="18" charset="0"/>
                                    </a:rPr>
                                    <m:t>𝑝</m:t>
                                  </m:r>
                                </m:e>
                                <m:sub>
                                  <m:r>
                                    <a:rPr lang="en-ZA" sz="1600" b="0" i="1" smtClean="0">
                                      <a:latin typeface="Cambria Math" panose="02040503050406030204" pitchFamily="18" charset="0"/>
                                      <a:ea typeface="Cambria Math" panose="02040503050406030204" pitchFamily="18" charset="0"/>
                                    </a:rPr>
                                    <m:t>2</m:t>
                                  </m:r>
                                </m:sub>
                              </m:sSub>
                            </m:num>
                            <m:den>
                              <m:sSub>
                                <m:sSubPr>
                                  <m:ctrlPr>
                                    <a:rPr lang="en-ZA" sz="1600" i="1" smtClean="0">
                                      <a:latin typeface="Cambria Math" panose="02040503050406030204" pitchFamily="18" charset="0"/>
                                      <a:ea typeface="Cambria Math" panose="02040503050406030204" pitchFamily="18" charset="0"/>
                                    </a:rPr>
                                  </m:ctrlPr>
                                </m:sSubPr>
                                <m:e>
                                  <m:r>
                                    <a:rPr lang="en-ZA" sz="1600" b="0" i="1" smtClean="0">
                                      <a:latin typeface="Cambria Math" panose="02040503050406030204" pitchFamily="18" charset="0"/>
                                      <a:ea typeface="Cambria Math" panose="02040503050406030204" pitchFamily="18" charset="0"/>
                                    </a:rPr>
                                    <m:t>𝑝</m:t>
                                  </m:r>
                                </m:e>
                                <m:sub>
                                  <m:r>
                                    <a:rPr lang="en-ZA" sz="1600" b="0" i="1" smtClean="0">
                                      <a:latin typeface="Cambria Math" panose="02040503050406030204" pitchFamily="18" charset="0"/>
                                      <a:ea typeface="Cambria Math" panose="02040503050406030204" pitchFamily="18" charset="0"/>
                                    </a:rPr>
                                    <m:t>1</m:t>
                                  </m:r>
                                </m:sub>
                              </m:sSub>
                            </m:den>
                          </m:f>
                        </m:e>
                      </m:d>
                    </m:oMath>
                  </m:oMathPara>
                </a14:m>
                <a:endParaRPr lang="en-ZA" sz="1600" dirty="0" smtClean="0"/>
              </a:p>
              <a:p>
                <a:endParaRPr lang="en-ZA" sz="1600" dirty="0"/>
              </a:p>
              <a:p>
                <a:pPr/>
                <a14:m>
                  <m:oMathPara xmlns:m="http://schemas.openxmlformats.org/officeDocument/2006/math">
                    <m:oMathParaPr>
                      <m:jc m:val="centerGroup"/>
                    </m:oMathParaPr>
                    <m:oMath xmlns:m="http://schemas.openxmlformats.org/officeDocument/2006/math">
                      <m:r>
                        <a:rPr lang="en-ZA" sz="1600" b="0" i="1" smtClean="0">
                          <a:latin typeface="Cambria Math" panose="02040503050406030204" pitchFamily="18" charset="0"/>
                        </a:rPr>
                        <m:t>𝑥</m:t>
                      </m:r>
                      <m:r>
                        <a:rPr lang="en-ZA" sz="1600" b="0" i="1" smtClean="0">
                          <a:latin typeface="Cambria Math" panose="02040503050406030204" pitchFamily="18" charset="0"/>
                          <a:ea typeface="Cambria Math" panose="02040503050406030204" pitchFamily="18" charset="0"/>
                        </a:rPr>
                        <m:t>∈</m:t>
                      </m:r>
                      <m:sSub>
                        <m:sSubPr>
                          <m:ctrlPr>
                            <a:rPr lang="en-ZA" sz="1600" b="0" i="1" smtClean="0">
                              <a:latin typeface="Cambria Math" panose="02040503050406030204" pitchFamily="18" charset="0"/>
                              <a:ea typeface="Cambria Math" panose="02040503050406030204" pitchFamily="18" charset="0"/>
                            </a:rPr>
                          </m:ctrlPr>
                        </m:sSubPr>
                        <m:e>
                          <m:r>
                            <a:rPr lang="en-ZA" sz="1600" b="0" i="1" smtClean="0">
                              <a:latin typeface="Cambria Math" panose="02040503050406030204" pitchFamily="18" charset="0"/>
                              <a:ea typeface="Cambria Math" panose="02040503050406030204" pitchFamily="18" charset="0"/>
                            </a:rPr>
                            <m:t>𝑅</m:t>
                          </m:r>
                        </m:e>
                        <m:sub>
                          <m:r>
                            <a:rPr lang="en-ZA" sz="1600" b="0" i="1" smtClean="0">
                              <a:latin typeface="Cambria Math" panose="02040503050406030204" pitchFamily="18" charset="0"/>
                              <a:ea typeface="Cambria Math" panose="02040503050406030204" pitchFamily="18" charset="0"/>
                            </a:rPr>
                            <m:t>2</m:t>
                          </m:r>
                        </m:sub>
                      </m:sSub>
                    </m:oMath>
                  </m:oMathPara>
                </a14:m>
                <a:endParaRPr lang="en-ZA" sz="1600" b="0" dirty="0" smtClean="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𝑝</m:t>
                          </m:r>
                        </m:e>
                        <m:sub>
                          <m:r>
                            <a:rPr lang="en-ZA" sz="1600" b="0" i="1" smtClean="0">
                              <a:latin typeface="Cambria Math" panose="02040503050406030204" pitchFamily="18" charset="0"/>
                            </a:rPr>
                            <m:t>2</m:t>
                          </m:r>
                        </m:sub>
                      </m:sSub>
                      <m:r>
                        <a:rPr lang="en-ZA" sz="1600" b="0" i="1" smtClean="0">
                          <a:latin typeface="Cambria Math" panose="02040503050406030204" pitchFamily="18" charset="0"/>
                        </a:rPr>
                        <m:t>𝑐</m:t>
                      </m:r>
                      <m:d>
                        <m:dPr>
                          <m:ctrlPr>
                            <a:rPr lang="en-ZA" sz="1600" b="0" i="1" smtClean="0">
                              <a:latin typeface="Cambria Math" panose="02040503050406030204" pitchFamily="18" charset="0"/>
                            </a:rPr>
                          </m:ctrlPr>
                        </m:dPr>
                        <m:e>
                          <m:r>
                            <a:rPr lang="en-ZA" sz="1600" b="0" i="1" smtClean="0">
                              <a:latin typeface="Cambria Math" panose="02040503050406030204" pitchFamily="18" charset="0"/>
                            </a:rPr>
                            <m:t>1</m:t>
                          </m:r>
                        </m:e>
                        <m:e>
                          <m:r>
                            <a:rPr lang="en-ZA" sz="1600" b="0" i="1" smtClean="0">
                              <a:latin typeface="Cambria Math" panose="02040503050406030204" pitchFamily="18" charset="0"/>
                            </a:rPr>
                            <m:t>2</m:t>
                          </m:r>
                        </m:e>
                      </m:d>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2</m:t>
                          </m:r>
                        </m:sub>
                      </m:sSub>
                      <m:d>
                        <m:dPr>
                          <m:ctrlPr>
                            <a:rPr lang="en-ZA" sz="1600" b="0" i="1" smtClean="0">
                              <a:latin typeface="Cambria Math" panose="02040503050406030204" pitchFamily="18" charset="0"/>
                            </a:rPr>
                          </m:ctrlPr>
                        </m:dPr>
                        <m:e>
                          <m:r>
                            <a:rPr lang="en-ZA" sz="1600" b="0" i="1" smtClean="0">
                              <a:latin typeface="Cambria Math" panose="02040503050406030204" pitchFamily="18" charset="0"/>
                            </a:rPr>
                            <m:t>𝑥</m:t>
                          </m:r>
                        </m:e>
                      </m:d>
                      <m:r>
                        <a:rPr lang="en-ZA" sz="1600" b="0" i="1" smtClean="0">
                          <a:latin typeface="Cambria Math" panose="02040503050406030204" pitchFamily="18" charset="0"/>
                        </a:rPr>
                        <m:t>−</m:t>
                      </m:r>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𝑝</m:t>
                          </m:r>
                        </m:e>
                        <m:sub>
                          <m:r>
                            <a:rPr lang="en-ZA" sz="1600" b="0" i="1" smtClean="0">
                              <a:latin typeface="Cambria Math" panose="02040503050406030204" pitchFamily="18" charset="0"/>
                            </a:rPr>
                            <m:t>1</m:t>
                          </m:r>
                        </m:sub>
                      </m:sSub>
                      <m:r>
                        <a:rPr lang="en-ZA" sz="1600" b="0" i="1" smtClean="0">
                          <a:latin typeface="Cambria Math" panose="02040503050406030204" pitchFamily="18" charset="0"/>
                        </a:rPr>
                        <m:t>𝑐</m:t>
                      </m:r>
                      <m:d>
                        <m:dPr>
                          <m:ctrlPr>
                            <a:rPr lang="en-ZA" sz="1600" b="0" i="1" smtClean="0">
                              <a:latin typeface="Cambria Math" panose="02040503050406030204" pitchFamily="18" charset="0"/>
                            </a:rPr>
                          </m:ctrlPr>
                        </m:dPr>
                        <m:e>
                          <m:r>
                            <a:rPr lang="en-ZA" sz="1600" b="0" i="1" smtClean="0">
                              <a:latin typeface="Cambria Math" panose="02040503050406030204" pitchFamily="18" charset="0"/>
                            </a:rPr>
                            <m:t>2</m:t>
                          </m:r>
                        </m:e>
                        <m:e>
                          <m:r>
                            <a:rPr lang="en-ZA" sz="1600" b="0" i="1" smtClean="0">
                              <a:latin typeface="Cambria Math" panose="02040503050406030204" pitchFamily="18" charset="0"/>
                            </a:rPr>
                            <m:t>1</m:t>
                          </m:r>
                        </m:e>
                      </m:d>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1</m:t>
                          </m:r>
                        </m:sub>
                      </m:sSub>
                      <m:d>
                        <m:dPr>
                          <m:ctrlPr>
                            <a:rPr lang="en-ZA" sz="1600" b="0" i="1" smtClean="0">
                              <a:latin typeface="Cambria Math" panose="02040503050406030204" pitchFamily="18" charset="0"/>
                            </a:rPr>
                          </m:ctrlPr>
                        </m:dPr>
                        <m:e>
                          <m:r>
                            <a:rPr lang="en-ZA" sz="1600" b="0" i="1" smtClean="0">
                              <a:latin typeface="Cambria Math" panose="02040503050406030204" pitchFamily="18" charset="0"/>
                            </a:rPr>
                            <m:t>𝑥</m:t>
                          </m:r>
                        </m:e>
                      </m:d>
                      <m:r>
                        <a:rPr lang="en-ZA" sz="1600" b="0" i="1" smtClean="0">
                          <a:latin typeface="Cambria Math" panose="02040503050406030204" pitchFamily="18" charset="0"/>
                        </a:rPr>
                        <m:t>&gt;</m:t>
                      </m:r>
                      <m:r>
                        <a:rPr lang="en-ZA" sz="1600" b="0" i="1" smtClean="0">
                          <a:latin typeface="Cambria Math" panose="02040503050406030204" pitchFamily="18" charset="0"/>
                          <a:ea typeface="Cambria Math" panose="02040503050406030204" pitchFamily="18" charset="0"/>
                        </a:rPr>
                        <m:t>0</m:t>
                      </m:r>
                    </m:oMath>
                  </m:oMathPara>
                </a14:m>
                <a:endParaRPr lang="en-ZA" sz="1600" b="0" dirty="0" smtClean="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𝑝</m:t>
                          </m:r>
                        </m:e>
                        <m:sub>
                          <m:r>
                            <a:rPr lang="en-ZA" sz="1600" b="0" i="1" smtClean="0">
                              <a:latin typeface="Cambria Math" panose="02040503050406030204" pitchFamily="18" charset="0"/>
                            </a:rPr>
                            <m:t>2</m:t>
                          </m:r>
                        </m:sub>
                      </m:sSub>
                      <m:r>
                        <a:rPr lang="en-ZA" sz="1600" b="0" i="1" smtClean="0">
                          <a:latin typeface="Cambria Math" panose="02040503050406030204" pitchFamily="18" charset="0"/>
                        </a:rPr>
                        <m:t>𝑐</m:t>
                      </m:r>
                      <m:d>
                        <m:dPr>
                          <m:ctrlPr>
                            <a:rPr lang="en-ZA" sz="1600" b="0" i="1" smtClean="0">
                              <a:latin typeface="Cambria Math" panose="02040503050406030204" pitchFamily="18" charset="0"/>
                            </a:rPr>
                          </m:ctrlPr>
                        </m:dPr>
                        <m:e>
                          <m:r>
                            <a:rPr lang="en-ZA" sz="1600" b="0" i="1" smtClean="0">
                              <a:latin typeface="Cambria Math" panose="02040503050406030204" pitchFamily="18" charset="0"/>
                            </a:rPr>
                            <m:t>1</m:t>
                          </m:r>
                        </m:e>
                        <m:e>
                          <m:r>
                            <a:rPr lang="en-ZA" sz="1600" b="0" i="1" smtClean="0">
                              <a:latin typeface="Cambria Math" panose="02040503050406030204" pitchFamily="18" charset="0"/>
                            </a:rPr>
                            <m:t>2</m:t>
                          </m:r>
                        </m:e>
                      </m:d>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2</m:t>
                          </m:r>
                        </m:sub>
                      </m:sSub>
                      <m:d>
                        <m:dPr>
                          <m:ctrlPr>
                            <a:rPr lang="en-ZA" sz="1600" b="0" i="1" smtClean="0">
                              <a:latin typeface="Cambria Math" panose="02040503050406030204" pitchFamily="18" charset="0"/>
                            </a:rPr>
                          </m:ctrlPr>
                        </m:dPr>
                        <m:e>
                          <m:r>
                            <a:rPr lang="en-ZA" sz="1600" b="0" i="1" smtClean="0">
                              <a:latin typeface="Cambria Math" panose="02040503050406030204" pitchFamily="18" charset="0"/>
                            </a:rPr>
                            <m:t>𝑥</m:t>
                          </m:r>
                        </m:e>
                      </m:d>
                      <m:r>
                        <a:rPr lang="en-ZA" sz="1600" i="1">
                          <a:latin typeface="Cambria Math" panose="02040503050406030204" pitchFamily="18" charset="0"/>
                          <a:ea typeface="Cambria Math" panose="02040503050406030204" pitchFamily="18" charset="0"/>
                        </a:rPr>
                        <m:t>≥</m:t>
                      </m:r>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𝑝</m:t>
                          </m:r>
                        </m:e>
                        <m:sub>
                          <m:r>
                            <a:rPr lang="en-ZA" sz="1600" b="0" i="1" smtClean="0">
                              <a:latin typeface="Cambria Math" panose="02040503050406030204" pitchFamily="18" charset="0"/>
                            </a:rPr>
                            <m:t>1</m:t>
                          </m:r>
                        </m:sub>
                      </m:sSub>
                      <m:r>
                        <a:rPr lang="en-ZA" sz="1600" b="0" i="1" smtClean="0">
                          <a:latin typeface="Cambria Math" panose="02040503050406030204" pitchFamily="18" charset="0"/>
                        </a:rPr>
                        <m:t>𝑐</m:t>
                      </m:r>
                      <m:d>
                        <m:dPr>
                          <m:ctrlPr>
                            <a:rPr lang="en-ZA" sz="1600" b="0" i="1" smtClean="0">
                              <a:latin typeface="Cambria Math" panose="02040503050406030204" pitchFamily="18" charset="0"/>
                            </a:rPr>
                          </m:ctrlPr>
                        </m:dPr>
                        <m:e>
                          <m:r>
                            <a:rPr lang="en-ZA" sz="1600" b="0" i="1" smtClean="0">
                              <a:latin typeface="Cambria Math" panose="02040503050406030204" pitchFamily="18" charset="0"/>
                            </a:rPr>
                            <m:t>2</m:t>
                          </m:r>
                        </m:e>
                        <m:e>
                          <m:r>
                            <a:rPr lang="en-ZA" sz="1600" b="0" i="1" smtClean="0">
                              <a:latin typeface="Cambria Math" panose="02040503050406030204" pitchFamily="18" charset="0"/>
                            </a:rPr>
                            <m:t>1</m:t>
                          </m:r>
                        </m:e>
                      </m:d>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1</m:t>
                          </m:r>
                        </m:sub>
                      </m:sSub>
                      <m:d>
                        <m:dPr>
                          <m:ctrlPr>
                            <a:rPr lang="en-ZA" sz="1600" b="0" i="1" smtClean="0">
                              <a:latin typeface="Cambria Math" panose="02040503050406030204" pitchFamily="18" charset="0"/>
                            </a:rPr>
                          </m:ctrlPr>
                        </m:dPr>
                        <m:e>
                          <m:r>
                            <a:rPr lang="en-ZA" sz="1600" b="0" i="1" smtClean="0">
                              <a:latin typeface="Cambria Math" panose="02040503050406030204" pitchFamily="18" charset="0"/>
                            </a:rPr>
                            <m:t>𝑥</m:t>
                          </m:r>
                        </m:e>
                      </m:d>
                    </m:oMath>
                  </m:oMathPara>
                </a14:m>
                <a:endParaRPr lang="en-ZA" sz="1600" dirty="0" smtClean="0"/>
              </a:p>
              <a:p>
                <a:pPr/>
                <a14:m>
                  <m:oMathPara xmlns:m="http://schemas.openxmlformats.org/officeDocument/2006/math">
                    <m:oMathParaPr>
                      <m:jc m:val="centerGroup"/>
                    </m:oMathParaPr>
                    <m:oMath xmlns:m="http://schemas.openxmlformats.org/officeDocument/2006/math">
                      <m:f>
                        <m:fPr>
                          <m:ctrlPr>
                            <a:rPr lang="en-ZA" sz="1600" i="1" smtClean="0">
                              <a:latin typeface="Cambria Math" panose="02040503050406030204" pitchFamily="18" charset="0"/>
                            </a:rPr>
                          </m:ctrlPr>
                        </m:fPr>
                        <m:num>
                          <m:sSub>
                            <m:sSubPr>
                              <m:ctrlPr>
                                <a:rPr lang="en-ZA" sz="160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1</m:t>
                              </m:r>
                            </m:sub>
                          </m:sSub>
                          <m:r>
                            <a:rPr lang="en-ZA" sz="1600" b="0" i="1" smtClean="0">
                              <a:latin typeface="Cambria Math" panose="02040503050406030204" pitchFamily="18" charset="0"/>
                            </a:rPr>
                            <m:t>(</m:t>
                          </m:r>
                          <m:r>
                            <a:rPr lang="en-ZA" sz="1600" b="0" i="1" smtClean="0">
                              <a:latin typeface="Cambria Math" panose="02040503050406030204" pitchFamily="18" charset="0"/>
                            </a:rPr>
                            <m:t>𝑥</m:t>
                          </m:r>
                          <m:r>
                            <a:rPr lang="en-ZA" sz="1600" b="0" i="1" smtClean="0">
                              <a:latin typeface="Cambria Math" panose="02040503050406030204" pitchFamily="18" charset="0"/>
                            </a:rPr>
                            <m:t>)</m:t>
                          </m:r>
                        </m:num>
                        <m:den>
                          <m:sSub>
                            <m:sSubPr>
                              <m:ctrlPr>
                                <a:rPr lang="en-ZA" sz="160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2</m:t>
                              </m:r>
                            </m:sub>
                          </m:sSub>
                          <m:r>
                            <a:rPr lang="en-ZA" sz="1600" b="0" i="1" smtClean="0">
                              <a:latin typeface="Cambria Math" panose="02040503050406030204" pitchFamily="18" charset="0"/>
                            </a:rPr>
                            <m:t>(</m:t>
                          </m:r>
                          <m:r>
                            <a:rPr lang="en-ZA" sz="1600" b="0" i="1" smtClean="0">
                              <a:latin typeface="Cambria Math" panose="02040503050406030204" pitchFamily="18" charset="0"/>
                            </a:rPr>
                            <m:t>𝑥</m:t>
                          </m:r>
                          <m:r>
                            <a:rPr lang="en-ZA" sz="1600" b="0" i="1" smtClean="0">
                              <a:latin typeface="Cambria Math" panose="02040503050406030204" pitchFamily="18" charset="0"/>
                            </a:rPr>
                            <m:t>)</m:t>
                          </m:r>
                        </m:den>
                      </m:f>
                      <m:r>
                        <a:rPr lang="en-ZA" sz="1600" b="0" i="1" smtClean="0">
                          <a:latin typeface="Cambria Math" panose="02040503050406030204" pitchFamily="18" charset="0"/>
                        </a:rPr>
                        <m:t>&lt;</m:t>
                      </m:r>
                      <m:d>
                        <m:dPr>
                          <m:ctrlPr>
                            <a:rPr lang="en-ZA" sz="1600" i="1" smtClean="0">
                              <a:latin typeface="Cambria Math" panose="02040503050406030204" pitchFamily="18" charset="0"/>
                              <a:ea typeface="Cambria Math" panose="02040503050406030204" pitchFamily="18" charset="0"/>
                            </a:rPr>
                          </m:ctrlPr>
                        </m:dPr>
                        <m:e>
                          <m:f>
                            <m:fPr>
                              <m:ctrlPr>
                                <a:rPr lang="en-ZA" sz="1600" i="1" smtClean="0">
                                  <a:latin typeface="Cambria Math" panose="02040503050406030204" pitchFamily="18" charset="0"/>
                                  <a:ea typeface="Cambria Math" panose="02040503050406030204" pitchFamily="18" charset="0"/>
                                </a:rPr>
                              </m:ctrlPr>
                            </m:fPr>
                            <m:num>
                              <m:r>
                                <a:rPr lang="en-ZA" sz="1600" b="0" i="1" smtClean="0">
                                  <a:latin typeface="Cambria Math" panose="02040503050406030204" pitchFamily="18" charset="0"/>
                                  <a:ea typeface="Cambria Math" panose="02040503050406030204" pitchFamily="18" charset="0"/>
                                </a:rPr>
                                <m:t>𝑐</m:t>
                              </m:r>
                              <m:r>
                                <a:rPr lang="en-ZA" sz="1600" b="0" i="1" smtClean="0">
                                  <a:latin typeface="Cambria Math" panose="02040503050406030204" pitchFamily="18" charset="0"/>
                                  <a:ea typeface="Cambria Math" panose="02040503050406030204" pitchFamily="18" charset="0"/>
                                </a:rPr>
                                <m:t>(1|2)</m:t>
                              </m:r>
                            </m:num>
                            <m:den>
                              <m:r>
                                <a:rPr lang="en-ZA" sz="1600" b="0" i="1" smtClean="0">
                                  <a:latin typeface="Cambria Math" panose="02040503050406030204" pitchFamily="18" charset="0"/>
                                  <a:ea typeface="Cambria Math" panose="02040503050406030204" pitchFamily="18" charset="0"/>
                                </a:rPr>
                                <m:t>𝑐</m:t>
                              </m:r>
                              <m:r>
                                <a:rPr lang="en-ZA" sz="1600" b="0" i="1" smtClean="0">
                                  <a:latin typeface="Cambria Math" panose="02040503050406030204" pitchFamily="18" charset="0"/>
                                  <a:ea typeface="Cambria Math" panose="02040503050406030204" pitchFamily="18" charset="0"/>
                                </a:rPr>
                                <m:t>(2|1)</m:t>
                              </m:r>
                            </m:den>
                          </m:f>
                        </m:e>
                      </m:d>
                      <m:d>
                        <m:dPr>
                          <m:ctrlPr>
                            <a:rPr lang="en-ZA" sz="1600" i="1" smtClean="0">
                              <a:latin typeface="Cambria Math" panose="02040503050406030204" pitchFamily="18" charset="0"/>
                              <a:ea typeface="Cambria Math" panose="02040503050406030204" pitchFamily="18" charset="0"/>
                            </a:rPr>
                          </m:ctrlPr>
                        </m:dPr>
                        <m:e>
                          <m:f>
                            <m:fPr>
                              <m:ctrlPr>
                                <a:rPr lang="en-ZA" sz="1600" i="1" smtClean="0">
                                  <a:latin typeface="Cambria Math" panose="02040503050406030204" pitchFamily="18" charset="0"/>
                                  <a:ea typeface="Cambria Math" panose="02040503050406030204" pitchFamily="18" charset="0"/>
                                </a:rPr>
                              </m:ctrlPr>
                            </m:fPr>
                            <m:num>
                              <m:sSub>
                                <m:sSubPr>
                                  <m:ctrlPr>
                                    <a:rPr lang="en-ZA" sz="1600" i="1" smtClean="0">
                                      <a:latin typeface="Cambria Math" panose="02040503050406030204" pitchFamily="18" charset="0"/>
                                      <a:ea typeface="Cambria Math" panose="02040503050406030204" pitchFamily="18" charset="0"/>
                                    </a:rPr>
                                  </m:ctrlPr>
                                </m:sSubPr>
                                <m:e>
                                  <m:r>
                                    <a:rPr lang="en-ZA" sz="1600" b="0" i="1" smtClean="0">
                                      <a:latin typeface="Cambria Math" panose="02040503050406030204" pitchFamily="18" charset="0"/>
                                      <a:ea typeface="Cambria Math" panose="02040503050406030204" pitchFamily="18" charset="0"/>
                                    </a:rPr>
                                    <m:t>𝑝</m:t>
                                  </m:r>
                                </m:e>
                                <m:sub>
                                  <m:r>
                                    <a:rPr lang="en-ZA" sz="1600" b="0" i="1" smtClean="0">
                                      <a:latin typeface="Cambria Math" panose="02040503050406030204" pitchFamily="18" charset="0"/>
                                      <a:ea typeface="Cambria Math" panose="02040503050406030204" pitchFamily="18" charset="0"/>
                                    </a:rPr>
                                    <m:t>2</m:t>
                                  </m:r>
                                </m:sub>
                              </m:sSub>
                            </m:num>
                            <m:den>
                              <m:sSub>
                                <m:sSubPr>
                                  <m:ctrlPr>
                                    <a:rPr lang="en-ZA" sz="1600" i="1" smtClean="0">
                                      <a:latin typeface="Cambria Math" panose="02040503050406030204" pitchFamily="18" charset="0"/>
                                      <a:ea typeface="Cambria Math" panose="02040503050406030204" pitchFamily="18" charset="0"/>
                                    </a:rPr>
                                  </m:ctrlPr>
                                </m:sSubPr>
                                <m:e>
                                  <m:r>
                                    <a:rPr lang="en-ZA" sz="1600" b="0" i="1" smtClean="0">
                                      <a:latin typeface="Cambria Math" panose="02040503050406030204" pitchFamily="18" charset="0"/>
                                      <a:ea typeface="Cambria Math" panose="02040503050406030204" pitchFamily="18" charset="0"/>
                                    </a:rPr>
                                    <m:t>𝑝</m:t>
                                  </m:r>
                                </m:e>
                                <m:sub>
                                  <m:r>
                                    <a:rPr lang="en-ZA" sz="1600" b="0" i="1" smtClean="0">
                                      <a:latin typeface="Cambria Math" panose="02040503050406030204" pitchFamily="18" charset="0"/>
                                      <a:ea typeface="Cambria Math" panose="02040503050406030204" pitchFamily="18" charset="0"/>
                                    </a:rPr>
                                    <m:t>1</m:t>
                                  </m:r>
                                </m:sub>
                              </m:sSub>
                            </m:den>
                          </m:f>
                        </m:e>
                      </m:d>
                    </m:oMath>
                  </m:oMathPara>
                </a14:m>
                <a:endParaRPr lang="en-ZA" sz="1600" dirty="0"/>
              </a:p>
            </p:txBody>
          </p:sp>
        </mc:Choice>
        <mc:Fallback xmlns="">
          <p:sp>
            <p:nvSpPr>
              <p:cNvPr id="8" name="TextBox 7"/>
              <p:cNvSpPr txBox="1">
                <a:spLocks noRot="1" noChangeAspect="1" noMove="1" noResize="1" noEditPoints="1" noAdjustHandles="1" noChangeArrowheads="1" noChangeShapeType="1" noTextEdit="1"/>
              </p:cNvSpPr>
              <p:nvPr/>
            </p:nvSpPr>
            <p:spPr>
              <a:xfrm>
                <a:off x="53973" y="2425700"/>
                <a:ext cx="5765800" cy="4354012"/>
              </a:xfrm>
              <a:prstGeom prst="rect">
                <a:avLst/>
              </a:prstGeom>
              <a:blipFill rotWithShape="0">
                <a:blip r:embed="rId4"/>
                <a:stretch>
                  <a:fillRect l="-844" t="-698" r="-949"/>
                </a:stretch>
              </a:blipFill>
              <a:ln>
                <a:solidFill>
                  <a:schemeClr val="accent1"/>
                </a:solidFill>
              </a:ln>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911850" y="2449488"/>
                <a:ext cx="6127750" cy="4330224"/>
              </a:xfrm>
              <a:prstGeom prst="rect">
                <a:avLst/>
              </a:prstGeom>
              <a:noFill/>
              <a:ln>
                <a:solidFill>
                  <a:schemeClr val="accent1"/>
                </a:solidFill>
              </a:ln>
            </p:spPr>
            <p:txBody>
              <a:bodyPr wrap="square" rtlCol="0">
                <a:spAutoFit/>
              </a:bodyPr>
              <a:lstStyle/>
              <a:p>
                <a:r>
                  <a:rPr lang="en-ZA" dirty="0" smtClean="0"/>
                  <a:t>Example:                                                                                               </a:t>
                </a:r>
                <a:r>
                  <a:rPr lang="en-ZA" dirty="0" smtClean="0">
                    <a:solidFill>
                      <a:schemeClr val="accent1">
                        <a:lumMod val="60000"/>
                        <a:lumOff val="40000"/>
                      </a:schemeClr>
                    </a:solidFill>
                  </a:rPr>
                  <a:t>4</a:t>
                </a:r>
              </a:p>
              <a:p>
                <a:r>
                  <a:rPr lang="en-ZA" dirty="0" smtClean="0"/>
                  <a:t>Suppose </a:t>
                </a:r>
                <a14:m>
                  <m:oMath xmlns:m="http://schemas.openxmlformats.org/officeDocument/2006/math">
                    <m:r>
                      <a:rPr lang="en-ZA" b="0" i="1" smtClean="0">
                        <a:latin typeface="Cambria Math" panose="02040503050406030204" pitchFamily="18" charset="0"/>
                      </a:rPr>
                      <m:t>𝑐</m:t>
                    </m:r>
                    <m:d>
                      <m:dPr>
                        <m:ctrlPr>
                          <a:rPr lang="en-ZA" b="0" i="1" smtClean="0">
                            <a:latin typeface="Cambria Math" panose="02040503050406030204" pitchFamily="18" charset="0"/>
                          </a:rPr>
                        </m:ctrlPr>
                      </m:dPr>
                      <m:e>
                        <m:r>
                          <a:rPr lang="en-ZA" b="0" i="1" smtClean="0">
                            <a:latin typeface="Cambria Math" panose="02040503050406030204" pitchFamily="18" charset="0"/>
                          </a:rPr>
                          <m:t>2</m:t>
                        </m:r>
                      </m:e>
                      <m:e>
                        <m:r>
                          <a:rPr lang="en-ZA" b="0" i="1" smtClean="0">
                            <a:latin typeface="Cambria Math" panose="02040503050406030204" pitchFamily="18" charset="0"/>
                          </a:rPr>
                          <m:t>1</m:t>
                        </m:r>
                      </m:e>
                    </m:d>
                    <m:r>
                      <a:rPr lang="en-ZA" b="0" i="1" smtClean="0">
                        <a:latin typeface="Cambria Math" panose="02040503050406030204" pitchFamily="18" charset="0"/>
                      </a:rPr>
                      <m:t>=5</m:t>
                    </m:r>
                  </m:oMath>
                </a14:m>
                <a:r>
                  <a:rPr lang="en-ZA" dirty="0" smtClean="0"/>
                  <a:t> and </a:t>
                </a:r>
                <a14:m>
                  <m:oMath xmlns:m="http://schemas.openxmlformats.org/officeDocument/2006/math">
                    <m:r>
                      <a:rPr lang="en-ZA" b="0" i="1" smtClean="0">
                        <a:latin typeface="Cambria Math" panose="02040503050406030204" pitchFamily="18" charset="0"/>
                      </a:rPr>
                      <m:t>𝑐</m:t>
                    </m:r>
                    <m:d>
                      <m:dPr>
                        <m:ctrlPr>
                          <a:rPr lang="en-ZA" b="0" i="1" smtClean="0">
                            <a:latin typeface="Cambria Math" panose="02040503050406030204" pitchFamily="18" charset="0"/>
                          </a:rPr>
                        </m:ctrlPr>
                      </m:dPr>
                      <m:e>
                        <m:r>
                          <a:rPr lang="en-ZA" b="0" i="1" smtClean="0">
                            <a:latin typeface="Cambria Math" panose="02040503050406030204" pitchFamily="18" charset="0"/>
                          </a:rPr>
                          <m:t>1</m:t>
                        </m:r>
                      </m:e>
                      <m:e>
                        <m:r>
                          <a:rPr lang="en-ZA" b="0" i="1" smtClean="0">
                            <a:latin typeface="Cambria Math" panose="02040503050406030204" pitchFamily="18" charset="0"/>
                          </a:rPr>
                          <m:t>2</m:t>
                        </m:r>
                      </m:e>
                    </m:d>
                    <m:r>
                      <a:rPr lang="en-ZA" b="0" i="1" smtClean="0">
                        <a:latin typeface="Cambria Math" panose="02040503050406030204" pitchFamily="18" charset="0"/>
                      </a:rPr>
                      <m:t>=10. </m:t>
                    </m:r>
                  </m:oMath>
                </a14:m>
                <a:r>
                  <a:rPr lang="en-ZA" dirty="0" smtClean="0"/>
                  <a:t>Assume that 20% of all observations for which measurements </a:t>
                </a:r>
                <a14:m>
                  <m:oMath xmlns:m="http://schemas.openxmlformats.org/officeDocument/2006/math">
                    <m:r>
                      <a:rPr lang="en-ZA" b="0" i="1" smtClean="0">
                        <a:latin typeface="Cambria Math" panose="02040503050406030204" pitchFamily="18" charset="0"/>
                      </a:rPr>
                      <m:t>𝑥</m:t>
                    </m:r>
                  </m:oMath>
                </a14:m>
                <a:r>
                  <a:rPr lang="en-ZA" dirty="0" smtClean="0"/>
                  <a:t> are recorded belong to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2</m:t>
                        </m:r>
                      </m:sub>
                    </m:sSub>
                    <m:r>
                      <a:rPr lang="en-ZA" b="0" i="1" smtClean="0">
                        <a:latin typeface="Cambria Math" panose="02040503050406030204" pitchFamily="18" charset="0"/>
                      </a:rPr>
                      <m:t>.</m:t>
                    </m:r>
                  </m:oMath>
                </a14:m>
                <a:r>
                  <a:rPr lang="en-ZA" dirty="0" smtClean="0"/>
                  <a:t> Derive the classification regions,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𝑅</m:t>
                        </m:r>
                      </m:e>
                      <m:sub>
                        <m:r>
                          <a:rPr lang="en-ZA" b="0" i="1" smtClean="0">
                            <a:latin typeface="Cambria Math" panose="02040503050406030204" pitchFamily="18" charset="0"/>
                          </a:rPr>
                          <m:t>1</m:t>
                        </m:r>
                      </m:sub>
                    </m:sSub>
                  </m:oMath>
                </a14:m>
                <a:r>
                  <a:rPr lang="en-ZA" dirty="0" smtClean="0"/>
                  <a:t> and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𝑅</m:t>
                        </m:r>
                      </m:e>
                      <m:sub>
                        <m:r>
                          <a:rPr lang="en-ZA" b="0" i="1" smtClean="0">
                            <a:latin typeface="Cambria Math" panose="02040503050406030204" pitchFamily="18" charset="0"/>
                          </a:rPr>
                          <m:t>2</m:t>
                        </m:r>
                      </m:sub>
                    </m:sSub>
                    <m:r>
                      <a:rPr lang="en-ZA" b="0" i="1" smtClean="0">
                        <a:latin typeface="Cambria Math" panose="02040503050406030204" pitchFamily="18" charset="0"/>
                      </a:rPr>
                      <m:t>.</m:t>
                    </m:r>
                  </m:oMath>
                </a14:m>
                <a:endParaRPr lang="en-ZA" dirty="0" smtClean="0"/>
              </a:p>
              <a:p>
                <a:endParaRPr lang="en-ZA" dirty="0" smtClean="0"/>
              </a:p>
              <a:p>
                <a:pPr/>
                <a14:m>
                  <m:oMathPara xmlns:m="http://schemas.openxmlformats.org/officeDocument/2006/math">
                    <m:oMathParaPr>
                      <m:jc m:val="centerGroup"/>
                    </m:oMathParaPr>
                    <m:oMath xmlns:m="http://schemas.openxmlformats.org/officeDocument/2006/math">
                      <m:sSub>
                        <m:sSubPr>
                          <m:ctrlPr>
                            <a:rPr lang="en-ZA" sz="1600" i="1" smtClean="0">
                              <a:latin typeface="Cambria Math" panose="02040503050406030204" pitchFamily="18" charset="0"/>
                            </a:rPr>
                          </m:ctrlPr>
                        </m:sSubPr>
                        <m:e>
                          <m:r>
                            <a:rPr lang="en-ZA" sz="1600" b="0" i="1" smtClean="0">
                              <a:latin typeface="Cambria Math" panose="02040503050406030204" pitchFamily="18" charset="0"/>
                            </a:rPr>
                            <m:t>𝑅</m:t>
                          </m:r>
                        </m:e>
                        <m:sub>
                          <m:r>
                            <a:rPr lang="en-ZA" sz="1600" b="0" i="1" smtClean="0">
                              <a:latin typeface="Cambria Math" panose="02040503050406030204" pitchFamily="18" charset="0"/>
                            </a:rPr>
                            <m:t>1</m:t>
                          </m:r>
                        </m:sub>
                      </m:sSub>
                      <m:r>
                        <a:rPr lang="en-ZA" sz="1600" b="0" i="1" smtClean="0">
                          <a:latin typeface="Cambria Math" panose="02040503050406030204" pitchFamily="18" charset="0"/>
                        </a:rPr>
                        <m:t>:</m:t>
                      </m:r>
                      <m:f>
                        <m:fPr>
                          <m:ctrlPr>
                            <a:rPr lang="en-ZA" sz="1600" b="0" i="1" smtClean="0">
                              <a:latin typeface="Cambria Math" panose="02040503050406030204" pitchFamily="18" charset="0"/>
                            </a:rPr>
                          </m:ctrlPr>
                        </m:fPr>
                        <m:num>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1</m:t>
                              </m:r>
                            </m:sub>
                          </m:sSub>
                          <m:r>
                            <a:rPr lang="en-ZA" sz="1600" b="0" i="1" smtClean="0">
                              <a:latin typeface="Cambria Math" panose="02040503050406030204" pitchFamily="18" charset="0"/>
                            </a:rPr>
                            <m:t>(</m:t>
                          </m:r>
                          <m:r>
                            <a:rPr lang="en-ZA" sz="1600" b="0" i="1" smtClean="0">
                              <a:latin typeface="Cambria Math" panose="02040503050406030204" pitchFamily="18" charset="0"/>
                            </a:rPr>
                            <m:t>𝑥</m:t>
                          </m:r>
                          <m:r>
                            <a:rPr lang="en-ZA" sz="1600" b="0" i="1" smtClean="0">
                              <a:latin typeface="Cambria Math" panose="02040503050406030204" pitchFamily="18" charset="0"/>
                            </a:rPr>
                            <m:t>)</m:t>
                          </m:r>
                        </m:num>
                        <m:den>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2</m:t>
                              </m:r>
                            </m:sub>
                          </m:sSub>
                          <m:r>
                            <a:rPr lang="en-ZA" sz="1600" b="0" i="1" smtClean="0">
                              <a:latin typeface="Cambria Math" panose="02040503050406030204" pitchFamily="18" charset="0"/>
                            </a:rPr>
                            <m:t>(</m:t>
                          </m:r>
                          <m:r>
                            <a:rPr lang="en-ZA" sz="1600" b="0" i="1" smtClean="0">
                              <a:latin typeface="Cambria Math" panose="02040503050406030204" pitchFamily="18" charset="0"/>
                            </a:rPr>
                            <m:t>𝑥</m:t>
                          </m:r>
                          <m:r>
                            <a:rPr lang="en-ZA" sz="1600" b="0" i="1" smtClean="0">
                              <a:latin typeface="Cambria Math" panose="02040503050406030204" pitchFamily="18" charset="0"/>
                            </a:rPr>
                            <m:t>)</m:t>
                          </m:r>
                        </m:den>
                      </m:f>
                      <m:r>
                        <a:rPr lang="en-ZA" sz="1600" b="0" i="1" smtClean="0">
                          <a:latin typeface="Cambria Math" panose="02040503050406030204" pitchFamily="18" charset="0"/>
                          <a:ea typeface="Cambria Math" panose="02040503050406030204" pitchFamily="18" charset="0"/>
                        </a:rPr>
                        <m:t>≥</m:t>
                      </m:r>
                      <m:d>
                        <m:dPr>
                          <m:ctrlPr>
                            <a:rPr lang="en-ZA" sz="1600" b="0" i="1" smtClean="0">
                              <a:latin typeface="Cambria Math" panose="02040503050406030204" pitchFamily="18" charset="0"/>
                              <a:ea typeface="Cambria Math" panose="02040503050406030204" pitchFamily="18" charset="0"/>
                            </a:rPr>
                          </m:ctrlPr>
                        </m:dPr>
                        <m:e>
                          <m:f>
                            <m:fPr>
                              <m:ctrlPr>
                                <a:rPr lang="en-ZA" sz="1600" b="0" i="1" smtClean="0">
                                  <a:latin typeface="Cambria Math" panose="02040503050406030204" pitchFamily="18" charset="0"/>
                                  <a:ea typeface="Cambria Math" panose="02040503050406030204" pitchFamily="18" charset="0"/>
                                </a:rPr>
                              </m:ctrlPr>
                            </m:fPr>
                            <m:num>
                              <m:r>
                                <a:rPr lang="en-ZA" sz="1600" b="0" i="1" smtClean="0">
                                  <a:latin typeface="Cambria Math" panose="02040503050406030204" pitchFamily="18" charset="0"/>
                                  <a:ea typeface="Cambria Math" panose="02040503050406030204" pitchFamily="18" charset="0"/>
                                </a:rPr>
                                <m:t>10</m:t>
                              </m:r>
                            </m:num>
                            <m:den>
                              <m:r>
                                <a:rPr lang="en-ZA" sz="1600" b="0" i="1" smtClean="0">
                                  <a:latin typeface="Cambria Math" panose="02040503050406030204" pitchFamily="18" charset="0"/>
                                  <a:ea typeface="Cambria Math" panose="02040503050406030204" pitchFamily="18" charset="0"/>
                                </a:rPr>
                                <m:t>5</m:t>
                              </m:r>
                            </m:den>
                          </m:f>
                        </m:e>
                      </m:d>
                      <m:d>
                        <m:dPr>
                          <m:ctrlPr>
                            <a:rPr lang="en-ZA" sz="1600" b="0" i="1" smtClean="0">
                              <a:latin typeface="Cambria Math" panose="02040503050406030204" pitchFamily="18" charset="0"/>
                              <a:ea typeface="Cambria Math" panose="02040503050406030204" pitchFamily="18" charset="0"/>
                            </a:rPr>
                          </m:ctrlPr>
                        </m:dPr>
                        <m:e>
                          <m:f>
                            <m:fPr>
                              <m:ctrlPr>
                                <a:rPr lang="en-ZA" sz="1600" b="0" i="1" smtClean="0">
                                  <a:latin typeface="Cambria Math" panose="02040503050406030204" pitchFamily="18" charset="0"/>
                                  <a:ea typeface="Cambria Math" panose="02040503050406030204" pitchFamily="18" charset="0"/>
                                </a:rPr>
                              </m:ctrlPr>
                            </m:fPr>
                            <m:num>
                              <m:r>
                                <a:rPr lang="en-ZA" sz="1600" b="0" i="1" smtClean="0">
                                  <a:latin typeface="Cambria Math" panose="02040503050406030204" pitchFamily="18" charset="0"/>
                                  <a:ea typeface="Cambria Math" panose="02040503050406030204" pitchFamily="18" charset="0"/>
                                </a:rPr>
                                <m:t>0.2</m:t>
                              </m:r>
                            </m:num>
                            <m:den>
                              <m:r>
                                <a:rPr lang="en-ZA" sz="1600" b="0" i="1" smtClean="0">
                                  <a:latin typeface="Cambria Math" panose="02040503050406030204" pitchFamily="18" charset="0"/>
                                  <a:ea typeface="Cambria Math" panose="02040503050406030204" pitchFamily="18" charset="0"/>
                                </a:rPr>
                                <m:t>0.8</m:t>
                              </m:r>
                            </m:den>
                          </m:f>
                        </m:e>
                      </m:d>
                      <m:r>
                        <a:rPr lang="en-ZA" sz="1600" b="0" i="1" smtClean="0">
                          <a:latin typeface="Cambria Math" panose="02040503050406030204" pitchFamily="18" charset="0"/>
                          <a:ea typeface="Cambria Math" panose="02040503050406030204" pitchFamily="18" charset="0"/>
                        </a:rPr>
                        <m:t>=0.5</m:t>
                      </m:r>
                    </m:oMath>
                  </m:oMathPara>
                </a14:m>
                <a:endParaRPr lang="en-ZA" sz="1600" dirty="0" smtClean="0"/>
              </a:p>
              <a:p>
                <a:pPr/>
                <a14:m>
                  <m:oMathPara xmlns:m="http://schemas.openxmlformats.org/officeDocument/2006/math">
                    <m:oMathParaPr>
                      <m:jc m:val="centerGroup"/>
                    </m:oMathParaPr>
                    <m:oMath xmlns:m="http://schemas.openxmlformats.org/officeDocument/2006/math">
                      <m:sSub>
                        <m:sSubPr>
                          <m:ctrlPr>
                            <a:rPr lang="en-ZA" sz="1600" i="1" smtClean="0">
                              <a:latin typeface="Cambria Math" panose="02040503050406030204" pitchFamily="18" charset="0"/>
                            </a:rPr>
                          </m:ctrlPr>
                        </m:sSubPr>
                        <m:e>
                          <m:r>
                            <a:rPr lang="en-ZA" sz="1600" b="0" i="1" smtClean="0">
                              <a:latin typeface="Cambria Math" panose="02040503050406030204" pitchFamily="18" charset="0"/>
                            </a:rPr>
                            <m:t>𝑅</m:t>
                          </m:r>
                        </m:e>
                        <m:sub>
                          <m:r>
                            <a:rPr lang="en-ZA" sz="1600" b="0" i="1" smtClean="0">
                              <a:latin typeface="Cambria Math" panose="02040503050406030204" pitchFamily="18" charset="0"/>
                            </a:rPr>
                            <m:t>2</m:t>
                          </m:r>
                        </m:sub>
                      </m:sSub>
                      <m:r>
                        <a:rPr lang="en-ZA" sz="1600" b="0" i="1" smtClean="0">
                          <a:latin typeface="Cambria Math" panose="02040503050406030204" pitchFamily="18" charset="0"/>
                        </a:rPr>
                        <m:t>:</m:t>
                      </m:r>
                      <m:f>
                        <m:fPr>
                          <m:ctrlPr>
                            <a:rPr lang="en-ZA" sz="1600" b="0" i="1" smtClean="0">
                              <a:latin typeface="Cambria Math" panose="02040503050406030204" pitchFamily="18" charset="0"/>
                            </a:rPr>
                          </m:ctrlPr>
                        </m:fPr>
                        <m:num>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1</m:t>
                              </m:r>
                            </m:sub>
                          </m:sSub>
                          <m:r>
                            <a:rPr lang="en-ZA" sz="1600" b="0" i="1" smtClean="0">
                              <a:latin typeface="Cambria Math" panose="02040503050406030204" pitchFamily="18" charset="0"/>
                            </a:rPr>
                            <m:t>(</m:t>
                          </m:r>
                          <m:r>
                            <a:rPr lang="en-ZA" sz="1600" b="0" i="1" smtClean="0">
                              <a:latin typeface="Cambria Math" panose="02040503050406030204" pitchFamily="18" charset="0"/>
                            </a:rPr>
                            <m:t>𝑥</m:t>
                          </m:r>
                          <m:r>
                            <a:rPr lang="en-ZA" sz="1600" b="0" i="1" smtClean="0">
                              <a:latin typeface="Cambria Math" panose="02040503050406030204" pitchFamily="18" charset="0"/>
                            </a:rPr>
                            <m:t>)</m:t>
                          </m:r>
                        </m:num>
                        <m:den>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2</m:t>
                              </m:r>
                            </m:sub>
                          </m:sSub>
                          <m:r>
                            <a:rPr lang="en-ZA" sz="1600" b="0" i="1" smtClean="0">
                              <a:latin typeface="Cambria Math" panose="02040503050406030204" pitchFamily="18" charset="0"/>
                            </a:rPr>
                            <m:t>(</m:t>
                          </m:r>
                          <m:r>
                            <a:rPr lang="en-ZA" sz="1600" b="0" i="1" smtClean="0">
                              <a:latin typeface="Cambria Math" panose="02040503050406030204" pitchFamily="18" charset="0"/>
                            </a:rPr>
                            <m:t>𝑥</m:t>
                          </m:r>
                          <m:r>
                            <a:rPr lang="en-ZA" sz="1600" b="0" i="1" smtClean="0">
                              <a:latin typeface="Cambria Math" panose="02040503050406030204" pitchFamily="18" charset="0"/>
                            </a:rPr>
                            <m:t>)</m:t>
                          </m:r>
                        </m:den>
                      </m:f>
                      <m:r>
                        <a:rPr lang="en-ZA" sz="1600" b="0" i="1" smtClean="0">
                          <a:latin typeface="Cambria Math" panose="02040503050406030204" pitchFamily="18" charset="0"/>
                        </a:rPr>
                        <m:t>&lt;</m:t>
                      </m:r>
                      <m:d>
                        <m:dPr>
                          <m:ctrlPr>
                            <a:rPr lang="en-ZA" sz="1600" b="0" i="1" smtClean="0">
                              <a:latin typeface="Cambria Math" panose="02040503050406030204" pitchFamily="18" charset="0"/>
                              <a:ea typeface="Cambria Math" panose="02040503050406030204" pitchFamily="18" charset="0"/>
                            </a:rPr>
                          </m:ctrlPr>
                        </m:dPr>
                        <m:e>
                          <m:f>
                            <m:fPr>
                              <m:ctrlPr>
                                <a:rPr lang="en-ZA" sz="1600" b="0" i="1" smtClean="0">
                                  <a:latin typeface="Cambria Math" panose="02040503050406030204" pitchFamily="18" charset="0"/>
                                  <a:ea typeface="Cambria Math" panose="02040503050406030204" pitchFamily="18" charset="0"/>
                                </a:rPr>
                              </m:ctrlPr>
                            </m:fPr>
                            <m:num>
                              <m:r>
                                <a:rPr lang="en-ZA" sz="1600" b="0" i="1" smtClean="0">
                                  <a:latin typeface="Cambria Math" panose="02040503050406030204" pitchFamily="18" charset="0"/>
                                  <a:ea typeface="Cambria Math" panose="02040503050406030204" pitchFamily="18" charset="0"/>
                                </a:rPr>
                                <m:t>10</m:t>
                              </m:r>
                            </m:num>
                            <m:den>
                              <m:r>
                                <a:rPr lang="en-ZA" sz="1600" b="0" i="1" smtClean="0">
                                  <a:latin typeface="Cambria Math" panose="02040503050406030204" pitchFamily="18" charset="0"/>
                                  <a:ea typeface="Cambria Math" panose="02040503050406030204" pitchFamily="18" charset="0"/>
                                </a:rPr>
                                <m:t>5</m:t>
                              </m:r>
                            </m:den>
                          </m:f>
                        </m:e>
                      </m:d>
                      <m:d>
                        <m:dPr>
                          <m:ctrlPr>
                            <a:rPr lang="en-ZA" sz="1600" b="0" i="1" smtClean="0">
                              <a:latin typeface="Cambria Math" panose="02040503050406030204" pitchFamily="18" charset="0"/>
                              <a:ea typeface="Cambria Math" panose="02040503050406030204" pitchFamily="18" charset="0"/>
                            </a:rPr>
                          </m:ctrlPr>
                        </m:dPr>
                        <m:e>
                          <m:f>
                            <m:fPr>
                              <m:ctrlPr>
                                <a:rPr lang="en-ZA" sz="1600" b="0" i="1" smtClean="0">
                                  <a:latin typeface="Cambria Math" panose="02040503050406030204" pitchFamily="18" charset="0"/>
                                  <a:ea typeface="Cambria Math" panose="02040503050406030204" pitchFamily="18" charset="0"/>
                                </a:rPr>
                              </m:ctrlPr>
                            </m:fPr>
                            <m:num>
                              <m:r>
                                <a:rPr lang="en-ZA" sz="1600" b="0" i="1" smtClean="0">
                                  <a:latin typeface="Cambria Math" panose="02040503050406030204" pitchFamily="18" charset="0"/>
                                  <a:ea typeface="Cambria Math" panose="02040503050406030204" pitchFamily="18" charset="0"/>
                                </a:rPr>
                                <m:t>0.2</m:t>
                              </m:r>
                            </m:num>
                            <m:den>
                              <m:r>
                                <a:rPr lang="en-ZA" sz="1600" b="0" i="1" smtClean="0">
                                  <a:latin typeface="Cambria Math" panose="02040503050406030204" pitchFamily="18" charset="0"/>
                                  <a:ea typeface="Cambria Math" panose="02040503050406030204" pitchFamily="18" charset="0"/>
                                </a:rPr>
                                <m:t>0.8</m:t>
                              </m:r>
                            </m:den>
                          </m:f>
                        </m:e>
                      </m:d>
                      <m:r>
                        <a:rPr lang="en-ZA" sz="1600" b="0" i="1" smtClean="0">
                          <a:latin typeface="Cambria Math" panose="02040503050406030204" pitchFamily="18" charset="0"/>
                          <a:ea typeface="Cambria Math" panose="02040503050406030204" pitchFamily="18" charset="0"/>
                        </a:rPr>
                        <m:t>=0.5</m:t>
                      </m:r>
                    </m:oMath>
                  </m:oMathPara>
                </a14:m>
                <a:endParaRPr lang="en-ZA" sz="1600" dirty="0" smtClean="0"/>
              </a:p>
              <a:p>
                <a:r>
                  <a:rPr lang="en-ZA" dirty="0" smtClean="0"/>
                  <a:t>Now assume that we evaluate the density functions for a new observation,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0</m:t>
                        </m:r>
                      </m:sub>
                    </m:sSub>
                  </m:oMath>
                </a14:m>
                <a:r>
                  <a:rPr lang="en-ZA" dirty="0" smtClean="0"/>
                  <a:t>, such that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1</m:t>
                        </m:r>
                      </m:sub>
                    </m:sSub>
                    <m:d>
                      <m:dPr>
                        <m:ctrlPr>
                          <a:rPr lang="en-ZA" b="0" i="1" smtClean="0">
                            <a:latin typeface="Cambria Math" panose="02040503050406030204" pitchFamily="18" charset="0"/>
                          </a:rPr>
                        </m:ctrlPr>
                      </m:dPr>
                      <m:e>
                        <m:sSub>
                          <m:sSubPr>
                            <m:ctrlPr>
                              <a:rPr lang="en-ZA" b="0"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0</m:t>
                            </m:r>
                          </m:sub>
                        </m:sSub>
                      </m:e>
                    </m:d>
                    <m:r>
                      <a:rPr lang="en-ZA" b="0" i="1" smtClean="0">
                        <a:latin typeface="Cambria Math" panose="02040503050406030204" pitchFamily="18" charset="0"/>
                      </a:rPr>
                      <m:t>=0.3</m:t>
                    </m:r>
                  </m:oMath>
                </a14:m>
                <a:r>
                  <a:rPr lang="en-ZA" dirty="0" smtClean="0"/>
                  <a:t> and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2</m:t>
                        </m:r>
                      </m:sub>
                    </m:sSub>
                    <m:d>
                      <m:dPr>
                        <m:ctrlPr>
                          <a:rPr lang="en-ZA" b="0" i="1" smtClean="0">
                            <a:latin typeface="Cambria Math" panose="02040503050406030204" pitchFamily="18" charset="0"/>
                          </a:rPr>
                        </m:ctrlPr>
                      </m:dPr>
                      <m:e>
                        <m:sSub>
                          <m:sSubPr>
                            <m:ctrlPr>
                              <a:rPr lang="en-ZA" b="0"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0</m:t>
                            </m:r>
                          </m:sub>
                        </m:sSub>
                      </m:e>
                    </m:d>
                    <m:r>
                      <a:rPr lang="en-ZA" b="0" i="1" smtClean="0">
                        <a:latin typeface="Cambria Math" panose="02040503050406030204" pitchFamily="18" charset="0"/>
                      </a:rPr>
                      <m:t>=0.4, </m:t>
                    </m:r>
                  </m:oMath>
                </a14:m>
                <a:r>
                  <a:rPr lang="en-ZA" dirty="0" smtClean="0"/>
                  <a:t>do we classify the new observation to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oMath>
                </a14:m>
                <a:r>
                  <a:rPr lang="en-ZA" dirty="0" smtClean="0"/>
                  <a:t> or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2</m:t>
                        </m:r>
                      </m:sub>
                    </m:sSub>
                    <m:r>
                      <a:rPr lang="en-ZA" b="0" i="1" smtClean="0">
                        <a:latin typeface="Cambria Math" panose="02040503050406030204" pitchFamily="18" charset="0"/>
                      </a:rPr>
                      <m:t>?</m:t>
                    </m:r>
                  </m:oMath>
                </a14:m>
                <a:endParaRPr lang="en-ZA" dirty="0" smtClean="0"/>
              </a:p>
              <a:p>
                <a:endParaRPr lang="en-ZA" dirty="0"/>
              </a:p>
              <a:p>
                <a:pPr algn="ctr"/>
                <a14:m>
                  <m:oMath xmlns:m="http://schemas.openxmlformats.org/officeDocument/2006/math">
                    <m:f>
                      <m:fPr>
                        <m:ctrlPr>
                          <a:rPr lang="en-ZA" sz="1600" i="1" smtClean="0">
                            <a:latin typeface="Cambria Math" panose="02040503050406030204" pitchFamily="18" charset="0"/>
                          </a:rPr>
                        </m:ctrlPr>
                      </m:fPr>
                      <m:num>
                        <m:sSub>
                          <m:sSubPr>
                            <m:ctrlPr>
                              <a:rPr lang="en-ZA" sz="160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1</m:t>
                            </m:r>
                          </m:sub>
                        </m:sSub>
                        <m:r>
                          <a:rPr lang="en-ZA" sz="1600" b="0" i="1" smtClean="0">
                            <a:latin typeface="Cambria Math" panose="02040503050406030204" pitchFamily="18" charset="0"/>
                          </a:rPr>
                          <m:t>(</m:t>
                        </m:r>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𝑥</m:t>
                            </m:r>
                          </m:e>
                          <m:sub>
                            <m:r>
                              <a:rPr lang="en-ZA" sz="1600" b="0" i="1" smtClean="0">
                                <a:latin typeface="Cambria Math" panose="02040503050406030204" pitchFamily="18" charset="0"/>
                              </a:rPr>
                              <m:t>0</m:t>
                            </m:r>
                          </m:sub>
                        </m:sSub>
                        <m:r>
                          <a:rPr lang="en-ZA" sz="1600" b="0" i="1" smtClean="0">
                            <a:latin typeface="Cambria Math" panose="02040503050406030204" pitchFamily="18" charset="0"/>
                          </a:rPr>
                          <m:t>)</m:t>
                        </m:r>
                      </m:num>
                      <m:den>
                        <m:sSub>
                          <m:sSubPr>
                            <m:ctrlPr>
                              <a:rPr lang="en-ZA" sz="1600" i="1" smtClean="0">
                                <a:latin typeface="Cambria Math" panose="02040503050406030204" pitchFamily="18" charset="0"/>
                              </a:rPr>
                            </m:ctrlPr>
                          </m:sSubPr>
                          <m:e>
                            <m:r>
                              <a:rPr lang="en-ZA" sz="1600" b="0" i="1" smtClean="0">
                                <a:latin typeface="Cambria Math" panose="02040503050406030204" pitchFamily="18" charset="0"/>
                              </a:rPr>
                              <m:t>𝑓</m:t>
                            </m:r>
                          </m:e>
                          <m:sub>
                            <m:r>
                              <a:rPr lang="en-ZA" sz="1600" b="0" i="1" smtClean="0">
                                <a:latin typeface="Cambria Math" panose="02040503050406030204" pitchFamily="18" charset="0"/>
                              </a:rPr>
                              <m:t>2</m:t>
                            </m:r>
                          </m:sub>
                        </m:sSub>
                        <m:r>
                          <a:rPr lang="en-ZA" sz="1600" b="0" i="1" smtClean="0">
                            <a:latin typeface="Cambria Math" panose="02040503050406030204" pitchFamily="18" charset="0"/>
                          </a:rPr>
                          <m:t>(</m:t>
                        </m:r>
                        <m:sSub>
                          <m:sSubPr>
                            <m:ctrlPr>
                              <a:rPr lang="en-ZA" sz="1600" b="0" i="1" smtClean="0">
                                <a:latin typeface="Cambria Math" panose="02040503050406030204" pitchFamily="18" charset="0"/>
                              </a:rPr>
                            </m:ctrlPr>
                          </m:sSubPr>
                          <m:e>
                            <m:r>
                              <a:rPr lang="en-ZA" sz="1600" b="0" i="1" smtClean="0">
                                <a:latin typeface="Cambria Math" panose="02040503050406030204" pitchFamily="18" charset="0"/>
                              </a:rPr>
                              <m:t>𝑥</m:t>
                            </m:r>
                          </m:e>
                          <m:sub>
                            <m:r>
                              <a:rPr lang="en-ZA" sz="1600" b="0" i="1" smtClean="0">
                                <a:latin typeface="Cambria Math" panose="02040503050406030204" pitchFamily="18" charset="0"/>
                              </a:rPr>
                              <m:t>0</m:t>
                            </m:r>
                          </m:sub>
                        </m:sSub>
                        <m:r>
                          <a:rPr lang="en-ZA" sz="1600" b="0" i="1" smtClean="0">
                            <a:latin typeface="Cambria Math" panose="02040503050406030204" pitchFamily="18" charset="0"/>
                          </a:rPr>
                          <m:t>)</m:t>
                        </m:r>
                      </m:den>
                    </m:f>
                    <m:r>
                      <a:rPr lang="en-ZA" sz="1600" b="0" i="1" smtClean="0">
                        <a:latin typeface="Cambria Math" panose="02040503050406030204" pitchFamily="18" charset="0"/>
                      </a:rPr>
                      <m:t>=</m:t>
                    </m:r>
                    <m:f>
                      <m:fPr>
                        <m:ctrlPr>
                          <a:rPr lang="en-ZA" sz="1600" b="0" i="1" smtClean="0">
                            <a:latin typeface="Cambria Math" panose="02040503050406030204" pitchFamily="18" charset="0"/>
                          </a:rPr>
                        </m:ctrlPr>
                      </m:fPr>
                      <m:num>
                        <m:r>
                          <a:rPr lang="en-ZA" sz="1600" b="0" i="1" smtClean="0">
                            <a:latin typeface="Cambria Math" panose="02040503050406030204" pitchFamily="18" charset="0"/>
                          </a:rPr>
                          <m:t>0.3</m:t>
                        </m:r>
                      </m:num>
                      <m:den>
                        <m:r>
                          <a:rPr lang="en-ZA" sz="1600" b="0" i="1" smtClean="0">
                            <a:latin typeface="Cambria Math" panose="02040503050406030204" pitchFamily="18" charset="0"/>
                          </a:rPr>
                          <m:t>0.4</m:t>
                        </m:r>
                      </m:den>
                    </m:f>
                    <m:r>
                      <a:rPr lang="en-ZA" sz="1600" b="0" i="1" smtClean="0">
                        <a:latin typeface="Cambria Math" panose="02040503050406030204" pitchFamily="18" charset="0"/>
                      </a:rPr>
                      <m:t>=0.75</m:t>
                    </m:r>
                    <m:r>
                      <a:rPr lang="en-ZA" sz="1600" b="0" i="1" smtClean="0">
                        <a:latin typeface="Cambria Math" panose="02040503050406030204" pitchFamily="18" charset="0"/>
                        <a:ea typeface="Cambria Math" panose="02040503050406030204" pitchFamily="18" charset="0"/>
                      </a:rPr>
                      <m:t>≥0.5</m:t>
                    </m:r>
                  </m:oMath>
                </a14:m>
                <a:r>
                  <a:rPr lang="en-ZA" sz="1600" dirty="0" smtClean="0"/>
                  <a:t> </a:t>
                </a:r>
              </a:p>
              <a:p>
                <a:r>
                  <a:rPr lang="en-ZA" sz="1600" dirty="0" smtClean="0"/>
                  <a:t>So </a:t>
                </a:r>
                <a14:m>
                  <m:oMath xmlns:m="http://schemas.openxmlformats.org/officeDocument/2006/math">
                    <m:sSub>
                      <m:sSubPr>
                        <m:ctrlPr>
                          <a:rPr lang="en-ZA" sz="1600" i="1" smtClean="0">
                            <a:latin typeface="Cambria Math" panose="02040503050406030204" pitchFamily="18" charset="0"/>
                          </a:rPr>
                        </m:ctrlPr>
                      </m:sSubPr>
                      <m:e>
                        <m:r>
                          <a:rPr lang="en-ZA" sz="1600" b="0" i="1" smtClean="0">
                            <a:latin typeface="Cambria Math" panose="02040503050406030204" pitchFamily="18" charset="0"/>
                          </a:rPr>
                          <m:t>𝑥</m:t>
                        </m:r>
                      </m:e>
                      <m:sub>
                        <m:r>
                          <a:rPr lang="en-ZA" sz="1600" b="0" i="1" smtClean="0">
                            <a:latin typeface="Cambria Math" panose="02040503050406030204" pitchFamily="18" charset="0"/>
                          </a:rPr>
                          <m:t>0</m:t>
                        </m:r>
                      </m:sub>
                    </m:sSub>
                    <m:r>
                      <a:rPr lang="en-ZA" sz="1600" i="1" smtClean="0">
                        <a:latin typeface="Cambria Math" panose="02040503050406030204" pitchFamily="18" charset="0"/>
                        <a:ea typeface="Cambria Math" panose="02040503050406030204" pitchFamily="18" charset="0"/>
                      </a:rPr>
                      <m:t>∈</m:t>
                    </m:r>
                    <m:sSub>
                      <m:sSubPr>
                        <m:ctrlPr>
                          <a:rPr lang="en-ZA" sz="1600" i="1" smtClean="0">
                            <a:latin typeface="Cambria Math" panose="02040503050406030204" pitchFamily="18" charset="0"/>
                            <a:ea typeface="Cambria Math" panose="02040503050406030204" pitchFamily="18" charset="0"/>
                          </a:rPr>
                        </m:ctrlPr>
                      </m:sSubPr>
                      <m:e>
                        <m:r>
                          <a:rPr lang="en-ZA" sz="1600" b="0" i="1" smtClean="0">
                            <a:latin typeface="Cambria Math" panose="02040503050406030204" pitchFamily="18" charset="0"/>
                            <a:ea typeface="Cambria Math" panose="02040503050406030204" pitchFamily="18" charset="0"/>
                          </a:rPr>
                          <m:t>𝑅</m:t>
                        </m:r>
                      </m:e>
                      <m:sub>
                        <m:r>
                          <a:rPr lang="en-ZA" sz="1600" b="0" i="1" smtClean="0">
                            <a:latin typeface="Cambria Math" panose="02040503050406030204" pitchFamily="18" charset="0"/>
                            <a:ea typeface="Cambria Math" panose="02040503050406030204" pitchFamily="18" charset="0"/>
                          </a:rPr>
                          <m:t>1</m:t>
                        </m:r>
                      </m:sub>
                    </m:sSub>
                  </m:oMath>
                </a14:m>
                <a:r>
                  <a:rPr lang="en-ZA" sz="1600" dirty="0" smtClean="0"/>
                  <a:t> and the new observation belongs to </a:t>
                </a:r>
                <a14:m>
                  <m:oMath xmlns:m="http://schemas.openxmlformats.org/officeDocument/2006/math">
                    <m:sSub>
                      <m:sSubPr>
                        <m:ctrlPr>
                          <a:rPr lang="en-ZA" sz="1600" i="1" smtClean="0">
                            <a:latin typeface="Cambria Math" panose="02040503050406030204" pitchFamily="18" charset="0"/>
                          </a:rPr>
                        </m:ctrlPr>
                      </m:sSubPr>
                      <m:e>
                        <m:r>
                          <a:rPr lang="en-ZA" sz="1600" i="1" smtClean="0">
                            <a:latin typeface="Cambria Math" panose="02040503050406030204" pitchFamily="18" charset="0"/>
                            <a:ea typeface="Cambria Math" panose="02040503050406030204" pitchFamily="18" charset="0"/>
                          </a:rPr>
                          <m:t>𝜋</m:t>
                        </m:r>
                      </m:e>
                      <m:sub>
                        <m:r>
                          <a:rPr lang="en-ZA" sz="1600" b="0" i="1" smtClean="0">
                            <a:latin typeface="Cambria Math" panose="02040503050406030204" pitchFamily="18" charset="0"/>
                          </a:rPr>
                          <m:t>1</m:t>
                        </m:r>
                      </m:sub>
                    </m:sSub>
                  </m:oMath>
                </a14:m>
                <a:r>
                  <a:rPr lang="en-ZA" sz="1600" dirty="0" smtClean="0"/>
                  <a:t>.</a:t>
                </a:r>
                <a:endParaRPr lang="en-ZA" sz="1600" dirty="0"/>
              </a:p>
            </p:txBody>
          </p:sp>
        </mc:Choice>
        <mc:Fallback xmlns="">
          <p:sp>
            <p:nvSpPr>
              <p:cNvPr id="10" name="TextBox 9"/>
              <p:cNvSpPr txBox="1">
                <a:spLocks noRot="1" noChangeAspect="1" noMove="1" noResize="1" noEditPoints="1" noAdjustHandles="1" noChangeArrowheads="1" noChangeShapeType="1" noTextEdit="1"/>
              </p:cNvSpPr>
              <p:nvPr/>
            </p:nvSpPr>
            <p:spPr>
              <a:xfrm>
                <a:off x="5911850" y="2449488"/>
                <a:ext cx="6127750" cy="4330224"/>
              </a:xfrm>
              <a:prstGeom prst="rect">
                <a:avLst/>
              </a:prstGeom>
              <a:blipFill rotWithShape="0">
                <a:blip r:embed="rId5"/>
                <a:stretch>
                  <a:fillRect l="-794" t="-702" r="-1092" b="-843"/>
                </a:stretch>
              </a:blipFill>
              <a:ln>
                <a:solidFill>
                  <a:schemeClr val="accent1"/>
                </a:solidFill>
              </a:ln>
            </p:spPr>
            <p:txBody>
              <a:bodyPr/>
              <a:lstStyle/>
              <a:p>
                <a:r>
                  <a:rPr lang="en-ZA">
                    <a:noFill/>
                  </a:rPr>
                  <a:t> </a:t>
                </a:r>
              </a:p>
            </p:txBody>
          </p:sp>
        </mc:Fallback>
      </mc:AlternateContent>
      <p:sp>
        <p:nvSpPr>
          <p:cNvPr id="3" name="Oval Callout 2"/>
          <p:cNvSpPr/>
          <p:nvPr/>
        </p:nvSpPr>
        <p:spPr>
          <a:xfrm>
            <a:off x="5819773" y="685197"/>
            <a:ext cx="1212850" cy="1257300"/>
          </a:xfrm>
          <a:prstGeom prst="wedgeEllipseCallout">
            <a:avLst>
              <a:gd name="adj1" fmla="val 90162"/>
              <a:gd name="adj2" fmla="val -1224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Manipulation so that we work with integral in same region</a:t>
            </a:r>
            <a:endParaRPr lang="en-ZA" sz="1100" dirty="0"/>
          </a:p>
        </p:txBody>
      </p:sp>
    </p:spTree>
    <p:extLst>
      <p:ext uri="{BB962C8B-B14F-4D97-AF65-F5344CB8AC3E}">
        <p14:creationId xmlns:p14="http://schemas.microsoft.com/office/powerpoint/2010/main" val="1682847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139700" y="95250"/>
                <a:ext cx="11855450" cy="6580776"/>
              </a:xfrm>
              <a:prstGeom prst="rect">
                <a:avLst/>
              </a:prstGeom>
              <a:noFill/>
              <a:ln>
                <a:solidFill>
                  <a:schemeClr val="accent1"/>
                </a:solidFill>
              </a:ln>
            </p:spPr>
            <p:txBody>
              <a:bodyPr wrap="square" rtlCol="0">
                <a:spAutoFit/>
              </a:bodyPr>
              <a:lstStyle/>
              <a:p>
                <a:pPr algn="ctr"/>
                <a:r>
                  <a:rPr lang="en-ZA" dirty="0" smtClean="0"/>
                  <a:t>Classification </a:t>
                </a:r>
                <a:r>
                  <a:rPr lang="en-ZA" dirty="0"/>
                  <a:t>with two Multivariate Normal </a:t>
                </a:r>
                <a:r>
                  <a:rPr lang="en-ZA" dirty="0" smtClean="0"/>
                  <a:t>distributions</a:t>
                </a:r>
              </a:p>
              <a:p>
                <a:pPr algn="ctr"/>
                <a:endParaRPr lang="en-ZA" dirty="0"/>
              </a:p>
              <a:p>
                <a:r>
                  <a:rPr lang="en-ZA" dirty="0" smtClean="0"/>
                  <a:t>If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1</m:t>
                        </m:r>
                      </m:sub>
                    </m:sSub>
                    <m:r>
                      <a:rPr lang="en-ZA" b="0" i="1" smtClean="0">
                        <a:latin typeface="Cambria Math" panose="02040503050406030204" pitchFamily="18" charset="0"/>
                      </a:rPr>
                      <m:t>(</m:t>
                    </m:r>
                    <m:r>
                      <a:rPr lang="en-ZA" b="1" i="1" smtClean="0">
                        <a:latin typeface="Cambria Math" panose="02040503050406030204" pitchFamily="18" charset="0"/>
                      </a:rPr>
                      <m:t>𝒙</m:t>
                    </m:r>
                    <m:r>
                      <a:rPr lang="en-ZA" b="0" i="1" smtClean="0">
                        <a:latin typeface="Cambria Math" panose="02040503050406030204" pitchFamily="18" charset="0"/>
                      </a:rPr>
                      <m:t>)</m:t>
                    </m:r>
                  </m:oMath>
                </a14:m>
                <a:r>
                  <a:rPr lang="en-ZA" dirty="0" smtClean="0"/>
                  <a:t> </a:t>
                </a:r>
                <a:r>
                  <a:rPr lang="en-ZA" dirty="0"/>
                  <a:t>and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2</m:t>
                        </m:r>
                      </m:sub>
                    </m:sSub>
                    <m:d>
                      <m:dPr>
                        <m:ctrlPr>
                          <a:rPr lang="en-ZA" b="0" i="1" smtClean="0">
                            <a:latin typeface="Cambria Math" panose="02040503050406030204" pitchFamily="18" charset="0"/>
                          </a:rPr>
                        </m:ctrlPr>
                      </m:dPr>
                      <m:e>
                        <m:r>
                          <a:rPr lang="en-ZA" b="1" i="1" smtClean="0">
                            <a:latin typeface="Cambria Math" panose="02040503050406030204" pitchFamily="18" charset="0"/>
                          </a:rPr>
                          <m:t>𝒙</m:t>
                        </m:r>
                      </m:e>
                    </m:d>
                  </m:oMath>
                </a14:m>
                <a:r>
                  <a:rPr lang="en-ZA" dirty="0" smtClean="0"/>
                  <a:t> are </a:t>
                </a:r>
                <a:r>
                  <a:rPr lang="en-ZA" dirty="0"/>
                  <a:t>multivariate normal densities with </a:t>
                </a:r>
                <a:r>
                  <a:rPr lang="en-ZA" dirty="0" smtClean="0"/>
                  <a:t>means </a:t>
                </a:r>
                <a14:m>
                  <m:oMath xmlns:m="http://schemas.openxmlformats.org/officeDocument/2006/math">
                    <m:sSub>
                      <m:sSubPr>
                        <m:ctrlPr>
                          <a:rPr lang="en-ZA" b="1" i="1" smtClean="0">
                            <a:latin typeface="Cambria Math" panose="02040503050406030204" pitchFamily="18" charset="0"/>
                          </a:rPr>
                        </m:ctrlPr>
                      </m:sSubPr>
                      <m:e>
                        <m:r>
                          <a:rPr lang="en-ZA" b="1" i="1" smtClean="0">
                            <a:latin typeface="Cambria Math" panose="02040503050406030204" pitchFamily="18" charset="0"/>
                            <a:ea typeface="Cambria Math" panose="02040503050406030204" pitchFamily="18" charset="0"/>
                          </a:rPr>
                          <m:t>𝝁</m:t>
                        </m:r>
                      </m:e>
                      <m:sub>
                        <m:r>
                          <a:rPr lang="en-ZA" b="1" i="1" smtClean="0">
                            <a:latin typeface="Cambria Math" panose="02040503050406030204" pitchFamily="18" charset="0"/>
                          </a:rPr>
                          <m:t>𝟏</m:t>
                        </m:r>
                      </m:sub>
                    </m:sSub>
                  </m:oMath>
                </a14:m>
                <a:r>
                  <a:rPr lang="en-ZA" dirty="0" smtClean="0"/>
                  <a:t> and </a:t>
                </a:r>
                <a14:m>
                  <m:oMath xmlns:m="http://schemas.openxmlformats.org/officeDocument/2006/math">
                    <m:sSub>
                      <m:sSubPr>
                        <m:ctrlPr>
                          <a:rPr lang="en-ZA" b="1" i="1" smtClean="0">
                            <a:latin typeface="Cambria Math" panose="02040503050406030204" pitchFamily="18" charset="0"/>
                          </a:rPr>
                        </m:ctrlPr>
                      </m:sSubPr>
                      <m:e>
                        <m:r>
                          <a:rPr lang="en-ZA" b="1" i="1" smtClean="0">
                            <a:latin typeface="Cambria Math" panose="02040503050406030204" pitchFamily="18" charset="0"/>
                            <a:ea typeface="Cambria Math" panose="02040503050406030204" pitchFamily="18" charset="0"/>
                          </a:rPr>
                          <m:t>𝝁</m:t>
                        </m:r>
                      </m:e>
                      <m:sub>
                        <m:r>
                          <a:rPr lang="en-ZA" b="1" i="1" smtClean="0">
                            <a:latin typeface="Cambria Math" panose="02040503050406030204" pitchFamily="18" charset="0"/>
                          </a:rPr>
                          <m:t>𝟐</m:t>
                        </m:r>
                      </m:sub>
                    </m:sSub>
                  </m:oMath>
                </a14:m>
                <a:r>
                  <a:rPr lang="en-ZA" b="1" dirty="0" smtClean="0"/>
                  <a:t> </a:t>
                </a:r>
                <a:r>
                  <a:rPr lang="en-ZA" dirty="0"/>
                  <a:t>and a common covariance matrix </a:t>
                </a:r>
                <a14:m>
                  <m:oMath xmlns:m="http://schemas.openxmlformats.org/officeDocument/2006/math">
                    <m:r>
                      <a:rPr lang="el-GR" b="1" i="1" smtClean="0">
                        <a:latin typeface="Cambria Math" panose="02040503050406030204" pitchFamily="18" charset="0"/>
                        <a:ea typeface="Cambria Math" panose="02040503050406030204" pitchFamily="18" charset="0"/>
                      </a:rPr>
                      <m:t>𝜮</m:t>
                    </m:r>
                    <m:r>
                      <a:rPr lang="en-ZA" b="1" i="1" smtClean="0">
                        <a:latin typeface="Cambria Math" panose="02040503050406030204" pitchFamily="18" charset="0"/>
                        <a:ea typeface="Cambria Math" panose="02040503050406030204" pitchFamily="18" charset="0"/>
                      </a:rPr>
                      <m:t> </m:t>
                    </m:r>
                  </m:oMath>
                </a14:m>
                <a:r>
                  <a:rPr lang="en-ZA" b="1" dirty="0" smtClean="0"/>
                  <a:t> </a:t>
                </a:r>
                <a:r>
                  <a:rPr lang="en-ZA" dirty="0" smtClean="0"/>
                  <a:t>then</a:t>
                </a:r>
              </a:p>
              <a:p>
                <a:endParaRPr lang="en-ZA" dirty="0"/>
              </a:p>
              <a:p>
                <a:pPr/>
                <a14:m>
                  <m:oMathPara xmlns:m="http://schemas.openxmlformats.org/officeDocument/2006/math">
                    <m:oMathParaPr>
                      <m:jc m:val="centerGroup"/>
                    </m:oMathParaPr>
                    <m:oMath xmlns:m="http://schemas.openxmlformats.org/officeDocument/2006/math">
                      <m:f>
                        <m:fPr>
                          <m:ctrlPr>
                            <a:rPr lang="en-ZA" i="1" smtClean="0">
                              <a:latin typeface="Cambria Math" panose="02040503050406030204" pitchFamily="18" charset="0"/>
                            </a:rPr>
                          </m:ctrlPr>
                        </m:fPr>
                        <m:num>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1</m:t>
                              </m:r>
                            </m:sub>
                          </m:sSub>
                          <m:r>
                            <a:rPr lang="en-ZA" b="0" i="1" smtClean="0">
                              <a:latin typeface="Cambria Math" panose="02040503050406030204" pitchFamily="18" charset="0"/>
                            </a:rPr>
                            <m:t>(</m:t>
                          </m:r>
                          <m:r>
                            <a:rPr lang="en-ZA" b="0" i="1" smtClean="0">
                              <a:latin typeface="Cambria Math" panose="02040503050406030204" pitchFamily="18" charset="0"/>
                            </a:rPr>
                            <m:t>𝑥</m:t>
                          </m:r>
                          <m:r>
                            <a:rPr lang="en-ZA" b="0" i="1" smtClean="0">
                              <a:latin typeface="Cambria Math" panose="02040503050406030204" pitchFamily="18" charset="0"/>
                            </a:rPr>
                            <m:t>)</m:t>
                          </m:r>
                        </m:num>
                        <m:den>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2</m:t>
                              </m:r>
                            </m:sub>
                          </m:sSub>
                          <m:r>
                            <a:rPr lang="en-ZA" b="0" i="1" smtClean="0">
                              <a:latin typeface="Cambria Math" panose="02040503050406030204" pitchFamily="18" charset="0"/>
                            </a:rPr>
                            <m:t>(</m:t>
                          </m:r>
                          <m:r>
                            <a:rPr lang="en-ZA" b="0" i="1" smtClean="0">
                              <a:latin typeface="Cambria Math" panose="02040503050406030204" pitchFamily="18" charset="0"/>
                            </a:rPr>
                            <m:t>𝑥</m:t>
                          </m:r>
                          <m:r>
                            <a:rPr lang="en-ZA" b="0" i="1" smtClean="0">
                              <a:latin typeface="Cambria Math" panose="02040503050406030204" pitchFamily="18" charset="0"/>
                            </a:rPr>
                            <m:t>)</m:t>
                          </m:r>
                        </m:den>
                      </m:f>
                      <m:r>
                        <a:rPr lang="en-ZA" b="0" i="1" smtClean="0">
                          <a:latin typeface="Cambria Math" panose="02040503050406030204" pitchFamily="18" charset="0"/>
                        </a:rPr>
                        <m:t>=</m:t>
                      </m:r>
                      <m:f>
                        <m:fPr>
                          <m:ctrlPr>
                            <a:rPr lang="en-ZA" b="0" i="1" smtClean="0">
                              <a:latin typeface="Cambria Math" panose="02040503050406030204" pitchFamily="18" charset="0"/>
                            </a:rPr>
                          </m:ctrlPr>
                        </m:fPr>
                        <m:num>
                          <m:r>
                            <a:rPr lang="en-ZA" b="0" i="1" smtClean="0">
                              <a:latin typeface="Cambria Math" panose="02040503050406030204" pitchFamily="18" charset="0"/>
                            </a:rPr>
                            <m:t>(2</m:t>
                          </m:r>
                          <m:r>
                            <a:rPr lang="en-ZA" b="0" i="1" smtClean="0">
                              <a:latin typeface="Cambria Math" panose="02040503050406030204" pitchFamily="18" charset="0"/>
                              <a:ea typeface="Cambria Math" panose="02040503050406030204" pitchFamily="18" charset="0"/>
                            </a:rPr>
                            <m:t>𝜋</m:t>
                          </m:r>
                          <m:sSup>
                            <m:sSupPr>
                              <m:ctrlPr>
                                <a:rPr lang="en-ZA" b="0" i="1" smtClean="0">
                                  <a:latin typeface="Cambria Math" panose="02040503050406030204" pitchFamily="18" charset="0"/>
                                  <a:ea typeface="Cambria Math" panose="02040503050406030204" pitchFamily="18" charset="0"/>
                                </a:rPr>
                              </m:ctrlPr>
                            </m:sSupPr>
                            <m:e>
                              <m:r>
                                <a:rPr lang="en-ZA" b="0" i="1" smtClean="0">
                                  <a:latin typeface="Cambria Math" panose="02040503050406030204" pitchFamily="18" charset="0"/>
                                  <a:ea typeface="Cambria Math" panose="02040503050406030204" pitchFamily="18" charset="0"/>
                                </a:rPr>
                                <m:t>)</m:t>
                              </m:r>
                            </m:e>
                            <m:sup>
                              <m:r>
                                <a:rPr lang="en-ZA" b="0" i="1" smtClean="0">
                                  <a:latin typeface="Cambria Math" panose="02040503050406030204" pitchFamily="18" charset="0"/>
                                  <a:ea typeface="Cambria Math" panose="02040503050406030204" pitchFamily="18" charset="0"/>
                                </a:rPr>
                                <m:t>−</m:t>
                              </m:r>
                              <m:f>
                                <m:fPr>
                                  <m:ctrlPr>
                                    <a:rPr lang="en-ZA" b="0" i="1" smtClean="0">
                                      <a:latin typeface="Cambria Math" panose="02040503050406030204" pitchFamily="18" charset="0"/>
                                      <a:ea typeface="Cambria Math" panose="02040503050406030204" pitchFamily="18" charset="0"/>
                                    </a:rPr>
                                  </m:ctrlPr>
                                </m:fPr>
                                <m:num>
                                  <m:r>
                                    <a:rPr lang="en-ZA" b="0" i="1" smtClean="0">
                                      <a:latin typeface="Cambria Math" panose="02040503050406030204" pitchFamily="18" charset="0"/>
                                      <a:ea typeface="Cambria Math" panose="02040503050406030204" pitchFamily="18" charset="0"/>
                                    </a:rPr>
                                    <m:t>𝑝</m:t>
                                  </m:r>
                                </m:num>
                                <m:den>
                                  <m:r>
                                    <a:rPr lang="en-ZA" b="0" i="1" smtClean="0">
                                      <a:latin typeface="Cambria Math" panose="02040503050406030204" pitchFamily="18" charset="0"/>
                                      <a:ea typeface="Cambria Math" panose="02040503050406030204" pitchFamily="18" charset="0"/>
                                    </a:rPr>
                                    <m:t>2</m:t>
                                  </m:r>
                                </m:den>
                              </m:f>
                            </m:sup>
                          </m:sSup>
                          <m:r>
                            <a:rPr lang="en-ZA" b="0" i="1" smtClean="0">
                              <a:latin typeface="Cambria Math" panose="02040503050406030204" pitchFamily="18" charset="0"/>
                              <a:ea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Σ</m:t>
                          </m:r>
                          <m:sSup>
                            <m:sSupPr>
                              <m:ctrlPr>
                                <a:rPr lang="el-GR" b="0" i="1" smtClean="0">
                                  <a:latin typeface="Cambria Math" panose="02040503050406030204" pitchFamily="18" charset="0"/>
                                  <a:ea typeface="Cambria Math" panose="02040503050406030204" pitchFamily="18" charset="0"/>
                                </a:rPr>
                              </m:ctrlPr>
                            </m:sSupPr>
                            <m:e>
                              <m:r>
                                <a:rPr lang="en-ZA" b="0" i="1" smtClean="0">
                                  <a:latin typeface="Cambria Math" panose="02040503050406030204" pitchFamily="18" charset="0"/>
                                  <a:ea typeface="Cambria Math" panose="02040503050406030204" pitchFamily="18" charset="0"/>
                                </a:rPr>
                                <m:t>|</m:t>
                              </m:r>
                            </m:e>
                            <m:sup>
                              <m:r>
                                <a:rPr lang="en-ZA" b="0" i="1" smtClean="0">
                                  <a:latin typeface="Cambria Math" panose="02040503050406030204" pitchFamily="18" charset="0"/>
                                  <a:ea typeface="Cambria Math" panose="02040503050406030204" pitchFamily="18" charset="0"/>
                                </a:rPr>
                                <m:t>−</m:t>
                              </m:r>
                              <m:f>
                                <m:fPr>
                                  <m:ctrlPr>
                                    <a:rPr lang="en-ZA" b="0" i="1" smtClean="0">
                                      <a:latin typeface="Cambria Math" panose="02040503050406030204" pitchFamily="18" charset="0"/>
                                      <a:ea typeface="Cambria Math" panose="02040503050406030204" pitchFamily="18" charset="0"/>
                                    </a:rPr>
                                  </m:ctrlPr>
                                </m:fPr>
                                <m:num>
                                  <m:r>
                                    <a:rPr lang="en-ZA" b="0" i="1" smtClean="0">
                                      <a:latin typeface="Cambria Math" panose="02040503050406030204" pitchFamily="18" charset="0"/>
                                      <a:ea typeface="Cambria Math" panose="02040503050406030204" pitchFamily="18" charset="0"/>
                                    </a:rPr>
                                    <m:t>1</m:t>
                                  </m:r>
                                </m:num>
                                <m:den>
                                  <m:r>
                                    <a:rPr lang="en-ZA" b="0" i="1" smtClean="0">
                                      <a:latin typeface="Cambria Math" panose="02040503050406030204" pitchFamily="18" charset="0"/>
                                      <a:ea typeface="Cambria Math" panose="02040503050406030204" pitchFamily="18" charset="0"/>
                                    </a:rPr>
                                    <m:t>2</m:t>
                                  </m:r>
                                </m:den>
                              </m:f>
                            </m:sup>
                          </m:sSup>
                          <m:func>
                            <m:funcPr>
                              <m:ctrlPr>
                                <a:rPr lang="en-ZA" b="0" i="1" smtClean="0">
                                  <a:latin typeface="Cambria Math" panose="02040503050406030204" pitchFamily="18" charset="0"/>
                                  <a:ea typeface="Cambria Math" panose="02040503050406030204" pitchFamily="18" charset="0"/>
                                </a:rPr>
                              </m:ctrlPr>
                            </m:funcPr>
                            <m:fName>
                              <m:r>
                                <m:rPr>
                                  <m:sty m:val="p"/>
                                </m:rPr>
                                <a:rPr lang="en-ZA" b="0" i="0" smtClean="0">
                                  <a:latin typeface="Cambria Math" panose="02040503050406030204" pitchFamily="18" charset="0"/>
                                  <a:ea typeface="Cambria Math" panose="02040503050406030204" pitchFamily="18" charset="0"/>
                                </a:rPr>
                                <m:t>exp</m:t>
                              </m:r>
                            </m:fName>
                            <m:e>
                              <m:d>
                                <m:dPr>
                                  <m:begChr m:val="["/>
                                  <m:endChr m:val="]"/>
                                  <m:ctrlPr>
                                    <a:rPr lang="en-ZA" b="0" i="1" smtClean="0">
                                      <a:latin typeface="Cambria Math" panose="02040503050406030204" pitchFamily="18" charset="0"/>
                                      <a:ea typeface="Cambria Math" panose="02040503050406030204" pitchFamily="18" charset="0"/>
                                    </a:rPr>
                                  </m:ctrlPr>
                                </m:dPr>
                                <m:e>
                                  <m:r>
                                    <a:rPr lang="en-ZA" b="0" i="1" smtClean="0">
                                      <a:latin typeface="Cambria Math" panose="02040503050406030204" pitchFamily="18" charset="0"/>
                                      <a:ea typeface="Cambria Math" panose="02040503050406030204" pitchFamily="18" charset="0"/>
                                    </a:rPr>
                                    <m:t>−</m:t>
                                  </m:r>
                                  <m:r>
                                    <a:rPr lang="en-ZA" i="1">
                                      <a:latin typeface="Cambria Math" panose="02040503050406030204" pitchFamily="18" charset="0"/>
                                      <a:ea typeface="Cambria Math" panose="02040503050406030204" pitchFamily="18" charset="0"/>
                                    </a:rPr>
                                    <m:t>1/2</m:t>
                                  </m:r>
                                  <m:sSup>
                                    <m:sSupPr>
                                      <m:ctrlPr>
                                        <a:rPr lang="en-ZA" i="1">
                                          <a:latin typeface="Cambria Math" panose="02040503050406030204" pitchFamily="18" charset="0"/>
                                          <a:ea typeface="Cambria Math" panose="02040503050406030204" pitchFamily="18" charset="0"/>
                                        </a:rPr>
                                      </m:ctrlPr>
                                    </m:sSupPr>
                                    <m:e>
                                      <m:r>
                                        <a:rPr lang="en-ZA" i="1">
                                          <a:latin typeface="Cambria Math" panose="02040503050406030204" pitchFamily="18" charset="0"/>
                                          <a:ea typeface="Cambria Math" panose="02040503050406030204" pitchFamily="18" charset="0"/>
                                        </a:rPr>
                                        <m:t> </m:t>
                                      </m:r>
                                      <m:d>
                                        <m:dPr>
                                          <m:ctrlPr>
                                            <a:rPr lang="en-ZA" i="1">
                                              <a:latin typeface="Cambria Math" panose="02040503050406030204" pitchFamily="18" charset="0"/>
                                              <a:ea typeface="Cambria Math" panose="02040503050406030204" pitchFamily="18" charset="0"/>
                                            </a:rPr>
                                          </m:ctrlPr>
                                        </m:dPr>
                                        <m:e>
                                          <m:r>
                                            <a:rPr lang="en-ZA" i="1">
                                              <a:latin typeface="Cambria Math" panose="02040503050406030204" pitchFamily="18" charset="0"/>
                                              <a:ea typeface="Cambria Math" panose="02040503050406030204" pitchFamily="18" charset="0"/>
                                            </a:rPr>
                                            <m:t>𝑥</m:t>
                                          </m:r>
                                          <m:r>
                                            <a:rPr lang="en-ZA" i="1">
                                              <a:latin typeface="Cambria Math" panose="02040503050406030204" pitchFamily="18" charset="0"/>
                                              <a:ea typeface="Cambria Math" panose="02040503050406030204" pitchFamily="18" charset="0"/>
                                            </a:rPr>
                                            <m:t>−</m:t>
                                          </m:r>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ea typeface="Cambria Math" panose="02040503050406030204" pitchFamily="18" charset="0"/>
                                                </a:rPr>
                                                <m:t>1</m:t>
                                              </m:r>
                                            </m:sub>
                                          </m:sSub>
                                        </m:e>
                                      </m:d>
                                    </m:e>
                                    <m:sup>
                                      <m:r>
                                        <a:rPr lang="en-ZA" i="1">
                                          <a:latin typeface="Cambria Math" panose="02040503050406030204" pitchFamily="18" charset="0"/>
                                          <a:ea typeface="Cambria Math" panose="02040503050406030204" pitchFamily="18" charset="0"/>
                                        </a:rPr>
                                        <m:t>′</m:t>
                                      </m:r>
                                    </m:sup>
                                  </m:sSup>
                                  <m:sSup>
                                    <m:sSupPr>
                                      <m:ctrlPr>
                                        <a:rPr lang="en-ZA" i="1">
                                          <a:latin typeface="Cambria Math" panose="02040503050406030204" pitchFamily="18" charset="0"/>
                                          <a:ea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ZA" i="1">
                                          <a:latin typeface="Cambria Math" panose="02040503050406030204" pitchFamily="18" charset="0"/>
                                          <a:ea typeface="Cambria Math" panose="02040503050406030204" pitchFamily="18" charset="0"/>
                                        </a:rPr>
                                        <m:t>−1</m:t>
                                      </m:r>
                                    </m:sup>
                                  </m:sSup>
                                  <m:d>
                                    <m:dPr>
                                      <m:ctrlPr>
                                        <a:rPr lang="en-ZA" i="1">
                                          <a:latin typeface="Cambria Math" panose="02040503050406030204" pitchFamily="18" charset="0"/>
                                          <a:ea typeface="Cambria Math" panose="02040503050406030204" pitchFamily="18" charset="0"/>
                                        </a:rPr>
                                      </m:ctrlPr>
                                    </m:dPr>
                                    <m:e>
                                      <m:r>
                                        <a:rPr lang="en-ZA" i="1">
                                          <a:latin typeface="Cambria Math" panose="02040503050406030204" pitchFamily="18" charset="0"/>
                                          <a:ea typeface="Cambria Math" panose="02040503050406030204" pitchFamily="18" charset="0"/>
                                        </a:rPr>
                                        <m:t>𝑥</m:t>
                                      </m:r>
                                      <m:r>
                                        <a:rPr lang="en-ZA" i="1">
                                          <a:latin typeface="Cambria Math" panose="02040503050406030204" pitchFamily="18" charset="0"/>
                                          <a:ea typeface="Cambria Math" panose="02040503050406030204" pitchFamily="18" charset="0"/>
                                        </a:rPr>
                                        <m:t>−</m:t>
                                      </m:r>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ea typeface="Cambria Math" panose="02040503050406030204" pitchFamily="18" charset="0"/>
                                            </a:rPr>
                                            <m:t>1</m:t>
                                          </m:r>
                                        </m:sub>
                                      </m:sSub>
                                    </m:e>
                                  </m:d>
                                </m:e>
                              </m:d>
                            </m:e>
                          </m:func>
                        </m:num>
                        <m:den>
                          <m:r>
                            <a:rPr lang="en-ZA" b="0" i="1" smtClean="0">
                              <a:latin typeface="Cambria Math" panose="02040503050406030204" pitchFamily="18" charset="0"/>
                            </a:rPr>
                            <m:t>(</m:t>
                          </m:r>
                          <m:r>
                            <a:rPr lang="en-ZA" i="1">
                              <a:latin typeface="Cambria Math" panose="02040503050406030204" pitchFamily="18" charset="0"/>
                            </a:rPr>
                            <m:t>2</m:t>
                          </m:r>
                          <m:r>
                            <a:rPr lang="en-ZA" i="1">
                              <a:latin typeface="Cambria Math" panose="02040503050406030204" pitchFamily="18" charset="0"/>
                              <a:ea typeface="Cambria Math" panose="02040503050406030204" pitchFamily="18" charset="0"/>
                            </a:rPr>
                            <m:t>𝜋</m:t>
                          </m:r>
                          <m:sSup>
                            <m:sSupPr>
                              <m:ctrlPr>
                                <a:rPr lang="en-ZA" i="1">
                                  <a:latin typeface="Cambria Math" panose="02040503050406030204" pitchFamily="18" charset="0"/>
                                  <a:ea typeface="Cambria Math" panose="02040503050406030204" pitchFamily="18" charset="0"/>
                                </a:rPr>
                              </m:ctrlPr>
                            </m:sSupPr>
                            <m:e>
                              <m:r>
                                <a:rPr lang="en-ZA" i="1">
                                  <a:latin typeface="Cambria Math" panose="02040503050406030204" pitchFamily="18" charset="0"/>
                                  <a:ea typeface="Cambria Math" panose="02040503050406030204" pitchFamily="18" charset="0"/>
                                </a:rPr>
                                <m:t>)</m:t>
                              </m:r>
                            </m:e>
                            <m:sup>
                              <m:r>
                                <a:rPr lang="en-ZA" i="1">
                                  <a:latin typeface="Cambria Math" panose="02040503050406030204" pitchFamily="18" charset="0"/>
                                  <a:ea typeface="Cambria Math" panose="02040503050406030204" pitchFamily="18" charset="0"/>
                                </a:rPr>
                                <m:t>−</m:t>
                              </m:r>
                              <m:f>
                                <m:fPr>
                                  <m:ctrlPr>
                                    <a:rPr lang="en-ZA" i="1">
                                      <a:latin typeface="Cambria Math" panose="02040503050406030204" pitchFamily="18" charset="0"/>
                                      <a:ea typeface="Cambria Math" panose="02040503050406030204" pitchFamily="18" charset="0"/>
                                    </a:rPr>
                                  </m:ctrlPr>
                                </m:fPr>
                                <m:num>
                                  <m:r>
                                    <a:rPr lang="en-ZA" i="1">
                                      <a:latin typeface="Cambria Math" panose="02040503050406030204" pitchFamily="18" charset="0"/>
                                      <a:ea typeface="Cambria Math" panose="02040503050406030204" pitchFamily="18" charset="0"/>
                                    </a:rPr>
                                    <m:t>𝑝</m:t>
                                  </m:r>
                                </m:num>
                                <m:den>
                                  <m:r>
                                    <a:rPr lang="en-ZA" i="1">
                                      <a:latin typeface="Cambria Math" panose="02040503050406030204" pitchFamily="18" charset="0"/>
                                      <a:ea typeface="Cambria Math" panose="02040503050406030204" pitchFamily="18" charset="0"/>
                                    </a:rPr>
                                    <m:t>2</m:t>
                                  </m:r>
                                </m:den>
                              </m:f>
                            </m:sup>
                          </m:sSup>
                          <m:r>
                            <a:rPr lang="en-ZA" i="1">
                              <a:latin typeface="Cambria Math" panose="02040503050406030204" pitchFamily="18" charset="0"/>
                              <a:ea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Σ</m:t>
                          </m:r>
                          <m:sSup>
                            <m:sSupPr>
                              <m:ctrlPr>
                                <a:rPr lang="el-GR" i="1">
                                  <a:latin typeface="Cambria Math" panose="02040503050406030204" pitchFamily="18" charset="0"/>
                                  <a:ea typeface="Cambria Math" panose="02040503050406030204" pitchFamily="18" charset="0"/>
                                </a:rPr>
                              </m:ctrlPr>
                            </m:sSupPr>
                            <m:e>
                              <m:r>
                                <a:rPr lang="en-ZA" i="1">
                                  <a:latin typeface="Cambria Math" panose="02040503050406030204" pitchFamily="18" charset="0"/>
                                  <a:ea typeface="Cambria Math" panose="02040503050406030204" pitchFamily="18" charset="0"/>
                                </a:rPr>
                                <m:t>|</m:t>
                              </m:r>
                            </m:e>
                            <m:sup>
                              <m:r>
                                <a:rPr lang="en-ZA" i="1">
                                  <a:latin typeface="Cambria Math" panose="02040503050406030204" pitchFamily="18" charset="0"/>
                                  <a:ea typeface="Cambria Math" panose="02040503050406030204" pitchFamily="18" charset="0"/>
                                </a:rPr>
                                <m:t>−</m:t>
                              </m:r>
                              <m:f>
                                <m:fPr>
                                  <m:ctrlPr>
                                    <a:rPr lang="en-ZA" i="1">
                                      <a:latin typeface="Cambria Math" panose="02040503050406030204" pitchFamily="18" charset="0"/>
                                      <a:ea typeface="Cambria Math" panose="02040503050406030204" pitchFamily="18" charset="0"/>
                                    </a:rPr>
                                  </m:ctrlPr>
                                </m:fPr>
                                <m:num>
                                  <m:r>
                                    <a:rPr lang="en-ZA" i="1">
                                      <a:latin typeface="Cambria Math" panose="02040503050406030204" pitchFamily="18" charset="0"/>
                                      <a:ea typeface="Cambria Math" panose="02040503050406030204" pitchFamily="18" charset="0"/>
                                    </a:rPr>
                                    <m:t>1</m:t>
                                  </m:r>
                                </m:num>
                                <m:den>
                                  <m:r>
                                    <a:rPr lang="en-ZA" i="1">
                                      <a:latin typeface="Cambria Math" panose="02040503050406030204" pitchFamily="18" charset="0"/>
                                      <a:ea typeface="Cambria Math" panose="02040503050406030204" pitchFamily="18" charset="0"/>
                                    </a:rPr>
                                    <m:t>2</m:t>
                                  </m:r>
                                </m:den>
                              </m:f>
                            </m:sup>
                          </m:sSup>
                          <m:func>
                            <m:funcPr>
                              <m:ctrlPr>
                                <a:rPr lang="en-ZA" i="1">
                                  <a:latin typeface="Cambria Math" panose="02040503050406030204" pitchFamily="18" charset="0"/>
                                  <a:ea typeface="Cambria Math" panose="02040503050406030204" pitchFamily="18" charset="0"/>
                                </a:rPr>
                              </m:ctrlPr>
                            </m:funcPr>
                            <m:fName>
                              <m:r>
                                <m:rPr>
                                  <m:sty m:val="p"/>
                                </m:rPr>
                                <a:rPr lang="en-ZA">
                                  <a:latin typeface="Cambria Math" panose="02040503050406030204" pitchFamily="18" charset="0"/>
                                  <a:ea typeface="Cambria Math" panose="02040503050406030204" pitchFamily="18" charset="0"/>
                                </a:rPr>
                                <m:t>exp</m:t>
                              </m:r>
                            </m:fName>
                            <m:e>
                              <m:d>
                                <m:dPr>
                                  <m:begChr m:val="["/>
                                  <m:endChr m:val="]"/>
                                  <m:ctrlPr>
                                    <a:rPr lang="en-ZA" i="1">
                                      <a:latin typeface="Cambria Math" panose="02040503050406030204" pitchFamily="18" charset="0"/>
                                      <a:ea typeface="Cambria Math" panose="02040503050406030204" pitchFamily="18" charset="0"/>
                                    </a:rPr>
                                  </m:ctrlPr>
                                </m:dPr>
                                <m:e>
                                  <m:r>
                                    <a:rPr lang="en-ZA" i="1">
                                      <a:latin typeface="Cambria Math" panose="02040503050406030204" pitchFamily="18" charset="0"/>
                                      <a:ea typeface="Cambria Math" panose="02040503050406030204" pitchFamily="18" charset="0"/>
                                    </a:rPr>
                                    <m:t>−1/2</m:t>
                                  </m:r>
                                  <m:sSup>
                                    <m:sSupPr>
                                      <m:ctrlPr>
                                        <a:rPr lang="en-ZA" i="1">
                                          <a:latin typeface="Cambria Math" panose="02040503050406030204" pitchFamily="18" charset="0"/>
                                          <a:ea typeface="Cambria Math" panose="02040503050406030204" pitchFamily="18" charset="0"/>
                                        </a:rPr>
                                      </m:ctrlPr>
                                    </m:sSupPr>
                                    <m:e>
                                      <m:r>
                                        <a:rPr lang="en-ZA" i="1">
                                          <a:latin typeface="Cambria Math" panose="02040503050406030204" pitchFamily="18" charset="0"/>
                                          <a:ea typeface="Cambria Math" panose="02040503050406030204" pitchFamily="18" charset="0"/>
                                        </a:rPr>
                                        <m:t> </m:t>
                                      </m:r>
                                      <m:d>
                                        <m:dPr>
                                          <m:ctrlPr>
                                            <a:rPr lang="en-ZA" i="1">
                                              <a:latin typeface="Cambria Math" panose="02040503050406030204" pitchFamily="18" charset="0"/>
                                              <a:ea typeface="Cambria Math" panose="02040503050406030204" pitchFamily="18" charset="0"/>
                                            </a:rPr>
                                          </m:ctrlPr>
                                        </m:dPr>
                                        <m:e>
                                          <m:r>
                                            <a:rPr lang="en-ZA" i="1">
                                              <a:latin typeface="Cambria Math" panose="02040503050406030204" pitchFamily="18" charset="0"/>
                                              <a:ea typeface="Cambria Math" panose="02040503050406030204" pitchFamily="18" charset="0"/>
                                            </a:rPr>
                                            <m:t>𝑥</m:t>
                                          </m:r>
                                          <m:r>
                                            <a:rPr lang="en-ZA" i="1">
                                              <a:latin typeface="Cambria Math" panose="02040503050406030204" pitchFamily="18" charset="0"/>
                                              <a:ea typeface="Cambria Math" panose="02040503050406030204" pitchFamily="18" charset="0"/>
                                            </a:rPr>
                                            <m:t>−</m:t>
                                          </m:r>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2</m:t>
                                              </m:r>
                                            </m:sub>
                                          </m:sSub>
                                        </m:e>
                                      </m:d>
                                    </m:e>
                                    <m:sup>
                                      <m:r>
                                        <a:rPr lang="en-ZA" i="1">
                                          <a:latin typeface="Cambria Math" panose="02040503050406030204" pitchFamily="18" charset="0"/>
                                          <a:ea typeface="Cambria Math" panose="02040503050406030204" pitchFamily="18" charset="0"/>
                                        </a:rPr>
                                        <m:t>′</m:t>
                                      </m:r>
                                    </m:sup>
                                  </m:sSup>
                                  <m:sSup>
                                    <m:sSupPr>
                                      <m:ctrlPr>
                                        <a:rPr lang="en-ZA" i="1">
                                          <a:latin typeface="Cambria Math" panose="02040503050406030204" pitchFamily="18" charset="0"/>
                                          <a:ea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ZA" i="1">
                                          <a:latin typeface="Cambria Math" panose="02040503050406030204" pitchFamily="18" charset="0"/>
                                          <a:ea typeface="Cambria Math" panose="02040503050406030204" pitchFamily="18" charset="0"/>
                                        </a:rPr>
                                        <m:t>−1</m:t>
                                      </m:r>
                                    </m:sup>
                                  </m:sSup>
                                  <m:d>
                                    <m:dPr>
                                      <m:ctrlPr>
                                        <a:rPr lang="en-ZA" i="1">
                                          <a:latin typeface="Cambria Math" panose="02040503050406030204" pitchFamily="18" charset="0"/>
                                          <a:ea typeface="Cambria Math" panose="02040503050406030204" pitchFamily="18" charset="0"/>
                                        </a:rPr>
                                      </m:ctrlPr>
                                    </m:dPr>
                                    <m:e>
                                      <m:r>
                                        <a:rPr lang="en-ZA" i="1">
                                          <a:latin typeface="Cambria Math" panose="02040503050406030204" pitchFamily="18" charset="0"/>
                                          <a:ea typeface="Cambria Math" panose="02040503050406030204" pitchFamily="18" charset="0"/>
                                        </a:rPr>
                                        <m:t>𝑥</m:t>
                                      </m:r>
                                      <m:r>
                                        <a:rPr lang="en-ZA" i="1">
                                          <a:latin typeface="Cambria Math" panose="02040503050406030204" pitchFamily="18" charset="0"/>
                                          <a:ea typeface="Cambria Math" panose="02040503050406030204" pitchFamily="18" charset="0"/>
                                        </a:rPr>
                                        <m:t>−</m:t>
                                      </m:r>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2</m:t>
                                          </m:r>
                                        </m:sub>
                                      </m:sSub>
                                    </m:e>
                                  </m:d>
                                </m:e>
                              </m:d>
                            </m:e>
                          </m:func>
                        </m:den>
                      </m:f>
                    </m:oMath>
                  </m:oMathPara>
                </a14:m>
                <a:endParaRPr lang="en-ZA" dirty="0" smtClean="0"/>
              </a:p>
              <a:p>
                <a:endParaRPr lang="en-ZA" dirty="0" smtClean="0"/>
              </a:p>
              <a:p>
                <a:pPr/>
                <a14:m>
                  <m:oMathPara xmlns:m="http://schemas.openxmlformats.org/officeDocument/2006/math">
                    <m:oMathParaPr>
                      <m:jc m:val="centerGroup"/>
                    </m:oMathParaPr>
                    <m:oMath xmlns:m="http://schemas.openxmlformats.org/officeDocument/2006/math">
                      <m:r>
                        <a:rPr lang="en-ZA" b="0" i="1" smtClean="0">
                          <a:latin typeface="Cambria Math" panose="02040503050406030204" pitchFamily="18" charset="0"/>
                        </a:rPr>
                        <m:t>=</m:t>
                      </m:r>
                      <m:func>
                        <m:funcPr>
                          <m:ctrlPr>
                            <a:rPr lang="en-ZA" b="0" i="1" smtClean="0">
                              <a:latin typeface="Cambria Math" panose="02040503050406030204" pitchFamily="18" charset="0"/>
                            </a:rPr>
                          </m:ctrlPr>
                        </m:funcPr>
                        <m:fName>
                          <m:r>
                            <m:rPr>
                              <m:sty m:val="p"/>
                            </m:rPr>
                            <a:rPr lang="en-ZA" b="0" i="0" smtClean="0">
                              <a:latin typeface="Cambria Math" panose="02040503050406030204" pitchFamily="18" charset="0"/>
                            </a:rPr>
                            <m:t>exp</m:t>
                          </m:r>
                        </m:fName>
                        <m:e>
                          <m:d>
                            <m:dPr>
                              <m:begChr m:val="["/>
                              <m:endChr m:val="]"/>
                              <m:ctrlPr>
                                <a:rPr lang="en-ZA" b="0" i="1" smtClean="0">
                                  <a:latin typeface="Cambria Math" panose="02040503050406030204" pitchFamily="18" charset="0"/>
                                </a:rPr>
                              </m:ctrlPr>
                            </m:dPr>
                            <m:e>
                              <m:r>
                                <a:rPr lang="en-ZA" i="1">
                                  <a:latin typeface="Cambria Math" panose="02040503050406030204" pitchFamily="18" charset="0"/>
                                </a:rPr>
                                <m:t>−1/2</m:t>
                              </m:r>
                              <m:d>
                                <m:dPr>
                                  <m:begChr m:val="{"/>
                                  <m:endChr m:val="}"/>
                                  <m:ctrlPr>
                                    <a:rPr lang="en-ZA" i="1">
                                      <a:latin typeface="Cambria Math" panose="02040503050406030204" pitchFamily="18" charset="0"/>
                                    </a:rPr>
                                  </m:ctrlPr>
                                </m:dPr>
                                <m:e>
                                  <m:sSup>
                                    <m:sSupPr>
                                      <m:ctrlPr>
                                        <a:rPr lang="en-ZA" i="1">
                                          <a:latin typeface="Cambria Math" panose="02040503050406030204" pitchFamily="18" charset="0"/>
                                          <a:ea typeface="Cambria Math" panose="02040503050406030204" pitchFamily="18" charset="0"/>
                                        </a:rPr>
                                      </m:ctrlPr>
                                    </m:sSupPr>
                                    <m:e>
                                      <m:r>
                                        <a:rPr lang="en-ZA" i="1">
                                          <a:latin typeface="Cambria Math" panose="02040503050406030204" pitchFamily="18" charset="0"/>
                                          <a:ea typeface="Cambria Math" panose="02040503050406030204" pitchFamily="18" charset="0"/>
                                        </a:rPr>
                                        <m:t> </m:t>
                                      </m:r>
                                      <m:d>
                                        <m:dPr>
                                          <m:ctrlPr>
                                            <a:rPr lang="en-ZA" i="1">
                                              <a:latin typeface="Cambria Math" panose="02040503050406030204" pitchFamily="18" charset="0"/>
                                              <a:ea typeface="Cambria Math" panose="02040503050406030204" pitchFamily="18" charset="0"/>
                                            </a:rPr>
                                          </m:ctrlPr>
                                        </m:dPr>
                                        <m:e>
                                          <m:r>
                                            <a:rPr lang="en-ZA" i="1">
                                              <a:latin typeface="Cambria Math" panose="02040503050406030204" pitchFamily="18" charset="0"/>
                                              <a:ea typeface="Cambria Math" panose="02040503050406030204" pitchFamily="18" charset="0"/>
                                            </a:rPr>
                                            <m:t>𝑥</m:t>
                                          </m:r>
                                          <m:r>
                                            <a:rPr lang="en-ZA" i="1">
                                              <a:latin typeface="Cambria Math" panose="02040503050406030204" pitchFamily="18" charset="0"/>
                                              <a:ea typeface="Cambria Math" panose="02040503050406030204" pitchFamily="18" charset="0"/>
                                            </a:rPr>
                                            <m:t>−</m:t>
                                          </m:r>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ea typeface="Cambria Math" panose="02040503050406030204" pitchFamily="18" charset="0"/>
                                                </a:rPr>
                                                <m:t>1</m:t>
                                              </m:r>
                                            </m:sub>
                                          </m:sSub>
                                        </m:e>
                                      </m:d>
                                    </m:e>
                                    <m:sup>
                                      <m:r>
                                        <a:rPr lang="en-ZA" i="1">
                                          <a:latin typeface="Cambria Math" panose="02040503050406030204" pitchFamily="18" charset="0"/>
                                          <a:ea typeface="Cambria Math" panose="02040503050406030204" pitchFamily="18" charset="0"/>
                                        </a:rPr>
                                        <m:t>′</m:t>
                                      </m:r>
                                    </m:sup>
                                  </m:sSup>
                                  <m:sSup>
                                    <m:sSupPr>
                                      <m:ctrlPr>
                                        <a:rPr lang="en-ZA" i="1">
                                          <a:latin typeface="Cambria Math" panose="02040503050406030204" pitchFamily="18" charset="0"/>
                                          <a:ea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ZA" i="1">
                                          <a:latin typeface="Cambria Math" panose="02040503050406030204" pitchFamily="18" charset="0"/>
                                          <a:ea typeface="Cambria Math" panose="02040503050406030204" pitchFamily="18" charset="0"/>
                                        </a:rPr>
                                        <m:t>−1</m:t>
                                      </m:r>
                                    </m:sup>
                                  </m:sSup>
                                  <m:d>
                                    <m:dPr>
                                      <m:ctrlPr>
                                        <a:rPr lang="en-ZA" i="1">
                                          <a:latin typeface="Cambria Math" panose="02040503050406030204" pitchFamily="18" charset="0"/>
                                          <a:ea typeface="Cambria Math" panose="02040503050406030204" pitchFamily="18" charset="0"/>
                                        </a:rPr>
                                      </m:ctrlPr>
                                    </m:dPr>
                                    <m:e>
                                      <m:r>
                                        <a:rPr lang="en-ZA" i="1">
                                          <a:latin typeface="Cambria Math" panose="02040503050406030204" pitchFamily="18" charset="0"/>
                                          <a:ea typeface="Cambria Math" panose="02040503050406030204" pitchFamily="18" charset="0"/>
                                        </a:rPr>
                                        <m:t>𝑥</m:t>
                                      </m:r>
                                      <m:r>
                                        <a:rPr lang="en-ZA" i="1">
                                          <a:latin typeface="Cambria Math" panose="02040503050406030204" pitchFamily="18" charset="0"/>
                                          <a:ea typeface="Cambria Math" panose="02040503050406030204" pitchFamily="18" charset="0"/>
                                        </a:rPr>
                                        <m:t>−</m:t>
                                      </m:r>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ea typeface="Cambria Math" panose="02040503050406030204" pitchFamily="18" charset="0"/>
                                            </a:rPr>
                                            <m:t>1</m:t>
                                          </m:r>
                                        </m:sub>
                                      </m:sSub>
                                    </m:e>
                                  </m:d>
                                  <m:r>
                                    <a:rPr lang="en-ZA" i="1">
                                      <a:latin typeface="Cambria Math" panose="02040503050406030204" pitchFamily="18" charset="0"/>
                                      <a:ea typeface="Cambria Math" panose="02040503050406030204" pitchFamily="18" charset="0"/>
                                    </a:rPr>
                                    <m:t>−</m:t>
                                  </m:r>
                                  <m:sSup>
                                    <m:sSupPr>
                                      <m:ctrlPr>
                                        <a:rPr lang="en-ZA" i="1">
                                          <a:latin typeface="Cambria Math" panose="02040503050406030204" pitchFamily="18" charset="0"/>
                                          <a:ea typeface="Cambria Math" panose="02040503050406030204" pitchFamily="18" charset="0"/>
                                        </a:rPr>
                                      </m:ctrlPr>
                                    </m:sSupPr>
                                    <m:e>
                                      <m:r>
                                        <a:rPr lang="en-ZA" i="1">
                                          <a:latin typeface="Cambria Math" panose="02040503050406030204" pitchFamily="18" charset="0"/>
                                          <a:ea typeface="Cambria Math" panose="02040503050406030204" pitchFamily="18" charset="0"/>
                                        </a:rPr>
                                        <m:t> </m:t>
                                      </m:r>
                                      <m:d>
                                        <m:dPr>
                                          <m:ctrlPr>
                                            <a:rPr lang="en-ZA" i="1">
                                              <a:latin typeface="Cambria Math" panose="02040503050406030204" pitchFamily="18" charset="0"/>
                                              <a:ea typeface="Cambria Math" panose="02040503050406030204" pitchFamily="18" charset="0"/>
                                            </a:rPr>
                                          </m:ctrlPr>
                                        </m:dPr>
                                        <m:e>
                                          <m:r>
                                            <a:rPr lang="en-ZA" i="1">
                                              <a:latin typeface="Cambria Math" panose="02040503050406030204" pitchFamily="18" charset="0"/>
                                              <a:ea typeface="Cambria Math" panose="02040503050406030204" pitchFamily="18" charset="0"/>
                                            </a:rPr>
                                            <m:t>𝑥</m:t>
                                          </m:r>
                                          <m:r>
                                            <a:rPr lang="en-ZA" i="1">
                                              <a:latin typeface="Cambria Math" panose="02040503050406030204" pitchFamily="18" charset="0"/>
                                              <a:ea typeface="Cambria Math" panose="02040503050406030204" pitchFamily="18" charset="0"/>
                                            </a:rPr>
                                            <m:t>−</m:t>
                                          </m:r>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ea typeface="Cambria Math" panose="02040503050406030204" pitchFamily="18" charset="0"/>
                                                </a:rPr>
                                                <m:t>2</m:t>
                                              </m:r>
                                            </m:sub>
                                          </m:sSub>
                                        </m:e>
                                      </m:d>
                                    </m:e>
                                    <m:sup>
                                      <m:r>
                                        <a:rPr lang="en-ZA" i="1">
                                          <a:latin typeface="Cambria Math" panose="02040503050406030204" pitchFamily="18" charset="0"/>
                                          <a:ea typeface="Cambria Math" panose="02040503050406030204" pitchFamily="18" charset="0"/>
                                        </a:rPr>
                                        <m:t>′</m:t>
                                      </m:r>
                                    </m:sup>
                                  </m:sSup>
                                  <m:sSup>
                                    <m:sSupPr>
                                      <m:ctrlPr>
                                        <a:rPr lang="en-ZA" i="1">
                                          <a:latin typeface="Cambria Math" panose="02040503050406030204" pitchFamily="18" charset="0"/>
                                          <a:ea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ZA" i="1">
                                          <a:latin typeface="Cambria Math" panose="02040503050406030204" pitchFamily="18" charset="0"/>
                                          <a:ea typeface="Cambria Math" panose="02040503050406030204" pitchFamily="18" charset="0"/>
                                        </a:rPr>
                                        <m:t>−1</m:t>
                                      </m:r>
                                    </m:sup>
                                  </m:sSup>
                                  <m:d>
                                    <m:dPr>
                                      <m:ctrlPr>
                                        <a:rPr lang="en-ZA" i="1">
                                          <a:latin typeface="Cambria Math" panose="02040503050406030204" pitchFamily="18" charset="0"/>
                                          <a:ea typeface="Cambria Math" panose="02040503050406030204" pitchFamily="18" charset="0"/>
                                        </a:rPr>
                                      </m:ctrlPr>
                                    </m:dPr>
                                    <m:e>
                                      <m:r>
                                        <a:rPr lang="en-ZA" i="1">
                                          <a:latin typeface="Cambria Math" panose="02040503050406030204" pitchFamily="18" charset="0"/>
                                          <a:ea typeface="Cambria Math" panose="02040503050406030204" pitchFamily="18" charset="0"/>
                                        </a:rPr>
                                        <m:t>𝑥</m:t>
                                      </m:r>
                                      <m:r>
                                        <a:rPr lang="en-ZA" i="1">
                                          <a:latin typeface="Cambria Math" panose="02040503050406030204" pitchFamily="18" charset="0"/>
                                          <a:ea typeface="Cambria Math" panose="02040503050406030204" pitchFamily="18" charset="0"/>
                                        </a:rPr>
                                        <m:t>−</m:t>
                                      </m:r>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ea typeface="Cambria Math" panose="02040503050406030204" pitchFamily="18" charset="0"/>
                                            </a:rPr>
                                            <m:t>2</m:t>
                                          </m:r>
                                        </m:sub>
                                      </m:sSub>
                                    </m:e>
                                  </m:d>
                                </m:e>
                              </m:d>
                            </m:e>
                          </m:d>
                        </m:e>
                      </m:func>
                    </m:oMath>
                  </m:oMathPara>
                </a14:m>
                <a:endParaRPr lang="en-ZA" dirty="0" smtClean="0"/>
              </a:p>
              <a:p>
                <a:endParaRPr lang="en-ZA" dirty="0" smtClean="0"/>
              </a:p>
              <a:p>
                <a:pPr/>
                <a14:m>
                  <m:oMathPara xmlns:m="http://schemas.openxmlformats.org/officeDocument/2006/math">
                    <m:oMathParaPr>
                      <m:jc m:val="centerGroup"/>
                    </m:oMathParaPr>
                    <m:oMath xmlns:m="http://schemas.openxmlformats.org/officeDocument/2006/math">
                      <m:func>
                        <m:funcPr>
                          <m:ctrlPr>
                            <a:rPr lang="en-ZA" i="1" smtClean="0">
                              <a:latin typeface="Cambria Math" panose="02040503050406030204" pitchFamily="18" charset="0"/>
                            </a:rPr>
                          </m:ctrlPr>
                        </m:funcPr>
                        <m:fName>
                          <m:r>
                            <m:rPr>
                              <m:sty m:val="p"/>
                            </m:rPr>
                            <a:rPr lang="en-ZA" i="0" smtClean="0">
                              <a:latin typeface="Cambria Math" panose="02040503050406030204" pitchFamily="18" charset="0"/>
                            </a:rPr>
                            <m:t>log</m:t>
                          </m:r>
                        </m:fName>
                        <m:e>
                          <m:d>
                            <m:dPr>
                              <m:ctrlPr>
                                <a:rPr lang="en-ZA" i="1" smtClean="0">
                                  <a:latin typeface="Cambria Math" panose="02040503050406030204" pitchFamily="18" charset="0"/>
                                </a:rPr>
                              </m:ctrlPr>
                            </m:dPr>
                            <m:e>
                              <m:f>
                                <m:fPr>
                                  <m:ctrlPr>
                                    <a:rPr lang="en-ZA" i="1" smtClean="0">
                                      <a:latin typeface="Cambria Math" panose="02040503050406030204" pitchFamily="18" charset="0"/>
                                    </a:rPr>
                                  </m:ctrlPr>
                                </m:fPr>
                                <m:num>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1</m:t>
                                      </m:r>
                                    </m:sub>
                                  </m:sSub>
                                  <m:r>
                                    <a:rPr lang="en-ZA" b="0" i="1" smtClean="0">
                                      <a:latin typeface="Cambria Math" panose="02040503050406030204" pitchFamily="18" charset="0"/>
                                    </a:rPr>
                                    <m:t>(</m:t>
                                  </m:r>
                                  <m:r>
                                    <a:rPr lang="en-ZA" b="0" i="1" smtClean="0">
                                      <a:latin typeface="Cambria Math" panose="02040503050406030204" pitchFamily="18" charset="0"/>
                                    </a:rPr>
                                    <m:t>𝑥</m:t>
                                  </m:r>
                                  <m:r>
                                    <a:rPr lang="en-ZA" b="0" i="1" smtClean="0">
                                      <a:latin typeface="Cambria Math" panose="02040503050406030204" pitchFamily="18" charset="0"/>
                                    </a:rPr>
                                    <m:t>)</m:t>
                                  </m:r>
                                </m:num>
                                <m:den>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2</m:t>
                                      </m:r>
                                    </m:sub>
                                  </m:sSub>
                                  <m:r>
                                    <a:rPr lang="en-ZA" b="0" i="1" smtClean="0">
                                      <a:latin typeface="Cambria Math" panose="02040503050406030204" pitchFamily="18" charset="0"/>
                                    </a:rPr>
                                    <m:t>(</m:t>
                                  </m:r>
                                  <m:r>
                                    <a:rPr lang="en-ZA" b="0" i="1" smtClean="0">
                                      <a:latin typeface="Cambria Math" panose="02040503050406030204" pitchFamily="18" charset="0"/>
                                    </a:rPr>
                                    <m:t>𝑥</m:t>
                                  </m:r>
                                  <m:r>
                                    <a:rPr lang="en-ZA" b="0" i="1" smtClean="0">
                                      <a:latin typeface="Cambria Math" panose="02040503050406030204" pitchFamily="18" charset="0"/>
                                    </a:rPr>
                                    <m:t>)</m:t>
                                  </m:r>
                                </m:den>
                              </m:f>
                            </m:e>
                          </m:d>
                        </m:e>
                      </m:func>
                      <m:r>
                        <a:rPr lang="en-ZA" b="0" i="1" smtClean="0">
                          <a:latin typeface="Cambria Math" panose="02040503050406030204" pitchFamily="18" charset="0"/>
                        </a:rPr>
                        <m:t>=−1/2</m:t>
                      </m:r>
                      <m:d>
                        <m:dPr>
                          <m:begChr m:val="{"/>
                          <m:endChr m:val="}"/>
                          <m:ctrlPr>
                            <a:rPr lang="en-ZA" b="0" i="1" smtClean="0">
                              <a:latin typeface="Cambria Math" panose="02040503050406030204" pitchFamily="18" charset="0"/>
                            </a:rPr>
                          </m:ctrlPr>
                        </m:dPr>
                        <m:e>
                          <m:sSup>
                            <m:sSupPr>
                              <m:ctrlPr>
                                <a:rPr lang="en-ZA" b="0" i="1" smtClean="0">
                                  <a:latin typeface="Cambria Math" panose="02040503050406030204" pitchFamily="18" charset="0"/>
                                </a:rPr>
                              </m:ctrlPr>
                            </m:sSupPr>
                            <m:e>
                              <m:r>
                                <a:rPr lang="en-ZA" b="0" i="1" smtClean="0">
                                  <a:latin typeface="Cambria Math" panose="02040503050406030204" pitchFamily="18" charset="0"/>
                                </a:rPr>
                                <m:t>𝑥</m:t>
                              </m:r>
                            </m:e>
                            <m:sup>
                              <m:r>
                                <a:rPr lang="en-ZA" b="0" i="1" smtClean="0">
                                  <a:latin typeface="Cambria Math" panose="02040503050406030204" pitchFamily="18" charset="0"/>
                                </a:rPr>
                                <m:t>′</m:t>
                              </m:r>
                            </m:sup>
                          </m:sSup>
                          <m:sSup>
                            <m:sSupPr>
                              <m:ctrlPr>
                                <a:rPr lang="en-ZA" b="0" i="1" smtClean="0">
                                  <a:latin typeface="Cambria Math" panose="02040503050406030204" pitchFamily="18" charset="0"/>
                                </a:rPr>
                              </m:ctrlPr>
                            </m:sSupPr>
                            <m:e>
                              <m:r>
                                <m:rPr>
                                  <m:sty m:val="p"/>
                                </m:rPr>
                                <a:rPr lang="el-GR" b="0" i="1" smtClean="0">
                                  <a:latin typeface="Cambria Math" panose="02040503050406030204" pitchFamily="18" charset="0"/>
                                  <a:ea typeface="Cambria Math" panose="02040503050406030204" pitchFamily="18" charset="0"/>
                                </a:rPr>
                                <m:t>Σ</m:t>
                              </m:r>
                            </m:e>
                            <m:sup>
                              <m:r>
                                <a:rPr lang="en-ZA" b="0" i="1" smtClean="0">
                                  <a:latin typeface="Cambria Math" panose="02040503050406030204" pitchFamily="18" charset="0"/>
                                </a:rPr>
                                <m:t>−1</m:t>
                              </m:r>
                            </m:sup>
                          </m:sSup>
                          <m:r>
                            <a:rPr lang="en-ZA" b="0" i="1" smtClean="0">
                              <a:latin typeface="Cambria Math" panose="02040503050406030204" pitchFamily="18" charset="0"/>
                              <a:ea typeface="Cambria Math" panose="02040503050406030204" pitchFamily="18" charset="0"/>
                            </a:rPr>
                            <m:t>𝑥</m:t>
                          </m:r>
                          <m:r>
                            <a:rPr lang="en-ZA" b="0" i="1" smtClean="0">
                              <a:latin typeface="Cambria Math" panose="02040503050406030204" pitchFamily="18" charset="0"/>
                              <a:ea typeface="Cambria Math" panose="02040503050406030204" pitchFamily="18" charset="0"/>
                            </a:rPr>
                            <m:t>−2</m:t>
                          </m:r>
                          <m:sSubSup>
                            <m:sSubSupPr>
                              <m:ctrlPr>
                                <a:rPr lang="en-ZA" b="0" i="1" smtClean="0">
                                  <a:latin typeface="Cambria Math" panose="02040503050406030204" pitchFamily="18" charset="0"/>
                                  <a:ea typeface="Cambria Math" panose="02040503050406030204" pitchFamily="18" charset="0"/>
                                </a:rPr>
                              </m:ctrlPr>
                            </m:sSubSup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1</m:t>
                              </m:r>
                            </m:sub>
                            <m:sup>
                              <m:r>
                                <a:rPr lang="en-ZA" b="0" i="1" smtClean="0">
                                  <a:latin typeface="Cambria Math" panose="02040503050406030204" pitchFamily="18" charset="0"/>
                                  <a:ea typeface="Cambria Math" panose="02040503050406030204" pitchFamily="18" charset="0"/>
                                </a:rPr>
                                <m:t>′</m:t>
                              </m:r>
                            </m:sup>
                          </m:sSubSup>
                          <m:sSup>
                            <m:sSupPr>
                              <m:ctrlPr>
                                <a:rPr lang="en-ZA" b="0" i="1" smtClean="0">
                                  <a:latin typeface="Cambria Math" panose="02040503050406030204" pitchFamily="18" charset="0"/>
                                  <a:ea typeface="Cambria Math" panose="02040503050406030204" pitchFamily="18" charset="0"/>
                                </a:rPr>
                              </m:ctrlPr>
                            </m:sSupPr>
                            <m:e>
                              <m:r>
                                <m:rPr>
                                  <m:sty m:val="p"/>
                                </m:rPr>
                                <a:rPr lang="el-GR" b="0" i="1" smtClean="0">
                                  <a:latin typeface="Cambria Math" panose="02040503050406030204" pitchFamily="18" charset="0"/>
                                  <a:ea typeface="Cambria Math" panose="02040503050406030204" pitchFamily="18" charset="0"/>
                                </a:rPr>
                                <m:t>Σ</m:t>
                              </m:r>
                            </m:e>
                            <m:sup>
                              <m:r>
                                <a:rPr lang="en-ZA" b="0" i="1" smtClean="0">
                                  <a:latin typeface="Cambria Math" panose="02040503050406030204" pitchFamily="18" charset="0"/>
                                  <a:ea typeface="Cambria Math" panose="02040503050406030204" pitchFamily="18" charset="0"/>
                                </a:rPr>
                                <m:t>−1</m:t>
                              </m:r>
                            </m:sup>
                          </m:sSup>
                          <m:r>
                            <a:rPr lang="en-ZA" b="0" i="1" smtClean="0">
                              <a:latin typeface="Cambria Math" panose="02040503050406030204" pitchFamily="18" charset="0"/>
                              <a:ea typeface="Cambria Math" panose="02040503050406030204" pitchFamily="18" charset="0"/>
                            </a:rPr>
                            <m:t>𝑥</m:t>
                          </m:r>
                          <m:r>
                            <a:rPr lang="en-ZA" b="0" i="1" smtClean="0">
                              <a:latin typeface="Cambria Math" panose="02040503050406030204" pitchFamily="18" charset="0"/>
                              <a:ea typeface="Cambria Math" panose="02040503050406030204" pitchFamily="18" charset="0"/>
                            </a:rPr>
                            <m:t>+</m:t>
                          </m:r>
                          <m:sSubSup>
                            <m:sSubSupPr>
                              <m:ctrlPr>
                                <a:rPr lang="en-ZA" b="0" i="1" smtClean="0">
                                  <a:latin typeface="Cambria Math" panose="02040503050406030204" pitchFamily="18" charset="0"/>
                                  <a:ea typeface="Cambria Math" panose="02040503050406030204" pitchFamily="18" charset="0"/>
                                </a:rPr>
                              </m:ctrlPr>
                            </m:sSubSup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1</m:t>
                              </m:r>
                            </m:sub>
                            <m:sup>
                              <m:r>
                                <a:rPr lang="en-ZA" b="0" i="1" smtClean="0">
                                  <a:latin typeface="Cambria Math" panose="02040503050406030204" pitchFamily="18" charset="0"/>
                                  <a:ea typeface="Cambria Math" panose="02040503050406030204" pitchFamily="18" charset="0"/>
                                </a:rPr>
                                <m:t>′</m:t>
                              </m:r>
                            </m:sup>
                          </m:sSubSup>
                          <m:sSup>
                            <m:sSupPr>
                              <m:ctrlPr>
                                <a:rPr lang="en-ZA" b="0" i="1" smtClean="0">
                                  <a:latin typeface="Cambria Math" panose="02040503050406030204" pitchFamily="18" charset="0"/>
                                  <a:ea typeface="Cambria Math" panose="02040503050406030204" pitchFamily="18" charset="0"/>
                                </a:rPr>
                              </m:ctrlPr>
                            </m:sSupPr>
                            <m:e>
                              <m:r>
                                <m:rPr>
                                  <m:sty m:val="p"/>
                                </m:rPr>
                                <a:rPr lang="el-GR" b="0" i="1" smtClean="0">
                                  <a:latin typeface="Cambria Math" panose="02040503050406030204" pitchFamily="18" charset="0"/>
                                  <a:ea typeface="Cambria Math" panose="02040503050406030204" pitchFamily="18" charset="0"/>
                                </a:rPr>
                                <m:t>Σ</m:t>
                              </m:r>
                            </m:e>
                            <m:sup>
                              <m:r>
                                <a:rPr lang="en-ZA" b="0" i="1" smtClean="0">
                                  <a:latin typeface="Cambria Math" panose="02040503050406030204" pitchFamily="18" charset="0"/>
                                  <a:ea typeface="Cambria Math" panose="02040503050406030204" pitchFamily="18" charset="0"/>
                                </a:rPr>
                                <m:t>−1</m:t>
                              </m:r>
                            </m:sup>
                          </m:sSup>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1</m:t>
                              </m:r>
                            </m:sub>
                          </m:sSub>
                          <m:r>
                            <a:rPr lang="en-ZA" b="0" i="1" smtClean="0">
                              <a:latin typeface="Cambria Math" panose="02040503050406030204" pitchFamily="18" charset="0"/>
                              <a:ea typeface="Cambria Math" panose="02040503050406030204" pitchFamily="18" charset="0"/>
                            </a:rPr>
                            <m:t>−</m:t>
                          </m:r>
                          <m:d>
                            <m:dPr>
                              <m:begChr m:val="["/>
                              <m:endChr m:val="]"/>
                              <m:ctrlPr>
                                <a:rPr lang="en-ZA" b="0" i="1" smtClean="0">
                                  <a:latin typeface="Cambria Math" panose="02040503050406030204" pitchFamily="18" charset="0"/>
                                  <a:ea typeface="Cambria Math" panose="02040503050406030204" pitchFamily="18" charset="0"/>
                                </a:rPr>
                              </m:ctrlPr>
                            </m:dPr>
                            <m:e>
                              <m:sSup>
                                <m:sSupPr>
                                  <m:ctrlPr>
                                    <a:rPr lang="en-ZA" i="1">
                                      <a:latin typeface="Cambria Math" panose="02040503050406030204" pitchFamily="18" charset="0"/>
                                    </a:rPr>
                                  </m:ctrlPr>
                                </m:sSupPr>
                                <m:e>
                                  <m:r>
                                    <a:rPr lang="en-ZA" i="1">
                                      <a:latin typeface="Cambria Math" panose="02040503050406030204" pitchFamily="18" charset="0"/>
                                    </a:rPr>
                                    <m:t>𝑥</m:t>
                                  </m:r>
                                </m:e>
                                <m:sup>
                                  <m:r>
                                    <a:rPr lang="en-ZA" i="1">
                                      <a:latin typeface="Cambria Math" panose="02040503050406030204" pitchFamily="18" charset="0"/>
                                    </a:rPr>
                                    <m:t>′</m:t>
                                  </m:r>
                                </m:sup>
                              </m:sSup>
                              <m:sSup>
                                <m:sSupPr>
                                  <m:ctrlPr>
                                    <a:rPr lang="en-ZA" i="1">
                                      <a:latin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ZA" i="1">
                                      <a:latin typeface="Cambria Math" panose="02040503050406030204" pitchFamily="18" charset="0"/>
                                    </a:rPr>
                                    <m:t>−1</m:t>
                                  </m:r>
                                </m:sup>
                              </m:sSup>
                              <m:r>
                                <a:rPr lang="en-ZA" i="1">
                                  <a:latin typeface="Cambria Math" panose="02040503050406030204" pitchFamily="18" charset="0"/>
                                  <a:ea typeface="Cambria Math" panose="02040503050406030204" pitchFamily="18" charset="0"/>
                                </a:rPr>
                                <m:t>𝑥</m:t>
                              </m:r>
                              <m:r>
                                <a:rPr lang="en-ZA" i="1">
                                  <a:latin typeface="Cambria Math" panose="02040503050406030204" pitchFamily="18" charset="0"/>
                                  <a:ea typeface="Cambria Math" panose="02040503050406030204" pitchFamily="18" charset="0"/>
                                </a:rPr>
                                <m:t>−2</m:t>
                              </m:r>
                              <m:sSubSup>
                                <m:sSubSupPr>
                                  <m:ctrlPr>
                                    <a:rPr lang="en-ZA" i="1">
                                      <a:latin typeface="Cambria Math" panose="02040503050406030204" pitchFamily="18" charset="0"/>
                                      <a:ea typeface="Cambria Math" panose="02040503050406030204" pitchFamily="18" charset="0"/>
                                    </a:rPr>
                                  </m:ctrlPr>
                                </m:sSubSupPr>
                                <m:e>
                                  <m:r>
                                    <a:rPr lang="en-ZA" i="1">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2</m:t>
                                  </m:r>
                                </m:sub>
                                <m:sup>
                                  <m:r>
                                    <a:rPr lang="en-ZA" i="1">
                                      <a:latin typeface="Cambria Math" panose="02040503050406030204" pitchFamily="18" charset="0"/>
                                      <a:ea typeface="Cambria Math" panose="02040503050406030204" pitchFamily="18" charset="0"/>
                                    </a:rPr>
                                    <m:t>′</m:t>
                                  </m:r>
                                </m:sup>
                              </m:sSubSup>
                              <m:sSup>
                                <m:sSupPr>
                                  <m:ctrlPr>
                                    <a:rPr lang="en-ZA" i="1">
                                      <a:latin typeface="Cambria Math" panose="02040503050406030204" pitchFamily="18" charset="0"/>
                                      <a:ea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ZA" i="1">
                                      <a:latin typeface="Cambria Math" panose="02040503050406030204" pitchFamily="18" charset="0"/>
                                      <a:ea typeface="Cambria Math" panose="02040503050406030204" pitchFamily="18" charset="0"/>
                                    </a:rPr>
                                    <m:t>−1</m:t>
                                  </m:r>
                                </m:sup>
                              </m:sSup>
                              <m:r>
                                <a:rPr lang="en-ZA" i="1">
                                  <a:latin typeface="Cambria Math" panose="02040503050406030204" pitchFamily="18" charset="0"/>
                                  <a:ea typeface="Cambria Math" panose="02040503050406030204" pitchFamily="18" charset="0"/>
                                </a:rPr>
                                <m:t>𝑥</m:t>
                              </m:r>
                              <m:r>
                                <a:rPr lang="en-ZA" i="1">
                                  <a:latin typeface="Cambria Math" panose="02040503050406030204" pitchFamily="18" charset="0"/>
                                  <a:ea typeface="Cambria Math" panose="02040503050406030204" pitchFamily="18" charset="0"/>
                                </a:rPr>
                                <m:t>+</m:t>
                              </m:r>
                              <m:sSubSup>
                                <m:sSubSupPr>
                                  <m:ctrlPr>
                                    <a:rPr lang="en-ZA" i="1">
                                      <a:latin typeface="Cambria Math" panose="02040503050406030204" pitchFamily="18" charset="0"/>
                                      <a:ea typeface="Cambria Math" panose="02040503050406030204" pitchFamily="18" charset="0"/>
                                    </a:rPr>
                                  </m:ctrlPr>
                                </m:sSubSupPr>
                                <m:e>
                                  <m:r>
                                    <a:rPr lang="en-ZA" i="1">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2</m:t>
                                  </m:r>
                                </m:sub>
                                <m:sup>
                                  <m:r>
                                    <a:rPr lang="en-ZA" i="1">
                                      <a:latin typeface="Cambria Math" panose="02040503050406030204" pitchFamily="18" charset="0"/>
                                      <a:ea typeface="Cambria Math" panose="02040503050406030204" pitchFamily="18" charset="0"/>
                                    </a:rPr>
                                    <m:t>′</m:t>
                                  </m:r>
                                </m:sup>
                              </m:sSubSup>
                              <m:sSup>
                                <m:sSupPr>
                                  <m:ctrlPr>
                                    <a:rPr lang="en-ZA" i="1">
                                      <a:latin typeface="Cambria Math" panose="02040503050406030204" pitchFamily="18" charset="0"/>
                                      <a:ea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ZA" i="1">
                                      <a:latin typeface="Cambria Math" panose="02040503050406030204" pitchFamily="18" charset="0"/>
                                      <a:ea typeface="Cambria Math" panose="02040503050406030204" pitchFamily="18" charset="0"/>
                                    </a:rPr>
                                    <m:t>−1</m:t>
                                  </m:r>
                                </m:sup>
                              </m:sSup>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2</m:t>
                                  </m:r>
                                </m:sub>
                              </m:sSub>
                            </m:e>
                          </m:d>
                        </m:e>
                      </m:d>
                    </m:oMath>
                  </m:oMathPara>
                </a14:m>
                <a:endParaRPr lang="en-ZA" dirty="0" smtClean="0"/>
              </a:p>
              <a:p>
                <a:pPr/>
                <a14:m>
                  <m:oMathPara xmlns:m="http://schemas.openxmlformats.org/officeDocument/2006/math">
                    <m:oMathParaPr>
                      <m:jc m:val="centerGroup"/>
                    </m:oMathParaPr>
                    <m:oMath xmlns:m="http://schemas.openxmlformats.org/officeDocument/2006/math">
                      <m:r>
                        <a:rPr lang="en-ZA" b="0" i="1" smtClean="0">
                          <a:latin typeface="Cambria Math" panose="02040503050406030204" pitchFamily="18" charset="0"/>
                        </a:rPr>
                        <m:t>=−1/2</m:t>
                      </m:r>
                      <m:d>
                        <m:dPr>
                          <m:begChr m:val="{"/>
                          <m:endChr m:val="}"/>
                          <m:ctrlPr>
                            <a:rPr lang="en-ZA" b="0" i="1" smtClean="0">
                              <a:latin typeface="Cambria Math" panose="02040503050406030204" pitchFamily="18" charset="0"/>
                            </a:rPr>
                          </m:ctrlPr>
                        </m:dPr>
                        <m:e>
                          <m:r>
                            <a:rPr lang="en-ZA" i="1">
                              <a:latin typeface="Cambria Math" panose="02040503050406030204" pitchFamily="18" charset="0"/>
                              <a:ea typeface="Cambria Math" panose="02040503050406030204" pitchFamily="18" charset="0"/>
                            </a:rPr>
                            <m:t>−2</m:t>
                          </m:r>
                          <m:sSubSup>
                            <m:sSubSupPr>
                              <m:ctrlPr>
                                <a:rPr lang="en-ZA" i="1">
                                  <a:latin typeface="Cambria Math" panose="02040503050406030204" pitchFamily="18" charset="0"/>
                                  <a:ea typeface="Cambria Math" panose="02040503050406030204" pitchFamily="18" charset="0"/>
                                </a:rPr>
                              </m:ctrlPr>
                            </m:sSubSup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ea typeface="Cambria Math" panose="02040503050406030204" pitchFamily="18" charset="0"/>
                                </a:rPr>
                                <m:t>1</m:t>
                              </m:r>
                            </m:sub>
                            <m:sup>
                              <m:r>
                                <a:rPr lang="en-ZA" i="1">
                                  <a:latin typeface="Cambria Math" panose="02040503050406030204" pitchFamily="18" charset="0"/>
                                  <a:ea typeface="Cambria Math" panose="02040503050406030204" pitchFamily="18" charset="0"/>
                                </a:rPr>
                                <m:t>′</m:t>
                              </m:r>
                            </m:sup>
                          </m:sSubSup>
                          <m:sSup>
                            <m:sSupPr>
                              <m:ctrlPr>
                                <a:rPr lang="en-ZA" i="1">
                                  <a:latin typeface="Cambria Math" panose="02040503050406030204" pitchFamily="18" charset="0"/>
                                  <a:ea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ZA" i="1">
                                  <a:latin typeface="Cambria Math" panose="02040503050406030204" pitchFamily="18" charset="0"/>
                                  <a:ea typeface="Cambria Math" panose="02040503050406030204" pitchFamily="18" charset="0"/>
                                </a:rPr>
                                <m:t>−1</m:t>
                              </m:r>
                            </m:sup>
                          </m:sSup>
                          <m:r>
                            <a:rPr lang="en-ZA" i="1">
                              <a:latin typeface="Cambria Math" panose="02040503050406030204" pitchFamily="18" charset="0"/>
                              <a:ea typeface="Cambria Math" panose="02040503050406030204" pitchFamily="18" charset="0"/>
                            </a:rPr>
                            <m:t>𝑥</m:t>
                          </m:r>
                          <m:r>
                            <a:rPr lang="en-ZA" i="1">
                              <a:latin typeface="Cambria Math" panose="02040503050406030204" pitchFamily="18" charset="0"/>
                              <a:ea typeface="Cambria Math" panose="02040503050406030204" pitchFamily="18" charset="0"/>
                            </a:rPr>
                            <m:t>+</m:t>
                          </m:r>
                          <m:sSubSup>
                            <m:sSubSupPr>
                              <m:ctrlPr>
                                <a:rPr lang="en-ZA" i="1">
                                  <a:latin typeface="Cambria Math" panose="02040503050406030204" pitchFamily="18" charset="0"/>
                                  <a:ea typeface="Cambria Math" panose="02040503050406030204" pitchFamily="18" charset="0"/>
                                </a:rPr>
                              </m:ctrlPr>
                            </m:sSubSup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ea typeface="Cambria Math" panose="02040503050406030204" pitchFamily="18" charset="0"/>
                                </a:rPr>
                                <m:t>1</m:t>
                              </m:r>
                            </m:sub>
                            <m:sup>
                              <m:r>
                                <a:rPr lang="en-ZA" i="1">
                                  <a:latin typeface="Cambria Math" panose="02040503050406030204" pitchFamily="18" charset="0"/>
                                  <a:ea typeface="Cambria Math" panose="02040503050406030204" pitchFamily="18" charset="0"/>
                                </a:rPr>
                                <m:t>′</m:t>
                              </m:r>
                            </m:sup>
                          </m:sSubSup>
                          <m:sSup>
                            <m:sSupPr>
                              <m:ctrlPr>
                                <a:rPr lang="en-ZA" i="1">
                                  <a:latin typeface="Cambria Math" panose="02040503050406030204" pitchFamily="18" charset="0"/>
                                  <a:ea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ZA" i="1">
                                  <a:latin typeface="Cambria Math" panose="02040503050406030204" pitchFamily="18" charset="0"/>
                                  <a:ea typeface="Cambria Math" panose="02040503050406030204" pitchFamily="18" charset="0"/>
                                </a:rPr>
                                <m:t>−1</m:t>
                              </m:r>
                            </m:sup>
                          </m:sSup>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ea typeface="Cambria Math" panose="02040503050406030204" pitchFamily="18" charset="0"/>
                                </a:rPr>
                                <m:t>1</m:t>
                              </m:r>
                            </m:sub>
                          </m:sSub>
                          <m:r>
                            <a:rPr lang="en-ZA" b="0" i="1" smtClean="0">
                              <a:latin typeface="Cambria Math" panose="02040503050406030204" pitchFamily="18" charset="0"/>
                              <a:ea typeface="Cambria Math" panose="02040503050406030204" pitchFamily="18" charset="0"/>
                            </a:rPr>
                            <m:t>+</m:t>
                          </m:r>
                          <m:sSubSup>
                            <m:sSubSupPr>
                              <m:ctrlPr>
                                <a:rPr lang="en-ZA" i="1">
                                  <a:latin typeface="Cambria Math" panose="02040503050406030204" pitchFamily="18" charset="0"/>
                                  <a:ea typeface="Cambria Math" panose="02040503050406030204" pitchFamily="18" charset="0"/>
                                </a:rPr>
                              </m:ctrlPr>
                            </m:sSubSup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ea typeface="Cambria Math" panose="02040503050406030204" pitchFamily="18" charset="0"/>
                                </a:rPr>
                                <m:t>2</m:t>
                              </m:r>
                            </m:sub>
                            <m:sup>
                              <m:r>
                                <a:rPr lang="en-ZA" i="1">
                                  <a:latin typeface="Cambria Math" panose="02040503050406030204" pitchFamily="18" charset="0"/>
                                  <a:ea typeface="Cambria Math" panose="02040503050406030204" pitchFamily="18" charset="0"/>
                                </a:rPr>
                                <m:t>′</m:t>
                              </m:r>
                            </m:sup>
                          </m:sSubSup>
                          <m:sSup>
                            <m:sSupPr>
                              <m:ctrlPr>
                                <a:rPr lang="en-ZA" i="1">
                                  <a:latin typeface="Cambria Math" panose="02040503050406030204" pitchFamily="18" charset="0"/>
                                  <a:ea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ZA" i="1">
                                  <a:latin typeface="Cambria Math" panose="02040503050406030204" pitchFamily="18" charset="0"/>
                                  <a:ea typeface="Cambria Math" panose="02040503050406030204" pitchFamily="18" charset="0"/>
                                </a:rPr>
                                <m:t>−1</m:t>
                              </m:r>
                            </m:sup>
                          </m:sSup>
                          <m:r>
                            <a:rPr lang="en-ZA" i="1">
                              <a:latin typeface="Cambria Math" panose="02040503050406030204" pitchFamily="18" charset="0"/>
                              <a:ea typeface="Cambria Math" panose="02040503050406030204" pitchFamily="18" charset="0"/>
                            </a:rPr>
                            <m:t>𝑥</m:t>
                          </m:r>
                          <m:r>
                            <a:rPr lang="en-ZA" b="0" i="1" smtClean="0">
                              <a:latin typeface="Cambria Math" panose="02040503050406030204" pitchFamily="18" charset="0"/>
                              <a:ea typeface="Cambria Math" panose="02040503050406030204" pitchFamily="18" charset="0"/>
                            </a:rPr>
                            <m:t>−</m:t>
                          </m:r>
                          <m:sSubSup>
                            <m:sSubSupPr>
                              <m:ctrlPr>
                                <a:rPr lang="en-ZA" i="1">
                                  <a:latin typeface="Cambria Math" panose="02040503050406030204" pitchFamily="18" charset="0"/>
                                  <a:ea typeface="Cambria Math" panose="02040503050406030204" pitchFamily="18" charset="0"/>
                                </a:rPr>
                              </m:ctrlPr>
                            </m:sSubSup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ea typeface="Cambria Math" panose="02040503050406030204" pitchFamily="18" charset="0"/>
                                </a:rPr>
                                <m:t>2</m:t>
                              </m:r>
                            </m:sub>
                            <m:sup>
                              <m:r>
                                <a:rPr lang="en-ZA" i="1">
                                  <a:latin typeface="Cambria Math" panose="02040503050406030204" pitchFamily="18" charset="0"/>
                                  <a:ea typeface="Cambria Math" panose="02040503050406030204" pitchFamily="18" charset="0"/>
                                </a:rPr>
                                <m:t>′</m:t>
                              </m:r>
                            </m:sup>
                          </m:sSubSup>
                          <m:sSup>
                            <m:sSupPr>
                              <m:ctrlPr>
                                <a:rPr lang="en-ZA" i="1">
                                  <a:latin typeface="Cambria Math" panose="02040503050406030204" pitchFamily="18" charset="0"/>
                                  <a:ea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ZA" i="1">
                                  <a:latin typeface="Cambria Math" panose="02040503050406030204" pitchFamily="18" charset="0"/>
                                  <a:ea typeface="Cambria Math" panose="02040503050406030204" pitchFamily="18" charset="0"/>
                                </a:rPr>
                                <m:t>−1</m:t>
                              </m:r>
                            </m:sup>
                          </m:sSup>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ea typeface="Cambria Math" panose="02040503050406030204" pitchFamily="18" charset="0"/>
                                </a:rPr>
                                <m:t>2</m:t>
                              </m:r>
                            </m:sub>
                          </m:sSub>
                        </m:e>
                      </m:d>
                    </m:oMath>
                  </m:oMathPara>
                </a14:m>
                <a:endParaRPr lang="en-ZA" dirty="0" smtClean="0"/>
              </a:p>
              <a:p>
                <a:endParaRPr lang="en-ZA" dirty="0" smtClean="0"/>
              </a:p>
              <a:p>
                <a:pPr/>
                <a14:m>
                  <m:oMathPara xmlns:m="http://schemas.openxmlformats.org/officeDocument/2006/math">
                    <m:oMathParaPr>
                      <m:jc m:val="centerGroup"/>
                    </m:oMathParaPr>
                    <m:oMath xmlns:m="http://schemas.openxmlformats.org/officeDocument/2006/math">
                      <m:r>
                        <a:rPr lang="en-ZA" b="0" i="1" smtClean="0">
                          <a:latin typeface="Cambria Math" panose="02040503050406030204" pitchFamily="18" charset="0"/>
                        </a:rPr>
                        <m:t>=−1/2</m:t>
                      </m:r>
                      <m:d>
                        <m:dPr>
                          <m:begChr m:val="{"/>
                          <m:endChr m:val="}"/>
                          <m:ctrlPr>
                            <a:rPr lang="en-ZA" b="0" i="1" smtClean="0">
                              <a:latin typeface="Cambria Math" panose="02040503050406030204" pitchFamily="18" charset="0"/>
                            </a:rPr>
                          </m:ctrlPr>
                        </m:dPr>
                        <m:e>
                          <m:r>
                            <a:rPr lang="en-ZA" b="0" i="1" smtClean="0">
                              <a:latin typeface="Cambria Math" panose="02040503050406030204" pitchFamily="18" charset="0"/>
                            </a:rPr>
                            <m:t>−2(</m:t>
                          </m:r>
                          <m:sSub>
                            <m:sSubPr>
                              <m:ctrlPr>
                                <a:rPr lang="en-ZA" b="0" i="1" smtClean="0">
                                  <a:latin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rPr>
                                <m:t>1</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rPr>
                                <m:t>2</m:t>
                              </m:r>
                            </m:sub>
                          </m:sSub>
                          <m:sSup>
                            <m:sSupPr>
                              <m:ctrlPr>
                                <a:rPr lang="en-ZA" b="0" i="1" smtClean="0">
                                  <a:latin typeface="Cambria Math" panose="02040503050406030204" pitchFamily="18" charset="0"/>
                                </a:rPr>
                              </m:ctrlPr>
                            </m:sSupPr>
                            <m:e>
                              <m:r>
                                <a:rPr lang="en-ZA" b="0" i="1" smtClean="0">
                                  <a:latin typeface="Cambria Math" panose="02040503050406030204" pitchFamily="18" charset="0"/>
                                </a:rPr>
                                <m:t>)</m:t>
                              </m:r>
                            </m:e>
                            <m:sup>
                              <m:r>
                                <a:rPr lang="en-ZA" b="0" i="1" smtClean="0">
                                  <a:latin typeface="Cambria Math" panose="02040503050406030204" pitchFamily="18" charset="0"/>
                                </a:rPr>
                                <m:t>′</m:t>
                              </m:r>
                            </m:sup>
                          </m:sSup>
                          <m:sSup>
                            <m:sSupPr>
                              <m:ctrlPr>
                                <a:rPr lang="en-ZA" b="0" i="1" smtClean="0">
                                  <a:latin typeface="Cambria Math" panose="02040503050406030204" pitchFamily="18" charset="0"/>
                                </a:rPr>
                              </m:ctrlPr>
                            </m:sSupPr>
                            <m:e>
                              <m:r>
                                <m:rPr>
                                  <m:sty m:val="p"/>
                                </m:rPr>
                                <a:rPr lang="el-GR" b="0" i="1" smtClean="0">
                                  <a:latin typeface="Cambria Math" panose="02040503050406030204" pitchFamily="18" charset="0"/>
                                  <a:ea typeface="Cambria Math" panose="02040503050406030204" pitchFamily="18" charset="0"/>
                                </a:rPr>
                                <m:t>Σ</m:t>
                              </m:r>
                            </m:e>
                            <m:sup>
                              <m:r>
                                <a:rPr lang="en-ZA" b="0" i="1" smtClean="0">
                                  <a:latin typeface="Cambria Math" panose="02040503050406030204" pitchFamily="18" charset="0"/>
                                </a:rPr>
                                <m:t>−1</m:t>
                              </m:r>
                            </m:sup>
                          </m:sSup>
                          <m:r>
                            <a:rPr lang="en-ZA" b="0" i="1" smtClean="0">
                              <a:latin typeface="Cambria Math" panose="02040503050406030204" pitchFamily="18" charset="0"/>
                            </a:rPr>
                            <m:t>𝑥</m:t>
                          </m:r>
                          <m:r>
                            <a:rPr lang="en-ZA" i="1">
                              <a:latin typeface="Cambria Math" panose="02040503050406030204" pitchFamily="18" charset="0"/>
                              <a:ea typeface="Cambria Math" panose="02040503050406030204" pitchFamily="18" charset="0"/>
                            </a:rPr>
                            <m:t>+</m:t>
                          </m:r>
                          <m:sSubSup>
                            <m:sSubSupPr>
                              <m:ctrlPr>
                                <a:rPr lang="en-ZA" i="1">
                                  <a:latin typeface="Cambria Math" panose="02040503050406030204" pitchFamily="18" charset="0"/>
                                  <a:ea typeface="Cambria Math" panose="02040503050406030204" pitchFamily="18" charset="0"/>
                                </a:rPr>
                              </m:ctrlPr>
                            </m:sSubSup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ea typeface="Cambria Math" panose="02040503050406030204" pitchFamily="18" charset="0"/>
                                </a:rPr>
                                <m:t>1</m:t>
                              </m:r>
                            </m:sub>
                            <m:sup>
                              <m:r>
                                <a:rPr lang="en-ZA" i="1">
                                  <a:latin typeface="Cambria Math" panose="02040503050406030204" pitchFamily="18" charset="0"/>
                                  <a:ea typeface="Cambria Math" panose="02040503050406030204" pitchFamily="18" charset="0"/>
                                </a:rPr>
                                <m:t>′</m:t>
                              </m:r>
                            </m:sup>
                          </m:sSubSup>
                          <m:sSup>
                            <m:sSupPr>
                              <m:ctrlPr>
                                <a:rPr lang="en-ZA" i="1">
                                  <a:latin typeface="Cambria Math" panose="02040503050406030204" pitchFamily="18" charset="0"/>
                                  <a:ea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ZA" i="1">
                                  <a:latin typeface="Cambria Math" panose="02040503050406030204" pitchFamily="18" charset="0"/>
                                  <a:ea typeface="Cambria Math" panose="02040503050406030204" pitchFamily="18" charset="0"/>
                                </a:rPr>
                                <m:t>−1</m:t>
                              </m:r>
                            </m:sup>
                          </m:sSup>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ea typeface="Cambria Math" panose="02040503050406030204" pitchFamily="18" charset="0"/>
                                </a:rPr>
                                <m:t>1</m:t>
                              </m:r>
                            </m:sub>
                          </m:sSub>
                          <m:r>
                            <a:rPr lang="en-ZA" b="0" i="1" smtClean="0">
                              <a:latin typeface="Cambria Math" panose="02040503050406030204" pitchFamily="18" charset="0"/>
                              <a:ea typeface="Cambria Math" panose="02040503050406030204" pitchFamily="18" charset="0"/>
                            </a:rPr>
                            <m:t>+</m:t>
                          </m:r>
                          <m:sSubSup>
                            <m:sSubSupPr>
                              <m:ctrlPr>
                                <a:rPr lang="en-ZA" b="0" i="1" smtClean="0">
                                  <a:latin typeface="Cambria Math" panose="02040503050406030204" pitchFamily="18" charset="0"/>
                                  <a:ea typeface="Cambria Math" panose="02040503050406030204" pitchFamily="18" charset="0"/>
                                </a:rPr>
                              </m:ctrlPr>
                            </m:sSubSup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2</m:t>
                              </m:r>
                            </m:sub>
                            <m:sup>
                              <m:r>
                                <a:rPr lang="en-ZA" b="0" i="1" smtClean="0">
                                  <a:latin typeface="Cambria Math" panose="02040503050406030204" pitchFamily="18" charset="0"/>
                                  <a:ea typeface="Cambria Math" panose="02040503050406030204" pitchFamily="18" charset="0"/>
                                </a:rPr>
                                <m:t>′</m:t>
                              </m:r>
                            </m:sup>
                          </m:sSubSup>
                          <m:sSup>
                            <m:sSupPr>
                              <m:ctrlPr>
                                <a:rPr lang="en-ZA" b="0" i="1" smtClean="0">
                                  <a:latin typeface="Cambria Math" panose="02040503050406030204" pitchFamily="18" charset="0"/>
                                  <a:ea typeface="Cambria Math" panose="02040503050406030204" pitchFamily="18" charset="0"/>
                                </a:rPr>
                              </m:ctrlPr>
                            </m:sSupPr>
                            <m:e>
                              <m:r>
                                <m:rPr>
                                  <m:sty m:val="p"/>
                                </m:rPr>
                                <a:rPr lang="el-GR" b="0" i="1" smtClean="0">
                                  <a:latin typeface="Cambria Math" panose="02040503050406030204" pitchFamily="18" charset="0"/>
                                  <a:ea typeface="Cambria Math" panose="02040503050406030204" pitchFamily="18" charset="0"/>
                                </a:rPr>
                                <m:t>Σ</m:t>
                              </m:r>
                            </m:e>
                            <m:sup>
                              <m:r>
                                <a:rPr lang="en-ZA" b="0" i="1" smtClean="0">
                                  <a:latin typeface="Cambria Math" panose="02040503050406030204" pitchFamily="18" charset="0"/>
                                  <a:ea typeface="Cambria Math" panose="02040503050406030204" pitchFamily="18" charset="0"/>
                                </a:rPr>
                                <m:t>−1</m:t>
                              </m:r>
                            </m:sup>
                          </m:sSup>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1</m:t>
                              </m:r>
                            </m:sub>
                          </m:sSub>
                          <m:r>
                            <a:rPr lang="en-ZA" b="0" i="1" smtClean="0">
                              <a:latin typeface="Cambria Math" panose="02040503050406030204" pitchFamily="18" charset="0"/>
                              <a:ea typeface="Cambria Math" panose="02040503050406030204" pitchFamily="18" charset="0"/>
                            </a:rPr>
                            <m:t>−</m:t>
                          </m:r>
                          <m:sSubSup>
                            <m:sSubSupPr>
                              <m:ctrlPr>
                                <a:rPr lang="en-ZA" b="0" i="1" smtClean="0">
                                  <a:latin typeface="Cambria Math" panose="02040503050406030204" pitchFamily="18" charset="0"/>
                                  <a:ea typeface="Cambria Math" panose="02040503050406030204" pitchFamily="18" charset="0"/>
                                </a:rPr>
                              </m:ctrlPr>
                            </m:sSubSup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2</m:t>
                              </m:r>
                            </m:sub>
                            <m:sup>
                              <m:r>
                                <a:rPr lang="en-ZA" b="0" i="1" smtClean="0">
                                  <a:latin typeface="Cambria Math" panose="02040503050406030204" pitchFamily="18" charset="0"/>
                                  <a:ea typeface="Cambria Math" panose="02040503050406030204" pitchFamily="18" charset="0"/>
                                </a:rPr>
                                <m:t>′</m:t>
                              </m:r>
                            </m:sup>
                          </m:sSubSup>
                          <m:sSup>
                            <m:sSupPr>
                              <m:ctrlPr>
                                <a:rPr lang="en-ZA" b="0" i="1" smtClean="0">
                                  <a:latin typeface="Cambria Math" panose="02040503050406030204" pitchFamily="18" charset="0"/>
                                  <a:ea typeface="Cambria Math" panose="02040503050406030204" pitchFamily="18" charset="0"/>
                                </a:rPr>
                              </m:ctrlPr>
                            </m:sSupPr>
                            <m:e>
                              <m:r>
                                <m:rPr>
                                  <m:sty m:val="p"/>
                                </m:rPr>
                                <a:rPr lang="el-GR" b="0" i="1" smtClean="0">
                                  <a:latin typeface="Cambria Math" panose="02040503050406030204" pitchFamily="18" charset="0"/>
                                  <a:ea typeface="Cambria Math" panose="02040503050406030204" pitchFamily="18" charset="0"/>
                                </a:rPr>
                                <m:t>Σ</m:t>
                              </m:r>
                            </m:e>
                            <m:sup>
                              <m:r>
                                <a:rPr lang="en-ZA" b="0" i="1" smtClean="0">
                                  <a:latin typeface="Cambria Math" panose="02040503050406030204" pitchFamily="18" charset="0"/>
                                  <a:ea typeface="Cambria Math" panose="02040503050406030204" pitchFamily="18" charset="0"/>
                                </a:rPr>
                                <m:t>−1</m:t>
                              </m:r>
                            </m:sup>
                          </m:sSup>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1</m:t>
                              </m:r>
                            </m:sub>
                          </m:sSub>
                          <m:r>
                            <a:rPr lang="en-ZA" b="0" i="1" smtClean="0">
                              <a:latin typeface="Cambria Math" panose="02040503050406030204" pitchFamily="18" charset="0"/>
                              <a:ea typeface="Cambria Math" panose="02040503050406030204" pitchFamily="18" charset="0"/>
                            </a:rPr>
                            <m:t>−</m:t>
                          </m:r>
                          <m:sSubSup>
                            <m:sSubSupPr>
                              <m:ctrlPr>
                                <a:rPr lang="en-ZA" b="0" i="1" smtClean="0">
                                  <a:latin typeface="Cambria Math" panose="02040503050406030204" pitchFamily="18" charset="0"/>
                                  <a:ea typeface="Cambria Math" panose="02040503050406030204" pitchFamily="18" charset="0"/>
                                </a:rPr>
                              </m:ctrlPr>
                            </m:sSubSup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2</m:t>
                              </m:r>
                            </m:sub>
                            <m:sup>
                              <m:r>
                                <a:rPr lang="en-ZA" b="0" i="1" smtClean="0">
                                  <a:latin typeface="Cambria Math" panose="02040503050406030204" pitchFamily="18" charset="0"/>
                                  <a:ea typeface="Cambria Math" panose="02040503050406030204" pitchFamily="18" charset="0"/>
                                </a:rPr>
                                <m:t>′</m:t>
                              </m:r>
                            </m:sup>
                          </m:sSubSup>
                          <m:sSup>
                            <m:sSupPr>
                              <m:ctrlPr>
                                <a:rPr lang="en-ZA" b="0" i="1" smtClean="0">
                                  <a:latin typeface="Cambria Math" panose="02040503050406030204" pitchFamily="18" charset="0"/>
                                  <a:ea typeface="Cambria Math" panose="02040503050406030204" pitchFamily="18" charset="0"/>
                                </a:rPr>
                              </m:ctrlPr>
                            </m:sSupPr>
                            <m:e>
                              <m:r>
                                <m:rPr>
                                  <m:sty m:val="p"/>
                                </m:rPr>
                                <a:rPr lang="el-GR" b="0" i="1" smtClean="0">
                                  <a:latin typeface="Cambria Math" panose="02040503050406030204" pitchFamily="18" charset="0"/>
                                  <a:ea typeface="Cambria Math" panose="02040503050406030204" pitchFamily="18" charset="0"/>
                                </a:rPr>
                                <m:t>Σ</m:t>
                              </m:r>
                            </m:e>
                            <m:sup>
                              <m:r>
                                <a:rPr lang="en-ZA" b="0" i="1" smtClean="0">
                                  <a:latin typeface="Cambria Math" panose="02040503050406030204" pitchFamily="18" charset="0"/>
                                  <a:ea typeface="Cambria Math" panose="02040503050406030204" pitchFamily="18" charset="0"/>
                                </a:rPr>
                                <m:t>−1</m:t>
                              </m:r>
                            </m:sup>
                          </m:sSup>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2</m:t>
                              </m:r>
                            </m:sub>
                          </m:sSub>
                        </m:e>
                      </m:d>
                    </m:oMath>
                  </m:oMathPara>
                </a14:m>
                <a:endParaRPr lang="en-ZA" dirty="0" smtClean="0"/>
              </a:p>
              <a:p>
                <a:endParaRPr lang="en-ZA" dirty="0" smtClean="0"/>
              </a:p>
              <a:p>
                <a:pPr/>
                <a14:m>
                  <m:oMathPara xmlns:m="http://schemas.openxmlformats.org/officeDocument/2006/math">
                    <m:oMathParaPr>
                      <m:jc m:val="centerGroup"/>
                    </m:oMathParaPr>
                    <m:oMath xmlns:m="http://schemas.openxmlformats.org/officeDocument/2006/math">
                      <m:r>
                        <a:rPr lang="en-ZA" b="0" i="1" smtClean="0">
                          <a:latin typeface="Cambria Math" panose="02040503050406030204" pitchFamily="18" charset="0"/>
                        </a:rPr>
                        <m:t>=−1/2</m:t>
                      </m:r>
                      <m:d>
                        <m:dPr>
                          <m:begChr m:val="{"/>
                          <m:endChr m:val="}"/>
                          <m:ctrlPr>
                            <a:rPr lang="en-ZA" b="0" i="1" smtClean="0">
                              <a:latin typeface="Cambria Math" panose="02040503050406030204" pitchFamily="18" charset="0"/>
                            </a:rPr>
                          </m:ctrlPr>
                        </m:dPr>
                        <m:e>
                          <m:r>
                            <a:rPr lang="en-ZA" i="1">
                              <a:latin typeface="Cambria Math" panose="02040503050406030204" pitchFamily="18" charset="0"/>
                            </a:rPr>
                            <m:t>−2(</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2</m:t>
                              </m:r>
                            </m:sub>
                          </m:sSub>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m:t>
                              </m:r>
                            </m:sup>
                          </m:sSup>
                          <m:sSup>
                            <m:sSupPr>
                              <m:ctrlPr>
                                <a:rPr lang="en-ZA" i="1">
                                  <a:latin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ZA" i="1">
                                  <a:latin typeface="Cambria Math" panose="02040503050406030204" pitchFamily="18" charset="0"/>
                                </a:rPr>
                                <m:t>−1</m:t>
                              </m:r>
                            </m:sup>
                          </m:sSup>
                          <m:r>
                            <a:rPr lang="en-ZA" i="1">
                              <a:latin typeface="Cambria Math" panose="02040503050406030204" pitchFamily="18" charset="0"/>
                            </a:rPr>
                            <m:t>𝑥</m:t>
                          </m:r>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rPr>
                                <m:t>1</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rPr>
                                <m:t>2</m:t>
                              </m:r>
                            </m:sub>
                          </m:sSub>
                          <m:sSup>
                            <m:sSupPr>
                              <m:ctrlPr>
                                <a:rPr lang="en-ZA" b="0" i="1" smtClean="0">
                                  <a:latin typeface="Cambria Math" panose="02040503050406030204" pitchFamily="18" charset="0"/>
                                </a:rPr>
                              </m:ctrlPr>
                            </m:sSupPr>
                            <m:e>
                              <m:r>
                                <a:rPr lang="en-ZA" b="0" i="1" smtClean="0">
                                  <a:latin typeface="Cambria Math" panose="02040503050406030204" pitchFamily="18" charset="0"/>
                                </a:rPr>
                                <m:t>)</m:t>
                              </m:r>
                            </m:e>
                            <m:sup>
                              <m:r>
                                <a:rPr lang="en-ZA" b="0" i="1" smtClean="0">
                                  <a:latin typeface="Cambria Math" panose="02040503050406030204" pitchFamily="18" charset="0"/>
                                </a:rPr>
                                <m:t>′</m:t>
                              </m:r>
                            </m:sup>
                          </m:sSup>
                          <m:sSup>
                            <m:sSupPr>
                              <m:ctrlPr>
                                <a:rPr lang="en-ZA" b="0" i="1" smtClean="0">
                                  <a:latin typeface="Cambria Math" panose="02040503050406030204" pitchFamily="18" charset="0"/>
                                </a:rPr>
                              </m:ctrlPr>
                            </m:sSupPr>
                            <m:e>
                              <m:r>
                                <m:rPr>
                                  <m:sty m:val="p"/>
                                </m:rPr>
                                <a:rPr lang="el-GR" b="0" i="1" smtClean="0">
                                  <a:latin typeface="Cambria Math" panose="02040503050406030204" pitchFamily="18" charset="0"/>
                                  <a:ea typeface="Cambria Math" panose="02040503050406030204" pitchFamily="18" charset="0"/>
                                </a:rPr>
                                <m:t>Σ</m:t>
                              </m:r>
                            </m:e>
                            <m:sup>
                              <m:r>
                                <a:rPr lang="en-ZA" b="0" i="1" smtClean="0">
                                  <a:latin typeface="Cambria Math" panose="02040503050406030204" pitchFamily="18" charset="0"/>
                                </a:rPr>
                                <m:t>−1</m:t>
                              </m:r>
                            </m:sup>
                          </m:sSup>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rPr>
                                <m:t>1</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rPr>
                                <m:t>2</m:t>
                              </m:r>
                            </m:sub>
                          </m:sSub>
                          <m:r>
                            <a:rPr lang="en-ZA" b="0" i="1" smtClean="0">
                              <a:latin typeface="Cambria Math" panose="02040503050406030204" pitchFamily="18" charset="0"/>
                            </a:rPr>
                            <m:t>)</m:t>
                          </m:r>
                        </m:e>
                      </m:d>
                    </m:oMath>
                  </m:oMathPara>
                </a14:m>
                <a:endParaRPr lang="en-ZA" dirty="0" smtClean="0"/>
              </a:p>
              <a:p>
                <a:endParaRPr lang="en-ZA" dirty="0" smtClean="0"/>
              </a:p>
              <a:p>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m:t>
                        </m:r>
                        <m:r>
                          <a:rPr lang="en-ZA" b="0" i="1" smtClean="0">
                            <a:latin typeface="Cambria Math" panose="02040503050406030204" pitchFamily="18" charset="0"/>
                          </a:rPr>
                          <m:t>𝑅</m:t>
                        </m:r>
                      </m:e>
                      <m:sub>
                        <m:r>
                          <a:rPr lang="en-ZA" b="0" i="1" smtClean="0">
                            <a:latin typeface="Cambria Math" panose="02040503050406030204" pitchFamily="18" charset="0"/>
                          </a:rPr>
                          <m:t>1</m:t>
                        </m:r>
                      </m:sub>
                    </m:sSub>
                    <m:r>
                      <a:rPr lang="en-ZA" b="0" i="1" smtClean="0">
                        <a:latin typeface="Cambria Math" panose="02040503050406030204" pitchFamily="18" charset="0"/>
                      </a:rPr>
                      <m:t>:</m:t>
                    </m:r>
                  </m:oMath>
                </a14:m>
                <a:r>
                  <a:rPr lang="en-ZA" dirty="0"/>
                  <a:t> </a:t>
                </a:r>
                <a14:m>
                  <m:oMath xmlns:m="http://schemas.openxmlformats.org/officeDocument/2006/math">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2</m:t>
                        </m:r>
                      </m:sub>
                    </m:sSub>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m:t>
                        </m:r>
                      </m:sup>
                    </m:sSup>
                    <m:sSup>
                      <m:sSupPr>
                        <m:ctrlPr>
                          <a:rPr lang="en-ZA" i="1">
                            <a:latin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ZA" i="1">
                            <a:latin typeface="Cambria Math" panose="02040503050406030204" pitchFamily="18" charset="0"/>
                          </a:rPr>
                          <m:t>−1</m:t>
                        </m:r>
                      </m:sup>
                    </m:sSup>
                    <m:r>
                      <a:rPr lang="en-ZA" i="1">
                        <a:latin typeface="Cambria Math" panose="02040503050406030204" pitchFamily="18" charset="0"/>
                      </a:rPr>
                      <m:t>𝑥</m:t>
                    </m:r>
                    <m:r>
                      <a:rPr lang="en-ZA" b="0" i="1" smtClean="0">
                        <a:latin typeface="Cambria Math" panose="02040503050406030204" pitchFamily="18" charset="0"/>
                      </a:rPr>
                      <m:t>−1/2</m:t>
                    </m:r>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2</m:t>
                        </m:r>
                      </m:sub>
                    </m:sSub>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m:t>
                        </m:r>
                      </m:sup>
                    </m:sSup>
                    <m:sSup>
                      <m:sSupPr>
                        <m:ctrlPr>
                          <a:rPr lang="en-ZA" i="1">
                            <a:latin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ZA" i="1">
                            <a:latin typeface="Cambria Math" panose="02040503050406030204" pitchFamily="18" charset="0"/>
                          </a:rPr>
                          <m:t>−1</m:t>
                        </m:r>
                      </m:sup>
                    </m:sSup>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2</m:t>
                        </m:r>
                      </m:sub>
                    </m:sSub>
                    <m:r>
                      <a:rPr lang="en-ZA" i="1">
                        <a:latin typeface="Cambria Math" panose="02040503050406030204" pitchFamily="18" charset="0"/>
                      </a:rPr>
                      <m:t>)</m:t>
                    </m:r>
                    <m:r>
                      <a:rPr lang="en-ZA" i="1" smtClean="0">
                        <a:latin typeface="Cambria Math" panose="02040503050406030204" pitchFamily="18" charset="0"/>
                        <a:ea typeface="Cambria Math" panose="02040503050406030204" pitchFamily="18" charset="0"/>
                      </a:rPr>
                      <m:t>≥</m:t>
                    </m:r>
                    <m:func>
                      <m:funcPr>
                        <m:ctrlPr>
                          <a:rPr lang="en-ZA" i="1" smtClean="0">
                            <a:latin typeface="Cambria Math" panose="02040503050406030204" pitchFamily="18" charset="0"/>
                            <a:ea typeface="Cambria Math" panose="02040503050406030204" pitchFamily="18" charset="0"/>
                          </a:rPr>
                        </m:ctrlPr>
                      </m:funcPr>
                      <m:fName>
                        <m:r>
                          <m:rPr>
                            <m:sty m:val="p"/>
                          </m:rPr>
                          <a:rPr lang="en-ZA" i="0" smtClean="0">
                            <a:latin typeface="Cambria Math" panose="02040503050406030204" pitchFamily="18" charset="0"/>
                            <a:ea typeface="Cambria Math" panose="02040503050406030204" pitchFamily="18" charset="0"/>
                          </a:rPr>
                          <m:t>log</m:t>
                        </m:r>
                      </m:fName>
                      <m:e>
                        <m:d>
                          <m:dPr>
                            <m:begChr m:val="["/>
                            <m:endChr m:val="]"/>
                            <m:ctrlPr>
                              <a:rPr lang="en-ZA" i="1" smtClean="0">
                                <a:latin typeface="Cambria Math" panose="02040503050406030204" pitchFamily="18" charset="0"/>
                                <a:ea typeface="Cambria Math" panose="02040503050406030204" pitchFamily="18" charset="0"/>
                              </a:rPr>
                            </m:ctrlPr>
                          </m:dPr>
                          <m:e>
                            <m:d>
                              <m:dPr>
                                <m:ctrlPr>
                                  <a:rPr lang="en-ZA" i="1" smtClean="0">
                                    <a:latin typeface="Cambria Math" panose="02040503050406030204" pitchFamily="18" charset="0"/>
                                    <a:ea typeface="Cambria Math" panose="02040503050406030204" pitchFamily="18" charset="0"/>
                                  </a:rPr>
                                </m:ctrlPr>
                              </m:dPr>
                              <m:e>
                                <m:f>
                                  <m:fPr>
                                    <m:ctrlPr>
                                      <a:rPr lang="en-ZA" i="1" smtClean="0">
                                        <a:latin typeface="Cambria Math" panose="02040503050406030204" pitchFamily="18" charset="0"/>
                                        <a:ea typeface="Cambria Math" panose="02040503050406030204" pitchFamily="18" charset="0"/>
                                      </a:rPr>
                                    </m:ctrlPr>
                                  </m:fPr>
                                  <m:num>
                                    <m:r>
                                      <a:rPr lang="en-ZA" b="0" i="1" smtClean="0">
                                        <a:latin typeface="Cambria Math" panose="02040503050406030204" pitchFamily="18" charset="0"/>
                                        <a:ea typeface="Cambria Math" panose="02040503050406030204" pitchFamily="18" charset="0"/>
                                      </a:rPr>
                                      <m:t>𝑐</m:t>
                                    </m:r>
                                    <m:r>
                                      <a:rPr lang="en-ZA" b="0" i="1" smtClean="0">
                                        <a:latin typeface="Cambria Math" panose="02040503050406030204" pitchFamily="18" charset="0"/>
                                        <a:ea typeface="Cambria Math" panose="02040503050406030204" pitchFamily="18" charset="0"/>
                                      </a:rPr>
                                      <m:t>(1|2)</m:t>
                                    </m:r>
                                  </m:num>
                                  <m:den>
                                    <m:r>
                                      <a:rPr lang="en-ZA" b="0" i="1" smtClean="0">
                                        <a:latin typeface="Cambria Math" panose="02040503050406030204" pitchFamily="18" charset="0"/>
                                        <a:ea typeface="Cambria Math" panose="02040503050406030204" pitchFamily="18" charset="0"/>
                                      </a:rPr>
                                      <m:t>𝑐</m:t>
                                    </m:r>
                                    <m:r>
                                      <a:rPr lang="en-ZA" b="0" i="1" smtClean="0">
                                        <a:latin typeface="Cambria Math" panose="02040503050406030204" pitchFamily="18" charset="0"/>
                                        <a:ea typeface="Cambria Math" panose="02040503050406030204" pitchFamily="18" charset="0"/>
                                      </a:rPr>
                                      <m:t>(2|1)</m:t>
                                    </m:r>
                                  </m:den>
                                </m:f>
                              </m:e>
                            </m:d>
                            <m:d>
                              <m:dPr>
                                <m:ctrlPr>
                                  <a:rPr lang="en-ZA" i="1" smtClean="0">
                                    <a:latin typeface="Cambria Math" panose="02040503050406030204" pitchFamily="18" charset="0"/>
                                    <a:ea typeface="Cambria Math" panose="02040503050406030204" pitchFamily="18" charset="0"/>
                                  </a:rPr>
                                </m:ctrlPr>
                              </m:dPr>
                              <m:e>
                                <m:f>
                                  <m:fPr>
                                    <m:ctrlPr>
                                      <a:rPr lang="en-ZA" i="1" smtClean="0">
                                        <a:latin typeface="Cambria Math" panose="02040503050406030204" pitchFamily="18" charset="0"/>
                                        <a:ea typeface="Cambria Math" panose="02040503050406030204" pitchFamily="18" charset="0"/>
                                      </a:rPr>
                                    </m:ctrlPr>
                                  </m:fPr>
                                  <m:num>
                                    <m:sSub>
                                      <m:sSubPr>
                                        <m:ctrlPr>
                                          <a:rPr lang="en-ZA"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𝑝</m:t>
                                        </m:r>
                                      </m:e>
                                      <m:sub>
                                        <m:r>
                                          <a:rPr lang="en-ZA" b="0" i="1" smtClean="0">
                                            <a:latin typeface="Cambria Math" panose="02040503050406030204" pitchFamily="18" charset="0"/>
                                            <a:ea typeface="Cambria Math" panose="02040503050406030204" pitchFamily="18" charset="0"/>
                                          </a:rPr>
                                          <m:t>2</m:t>
                                        </m:r>
                                      </m:sub>
                                    </m:sSub>
                                  </m:num>
                                  <m:den>
                                    <m:sSub>
                                      <m:sSubPr>
                                        <m:ctrlPr>
                                          <a:rPr lang="en-ZA"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𝑝</m:t>
                                        </m:r>
                                      </m:e>
                                      <m:sub>
                                        <m:r>
                                          <a:rPr lang="en-ZA" b="0" i="1" smtClean="0">
                                            <a:latin typeface="Cambria Math" panose="02040503050406030204" pitchFamily="18" charset="0"/>
                                            <a:ea typeface="Cambria Math" panose="02040503050406030204" pitchFamily="18" charset="0"/>
                                          </a:rPr>
                                          <m:t>1</m:t>
                                        </m:r>
                                      </m:sub>
                                    </m:sSub>
                                  </m:den>
                                </m:f>
                              </m:e>
                            </m:d>
                          </m:e>
                        </m:d>
                      </m:e>
                    </m:func>
                  </m:oMath>
                </a14:m>
                <a:endParaRPr lang="en-ZA" dirty="0" smtClean="0"/>
              </a:p>
              <a:p>
                <a:endParaRPr lang="en-ZA" dirty="0" smtClean="0"/>
              </a:p>
              <a:p>
                <a14:m>
                  <m:oMath xmlns:m="http://schemas.openxmlformats.org/officeDocument/2006/math">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m:t>
                        </m:r>
                        <m:r>
                          <a:rPr lang="en-ZA" i="1">
                            <a:latin typeface="Cambria Math" panose="02040503050406030204" pitchFamily="18" charset="0"/>
                          </a:rPr>
                          <m:t>𝑅</m:t>
                        </m:r>
                      </m:e>
                      <m:sub>
                        <m:r>
                          <a:rPr lang="en-ZA" b="0" i="1" smtClean="0">
                            <a:latin typeface="Cambria Math" panose="02040503050406030204" pitchFamily="18" charset="0"/>
                          </a:rPr>
                          <m:t>2</m:t>
                        </m:r>
                      </m:sub>
                    </m:sSub>
                    <m:r>
                      <a:rPr lang="en-ZA" i="1">
                        <a:latin typeface="Cambria Math" panose="02040503050406030204" pitchFamily="18" charset="0"/>
                      </a:rPr>
                      <m:t>:</m:t>
                    </m:r>
                  </m:oMath>
                </a14:m>
                <a:r>
                  <a:rPr lang="en-ZA" dirty="0"/>
                  <a:t> </a:t>
                </a:r>
                <a14:m>
                  <m:oMath xmlns:m="http://schemas.openxmlformats.org/officeDocument/2006/math">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2</m:t>
                        </m:r>
                      </m:sub>
                    </m:sSub>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m:t>
                        </m:r>
                      </m:sup>
                    </m:sSup>
                    <m:sSup>
                      <m:sSupPr>
                        <m:ctrlPr>
                          <a:rPr lang="en-ZA" i="1">
                            <a:latin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ZA" i="1">
                            <a:latin typeface="Cambria Math" panose="02040503050406030204" pitchFamily="18" charset="0"/>
                          </a:rPr>
                          <m:t>−1</m:t>
                        </m:r>
                      </m:sup>
                    </m:sSup>
                    <m:r>
                      <a:rPr lang="en-ZA" i="1">
                        <a:latin typeface="Cambria Math" panose="02040503050406030204" pitchFamily="18" charset="0"/>
                      </a:rPr>
                      <m:t>𝑥</m:t>
                    </m:r>
                    <m:r>
                      <a:rPr lang="en-ZA" i="1">
                        <a:latin typeface="Cambria Math" panose="02040503050406030204" pitchFamily="18" charset="0"/>
                      </a:rPr>
                      <m:t>−1/2(</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2</m:t>
                        </m:r>
                      </m:sub>
                    </m:sSub>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m:t>
                        </m:r>
                      </m:sup>
                    </m:sSup>
                    <m:sSup>
                      <m:sSupPr>
                        <m:ctrlPr>
                          <a:rPr lang="en-ZA" i="1">
                            <a:latin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ZA" i="1">
                            <a:latin typeface="Cambria Math" panose="02040503050406030204" pitchFamily="18" charset="0"/>
                          </a:rPr>
                          <m:t>−1</m:t>
                        </m:r>
                      </m:sup>
                    </m:sSup>
                    <m:d>
                      <m:dPr>
                        <m:ctrlPr>
                          <a:rPr lang="en-ZA" i="1">
                            <a:latin typeface="Cambria Math" panose="02040503050406030204" pitchFamily="18" charset="0"/>
                          </a:rPr>
                        </m:ctrlPr>
                      </m:dPr>
                      <m:e>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2</m:t>
                            </m:r>
                          </m:sub>
                        </m:sSub>
                      </m:e>
                    </m:d>
                    <m:r>
                      <a:rPr lang="en-ZA" b="0" i="1" smtClean="0">
                        <a:latin typeface="Cambria Math" panose="02040503050406030204" pitchFamily="18" charset="0"/>
                      </a:rPr>
                      <m:t>&lt;</m:t>
                    </m:r>
                    <m:func>
                      <m:funcPr>
                        <m:ctrlPr>
                          <a:rPr lang="en-ZA" i="1">
                            <a:latin typeface="Cambria Math" panose="02040503050406030204" pitchFamily="18" charset="0"/>
                            <a:ea typeface="Cambria Math" panose="02040503050406030204" pitchFamily="18" charset="0"/>
                          </a:rPr>
                        </m:ctrlPr>
                      </m:funcPr>
                      <m:fName>
                        <m:r>
                          <m:rPr>
                            <m:sty m:val="p"/>
                          </m:rPr>
                          <a:rPr lang="en-ZA">
                            <a:latin typeface="Cambria Math" panose="02040503050406030204" pitchFamily="18" charset="0"/>
                            <a:ea typeface="Cambria Math" panose="02040503050406030204" pitchFamily="18" charset="0"/>
                          </a:rPr>
                          <m:t>log</m:t>
                        </m:r>
                      </m:fName>
                      <m:e>
                        <m:d>
                          <m:dPr>
                            <m:begChr m:val="["/>
                            <m:endChr m:val="]"/>
                            <m:ctrlPr>
                              <a:rPr lang="en-ZA" i="1">
                                <a:latin typeface="Cambria Math" panose="02040503050406030204" pitchFamily="18" charset="0"/>
                                <a:ea typeface="Cambria Math" panose="02040503050406030204" pitchFamily="18" charset="0"/>
                              </a:rPr>
                            </m:ctrlPr>
                          </m:dPr>
                          <m:e>
                            <m:d>
                              <m:dPr>
                                <m:ctrlPr>
                                  <a:rPr lang="en-ZA" i="1">
                                    <a:latin typeface="Cambria Math" panose="02040503050406030204" pitchFamily="18" charset="0"/>
                                    <a:ea typeface="Cambria Math" panose="02040503050406030204" pitchFamily="18" charset="0"/>
                                  </a:rPr>
                                </m:ctrlPr>
                              </m:dPr>
                              <m:e>
                                <m:f>
                                  <m:fPr>
                                    <m:ctrlPr>
                                      <a:rPr lang="en-ZA" i="1">
                                        <a:latin typeface="Cambria Math" panose="02040503050406030204" pitchFamily="18" charset="0"/>
                                        <a:ea typeface="Cambria Math" panose="02040503050406030204" pitchFamily="18" charset="0"/>
                                      </a:rPr>
                                    </m:ctrlPr>
                                  </m:fPr>
                                  <m:num>
                                    <m:r>
                                      <a:rPr lang="en-ZA" i="1">
                                        <a:latin typeface="Cambria Math" panose="02040503050406030204" pitchFamily="18" charset="0"/>
                                        <a:ea typeface="Cambria Math" panose="02040503050406030204" pitchFamily="18" charset="0"/>
                                      </a:rPr>
                                      <m:t>𝑐</m:t>
                                    </m:r>
                                    <m:r>
                                      <a:rPr lang="en-ZA" i="1">
                                        <a:latin typeface="Cambria Math" panose="02040503050406030204" pitchFamily="18" charset="0"/>
                                        <a:ea typeface="Cambria Math" panose="02040503050406030204" pitchFamily="18" charset="0"/>
                                      </a:rPr>
                                      <m:t>(1|2)</m:t>
                                    </m:r>
                                  </m:num>
                                  <m:den>
                                    <m:r>
                                      <a:rPr lang="en-ZA" i="1">
                                        <a:latin typeface="Cambria Math" panose="02040503050406030204" pitchFamily="18" charset="0"/>
                                        <a:ea typeface="Cambria Math" panose="02040503050406030204" pitchFamily="18" charset="0"/>
                                      </a:rPr>
                                      <m:t>𝑐</m:t>
                                    </m:r>
                                    <m:r>
                                      <a:rPr lang="en-ZA" i="1">
                                        <a:latin typeface="Cambria Math" panose="02040503050406030204" pitchFamily="18" charset="0"/>
                                        <a:ea typeface="Cambria Math" panose="02040503050406030204" pitchFamily="18" charset="0"/>
                                      </a:rPr>
                                      <m:t>(2|1)</m:t>
                                    </m:r>
                                  </m:den>
                                </m:f>
                              </m:e>
                            </m:d>
                            <m:d>
                              <m:dPr>
                                <m:ctrlPr>
                                  <a:rPr lang="en-ZA" i="1">
                                    <a:latin typeface="Cambria Math" panose="02040503050406030204" pitchFamily="18" charset="0"/>
                                    <a:ea typeface="Cambria Math" panose="02040503050406030204" pitchFamily="18" charset="0"/>
                                  </a:rPr>
                                </m:ctrlPr>
                              </m:dPr>
                              <m:e>
                                <m:f>
                                  <m:fPr>
                                    <m:ctrlPr>
                                      <a:rPr lang="en-ZA" i="1">
                                        <a:latin typeface="Cambria Math" panose="02040503050406030204" pitchFamily="18" charset="0"/>
                                        <a:ea typeface="Cambria Math" panose="02040503050406030204" pitchFamily="18" charset="0"/>
                                      </a:rPr>
                                    </m:ctrlPr>
                                  </m:fPr>
                                  <m:num>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𝑝</m:t>
                                        </m:r>
                                      </m:e>
                                      <m:sub>
                                        <m:r>
                                          <a:rPr lang="en-ZA" i="1">
                                            <a:latin typeface="Cambria Math" panose="02040503050406030204" pitchFamily="18" charset="0"/>
                                            <a:ea typeface="Cambria Math" panose="02040503050406030204" pitchFamily="18" charset="0"/>
                                          </a:rPr>
                                          <m:t>2</m:t>
                                        </m:r>
                                      </m:sub>
                                    </m:sSub>
                                  </m:num>
                                  <m:den>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𝑝</m:t>
                                        </m:r>
                                      </m:e>
                                      <m:sub>
                                        <m:r>
                                          <a:rPr lang="en-ZA" i="1">
                                            <a:latin typeface="Cambria Math" panose="02040503050406030204" pitchFamily="18" charset="0"/>
                                            <a:ea typeface="Cambria Math" panose="02040503050406030204" pitchFamily="18" charset="0"/>
                                          </a:rPr>
                                          <m:t>1</m:t>
                                        </m:r>
                                      </m:sub>
                                    </m:sSub>
                                  </m:den>
                                </m:f>
                              </m:e>
                            </m:d>
                          </m:e>
                        </m:d>
                      </m:e>
                    </m:func>
                  </m:oMath>
                </a14:m>
                <a:endParaRPr lang="en-ZA" dirty="0" smtClean="0"/>
              </a:p>
            </p:txBody>
          </p:sp>
        </mc:Choice>
        <mc:Fallback xmlns="">
          <p:sp>
            <p:nvSpPr>
              <p:cNvPr id="2" name="TextBox 1"/>
              <p:cNvSpPr txBox="1">
                <a:spLocks noRot="1" noChangeAspect="1" noMove="1" noResize="1" noEditPoints="1" noAdjustHandles="1" noChangeArrowheads="1" noChangeShapeType="1" noTextEdit="1"/>
              </p:cNvSpPr>
              <p:nvPr/>
            </p:nvSpPr>
            <p:spPr>
              <a:xfrm>
                <a:off x="139700" y="95250"/>
                <a:ext cx="11855450" cy="6580776"/>
              </a:xfrm>
              <a:prstGeom prst="rect">
                <a:avLst/>
              </a:prstGeom>
              <a:blipFill rotWithShape="0">
                <a:blip r:embed="rId2"/>
                <a:stretch>
                  <a:fillRect l="-411" t="-463"/>
                </a:stretch>
              </a:blipFill>
              <a:ln>
                <a:solidFill>
                  <a:schemeClr val="accent1"/>
                </a:solidFill>
              </a:ln>
            </p:spPr>
            <p:txBody>
              <a:bodyPr/>
              <a:lstStyle/>
              <a:p>
                <a:r>
                  <a:rPr lang="en-ZA">
                    <a:noFill/>
                  </a:rPr>
                  <a:t> </a:t>
                </a:r>
              </a:p>
            </p:txBody>
          </p:sp>
        </mc:Fallback>
      </mc:AlternateContent>
      <p:sp>
        <p:nvSpPr>
          <p:cNvPr id="3" name="Oval Callout 2"/>
          <p:cNvSpPr/>
          <p:nvPr/>
        </p:nvSpPr>
        <p:spPr>
          <a:xfrm>
            <a:off x="9144000" y="1473200"/>
            <a:ext cx="2730500" cy="939800"/>
          </a:xfrm>
          <a:prstGeom prst="wedgeEllipseCallout">
            <a:avLst>
              <a:gd name="adj1" fmla="val -75805"/>
              <a:gd name="adj2" fmla="val 30743"/>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Using </a:t>
            </a:r>
            <a:r>
              <a:rPr lang="en-ZA" sz="1100" dirty="0" err="1" smtClean="0"/>
              <a:t>exp</a:t>
            </a:r>
            <a:r>
              <a:rPr lang="en-ZA" sz="1100" dirty="0" smtClean="0"/>
              <a:t>(A)/</a:t>
            </a:r>
            <a:r>
              <a:rPr lang="en-ZA" sz="1100" dirty="0" err="1" smtClean="0"/>
              <a:t>exp</a:t>
            </a:r>
            <a:r>
              <a:rPr lang="en-ZA" sz="1100" dirty="0" smtClean="0"/>
              <a:t>(B)=</a:t>
            </a:r>
            <a:r>
              <a:rPr lang="en-ZA" sz="1100" dirty="0" err="1" smtClean="0"/>
              <a:t>exp</a:t>
            </a:r>
            <a:r>
              <a:rPr lang="en-ZA" sz="1100" dirty="0" smtClean="0"/>
              <a:t>(A-B)</a:t>
            </a:r>
            <a:endParaRPr lang="en-ZA" sz="1100" dirty="0"/>
          </a:p>
        </p:txBody>
      </p:sp>
      <p:sp>
        <p:nvSpPr>
          <p:cNvPr id="4" name="Oval Callout 3"/>
          <p:cNvSpPr/>
          <p:nvPr/>
        </p:nvSpPr>
        <p:spPr>
          <a:xfrm>
            <a:off x="469900" y="2159000"/>
            <a:ext cx="1384300" cy="774700"/>
          </a:xfrm>
          <a:prstGeom prst="wedgeEllipseCallout">
            <a:avLst>
              <a:gd name="adj1" fmla="val 97974"/>
              <a:gd name="adj2" fmla="val 52664"/>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Taking logs to get rid of </a:t>
            </a:r>
            <a:r>
              <a:rPr lang="en-ZA" sz="1100" dirty="0" err="1" smtClean="0"/>
              <a:t>exp</a:t>
            </a:r>
            <a:r>
              <a:rPr lang="en-ZA" sz="1100" dirty="0" smtClean="0"/>
              <a:t> on RHS</a:t>
            </a:r>
            <a:endParaRPr lang="en-ZA" sz="1100" dirty="0"/>
          </a:p>
        </p:txBody>
      </p:sp>
      <p:sp>
        <p:nvSpPr>
          <p:cNvPr id="5" name="Oval Callout 4"/>
          <p:cNvSpPr/>
          <p:nvPr/>
        </p:nvSpPr>
        <p:spPr>
          <a:xfrm>
            <a:off x="9791700" y="3403600"/>
            <a:ext cx="1898650" cy="774700"/>
          </a:xfrm>
          <a:prstGeom prst="wedgeEllipseCallout">
            <a:avLst>
              <a:gd name="adj1" fmla="val -105782"/>
              <a:gd name="adj2" fmla="val -3893"/>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Multiplying out and cancelling common terms.</a:t>
            </a:r>
            <a:endParaRPr lang="en-ZA" sz="1100" dirty="0"/>
          </a:p>
        </p:txBody>
      </p:sp>
      <mc:AlternateContent xmlns:mc="http://schemas.openxmlformats.org/markup-compatibility/2006" xmlns:a14="http://schemas.microsoft.com/office/drawing/2010/main">
        <mc:Choice Requires="a14">
          <p:sp>
            <p:nvSpPr>
              <p:cNvPr id="6" name="Oval Callout 5"/>
              <p:cNvSpPr/>
              <p:nvPr/>
            </p:nvSpPr>
            <p:spPr>
              <a:xfrm>
                <a:off x="9937750" y="4591050"/>
                <a:ext cx="1847850" cy="1403350"/>
              </a:xfrm>
              <a:prstGeom prst="wedgeEllipseCallout">
                <a:avLst>
                  <a:gd name="adj1" fmla="val -173410"/>
                  <a:gd name="adj2" fmla="val -4157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Factorising and adding and subtracting </a:t>
                </a:r>
                <a14:m>
                  <m:oMath xmlns:m="http://schemas.openxmlformats.org/officeDocument/2006/math">
                    <m:sSubSup>
                      <m:sSubSupPr>
                        <m:ctrlPr>
                          <a:rPr lang="en-ZA" sz="1100" i="1">
                            <a:latin typeface="Cambria Math" panose="02040503050406030204" pitchFamily="18" charset="0"/>
                            <a:ea typeface="Cambria Math" panose="02040503050406030204" pitchFamily="18" charset="0"/>
                          </a:rPr>
                        </m:ctrlPr>
                      </m:sSubSupPr>
                      <m:e>
                        <m:r>
                          <a:rPr lang="en-ZA" sz="1100" i="1">
                            <a:latin typeface="Cambria Math" panose="02040503050406030204" pitchFamily="18" charset="0"/>
                            <a:ea typeface="Cambria Math" panose="02040503050406030204" pitchFamily="18" charset="0"/>
                          </a:rPr>
                          <m:t>𝜇</m:t>
                        </m:r>
                      </m:e>
                      <m:sub>
                        <m:r>
                          <a:rPr lang="en-ZA" sz="1100" i="1">
                            <a:latin typeface="Cambria Math" panose="02040503050406030204" pitchFamily="18" charset="0"/>
                            <a:ea typeface="Cambria Math" panose="02040503050406030204" pitchFamily="18" charset="0"/>
                          </a:rPr>
                          <m:t>2</m:t>
                        </m:r>
                      </m:sub>
                      <m:sup>
                        <m:r>
                          <a:rPr lang="en-ZA" sz="1100" i="1">
                            <a:latin typeface="Cambria Math" panose="02040503050406030204" pitchFamily="18" charset="0"/>
                            <a:ea typeface="Cambria Math" panose="02040503050406030204" pitchFamily="18" charset="0"/>
                          </a:rPr>
                          <m:t>′</m:t>
                        </m:r>
                      </m:sup>
                    </m:sSubSup>
                    <m:sSup>
                      <m:sSupPr>
                        <m:ctrlPr>
                          <a:rPr lang="en-ZA" sz="1100" i="1">
                            <a:latin typeface="Cambria Math" panose="02040503050406030204" pitchFamily="18" charset="0"/>
                            <a:ea typeface="Cambria Math" panose="02040503050406030204" pitchFamily="18" charset="0"/>
                          </a:rPr>
                        </m:ctrlPr>
                      </m:sSupPr>
                      <m:e>
                        <m:r>
                          <m:rPr>
                            <m:sty m:val="p"/>
                          </m:rPr>
                          <a:rPr lang="el-GR" sz="1100" i="1">
                            <a:latin typeface="Cambria Math" panose="02040503050406030204" pitchFamily="18" charset="0"/>
                            <a:ea typeface="Cambria Math" panose="02040503050406030204" pitchFamily="18" charset="0"/>
                          </a:rPr>
                          <m:t>Σ</m:t>
                        </m:r>
                      </m:e>
                      <m:sup>
                        <m:r>
                          <a:rPr lang="en-ZA" sz="1100" i="1">
                            <a:latin typeface="Cambria Math" panose="02040503050406030204" pitchFamily="18" charset="0"/>
                            <a:ea typeface="Cambria Math" panose="02040503050406030204" pitchFamily="18" charset="0"/>
                          </a:rPr>
                          <m:t>−1</m:t>
                        </m:r>
                      </m:sup>
                    </m:sSup>
                    <m:sSub>
                      <m:sSubPr>
                        <m:ctrlPr>
                          <a:rPr lang="en-ZA" sz="1100" i="1">
                            <a:latin typeface="Cambria Math" panose="02040503050406030204" pitchFamily="18" charset="0"/>
                            <a:ea typeface="Cambria Math" panose="02040503050406030204" pitchFamily="18" charset="0"/>
                          </a:rPr>
                        </m:ctrlPr>
                      </m:sSubPr>
                      <m:e>
                        <m:r>
                          <a:rPr lang="en-ZA" sz="1100" i="1">
                            <a:latin typeface="Cambria Math" panose="02040503050406030204" pitchFamily="18" charset="0"/>
                            <a:ea typeface="Cambria Math" panose="02040503050406030204" pitchFamily="18" charset="0"/>
                          </a:rPr>
                          <m:t>𝜇</m:t>
                        </m:r>
                      </m:e>
                      <m:sub>
                        <m:r>
                          <a:rPr lang="en-ZA" sz="1100" i="1">
                            <a:latin typeface="Cambria Math" panose="02040503050406030204" pitchFamily="18" charset="0"/>
                            <a:ea typeface="Cambria Math" panose="02040503050406030204" pitchFamily="18" charset="0"/>
                          </a:rPr>
                          <m:t>1</m:t>
                        </m:r>
                      </m:sub>
                    </m:sSub>
                  </m:oMath>
                </a14:m>
                <a:r>
                  <a:rPr lang="en-ZA" sz="1100" dirty="0" smtClean="0"/>
                  <a:t>  because then we have a nice quadratic term in the next step</a:t>
                </a:r>
                <a:endParaRPr lang="en-ZA" sz="1100" dirty="0"/>
              </a:p>
            </p:txBody>
          </p:sp>
        </mc:Choice>
        <mc:Fallback xmlns="">
          <p:sp>
            <p:nvSpPr>
              <p:cNvPr id="6" name="Oval Callout 5"/>
              <p:cNvSpPr>
                <a:spLocks noRot="1" noChangeAspect="1" noMove="1" noResize="1" noEditPoints="1" noAdjustHandles="1" noChangeArrowheads="1" noChangeShapeType="1" noTextEdit="1"/>
              </p:cNvSpPr>
              <p:nvPr/>
            </p:nvSpPr>
            <p:spPr>
              <a:xfrm>
                <a:off x="9937750" y="4591050"/>
                <a:ext cx="1847850" cy="1403350"/>
              </a:xfrm>
              <a:prstGeom prst="wedgeEllipseCallout">
                <a:avLst>
                  <a:gd name="adj1" fmla="val -173410"/>
                  <a:gd name="adj2" fmla="val -41572"/>
                </a:avLst>
              </a:prstGeom>
              <a:blipFill rotWithShape="0">
                <a:blip r:embed="rId3"/>
                <a:stretch>
                  <a:fillRect/>
                </a:stretch>
              </a:blipFill>
            </p:spPr>
            <p:txBody>
              <a:bodyPr/>
              <a:lstStyle/>
              <a:p>
                <a:r>
                  <a:rPr lang="en-ZA">
                    <a:noFill/>
                  </a:rPr>
                  <a:t> </a:t>
                </a:r>
              </a:p>
            </p:txBody>
          </p:sp>
        </mc:Fallback>
      </mc:AlternateContent>
    </p:spTree>
    <p:extLst>
      <p:ext uri="{BB962C8B-B14F-4D97-AF65-F5344CB8AC3E}">
        <p14:creationId xmlns:p14="http://schemas.microsoft.com/office/powerpoint/2010/main" val="28342215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158750" y="190500"/>
                <a:ext cx="11830050" cy="6398162"/>
              </a:xfrm>
              <a:prstGeom prst="rect">
                <a:avLst/>
              </a:prstGeom>
              <a:noFill/>
              <a:ln>
                <a:solidFill>
                  <a:schemeClr val="accent1"/>
                </a:solidFill>
              </a:ln>
            </p:spPr>
            <p:txBody>
              <a:bodyPr wrap="square" rtlCol="0">
                <a:spAutoFit/>
              </a:bodyPr>
              <a:lstStyle/>
              <a:p>
                <a:pPr algn="ctr"/>
                <a:r>
                  <a:rPr lang="en-ZA" dirty="0" smtClean="0"/>
                  <a:t>Discrimination </a:t>
                </a:r>
                <a:r>
                  <a:rPr lang="en-ZA" dirty="0"/>
                  <a:t>and Classification from sample </a:t>
                </a:r>
                <a:r>
                  <a:rPr lang="en-ZA" dirty="0" smtClean="0"/>
                  <a:t>quantities</a:t>
                </a:r>
              </a:p>
              <a:p>
                <a:pPr algn="ctr"/>
                <a:endParaRPr lang="en-ZA" dirty="0"/>
              </a:p>
              <a:p>
                <a:r>
                  <a:rPr lang="en-ZA" dirty="0"/>
                  <a:t>We estimate </a:t>
                </a:r>
                <a:r>
                  <a:rPr lang="en-ZA" dirty="0" smtClean="0"/>
                  <a:t> </a:t>
                </a:r>
                <a14:m>
                  <m:oMath xmlns:m="http://schemas.openxmlformats.org/officeDocument/2006/math">
                    <m:sSub>
                      <m:sSubPr>
                        <m:ctrlPr>
                          <a:rPr lang="en-ZA" b="1" i="1" smtClean="0">
                            <a:latin typeface="Cambria Math" panose="02040503050406030204" pitchFamily="18" charset="0"/>
                          </a:rPr>
                        </m:ctrlPr>
                      </m:sSubPr>
                      <m:e>
                        <m:r>
                          <a:rPr lang="en-ZA" b="1" i="1" smtClean="0">
                            <a:latin typeface="Cambria Math" panose="02040503050406030204" pitchFamily="18" charset="0"/>
                            <a:ea typeface="Cambria Math" panose="02040503050406030204" pitchFamily="18" charset="0"/>
                          </a:rPr>
                          <m:t>𝝁</m:t>
                        </m:r>
                      </m:e>
                      <m:sub>
                        <m:r>
                          <a:rPr lang="en-ZA" b="1" i="1" smtClean="0">
                            <a:latin typeface="Cambria Math" panose="02040503050406030204" pitchFamily="18" charset="0"/>
                          </a:rPr>
                          <m:t>𝟏</m:t>
                        </m:r>
                      </m:sub>
                    </m:sSub>
                  </m:oMath>
                </a14:m>
                <a:r>
                  <a:rPr lang="en-ZA" dirty="0" smtClean="0"/>
                  <a:t>, </a:t>
                </a:r>
                <a14:m>
                  <m:oMath xmlns:m="http://schemas.openxmlformats.org/officeDocument/2006/math">
                    <m:sSub>
                      <m:sSubPr>
                        <m:ctrlPr>
                          <a:rPr lang="en-ZA" b="1" i="1" smtClean="0">
                            <a:latin typeface="Cambria Math" panose="02040503050406030204" pitchFamily="18" charset="0"/>
                          </a:rPr>
                        </m:ctrlPr>
                      </m:sSubPr>
                      <m:e>
                        <m:r>
                          <a:rPr lang="en-ZA" b="1" i="1" smtClean="0">
                            <a:latin typeface="Cambria Math" panose="02040503050406030204" pitchFamily="18" charset="0"/>
                            <a:ea typeface="Cambria Math" panose="02040503050406030204" pitchFamily="18" charset="0"/>
                          </a:rPr>
                          <m:t>𝝁</m:t>
                        </m:r>
                      </m:e>
                      <m:sub>
                        <m:r>
                          <a:rPr lang="en-ZA" b="1" i="1" smtClean="0">
                            <a:latin typeface="Cambria Math" panose="02040503050406030204" pitchFamily="18" charset="0"/>
                          </a:rPr>
                          <m:t>𝟐</m:t>
                        </m:r>
                      </m:sub>
                    </m:sSub>
                  </m:oMath>
                </a14:m>
                <a:r>
                  <a:rPr lang="en-ZA" dirty="0" smtClean="0"/>
                  <a:t> and </a:t>
                </a:r>
                <a14:m>
                  <m:oMath xmlns:m="http://schemas.openxmlformats.org/officeDocument/2006/math">
                    <m:r>
                      <a:rPr lang="el-GR" b="1" i="1" smtClean="0">
                        <a:latin typeface="Cambria Math" panose="02040503050406030204" pitchFamily="18" charset="0"/>
                        <a:ea typeface="Cambria Math" panose="02040503050406030204" pitchFamily="18" charset="0"/>
                      </a:rPr>
                      <m:t>𝜮</m:t>
                    </m:r>
                  </m:oMath>
                </a14:m>
                <a:r>
                  <a:rPr lang="en-ZA" dirty="0" smtClean="0"/>
                  <a:t> </a:t>
                </a:r>
                <a:r>
                  <a:rPr lang="en-ZA" dirty="0"/>
                  <a:t>from a sample. </a:t>
                </a:r>
                <a:endParaRPr lang="en-ZA" dirty="0" smtClean="0"/>
              </a:p>
              <a:p>
                <a:r>
                  <a:rPr lang="en-ZA" dirty="0" smtClean="0"/>
                  <a:t>Assume </a:t>
                </a:r>
                <a:r>
                  <a:rPr lang="en-ZA" dirty="0"/>
                  <a:t>we </a:t>
                </a:r>
                <a:r>
                  <a:rPr lang="en-ZA" dirty="0" smtClean="0"/>
                  <a:t>have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1 </m:t>
                        </m:r>
                      </m:sub>
                    </m:sSub>
                  </m:oMath>
                </a14:m>
                <a:r>
                  <a:rPr lang="en-ZA" dirty="0" smtClean="0"/>
                  <a:t>observations </a:t>
                </a:r>
                <a:r>
                  <a:rPr lang="en-ZA" dirty="0"/>
                  <a:t>of the multivariate normal random variable </a:t>
                </a:r>
                <a:r>
                  <a:rPr lang="en-ZA" dirty="0" smtClean="0"/>
                  <a:t> </a:t>
                </a:r>
                <a14:m>
                  <m:oMath xmlns:m="http://schemas.openxmlformats.org/officeDocument/2006/math">
                    <m:r>
                      <a:rPr lang="en-ZA" b="1" i="1" smtClean="0">
                        <a:latin typeface="Cambria Math" panose="02040503050406030204" pitchFamily="18" charset="0"/>
                      </a:rPr>
                      <m:t>𝑿</m:t>
                    </m:r>
                    <m:r>
                      <a:rPr lang="en-ZA" b="0" i="1" smtClean="0">
                        <a:latin typeface="Cambria Math" panose="02040503050406030204" pitchFamily="18" charset="0"/>
                      </a:rPr>
                      <m:t>′=[</m:t>
                    </m:r>
                    <m:sSub>
                      <m:sSubPr>
                        <m:ctrlPr>
                          <a:rPr lang="en-ZA" b="1" i="1" smtClean="0">
                            <a:latin typeface="Cambria Math" panose="02040503050406030204" pitchFamily="18" charset="0"/>
                          </a:rPr>
                        </m:ctrlPr>
                      </m:sSubPr>
                      <m:e>
                        <m:r>
                          <a:rPr lang="en-ZA" b="1" i="1" smtClean="0">
                            <a:latin typeface="Cambria Math" panose="02040503050406030204" pitchFamily="18" charset="0"/>
                          </a:rPr>
                          <m:t>𝑿</m:t>
                        </m:r>
                      </m:e>
                      <m:sub>
                        <m:r>
                          <a:rPr lang="en-ZA" b="1" i="1" smtClean="0">
                            <a:latin typeface="Cambria Math" panose="02040503050406030204" pitchFamily="18" charset="0"/>
                          </a:rPr>
                          <m:t>𝟏</m:t>
                        </m:r>
                      </m:sub>
                    </m:sSub>
                    <m:r>
                      <a:rPr lang="en-ZA" b="1" i="1" smtClean="0">
                        <a:latin typeface="Cambria Math" panose="02040503050406030204" pitchFamily="18" charset="0"/>
                      </a:rPr>
                      <m:t>,</m:t>
                    </m:r>
                    <m:sSub>
                      <m:sSubPr>
                        <m:ctrlPr>
                          <a:rPr lang="en-ZA" b="1" i="1" smtClean="0">
                            <a:latin typeface="Cambria Math" panose="02040503050406030204" pitchFamily="18" charset="0"/>
                          </a:rPr>
                        </m:ctrlPr>
                      </m:sSubPr>
                      <m:e>
                        <m:r>
                          <a:rPr lang="en-ZA" b="1" i="1" smtClean="0">
                            <a:latin typeface="Cambria Math" panose="02040503050406030204" pitchFamily="18" charset="0"/>
                          </a:rPr>
                          <m:t>𝑿</m:t>
                        </m:r>
                      </m:e>
                      <m:sub>
                        <m:r>
                          <a:rPr lang="en-ZA" b="1" i="1" smtClean="0">
                            <a:latin typeface="Cambria Math" panose="02040503050406030204" pitchFamily="18" charset="0"/>
                          </a:rPr>
                          <m:t>𝟐</m:t>
                        </m:r>
                      </m:sub>
                    </m:sSub>
                    <m:r>
                      <a:rPr lang="en-ZA" b="1" i="1" smtClean="0">
                        <a:latin typeface="Cambria Math" panose="02040503050406030204" pitchFamily="18" charset="0"/>
                      </a:rPr>
                      <m:t>,…,</m:t>
                    </m:r>
                    <m:sSub>
                      <m:sSubPr>
                        <m:ctrlPr>
                          <a:rPr lang="en-ZA" b="1" i="1" smtClean="0">
                            <a:latin typeface="Cambria Math" panose="02040503050406030204" pitchFamily="18" charset="0"/>
                          </a:rPr>
                        </m:ctrlPr>
                      </m:sSubPr>
                      <m:e>
                        <m:r>
                          <a:rPr lang="en-ZA" b="1" i="1" smtClean="0">
                            <a:latin typeface="Cambria Math" panose="02040503050406030204" pitchFamily="18" charset="0"/>
                          </a:rPr>
                          <m:t>𝑿</m:t>
                        </m:r>
                      </m:e>
                      <m:sub>
                        <m:r>
                          <a:rPr lang="en-ZA" b="1" i="1" smtClean="0">
                            <a:latin typeface="Cambria Math" panose="02040503050406030204" pitchFamily="18" charset="0"/>
                          </a:rPr>
                          <m:t>𝒑</m:t>
                        </m:r>
                      </m:sub>
                    </m:sSub>
                    <m:r>
                      <a:rPr lang="en-ZA" b="0" i="1" smtClean="0">
                        <a:latin typeface="Cambria Math" panose="02040503050406030204" pitchFamily="18" charset="0"/>
                      </a:rPr>
                      <m:t>]</m:t>
                    </m:r>
                  </m:oMath>
                </a14:m>
                <a:r>
                  <a:rPr lang="en-ZA" dirty="0" smtClean="0"/>
                  <a:t> </a:t>
                </a:r>
                <a:r>
                  <a:rPr lang="en-ZA" dirty="0"/>
                  <a:t>from </a:t>
                </a:r>
                <a:r>
                  <a:rPr lang="en-ZA" dirty="0" smtClean="0"/>
                  <a:t>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oMath>
                </a14:m>
                <a:r>
                  <a:rPr lang="en-ZA" dirty="0" smtClean="0"/>
                  <a:t> </a:t>
                </a:r>
                <a:r>
                  <a:rPr lang="en-ZA" dirty="0"/>
                  <a:t>and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2</m:t>
                        </m:r>
                      </m:sub>
                    </m:sSub>
                  </m:oMath>
                </a14:m>
                <a:r>
                  <a:rPr lang="en-ZA" dirty="0" smtClean="0"/>
                  <a:t> from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2</m:t>
                        </m:r>
                      </m:sub>
                    </m:sSub>
                  </m:oMath>
                </a14:m>
                <a:r>
                  <a:rPr lang="en-ZA" dirty="0" smtClean="0"/>
                  <a:t>. Then</a:t>
                </a:r>
              </a:p>
              <a:p>
                <a:pPr algn="ctr"/>
                <a14:m>
                  <m:oMath xmlns:m="http://schemas.openxmlformats.org/officeDocument/2006/math">
                    <m:sSub>
                      <m:sSubPr>
                        <m:ctrlPr>
                          <a:rPr lang="en-ZA" i="1" smtClean="0">
                            <a:latin typeface="Cambria Math" panose="02040503050406030204" pitchFamily="18" charset="0"/>
                          </a:rPr>
                        </m:ctrlPr>
                      </m:sSubPr>
                      <m:e>
                        <m:r>
                          <a:rPr lang="en-ZA" b="1" i="1" smtClean="0">
                            <a:latin typeface="Cambria Math" panose="02040503050406030204" pitchFamily="18" charset="0"/>
                          </a:rPr>
                          <m:t>𝑿</m:t>
                        </m:r>
                      </m:e>
                      <m:sub>
                        <m:r>
                          <a:rPr lang="en-ZA" b="0" i="1" smtClean="0">
                            <a:latin typeface="Cambria Math" panose="02040503050406030204" pitchFamily="18" charset="0"/>
                          </a:rPr>
                          <m:t>1(</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1</m:t>
                            </m:r>
                          </m:sub>
                        </m:sSub>
                        <m:r>
                          <a:rPr lang="en-ZA" b="0" i="1" smtClean="0">
                            <a:latin typeface="Cambria Math" panose="02040503050406030204" pitchFamily="18" charset="0"/>
                            <a:ea typeface="Cambria Math" panose="02040503050406030204" pitchFamily="18" charset="0"/>
                          </a:rPr>
                          <m:t>×</m:t>
                        </m:r>
                        <m:r>
                          <a:rPr lang="en-ZA" b="0" i="1" smtClean="0">
                            <a:latin typeface="Cambria Math" panose="02040503050406030204" pitchFamily="18" charset="0"/>
                            <a:ea typeface="Cambria Math" panose="02040503050406030204" pitchFamily="18" charset="0"/>
                          </a:rPr>
                          <m:t>𝑝</m:t>
                        </m:r>
                        <m:r>
                          <a:rPr lang="en-ZA" b="0" i="1" smtClean="0">
                            <a:latin typeface="Cambria Math" panose="02040503050406030204" pitchFamily="18" charset="0"/>
                            <a:ea typeface="Cambria Math" panose="02040503050406030204" pitchFamily="18" charset="0"/>
                          </a:rPr>
                          <m:t>)</m:t>
                        </m:r>
                      </m:sub>
                    </m:sSub>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1"/>
                                  <m:mcJc m:val="center"/>
                                </m:mcPr>
                              </m:mc>
                            </m:mcs>
                            <m:ctrlPr>
                              <a:rPr lang="en-ZA" b="0" i="1" smtClean="0">
                                <a:latin typeface="Cambria Math" panose="02040503050406030204" pitchFamily="18" charset="0"/>
                              </a:rPr>
                            </m:ctrlPr>
                          </m:mPr>
                          <m:mr>
                            <m:e>
                              <m:sSubSup>
                                <m:sSubSupPr>
                                  <m:ctrlPr>
                                    <a:rPr lang="en-ZA" b="0" i="1" smtClean="0">
                                      <a:latin typeface="Cambria Math" panose="02040503050406030204" pitchFamily="18" charset="0"/>
                                    </a:rPr>
                                  </m:ctrlPr>
                                </m:sSubSupPr>
                                <m:e>
                                  <m:r>
                                    <a:rPr lang="en-ZA" b="1" i="1" smtClean="0">
                                      <a:latin typeface="Cambria Math" panose="02040503050406030204" pitchFamily="18" charset="0"/>
                                    </a:rPr>
                                    <m:t>𝒙</m:t>
                                  </m:r>
                                </m:e>
                                <m:sub>
                                  <m:r>
                                    <a:rPr lang="en-ZA" b="0" i="1" smtClean="0">
                                      <a:latin typeface="Cambria Math" panose="02040503050406030204" pitchFamily="18" charset="0"/>
                                    </a:rPr>
                                    <m:t>11</m:t>
                                  </m:r>
                                </m:sub>
                                <m:sup>
                                  <m:r>
                                    <a:rPr lang="en-ZA" b="0" i="1" smtClean="0">
                                      <a:latin typeface="Cambria Math" panose="02040503050406030204" pitchFamily="18" charset="0"/>
                                    </a:rPr>
                                    <m:t>′</m:t>
                                  </m:r>
                                </m:sup>
                              </m:sSubSup>
                            </m:e>
                          </m:mr>
                          <m:mr>
                            <m:e>
                              <m:sSubSup>
                                <m:sSubSupPr>
                                  <m:ctrlPr>
                                    <a:rPr lang="en-ZA" b="0" i="1" smtClean="0">
                                      <a:latin typeface="Cambria Math" panose="02040503050406030204" pitchFamily="18" charset="0"/>
                                    </a:rPr>
                                  </m:ctrlPr>
                                </m:sSubSupPr>
                                <m:e>
                                  <m:r>
                                    <a:rPr lang="en-ZA" b="1" i="1" smtClean="0">
                                      <a:latin typeface="Cambria Math" panose="02040503050406030204" pitchFamily="18" charset="0"/>
                                    </a:rPr>
                                    <m:t>𝒙</m:t>
                                  </m:r>
                                </m:e>
                                <m:sub>
                                  <m:r>
                                    <a:rPr lang="en-ZA" b="0" i="1" smtClean="0">
                                      <a:latin typeface="Cambria Math" panose="02040503050406030204" pitchFamily="18" charset="0"/>
                                    </a:rPr>
                                    <m:t>12</m:t>
                                  </m:r>
                                </m:sub>
                                <m:sup>
                                  <m:r>
                                    <a:rPr lang="en-ZA" b="0" i="1" smtClean="0">
                                      <a:latin typeface="Cambria Math" panose="02040503050406030204" pitchFamily="18" charset="0"/>
                                    </a:rPr>
                                    <m:t>′</m:t>
                                  </m:r>
                                </m:sup>
                              </m:sSubSup>
                            </m:e>
                          </m:mr>
                          <m:mr>
                            <m:e>
                              <m:r>
                                <a:rPr lang="en-ZA" b="0" i="1" smtClean="0">
                                  <a:latin typeface="Cambria Math" panose="02040503050406030204" pitchFamily="18" charset="0"/>
                                </a:rPr>
                                <m:t>⋮</m:t>
                              </m:r>
                            </m:e>
                          </m:mr>
                          <m:mr>
                            <m:e>
                              <m:sSubSup>
                                <m:sSubSupPr>
                                  <m:ctrlPr>
                                    <a:rPr lang="en-ZA" b="0" i="1" smtClean="0">
                                      <a:latin typeface="Cambria Math" panose="02040503050406030204" pitchFamily="18" charset="0"/>
                                    </a:rPr>
                                  </m:ctrlPr>
                                </m:sSubSupPr>
                                <m:e>
                                  <m:r>
                                    <a:rPr lang="en-ZA" b="1" i="1" smtClean="0">
                                      <a:latin typeface="Cambria Math" panose="02040503050406030204" pitchFamily="18" charset="0"/>
                                    </a:rPr>
                                    <m:t>𝒙</m:t>
                                  </m:r>
                                </m:e>
                                <m:sub>
                                  <m:r>
                                    <a:rPr lang="en-ZA" b="0" i="1" smtClean="0">
                                      <a:latin typeface="Cambria Math" panose="02040503050406030204" pitchFamily="18" charset="0"/>
                                    </a:rPr>
                                    <m:t>1</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1</m:t>
                                      </m:r>
                                    </m:sub>
                                  </m:sSub>
                                </m:sub>
                                <m:sup>
                                  <m:r>
                                    <a:rPr lang="en-ZA" b="0" i="1" smtClean="0">
                                      <a:latin typeface="Cambria Math" panose="02040503050406030204" pitchFamily="18" charset="0"/>
                                    </a:rPr>
                                    <m:t>′</m:t>
                                  </m:r>
                                </m:sup>
                              </m:sSubSup>
                            </m:e>
                          </m:mr>
                        </m:m>
                      </m:e>
                    </m:d>
                  </m:oMath>
                </a14:m>
                <a:r>
                  <a:rPr lang="en-ZA" dirty="0" smtClean="0"/>
                  <a:t> and </a:t>
                </a:r>
                <a14:m>
                  <m:oMath xmlns:m="http://schemas.openxmlformats.org/officeDocument/2006/math">
                    <m:sSub>
                      <m:sSubPr>
                        <m:ctrlPr>
                          <a:rPr lang="en-ZA" i="1">
                            <a:latin typeface="Cambria Math" panose="02040503050406030204" pitchFamily="18" charset="0"/>
                          </a:rPr>
                        </m:ctrlPr>
                      </m:sSubPr>
                      <m:e>
                        <m:r>
                          <a:rPr lang="en-ZA" b="1" i="1">
                            <a:latin typeface="Cambria Math" panose="02040503050406030204" pitchFamily="18" charset="0"/>
                          </a:rPr>
                          <m:t>𝑿</m:t>
                        </m:r>
                      </m:e>
                      <m:sub>
                        <m:r>
                          <a:rPr lang="en-ZA" b="0" i="1" smtClean="0">
                            <a:latin typeface="Cambria Math" panose="02040503050406030204" pitchFamily="18" charset="0"/>
                          </a:rPr>
                          <m:t>2</m:t>
                        </m:r>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rPr>
                              <m:t>𝑛</m:t>
                            </m:r>
                          </m:e>
                          <m:sub>
                            <m:r>
                              <a:rPr lang="en-ZA" b="0" i="1" smtClean="0">
                                <a:latin typeface="Cambria Math" panose="02040503050406030204" pitchFamily="18" charset="0"/>
                              </a:rPr>
                              <m:t>2</m:t>
                            </m:r>
                          </m:sub>
                        </m:sSub>
                        <m:r>
                          <a:rPr lang="en-ZA" i="1">
                            <a:latin typeface="Cambria Math" panose="02040503050406030204" pitchFamily="18" charset="0"/>
                            <a:ea typeface="Cambria Math" panose="02040503050406030204" pitchFamily="18" charset="0"/>
                          </a:rPr>
                          <m:t>×</m:t>
                        </m:r>
                        <m:r>
                          <a:rPr lang="en-ZA" i="1">
                            <a:latin typeface="Cambria Math" panose="02040503050406030204" pitchFamily="18" charset="0"/>
                            <a:ea typeface="Cambria Math" panose="02040503050406030204" pitchFamily="18" charset="0"/>
                          </a:rPr>
                          <m:t>𝑝</m:t>
                        </m:r>
                        <m:r>
                          <a:rPr lang="en-ZA" i="1">
                            <a:latin typeface="Cambria Math" panose="02040503050406030204" pitchFamily="18" charset="0"/>
                            <a:ea typeface="Cambria Math" panose="02040503050406030204" pitchFamily="18" charset="0"/>
                          </a:rPr>
                          <m:t>)</m:t>
                        </m:r>
                      </m:sub>
                    </m:sSub>
                    <m:r>
                      <a:rPr lang="en-ZA" i="1">
                        <a:latin typeface="Cambria Math" panose="02040503050406030204" pitchFamily="18" charset="0"/>
                      </a:rPr>
                      <m:t>=</m:t>
                    </m:r>
                    <m:d>
                      <m:dPr>
                        <m:begChr m:val="["/>
                        <m:endChr m:val="]"/>
                        <m:ctrlPr>
                          <a:rPr lang="en-ZA" i="1">
                            <a:latin typeface="Cambria Math" panose="02040503050406030204" pitchFamily="18" charset="0"/>
                          </a:rPr>
                        </m:ctrlPr>
                      </m:dPr>
                      <m:e>
                        <m:m>
                          <m:mPr>
                            <m:mcs>
                              <m:mc>
                                <m:mcPr>
                                  <m:count m:val="1"/>
                                  <m:mcJc m:val="center"/>
                                </m:mcPr>
                              </m:mc>
                            </m:mcs>
                            <m:ctrlPr>
                              <a:rPr lang="en-ZA" i="1">
                                <a:latin typeface="Cambria Math" panose="02040503050406030204" pitchFamily="18" charset="0"/>
                              </a:rPr>
                            </m:ctrlPr>
                          </m:mPr>
                          <m:mr>
                            <m:e>
                              <m:sSubSup>
                                <m:sSubSupPr>
                                  <m:ctrlPr>
                                    <a:rPr lang="en-ZA" i="1">
                                      <a:latin typeface="Cambria Math" panose="02040503050406030204" pitchFamily="18" charset="0"/>
                                    </a:rPr>
                                  </m:ctrlPr>
                                </m:sSubSupPr>
                                <m:e>
                                  <m:r>
                                    <a:rPr lang="en-ZA" b="1" i="1">
                                      <a:latin typeface="Cambria Math" panose="02040503050406030204" pitchFamily="18" charset="0"/>
                                    </a:rPr>
                                    <m:t>𝒙</m:t>
                                  </m:r>
                                </m:e>
                                <m:sub>
                                  <m:r>
                                    <a:rPr lang="en-ZA" b="0" i="1" smtClean="0">
                                      <a:latin typeface="Cambria Math" panose="02040503050406030204" pitchFamily="18" charset="0"/>
                                    </a:rPr>
                                    <m:t>2</m:t>
                                  </m:r>
                                  <m:r>
                                    <a:rPr lang="en-ZA" i="1">
                                      <a:latin typeface="Cambria Math" panose="02040503050406030204" pitchFamily="18" charset="0"/>
                                    </a:rPr>
                                    <m:t>1</m:t>
                                  </m:r>
                                </m:sub>
                                <m:sup>
                                  <m:r>
                                    <a:rPr lang="en-ZA" i="1">
                                      <a:latin typeface="Cambria Math" panose="02040503050406030204" pitchFamily="18" charset="0"/>
                                    </a:rPr>
                                    <m:t>′</m:t>
                                  </m:r>
                                </m:sup>
                              </m:sSubSup>
                            </m:e>
                          </m:mr>
                          <m:mr>
                            <m:e>
                              <m:sSubSup>
                                <m:sSubSupPr>
                                  <m:ctrlPr>
                                    <a:rPr lang="en-ZA" i="1">
                                      <a:latin typeface="Cambria Math" panose="02040503050406030204" pitchFamily="18" charset="0"/>
                                    </a:rPr>
                                  </m:ctrlPr>
                                </m:sSubSupPr>
                                <m:e>
                                  <m:r>
                                    <a:rPr lang="en-ZA" b="1" i="1">
                                      <a:latin typeface="Cambria Math" panose="02040503050406030204" pitchFamily="18" charset="0"/>
                                    </a:rPr>
                                    <m:t>𝒙</m:t>
                                  </m:r>
                                </m:e>
                                <m:sub>
                                  <m:r>
                                    <a:rPr lang="en-ZA" b="0" i="1" smtClean="0">
                                      <a:latin typeface="Cambria Math" panose="02040503050406030204" pitchFamily="18" charset="0"/>
                                    </a:rPr>
                                    <m:t>2</m:t>
                                  </m:r>
                                  <m:r>
                                    <a:rPr lang="en-ZA" i="1">
                                      <a:latin typeface="Cambria Math" panose="02040503050406030204" pitchFamily="18" charset="0"/>
                                    </a:rPr>
                                    <m:t>2</m:t>
                                  </m:r>
                                </m:sub>
                                <m:sup>
                                  <m:r>
                                    <a:rPr lang="en-ZA" i="1">
                                      <a:latin typeface="Cambria Math" panose="02040503050406030204" pitchFamily="18" charset="0"/>
                                    </a:rPr>
                                    <m:t>′</m:t>
                                  </m:r>
                                </m:sup>
                              </m:sSubSup>
                            </m:e>
                          </m:mr>
                          <m:mr>
                            <m:e>
                              <m:r>
                                <a:rPr lang="en-ZA" i="1">
                                  <a:latin typeface="Cambria Math" panose="02040503050406030204" pitchFamily="18" charset="0"/>
                                </a:rPr>
                                <m:t>⋮</m:t>
                              </m:r>
                            </m:e>
                          </m:mr>
                          <m:mr>
                            <m:e>
                              <m:sSubSup>
                                <m:sSubSupPr>
                                  <m:ctrlPr>
                                    <a:rPr lang="en-ZA" i="1">
                                      <a:latin typeface="Cambria Math" panose="02040503050406030204" pitchFamily="18" charset="0"/>
                                    </a:rPr>
                                  </m:ctrlPr>
                                </m:sSubSupPr>
                                <m:e>
                                  <m:r>
                                    <a:rPr lang="en-ZA" b="1" i="1">
                                      <a:latin typeface="Cambria Math" panose="02040503050406030204" pitchFamily="18" charset="0"/>
                                    </a:rPr>
                                    <m:t>𝒙</m:t>
                                  </m:r>
                                </m:e>
                                <m:sub>
                                  <m:r>
                                    <a:rPr lang="en-ZA" b="0" i="1" smtClean="0">
                                      <a:latin typeface="Cambria Math" panose="02040503050406030204" pitchFamily="18" charset="0"/>
                                    </a:rPr>
                                    <m:t>2</m:t>
                                  </m:r>
                                  <m:sSub>
                                    <m:sSubPr>
                                      <m:ctrlPr>
                                        <a:rPr lang="en-ZA" i="1">
                                          <a:latin typeface="Cambria Math" panose="02040503050406030204" pitchFamily="18" charset="0"/>
                                        </a:rPr>
                                      </m:ctrlPr>
                                    </m:sSubPr>
                                    <m:e>
                                      <m:r>
                                        <a:rPr lang="en-ZA" i="1">
                                          <a:latin typeface="Cambria Math" panose="02040503050406030204" pitchFamily="18" charset="0"/>
                                        </a:rPr>
                                        <m:t>𝑛</m:t>
                                      </m:r>
                                    </m:e>
                                    <m:sub>
                                      <m:r>
                                        <a:rPr lang="en-ZA" b="0" i="1" smtClean="0">
                                          <a:latin typeface="Cambria Math" panose="02040503050406030204" pitchFamily="18" charset="0"/>
                                        </a:rPr>
                                        <m:t>2</m:t>
                                      </m:r>
                                    </m:sub>
                                  </m:sSub>
                                </m:sub>
                                <m:sup>
                                  <m:r>
                                    <a:rPr lang="en-ZA" i="1">
                                      <a:latin typeface="Cambria Math" panose="02040503050406030204" pitchFamily="18" charset="0"/>
                                    </a:rPr>
                                    <m:t>′</m:t>
                                  </m:r>
                                </m:sup>
                              </m:sSubSup>
                            </m:e>
                          </m:mr>
                        </m:m>
                      </m:e>
                    </m:d>
                  </m:oMath>
                </a14:m>
                <a:r>
                  <a:rPr lang="en-ZA" dirty="0" smtClean="0"/>
                  <a:t> and</a:t>
                </a:r>
              </a:p>
              <a:p>
                <a:pPr algn="ctr"/>
                <a:endParaRPr lang="en-ZA" dirty="0" smtClean="0"/>
              </a:p>
              <a:p>
                <a:pPr algn="ctr"/>
                <a14:m>
                  <m:oMath xmlns:m="http://schemas.openxmlformats.org/officeDocument/2006/math">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1" i="1" smtClean="0">
                                <a:latin typeface="Cambria Math" panose="02040503050406030204" pitchFamily="18" charset="0"/>
                              </a:rPr>
                              <m:t>𝒙</m:t>
                            </m:r>
                          </m:e>
                        </m:acc>
                      </m:e>
                      <m:sub>
                        <m:r>
                          <a:rPr lang="en-ZA" b="0" i="1" smtClean="0">
                            <a:latin typeface="Cambria Math" panose="02040503050406030204" pitchFamily="18" charset="0"/>
                          </a:rPr>
                          <m:t>1(</m:t>
                        </m:r>
                        <m:r>
                          <a:rPr lang="en-ZA" b="0" i="1" smtClean="0">
                            <a:latin typeface="Cambria Math" panose="02040503050406030204" pitchFamily="18" charset="0"/>
                          </a:rPr>
                          <m:t>𝑝</m:t>
                        </m:r>
                        <m:r>
                          <a:rPr lang="en-ZA" b="0" i="1" smtClean="0">
                            <a:latin typeface="Cambria Math" panose="02040503050406030204" pitchFamily="18" charset="0"/>
                            <a:ea typeface="Cambria Math" panose="02040503050406030204" pitchFamily="18" charset="0"/>
                          </a:rPr>
                          <m:t>×1)</m:t>
                        </m:r>
                      </m:sub>
                    </m:sSub>
                    <m:r>
                      <a:rPr lang="en-ZA" b="0" i="1" smtClean="0">
                        <a:latin typeface="Cambria Math" panose="02040503050406030204" pitchFamily="18" charset="0"/>
                      </a:rPr>
                      <m:t>=1/</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1</m:t>
                        </m:r>
                      </m:sub>
                    </m:sSub>
                    <m:nary>
                      <m:naryPr>
                        <m:chr m:val="∑"/>
                        <m:ctrlPr>
                          <a:rPr lang="en-ZA" b="0" i="1" smtClean="0">
                            <a:latin typeface="Cambria Math" panose="02040503050406030204" pitchFamily="18" charset="0"/>
                          </a:rPr>
                        </m:ctrlPr>
                      </m:naryPr>
                      <m:sub>
                        <m:r>
                          <m:rPr>
                            <m:brk m:alnAt="23"/>
                          </m:rPr>
                          <a:rPr lang="en-ZA" b="0" i="1" smtClean="0">
                            <a:latin typeface="Cambria Math" panose="02040503050406030204" pitchFamily="18" charset="0"/>
                          </a:rPr>
                          <m:t>𝑗</m:t>
                        </m:r>
                        <m:r>
                          <a:rPr lang="en-ZA" b="0" i="1" smtClean="0">
                            <a:latin typeface="Cambria Math" panose="02040503050406030204" pitchFamily="18" charset="0"/>
                          </a:rPr>
                          <m:t>=</m:t>
                        </m:r>
                        <m:r>
                          <m:rPr>
                            <m:brk m:alnAt="23"/>
                          </m:rPr>
                          <a:rPr lang="en-ZA" b="0" i="1" smtClean="0">
                            <a:latin typeface="Cambria Math" panose="02040503050406030204" pitchFamily="18" charset="0"/>
                          </a:rPr>
                          <m:t>1</m:t>
                        </m:r>
                      </m:sub>
                      <m:sup>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1</m:t>
                            </m:r>
                          </m:sub>
                        </m:sSub>
                      </m:sup>
                      <m:e>
                        <m:sSub>
                          <m:sSubPr>
                            <m:ctrlPr>
                              <a:rPr lang="en-ZA" b="0" i="1" smtClean="0">
                                <a:latin typeface="Cambria Math" panose="02040503050406030204" pitchFamily="18" charset="0"/>
                              </a:rPr>
                            </m:ctrlPr>
                          </m:sSubPr>
                          <m:e>
                            <m:r>
                              <a:rPr lang="en-ZA" b="1" i="1" smtClean="0">
                                <a:latin typeface="Cambria Math" panose="02040503050406030204" pitchFamily="18" charset="0"/>
                              </a:rPr>
                              <m:t>𝒙</m:t>
                            </m:r>
                          </m:e>
                          <m:sub>
                            <m:r>
                              <a:rPr lang="en-ZA" b="0" i="1" smtClean="0">
                                <a:latin typeface="Cambria Math" panose="02040503050406030204" pitchFamily="18" charset="0"/>
                              </a:rPr>
                              <m:t>1</m:t>
                            </m:r>
                            <m:r>
                              <a:rPr lang="en-ZA" b="0" i="1" smtClean="0">
                                <a:latin typeface="Cambria Math" panose="02040503050406030204" pitchFamily="18" charset="0"/>
                              </a:rPr>
                              <m:t>𝑗</m:t>
                            </m:r>
                          </m:sub>
                        </m:sSub>
                      </m:e>
                    </m:nary>
                  </m:oMath>
                </a14:m>
                <a:r>
                  <a:rPr lang="en-ZA" dirty="0" smtClean="0"/>
                  <a:t>     </a:t>
                </a:r>
                <a14:m>
                  <m:oMath xmlns:m="http://schemas.openxmlformats.org/officeDocument/2006/math">
                    <m:sSub>
                      <m:sSubPr>
                        <m:ctrlPr>
                          <a:rPr lang="en-ZA" i="1" dirty="0" smtClean="0">
                            <a:latin typeface="Cambria Math" panose="02040503050406030204" pitchFamily="18" charset="0"/>
                          </a:rPr>
                        </m:ctrlPr>
                      </m:sSubPr>
                      <m:e>
                        <m:r>
                          <a:rPr lang="en-ZA" b="1" i="1" dirty="0" smtClean="0">
                            <a:latin typeface="Cambria Math" panose="02040503050406030204" pitchFamily="18" charset="0"/>
                          </a:rPr>
                          <m:t>𝑺</m:t>
                        </m:r>
                      </m:e>
                      <m:sub>
                        <m:r>
                          <a:rPr lang="en-ZA" b="0" i="1" dirty="0" smtClean="0">
                            <a:latin typeface="Cambria Math" panose="02040503050406030204" pitchFamily="18" charset="0"/>
                          </a:rPr>
                          <m:t>1(</m:t>
                        </m:r>
                        <m:r>
                          <a:rPr lang="en-ZA" b="0" i="1" dirty="0" smtClean="0">
                            <a:latin typeface="Cambria Math" panose="02040503050406030204" pitchFamily="18" charset="0"/>
                          </a:rPr>
                          <m:t>𝑝</m:t>
                        </m:r>
                        <m:r>
                          <a:rPr lang="en-ZA" b="0" i="1" dirty="0" smtClean="0">
                            <a:latin typeface="Cambria Math" panose="02040503050406030204" pitchFamily="18" charset="0"/>
                            <a:ea typeface="Cambria Math" panose="02040503050406030204" pitchFamily="18" charset="0"/>
                          </a:rPr>
                          <m:t>×</m:t>
                        </m:r>
                        <m:r>
                          <a:rPr lang="en-ZA" b="0" i="1" dirty="0" smtClean="0">
                            <a:latin typeface="Cambria Math" panose="02040503050406030204" pitchFamily="18" charset="0"/>
                            <a:ea typeface="Cambria Math" panose="02040503050406030204" pitchFamily="18" charset="0"/>
                          </a:rPr>
                          <m:t>𝑝</m:t>
                        </m:r>
                        <m:r>
                          <a:rPr lang="en-ZA" b="0" i="1" dirty="0" smtClean="0">
                            <a:latin typeface="Cambria Math" panose="02040503050406030204" pitchFamily="18" charset="0"/>
                            <a:ea typeface="Cambria Math" panose="02040503050406030204" pitchFamily="18" charset="0"/>
                          </a:rPr>
                          <m:t>)</m:t>
                        </m:r>
                      </m:sub>
                    </m:sSub>
                    <m:r>
                      <a:rPr lang="en-ZA" b="0" i="1" dirty="0" smtClean="0">
                        <a:latin typeface="Cambria Math" panose="02040503050406030204" pitchFamily="18" charset="0"/>
                      </a:rPr>
                      <m:t>=1/(</m:t>
                    </m:r>
                    <m:sSub>
                      <m:sSubPr>
                        <m:ctrlPr>
                          <a:rPr lang="en-ZA" b="0" i="1" dirty="0" smtClean="0">
                            <a:latin typeface="Cambria Math" panose="02040503050406030204" pitchFamily="18" charset="0"/>
                          </a:rPr>
                        </m:ctrlPr>
                      </m:sSubPr>
                      <m:e>
                        <m:r>
                          <a:rPr lang="en-ZA" b="0" i="1" dirty="0" smtClean="0">
                            <a:latin typeface="Cambria Math" panose="02040503050406030204" pitchFamily="18" charset="0"/>
                          </a:rPr>
                          <m:t>𝑛</m:t>
                        </m:r>
                      </m:e>
                      <m:sub>
                        <m:r>
                          <a:rPr lang="en-ZA" b="0" i="1" dirty="0" smtClean="0">
                            <a:latin typeface="Cambria Math" panose="02040503050406030204" pitchFamily="18" charset="0"/>
                          </a:rPr>
                          <m:t>1</m:t>
                        </m:r>
                      </m:sub>
                    </m:sSub>
                    <m:r>
                      <a:rPr lang="en-ZA" b="0" i="1" dirty="0" smtClean="0">
                        <a:latin typeface="Cambria Math" panose="02040503050406030204" pitchFamily="18" charset="0"/>
                      </a:rPr>
                      <m:t>−1)</m:t>
                    </m:r>
                    <m:nary>
                      <m:naryPr>
                        <m:chr m:val="∑"/>
                        <m:ctrlPr>
                          <a:rPr lang="en-ZA" b="0" i="1" dirty="0" smtClean="0">
                            <a:latin typeface="Cambria Math" panose="02040503050406030204" pitchFamily="18" charset="0"/>
                          </a:rPr>
                        </m:ctrlPr>
                      </m:naryPr>
                      <m:sub>
                        <m:r>
                          <m:rPr>
                            <m:brk m:alnAt="23"/>
                          </m:rPr>
                          <a:rPr lang="en-ZA" b="0" i="1" dirty="0" smtClean="0">
                            <a:latin typeface="Cambria Math" panose="02040503050406030204" pitchFamily="18" charset="0"/>
                          </a:rPr>
                          <m:t>𝑗</m:t>
                        </m:r>
                        <m:r>
                          <a:rPr lang="en-ZA" b="0" i="1" dirty="0" smtClean="0">
                            <a:latin typeface="Cambria Math" panose="02040503050406030204" pitchFamily="18" charset="0"/>
                          </a:rPr>
                          <m:t>=</m:t>
                        </m:r>
                        <m:r>
                          <m:rPr>
                            <m:brk m:alnAt="23"/>
                          </m:rPr>
                          <a:rPr lang="en-ZA" b="0" i="1" dirty="0" smtClean="0">
                            <a:latin typeface="Cambria Math" panose="02040503050406030204" pitchFamily="18" charset="0"/>
                          </a:rPr>
                          <m:t>1</m:t>
                        </m:r>
                      </m:sub>
                      <m:sup>
                        <m:sSub>
                          <m:sSubPr>
                            <m:ctrlPr>
                              <a:rPr lang="en-ZA" b="0" i="1" dirty="0" smtClean="0">
                                <a:latin typeface="Cambria Math" panose="02040503050406030204" pitchFamily="18" charset="0"/>
                              </a:rPr>
                            </m:ctrlPr>
                          </m:sSubPr>
                          <m:e>
                            <m:r>
                              <a:rPr lang="en-ZA" b="0" i="1" dirty="0" smtClean="0">
                                <a:latin typeface="Cambria Math" panose="02040503050406030204" pitchFamily="18" charset="0"/>
                              </a:rPr>
                              <m:t>𝑛</m:t>
                            </m:r>
                          </m:e>
                          <m:sub>
                            <m:r>
                              <a:rPr lang="en-ZA" b="0" i="1" dirty="0" smtClean="0">
                                <a:latin typeface="Cambria Math" panose="02040503050406030204" pitchFamily="18" charset="0"/>
                              </a:rPr>
                              <m:t>1</m:t>
                            </m:r>
                          </m:sub>
                        </m:sSub>
                      </m:sup>
                      <m:e>
                        <m:r>
                          <a:rPr lang="en-ZA" i="1" dirty="0">
                            <a:latin typeface="Cambria Math" panose="02040503050406030204" pitchFamily="18" charset="0"/>
                          </a:rPr>
                          <m:t>(</m:t>
                        </m:r>
                        <m:sSub>
                          <m:sSubPr>
                            <m:ctrlPr>
                              <a:rPr lang="en-ZA" i="1" dirty="0">
                                <a:latin typeface="Cambria Math" panose="02040503050406030204" pitchFamily="18" charset="0"/>
                              </a:rPr>
                            </m:ctrlPr>
                          </m:sSubPr>
                          <m:e>
                            <m:r>
                              <a:rPr lang="en-ZA" b="1" i="1" dirty="0">
                                <a:latin typeface="Cambria Math" panose="02040503050406030204" pitchFamily="18" charset="0"/>
                              </a:rPr>
                              <m:t>𝒙</m:t>
                            </m:r>
                          </m:e>
                          <m:sub>
                            <m:r>
                              <a:rPr lang="en-ZA" i="1" dirty="0">
                                <a:latin typeface="Cambria Math" panose="02040503050406030204" pitchFamily="18" charset="0"/>
                              </a:rPr>
                              <m:t>1</m:t>
                            </m:r>
                            <m:r>
                              <a:rPr lang="en-ZA" i="1" dirty="0">
                                <a:latin typeface="Cambria Math" panose="02040503050406030204" pitchFamily="18" charset="0"/>
                              </a:rPr>
                              <m:t>𝑗</m:t>
                            </m:r>
                          </m:sub>
                        </m:sSub>
                        <m:r>
                          <a:rPr lang="en-ZA" i="1" dirty="0">
                            <a:latin typeface="Cambria Math" panose="02040503050406030204" pitchFamily="18" charset="0"/>
                          </a:rPr>
                          <m:t>−</m:t>
                        </m:r>
                        <m:sSub>
                          <m:sSubPr>
                            <m:ctrlPr>
                              <a:rPr lang="en-ZA" i="1" dirty="0">
                                <a:latin typeface="Cambria Math" panose="02040503050406030204" pitchFamily="18" charset="0"/>
                              </a:rPr>
                            </m:ctrlPr>
                          </m:sSubPr>
                          <m:e>
                            <m:acc>
                              <m:accPr>
                                <m:chr m:val="̅"/>
                                <m:ctrlPr>
                                  <a:rPr lang="en-ZA" b="1" i="1" dirty="0">
                                    <a:latin typeface="Cambria Math" panose="02040503050406030204" pitchFamily="18" charset="0"/>
                                  </a:rPr>
                                </m:ctrlPr>
                              </m:accPr>
                              <m:e>
                                <m:r>
                                  <a:rPr lang="en-ZA" b="1" i="1" dirty="0">
                                    <a:latin typeface="Cambria Math" panose="02040503050406030204" pitchFamily="18" charset="0"/>
                                  </a:rPr>
                                  <m:t>𝒙</m:t>
                                </m:r>
                              </m:e>
                            </m:acc>
                          </m:e>
                          <m:sub>
                            <m:r>
                              <a:rPr lang="en-ZA" i="1" dirty="0">
                                <a:latin typeface="Cambria Math" panose="02040503050406030204" pitchFamily="18" charset="0"/>
                              </a:rPr>
                              <m:t>1</m:t>
                            </m:r>
                          </m:sub>
                        </m:sSub>
                        <m:r>
                          <a:rPr lang="en-ZA" i="1" dirty="0">
                            <a:latin typeface="Cambria Math" panose="02040503050406030204" pitchFamily="18" charset="0"/>
                          </a:rPr>
                          <m:t>)(</m:t>
                        </m:r>
                        <m:sSub>
                          <m:sSubPr>
                            <m:ctrlPr>
                              <a:rPr lang="en-ZA" i="1" dirty="0">
                                <a:latin typeface="Cambria Math" panose="02040503050406030204" pitchFamily="18" charset="0"/>
                              </a:rPr>
                            </m:ctrlPr>
                          </m:sSubPr>
                          <m:e>
                            <m:r>
                              <a:rPr lang="en-ZA" b="1" i="1" dirty="0">
                                <a:latin typeface="Cambria Math" panose="02040503050406030204" pitchFamily="18" charset="0"/>
                              </a:rPr>
                              <m:t>𝒙</m:t>
                            </m:r>
                          </m:e>
                          <m:sub>
                            <m:r>
                              <a:rPr lang="en-ZA" i="1" dirty="0">
                                <a:latin typeface="Cambria Math" panose="02040503050406030204" pitchFamily="18" charset="0"/>
                              </a:rPr>
                              <m:t>1</m:t>
                            </m:r>
                            <m:r>
                              <a:rPr lang="en-ZA" i="1" dirty="0">
                                <a:latin typeface="Cambria Math" panose="02040503050406030204" pitchFamily="18" charset="0"/>
                              </a:rPr>
                              <m:t>𝑗</m:t>
                            </m:r>
                          </m:sub>
                        </m:sSub>
                        <m:r>
                          <a:rPr lang="en-ZA" i="1" dirty="0">
                            <a:latin typeface="Cambria Math" panose="02040503050406030204" pitchFamily="18" charset="0"/>
                          </a:rPr>
                          <m:t>−</m:t>
                        </m:r>
                        <m:sSub>
                          <m:sSubPr>
                            <m:ctrlPr>
                              <a:rPr lang="en-ZA" i="1" dirty="0">
                                <a:latin typeface="Cambria Math" panose="02040503050406030204" pitchFamily="18" charset="0"/>
                              </a:rPr>
                            </m:ctrlPr>
                          </m:sSubPr>
                          <m:e>
                            <m:acc>
                              <m:accPr>
                                <m:chr m:val="̅"/>
                                <m:ctrlPr>
                                  <a:rPr lang="en-ZA" b="1" i="1" dirty="0">
                                    <a:latin typeface="Cambria Math" panose="02040503050406030204" pitchFamily="18" charset="0"/>
                                  </a:rPr>
                                </m:ctrlPr>
                              </m:accPr>
                              <m:e>
                                <m:r>
                                  <a:rPr lang="en-ZA" b="1" i="1" dirty="0">
                                    <a:latin typeface="Cambria Math" panose="02040503050406030204" pitchFamily="18" charset="0"/>
                                  </a:rPr>
                                  <m:t>𝒙</m:t>
                                </m:r>
                              </m:e>
                            </m:acc>
                          </m:e>
                          <m:sub>
                            <m:r>
                              <a:rPr lang="en-ZA" i="1" dirty="0">
                                <a:latin typeface="Cambria Math" panose="02040503050406030204" pitchFamily="18" charset="0"/>
                              </a:rPr>
                              <m:t>1</m:t>
                            </m:r>
                          </m:sub>
                        </m:sSub>
                        <m:r>
                          <a:rPr lang="en-ZA" i="1" dirty="0">
                            <a:latin typeface="Cambria Math" panose="02040503050406030204" pitchFamily="18" charset="0"/>
                          </a:rPr>
                          <m:t>)′</m:t>
                        </m:r>
                        <m:r>
                          <m:rPr>
                            <m:nor/>
                          </m:rPr>
                          <a:rPr lang="en-ZA" dirty="0"/>
                          <m:t> </m:t>
                        </m:r>
                      </m:e>
                    </m:nary>
                  </m:oMath>
                </a14:m>
                <a:endParaRPr lang="en-ZA" dirty="0" smtClean="0"/>
              </a:p>
              <a:p>
                <a:pPr algn="ctr"/>
                <a14:m>
                  <m:oMath xmlns:m="http://schemas.openxmlformats.org/officeDocument/2006/math">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b="1" i="1">
                                <a:latin typeface="Cambria Math" panose="02040503050406030204" pitchFamily="18" charset="0"/>
                              </a:rPr>
                              <m:t>𝒙</m:t>
                            </m:r>
                          </m:e>
                        </m:acc>
                      </m:e>
                      <m:sub>
                        <m:r>
                          <a:rPr lang="en-ZA" b="0" i="1" smtClean="0">
                            <a:latin typeface="Cambria Math" panose="02040503050406030204" pitchFamily="18" charset="0"/>
                          </a:rPr>
                          <m:t>2</m:t>
                        </m:r>
                        <m:r>
                          <a:rPr lang="en-ZA" i="1">
                            <a:latin typeface="Cambria Math" panose="02040503050406030204" pitchFamily="18" charset="0"/>
                          </a:rPr>
                          <m:t>(</m:t>
                        </m:r>
                        <m:r>
                          <a:rPr lang="en-ZA" i="1">
                            <a:latin typeface="Cambria Math" panose="02040503050406030204" pitchFamily="18" charset="0"/>
                          </a:rPr>
                          <m:t>𝑝</m:t>
                        </m:r>
                        <m:r>
                          <a:rPr lang="en-ZA" i="1">
                            <a:latin typeface="Cambria Math" panose="02040503050406030204" pitchFamily="18" charset="0"/>
                            <a:ea typeface="Cambria Math" panose="02040503050406030204" pitchFamily="18" charset="0"/>
                          </a:rPr>
                          <m:t>×1)</m:t>
                        </m:r>
                      </m:sub>
                    </m:sSub>
                    <m:r>
                      <a:rPr lang="en-ZA" i="1">
                        <a:latin typeface="Cambria Math" panose="02040503050406030204" pitchFamily="18" charset="0"/>
                      </a:rPr>
                      <m:t>=1/</m:t>
                    </m:r>
                    <m:sSub>
                      <m:sSubPr>
                        <m:ctrlPr>
                          <a:rPr lang="en-ZA" i="1">
                            <a:latin typeface="Cambria Math" panose="02040503050406030204" pitchFamily="18" charset="0"/>
                          </a:rPr>
                        </m:ctrlPr>
                      </m:sSubPr>
                      <m:e>
                        <m:r>
                          <a:rPr lang="en-ZA" i="1">
                            <a:latin typeface="Cambria Math" panose="02040503050406030204" pitchFamily="18" charset="0"/>
                          </a:rPr>
                          <m:t>𝑛</m:t>
                        </m:r>
                      </m:e>
                      <m:sub>
                        <m:r>
                          <a:rPr lang="en-ZA" b="0" i="1" smtClean="0">
                            <a:latin typeface="Cambria Math" panose="02040503050406030204" pitchFamily="18" charset="0"/>
                          </a:rPr>
                          <m:t>2</m:t>
                        </m:r>
                      </m:sub>
                    </m:sSub>
                    <m:nary>
                      <m:naryPr>
                        <m:chr m:val="∑"/>
                        <m:ctrlPr>
                          <a:rPr lang="en-ZA" i="1">
                            <a:latin typeface="Cambria Math" panose="02040503050406030204" pitchFamily="18" charset="0"/>
                          </a:rPr>
                        </m:ctrlPr>
                      </m:naryPr>
                      <m:sub>
                        <m:r>
                          <m:rPr>
                            <m:brk m:alnAt="23"/>
                          </m:rPr>
                          <a:rPr lang="en-ZA" i="1">
                            <a:latin typeface="Cambria Math" panose="02040503050406030204" pitchFamily="18" charset="0"/>
                          </a:rPr>
                          <m:t>𝑗</m:t>
                        </m:r>
                        <m:r>
                          <a:rPr lang="en-ZA" i="1">
                            <a:latin typeface="Cambria Math" panose="02040503050406030204" pitchFamily="18" charset="0"/>
                          </a:rPr>
                          <m:t>=1</m:t>
                        </m:r>
                      </m:sub>
                      <m:sup>
                        <m:sSub>
                          <m:sSubPr>
                            <m:ctrlPr>
                              <a:rPr lang="en-ZA" i="1" smtClean="0">
                                <a:latin typeface="Cambria Math" panose="02040503050406030204" pitchFamily="18" charset="0"/>
                              </a:rPr>
                            </m:ctrlPr>
                          </m:sSubPr>
                          <m:e>
                            <m:r>
                              <a:rPr lang="en-ZA" i="1">
                                <a:latin typeface="Cambria Math" panose="02040503050406030204" pitchFamily="18" charset="0"/>
                              </a:rPr>
                              <m:t>𝑛</m:t>
                            </m:r>
                          </m:e>
                          <m:sub>
                            <m:r>
                              <a:rPr lang="en-ZA" b="0" i="1" smtClean="0">
                                <a:latin typeface="Cambria Math" panose="02040503050406030204" pitchFamily="18" charset="0"/>
                              </a:rPr>
                              <m:t>2</m:t>
                            </m:r>
                          </m:sub>
                        </m:sSub>
                      </m:sup>
                      <m:e>
                        <m:sSub>
                          <m:sSubPr>
                            <m:ctrlPr>
                              <a:rPr lang="en-ZA" i="1">
                                <a:latin typeface="Cambria Math" panose="02040503050406030204" pitchFamily="18" charset="0"/>
                              </a:rPr>
                            </m:ctrlPr>
                          </m:sSubPr>
                          <m:e>
                            <m:r>
                              <a:rPr lang="en-ZA" b="1" i="1">
                                <a:latin typeface="Cambria Math" panose="02040503050406030204" pitchFamily="18" charset="0"/>
                              </a:rPr>
                              <m:t>𝒙</m:t>
                            </m:r>
                          </m:e>
                          <m:sub>
                            <m:r>
                              <a:rPr lang="en-ZA" b="0" i="1" smtClean="0">
                                <a:latin typeface="Cambria Math" panose="02040503050406030204" pitchFamily="18" charset="0"/>
                              </a:rPr>
                              <m:t>2</m:t>
                            </m:r>
                            <m:r>
                              <a:rPr lang="en-ZA" i="1">
                                <a:latin typeface="Cambria Math" panose="02040503050406030204" pitchFamily="18" charset="0"/>
                              </a:rPr>
                              <m:t>𝑗</m:t>
                            </m:r>
                          </m:sub>
                        </m:sSub>
                      </m:e>
                    </m:nary>
                  </m:oMath>
                </a14:m>
                <a:r>
                  <a:rPr lang="en-ZA" dirty="0"/>
                  <a:t>     </a:t>
                </a:r>
                <a14:m>
                  <m:oMath xmlns:m="http://schemas.openxmlformats.org/officeDocument/2006/math">
                    <m:sSub>
                      <m:sSubPr>
                        <m:ctrlPr>
                          <a:rPr lang="en-ZA" i="1" dirty="0">
                            <a:latin typeface="Cambria Math" panose="02040503050406030204" pitchFamily="18" charset="0"/>
                          </a:rPr>
                        </m:ctrlPr>
                      </m:sSubPr>
                      <m:e>
                        <m:r>
                          <a:rPr lang="en-ZA" b="1" i="1" dirty="0">
                            <a:latin typeface="Cambria Math" panose="02040503050406030204" pitchFamily="18" charset="0"/>
                          </a:rPr>
                          <m:t>𝑺</m:t>
                        </m:r>
                      </m:e>
                      <m:sub>
                        <m:r>
                          <a:rPr lang="en-ZA" b="0" i="1" dirty="0" smtClean="0">
                            <a:latin typeface="Cambria Math" panose="02040503050406030204" pitchFamily="18" charset="0"/>
                          </a:rPr>
                          <m:t>2</m:t>
                        </m:r>
                        <m:r>
                          <a:rPr lang="en-ZA" i="1" dirty="0">
                            <a:latin typeface="Cambria Math" panose="02040503050406030204" pitchFamily="18" charset="0"/>
                          </a:rPr>
                          <m:t>(</m:t>
                        </m:r>
                        <m:r>
                          <a:rPr lang="en-ZA" i="1" dirty="0">
                            <a:latin typeface="Cambria Math" panose="02040503050406030204" pitchFamily="18" charset="0"/>
                          </a:rPr>
                          <m:t>𝑝</m:t>
                        </m:r>
                        <m:r>
                          <a:rPr lang="en-ZA" i="1" dirty="0">
                            <a:latin typeface="Cambria Math" panose="02040503050406030204" pitchFamily="18" charset="0"/>
                            <a:ea typeface="Cambria Math" panose="02040503050406030204" pitchFamily="18" charset="0"/>
                          </a:rPr>
                          <m:t>×</m:t>
                        </m:r>
                        <m:r>
                          <a:rPr lang="en-ZA" i="1" dirty="0">
                            <a:latin typeface="Cambria Math" panose="02040503050406030204" pitchFamily="18" charset="0"/>
                            <a:ea typeface="Cambria Math" panose="02040503050406030204" pitchFamily="18" charset="0"/>
                          </a:rPr>
                          <m:t>𝑝</m:t>
                        </m:r>
                        <m:r>
                          <a:rPr lang="en-ZA" i="1" dirty="0">
                            <a:latin typeface="Cambria Math" panose="02040503050406030204" pitchFamily="18" charset="0"/>
                            <a:ea typeface="Cambria Math" panose="02040503050406030204" pitchFamily="18" charset="0"/>
                          </a:rPr>
                          <m:t>)</m:t>
                        </m:r>
                      </m:sub>
                    </m:sSub>
                    <m:r>
                      <a:rPr lang="en-ZA" i="1" dirty="0">
                        <a:latin typeface="Cambria Math" panose="02040503050406030204" pitchFamily="18" charset="0"/>
                      </a:rPr>
                      <m:t>=1/(</m:t>
                    </m:r>
                    <m:sSub>
                      <m:sSubPr>
                        <m:ctrlPr>
                          <a:rPr lang="en-ZA" i="1" dirty="0">
                            <a:latin typeface="Cambria Math" panose="02040503050406030204" pitchFamily="18" charset="0"/>
                          </a:rPr>
                        </m:ctrlPr>
                      </m:sSubPr>
                      <m:e>
                        <m:r>
                          <a:rPr lang="en-ZA" i="1" dirty="0">
                            <a:latin typeface="Cambria Math" panose="02040503050406030204" pitchFamily="18" charset="0"/>
                          </a:rPr>
                          <m:t>𝑛</m:t>
                        </m:r>
                      </m:e>
                      <m:sub>
                        <m:r>
                          <a:rPr lang="en-ZA" b="0" i="1" dirty="0" smtClean="0">
                            <a:latin typeface="Cambria Math" panose="02040503050406030204" pitchFamily="18" charset="0"/>
                          </a:rPr>
                          <m:t>2</m:t>
                        </m:r>
                      </m:sub>
                    </m:sSub>
                    <m:r>
                      <a:rPr lang="en-ZA" i="1" dirty="0">
                        <a:latin typeface="Cambria Math" panose="02040503050406030204" pitchFamily="18" charset="0"/>
                      </a:rPr>
                      <m:t>−1)</m:t>
                    </m:r>
                    <m:nary>
                      <m:naryPr>
                        <m:chr m:val="∑"/>
                        <m:ctrlPr>
                          <a:rPr lang="en-ZA" i="1" dirty="0">
                            <a:latin typeface="Cambria Math" panose="02040503050406030204" pitchFamily="18" charset="0"/>
                          </a:rPr>
                        </m:ctrlPr>
                      </m:naryPr>
                      <m:sub>
                        <m:r>
                          <m:rPr>
                            <m:brk m:alnAt="23"/>
                          </m:rPr>
                          <a:rPr lang="en-ZA" i="1" dirty="0">
                            <a:latin typeface="Cambria Math" panose="02040503050406030204" pitchFamily="18" charset="0"/>
                          </a:rPr>
                          <m:t>𝑗</m:t>
                        </m:r>
                        <m:r>
                          <a:rPr lang="en-ZA" i="1" dirty="0">
                            <a:latin typeface="Cambria Math" panose="02040503050406030204" pitchFamily="18" charset="0"/>
                          </a:rPr>
                          <m:t>=1</m:t>
                        </m:r>
                      </m:sub>
                      <m:sup>
                        <m:sSub>
                          <m:sSubPr>
                            <m:ctrlPr>
                              <a:rPr lang="en-ZA" i="1" dirty="0">
                                <a:latin typeface="Cambria Math" panose="02040503050406030204" pitchFamily="18" charset="0"/>
                              </a:rPr>
                            </m:ctrlPr>
                          </m:sSubPr>
                          <m:e>
                            <m:r>
                              <a:rPr lang="en-ZA" i="1" dirty="0">
                                <a:latin typeface="Cambria Math" panose="02040503050406030204" pitchFamily="18" charset="0"/>
                              </a:rPr>
                              <m:t>𝑛</m:t>
                            </m:r>
                          </m:e>
                          <m:sub>
                            <m:r>
                              <a:rPr lang="en-ZA" b="0" i="1" dirty="0" smtClean="0">
                                <a:latin typeface="Cambria Math" panose="02040503050406030204" pitchFamily="18" charset="0"/>
                              </a:rPr>
                              <m:t>2</m:t>
                            </m:r>
                          </m:sub>
                        </m:sSub>
                      </m:sup>
                      <m:e>
                        <m:r>
                          <a:rPr lang="en-ZA" i="1" dirty="0">
                            <a:latin typeface="Cambria Math" panose="02040503050406030204" pitchFamily="18" charset="0"/>
                          </a:rPr>
                          <m:t>(</m:t>
                        </m:r>
                        <m:sSub>
                          <m:sSubPr>
                            <m:ctrlPr>
                              <a:rPr lang="en-ZA" i="1" dirty="0">
                                <a:latin typeface="Cambria Math" panose="02040503050406030204" pitchFamily="18" charset="0"/>
                              </a:rPr>
                            </m:ctrlPr>
                          </m:sSubPr>
                          <m:e>
                            <m:r>
                              <a:rPr lang="en-ZA" b="1" i="1" dirty="0">
                                <a:latin typeface="Cambria Math" panose="02040503050406030204" pitchFamily="18" charset="0"/>
                              </a:rPr>
                              <m:t>𝒙</m:t>
                            </m:r>
                          </m:e>
                          <m:sub>
                            <m:r>
                              <a:rPr lang="en-ZA" b="0" i="1" dirty="0" smtClean="0">
                                <a:latin typeface="Cambria Math" panose="02040503050406030204" pitchFamily="18" charset="0"/>
                              </a:rPr>
                              <m:t>2</m:t>
                            </m:r>
                            <m:r>
                              <a:rPr lang="en-ZA" i="1" dirty="0">
                                <a:latin typeface="Cambria Math" panose="02040503050406030204" pitchFamily="18" charset="0"/>
                              </a:rPr>
                              <m:t>𝑗</m:t>
                            </m:r>
                          </m:sub>
                        </m:sSub>
                        <m:r>
                          <a:rPr lang="en-ZA" i="1" dirty="0">
                            <a:latin typeface="Cambria Math" panose="02040503050406030204" pitchFamily="18" charset="0"/>
                          </a:rPr>
                          <m:t>−</m:t>
                        </m:r>
                        <m:sSub>
                          <m:sSubPr>
                            <m:ctrlPr>
                              <a:rPr lang="en-ZA" i="1" dirty="0">
                                <a:latin typeface="Cambria Math" panose="02040503050406030204" pitchFamily="18" charset="0"/>
                              </a:rPr>
                            </m:ctrlPr>
                          </m:sSubPr>
                          <m:e>
                            <m:acc>
                              <m:accPr>
                                <m:chr m:val="̅"/>
                                <m:ctrlPr>
                                  <a:rPr lang="en-ZA" i="1" dirty="0">
                                    <a:latin typeface="Cambria Math" panose="02040503050406030204" pitchFamily="18" charset="0"/>
                                  </a:rPr>
                                </m:ctrlPr>
                              </m:accPr>
                              <m:e>
                                <m:r>
                                  <a:rPr lang="en-ZA" b="1" i="1" dirty="0">
                                    <a:latin typeface="Cambria Math" panose="02040503050406030204" pitchFamily="18" charset="0"/>
                                  </a:rPr>
                                  <m:t>𝒙</m:t>
                                </m:r>
                              </m:e>
                            </m:acc>
                          </m:e>
                          <m:sub>
                            <m:r>
                              <a:rPr lang="en-ZA" b="0" i="1" dirty="0" smtClean="0">
                                <a:latin typeface="Cambria Math" panose="02040503050406030204" pitchFamily="18" charset="0"/>
                              </a:rPr>
                              <m:t>2</m:t>
                            </m:r>
                          </m:sub>
                        </m:sSub>
                        <m:r>
                          <a:rPr lang="en-ZA" i="1" dirty="0">
                            <a:latin typeface="Cambria Math" panose="02040503050406030204" pitchFamily="18" charset="0"/>
                          </a:rPr>
                          <m:t>)(</m:t>
                        </m:r>
                        <m:sSub>
                          <m:sSubPr>
                            <m:ctrlPr>
                              <a:rPr lang="en-ZA" i="1" dirty="0">
                                <a:latin typeface="Cambria Math" panose="02040503050406030204" pitchFamily="18" charset="0"/>
                              </a:rPr>
                            </m:ctrlPr>
                          </m:sSubPr>
                          <m:e>
                            <m:r>
                              <a:rPr lang="en-ZA" b="1" i="1" dirty="0">
                                <a:latin typeface="Cambria Math" panose="02040503050406030204" pitchFamily="18" charset="0"/>
                              </a:rPr>
                              <m:t>𝒙</m:t>
                            </m:r>
                          </m:e>
                          <m:sub>
                            <m:r>
                              <a:rPr lang="en-ZA" b="0" i="1" dirty="0" smtClean="0">
                                <a:latin typeface="Cambria Math" panose="02040503050406030204" pitchFamily="18" charset="0"/>
                              </a:rPr>
                              <m:t>2</m:t>
                            </m:r>
                            <m:r>
                              <a:rPr lang="en-ZA" i="1" dirty="0">
                                <a:latin typeface="Cambria Math" panose="02040503050406030204" pitchFamily="18" charset="0"/>
                              </a:rPr>
                              <m:t>𝑗</m:t>
                            </m:r>
                          </m:sub>
                        </m:sSub>
                        <m:r>
                          <a:rPr lang="en-ZA" i="1" dirty="0">
                            <a:latin typeface="Cambria Math" panose="02040503050406030204" pitchFamily="18" charset="0"/>
                          </a:rPr>
                          <m:t>−</m:t>
                        </m:r>
                        <m:sSub>
                          <m:sSubPr>
                            <m:ctrlPr>
                              <a:rPr lang="en-ZA" i="1" dirty="0">
                                <a:latin typeface="Cambria Math" panose="02040503050406030204" pitchFamily="18" charset="0"/>
                              </a:rPr>
                            </m:ctrlPr>
                          </m:sSubPr>
                          <m:e>
                            <m:acc>
                              <m:accPr>
                                <m:chr m:val="̅"/>
                                <m:ctrlPr>
                                  <a:rPr lang="en-ZA" b="1" i="1" dirty="0">
                                    <a:latin typeface="Cambria Math" panose="02040503050406030204" pitchFamily="18" charset="0"/>
                                  </a:rPr>
                                </m:ctrlPr>
                              </m:accPr>
                              <m:e>
                                <m:r>
                                  <a:rPr lang="en-ZA" b="1" i="1" dirty="0">
                                    <a:latin typeface="Cambria Math" panose="02040503050406030204" pitchFamily="18" charset="0"/>
                                  </a:rPr>
                                  <m:t>𝒙</m:t>
                                </m:r>
                              </m:e>
                            </m:acc>
                          </m:e>
                          <m:sub>
                            <m:r>
                              <a:rPr lang="en-ZA" b="0" i="1" dirty="0" smtClean="0">
                                <a:latin typeface="Cambria Math" panose="02040503050406030204" pitchFamily="18" charset="0"/>
                              </a:rPr>
                              <m:t>2</m:t>
                            </m:r>
                          </m:sub>
                        </m:sSub>
                        <m:r>
                          <a:rPr lang="en-ZA" i="1" dirty="0">
                            <a:latin typeface="Cambria Math" panose="02040503050406030204" pitchFamily="18" charset="0"/>
                          </a:rPr>
                          <m:t>)′</m:t>
                        </m:r>
                        <m:r>
                          <m:rPr>
                            <m:nor/>
                          </m:rPr>
                          <a:rPr lang="en-ZA" dirty="0"/>
                          <m:t> </m:t>
                        </m:r>
                      </m:e>
                    </m:nary>
                  </m:oMath>
                </a14:m>
                <a:endParaRPr lang="en-ZA" dirty="0" smtClean="0"/>
              </a:p>
              <a:p>
                <a:pPr algn="ctr"/>
                <a:endParaRPr lang="en-ZA" dirty="0"/>
              </a:p>
              <a:p>
                <a:r>
                  <a:rPr lang="en-ZA" dirty="0" smtClean="0"/>
                  <a:t>Since we assume a common</a:t>
                </a:r>
                <a:r>
                  <a:rPr lang="en-ZA" b="1" dirty="0" smtClean="0"/>
                  <a:t> </a:t>
                </a:r>
                <a14:m>
                  <m:oMath xmlns:m="http://schemas.openxmlformats.org/officeDocument/2006/math">
                    <m:r>
                      <a:rPr lang="el-GR" b="1" i="1" smtClean="0">
                        <a:latin typeface="Cambria Math" panose="02040503050406030204" pitchFamily="18" charset="0"/>
                        <a:ea typeface="Cambria Math" panose="02040503050406030204" pitchFamily="18" charset="0"/>
                      </a:rPr>
                      <m:t>𝜮</m:t>
                    </m:r>
                  </m:oMath>
                </a14:m>
                <a:r>
                  <a:rPr lang="en-ZA" dirty="0" smtClean="0"/>
                  <a:t>, we need to calculate a pooled </a:t>
                </a:r>
                <a:r>
                  <a:rPr lang="en-ZA" b="1" dirty="0" smtClean="0"/>
                  <a:t>S, </a:t>
                </a:r>
              </a:p>
              <a:p>
                <a:pPr/>
                <a14:m>
                  <m:oMathPara xmlns:m="http://schemas.openxmlformats.org/officeDocument/2006/math">
                    <m:oMathParaPr>
                      <m:jc m:val="centerGroup"/>
                    </m:oMathParaPr>
                    <m:oMath xmlns:m="http://schemas.openxmlformats.org/officeDocument/2006/math">
                      <m:sSub>
                        <m:sSubPr>
                          <m:ctrlPr>
                            <a:rPr lang="en-ZA" i="1" smtClean="0">
                              <a:latin typeface="Cambria Math" panose="02040503050406030204" pitchFamily="18" charset="0"/>
                            </a:rPr>
                          </m:ctrlPr>
                        </m:sSubPr>
                        <m:e>
                          <m:r>
                            <a:rPr lang="en-ZA" b="1" i="1" smtClean="0">
                              <a:latin typeface="Cambria Math" panose="02040503050406030204" pitchFamily="18" charset="0"/>
                            </a:rPr>
                            <m:t>𝑺</m:t>
                          </m:r>
                        </m:e>
                        <m:sub>
                          <m:r>
                            <a:rPr lang="en-ZA" b="0" i="1" smtClean="0">
                              <a:latin typeface="Cambria Math" panose="02040503050406030204" pitchFamily="18" charset="0"/>
                            </a:rPr>
                            <m:t>𝑝</m:t>
                          </m:r>
                        </m:sub>
                      </m:sSub>
                      <m:r>
                        <a:rPr lang="en-ZA" b="0" i="1" smtClean="0">
                          <a:latin typeface="Cambria Math" panose="02040503050406030204" pitchFamily="18" charset="0"/>
                        </a:rPr>
                        <m:t>=</m:t>
                      </m:r>
                      <m:f>
                        <m:fPr>
                          <m:ctrlPr>
                            <a:rPr lang="en-ZA" b="0" i="1" smtClean="0">
                              <a:latin typeface="Cambria Math" panose="02040503050406030204" pitchFamily="18" charset="0"/>
                            </a:rPr>
                          </m:ctrlPr>
                        </m:fPr>
                        <m:num>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1</m:t>
                              </m:r>
                            </m:sub>
                          </m:sSub>
                          <m:r>
                            <a:rPr lang="en-ZA" b="0" i="1" smtClean="0">
                              <a:latin typeface="Cambria Math" panose="02040503050406030204" pitchFamily="18" charset="0"/>
                            </a:rPr>
                            <m:t>−1</m:t>
                          </m:r>
                        </m:num>
                        <m:den>
                          <m:d>
                            <m:dPr>
                              <m:ctrlPr>
                                <a:rPr lang="en-ZA" b="0" i="1" smtClean="0">
                                  <a:latin typeface="Cambria Math" panose="02040503050406030204" pitchFamily="18" charset="0"/>
                                </a:rPr>
                              </m:ctrlPr>
                            </m:dPr>
                            <m:e>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1</m:t>
                                  </m:r>
                                </m:sub>
                              </m:sSub>
                              <m:r>
                                <a:rPr lang="en-ZA" b="0" i="1" smtClean="0">
                                  <a:latin typeface="Cambria Math" panose="02040503050406030204" pitchFamily="18" charset="0"/>
                                </a:rPr>
                                <m:t>−1</m:t>
                              </m:r>
                            </m:e>
                          </m:d>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2</m:t>
                              </m:r>
                            </m:sub>
                          </m:sSub>
                          <m:r>
                            <a:rPr lang="en-ZA" b="0" i="1" smtClean="0">
                              <a:latin typeface="Cambria Math" panose="02040503050406030204" pitchFamily="18" charset="0"/>
                            </a:rPr>
                            <m:t>−1)</m:t>
                          </m:r>
                        </m:den>
                      </m:f>
                      <m:sSub>
                        <m:sSubPr>
                          <m:ctrlPr>
                            <a:rPr lang="en-ZA" b="0" i="1" smtClean="0">
                              <a:latin typeface="Cambria Math" panose="02040503050406030204" pitchFamily="18" charset="0"/>
                            </a:rPr>
                          </m:ctrlPr>
                        </m:sSubPr>
                        <m:e>
                          <m:r>
                            <a:rPr lang="en-ZA" b="1" i="1" smtClean="0">
                              <a:latin typeface="Cambria Math" panose="02040503050406030204" pitchFamily="18" charset="0"/>
                            </a:rPr>
                            <m:t>𝑺</m:t>
                          </m:r>
                        </m:e>
                        <m:sub>
                          <m:r>
                            <a:rPr lang="en-ZA" b="0" i="1" smtClean="0">
                              <a:latin typeface="Cambria Math" panose="02040503050406030204" pitchFamily="18" charset="0"/>
                            </a:rPr>
                            <m:t>1</m:t>
                          </m:r>
                        </m:sub>
                      </m:sSub>
                      <m:r>
                        <a:rPr lang="en-ZA" b="0" i="1" smtClean="0">
                          <a:latin typeface="Cambria Math" panose="02040503050406030204" pitchFamily="18" charset="0"/>
                        </a:rPr>
                        <m:t>+</m:t>
                      </m:r>
                      <m:f>
                        <m:fPr>
                          <m:ctrlPr>
                            <a:rPr lang="en-ZA" b="0" i="1" smtClean="0">
                              <a:latin typeface="Cambria Math" panose="02040503050406030204" pitchFamily="18" charset="0"/>
                            </a:rPr>
                          </m:ctrlPr>
                        </m:fPr>
                        <m:num>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2</m:t>
                              </m:r>
                            </m:sub>
                          </m:sSub>
                          <m:r>
                            <a:rPr lang="en-ZA" b="0" i="1" smtClean="0">
                              <a:latin typeface="Cambria Math" panose="02040503050406030204" pitchFamily="18" charset="0"/>
                            </a:rPr>
                            <m:t>−1</m:t>
                          </m:r>
                        </m:num>
                        <m:den>
                          <m:d>
                            <m:dPr>
                              <m:ctrlPr>
                                <a:rPr lang="en-ZA" b="0" i="1" smtClean="0">
                                  <a:latin typeface="Cambria Math" panose="02040503050406030204" pitchFamily="18" charset="0"/>
                                </a:rPr>
                              </m:ctrlPr>
                            </m:dPr>
                            <m:e>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1</m:t>
                                  </m:r>
                                </m:sub>
                              </m:sSub>
                              <m:r>
                                <a:rPr lang="en-ZA" b="0" i="1" smtClean="0">
                                  <a:latin typeface="Cambria Math" panose="02040503050406030204" pitchFamily="18" charset="0"/>
                                </a:rPr>
                                <m:t>−1</m:t>
                              </m:r>
                            </m:e>
                          </m:d>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2</m:t>
                              </m:r>
                            </m:sub>
                          </m:sSub>
                          <m:r>
                            <a:rPr lang="en-ZA" b="0" i="1" smtClean="0">
                              <a:latin typeface="Cambria Math" panose="02040503050406030204" pitchFamily="18" charset="0"/>
                            </a:rPr>
                            <m:t>−1)</m:t>
                          </m:r>
                        </m:den>
                      </m:f>
                      <m:sSub>
                        <m:sSubPr>
                          <m:ctrlPr>
                            <a:rPr lang="en-ZA" b="0" i="1" smtClean="0">
                              <a:latin typeface="Cambria Math" panose="02040503050406030204" pitchFamily="18" charset="0"/>
                            </a:rPr>
                          </m:ctrlPr>
                        </m:sSubPr>
                        <m:e>
                          <m:r>
                            <a:rPr lang="en-ZA" b="1" i="1" smtClean="0">
                              <a:latin typeface="Cambria Math" panose="02040503050406030204" pitchFamily="18" charset="0"/>
                            </a:rPr>
                            <m:t>𝑺</m:t>
                          </m:r>
                        </m:e>
                        <m:sub>
                          <m:r>
                            <a:rPr lang="en-ZA" b="0" i="1" smtClean="0">
                              <a:latin typeface="Cambria Math" panose="02040503050406030204" pitchFamily="18" charset="0"/>
                            </a:rPr>
                            <m:t>2</m:t>
                          </m:r>
                        </m:sub>
                      </m:sSub>
                      <m:r>
                        <a:rPr lang="en-ZA" b="0" i="1" smtClean="0">
                          <a:latin typeface="Cambria Math" panose="02040503050406030204" pitchFamily="18" charset="0"/>
                        </a:rPr>
                        <m:t>.</m:t>
                      </m:r>
                    </m:oMath>
                  </m:oMathPara>
                </a14:m>
                <a:endParaRPr lang="en-ZA" dirty="0" smtClean="0"/>
              </a:p>
              <a:p>
                <a:endParaRPr lang="en-ZA" dirty="0" smtClean="0"/>
              </a:p>
              <a:p>
                <a:r>
                  <a:rPr lang="en-ZA" dirty="0" smtClean="0"/>
                  <a:t>Thus the estimated ECM rule for two normal populations will be to allocate </a:t>
                </a:r>
                <a14:m>
                  <m:oMath xmlns:m="http://schemas.openxmlformats.org/officeDocument/2006/math">
                    <m:sSub>
                      <m:sSubPr>
                        <m:ctrlPr>
                          <a:rPr lang="en-ZA" i="1" smtClean="0">
                            <a:latin typeface="Cambria Math" panose="02040503050406030204" pitchFamily="18" charset="0"/>
                          </a:rPr>
                        </m:ctrlPr>
                      </m:sSubPr>
                      <m:e>
                        <m:r>
                          <a:rPr lang="en-ZA" b="1" i="1" smtClean="0">
                            <a:latin typeface="Cambria Math" panose="02040503050406030204" pitchFamily="18" charset="0"/>
                          </a:rPr>
                          <m:t>𝒙</m:t>
                        </m:r>
                      </m:e>
                      <m:sub>
                        <m:r>
                          <a:rPr lang="en-ZA" b="0" i="1" smtClean="0">
                            <a:latin typeface="Cambria Math" panose="02040503050406030204" pitchFamily="18" charset="0"/>
                          </a:rPr>
                          <m:t>0</m:t>
                        </m:r>
                      </m:sub>
                    </m:sSub>
                  </m:oMath>
                </a14:m>
                <a:r>
                  <a:rPr lang="en-ZA" dirty="0" smtClean="0"/>
                  <a:t> to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oMath>
                </a14:m>
                <a:r>
                  <a:rPr lang="en-ZA" dirty="0" smtClean="0"/>
                  <a:t> if </a:t>
                </a:r>
              </a:p>
              <a:p>
                <a:pPr/>
                <a14:m>
                  <m:oMathPara xmlns:m="http://schemas.openxmlformats.org/officeDocument/2006/math">
                    <m:oMathParaPr>
                      <m:jc m:val="centerGroup"/>
                    </m:oMathParaPr>
                    <m:oMath xmlns:m="http://schemas.openxmlformats.org/officeDocument/2006/math">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smtClean="0">
                                  <a:latin typeface="Cambria Math" panose="02040503050406030204" pitchFamily="18" charset="0"/>
                                </a:rPr>
                              </m:ctrlPr>
                            </m:accPr>
                            <m:e>
                              <m:r>
                                <a:rPr lang="en-ZA" b="1" i="1" smtClean="0">
                                  <a:latin typeface="Cambria Math" panose="02040503050406030204" pitchFamily="18" charset="0"/>
                                </a:rPr>
                                <m:t>𝒙</m:t>
                              </m:r>
                            </m:e>
                          </m:acc>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smtClean="0">
                                  <a:latin typeface="Cambria Math" panose="02040503050406030204" pitchFamily="18" charset="0"/>
                                </a:rPr>
                              </m:ctrlPr>
                            </m:accPr>
                            <m:e>
                              <m:r>
                                <a:rPr lang="en-ZA" b="1" i="1" smtClean="0">
                                  <a:latin typeface="Cambria Math" panose="02040503050406030204" pitchFamily="18" charset="0"/>
                                </a:rPr>
                                <m:t>𝒙</m:t>
                              </m:r>
                            </m:e>
                          </m:acc>
                        </m:e>
                        <m:sub>
                          <m:r>
                            <a:rPr lang="en-ZA" i="1">
                              <a:latin typeface="Cambria Math" panose="02040503050406030204" pitchFamily="18" charset="0"/>
                            </a:rPr>
                            <m:t>2</m:t>
                          </m:r>
                        </m:sub>
                      </m:sSub>
                      <m:sSup>
                        <m:sSupPr>
                          <m:ctrlPr>
                            <a:rPr lang="en-ZA" b="1" i="1">
                              <a:latin typeface="Cambria Math" panose="02040503050406030204" pitchFamily="18" charset="0"/>
                            </a:rPr>
                          </m:ctrlPr>
                        </m:sSupPr>
                        <m:e>
                          <m:r>
                            <a:rPr lang="en-ZA" b="1" i="1">
                              <a:latin typeface="Cambria Math" panose="02040503050406030204" pitchFamily="18" charset="0"/>
                            </a:rPr>
                            <m:t>)</m:t>
                          </m:r>
                        </m:e>
                        <m:sup>
                          <m:r>
                            <a:rPr lang="en-ZA" b="1" i="1">
                              <a:latin typeface="Cambria Math" panose="02040503050406030204" pitchFamily="18" charset="0"/>
                            </a:rPr>
                            <m:t>′</m:t>
                          </m:r>
                        </m:sup>
                      </m:sSup>
                      <m:sSup>
                        <m:sSupPr>
                          <m:ctrlPr>
                            <a:rPr lang="en-ZA" b="1" i="1">
                              <a:latin typeface="Cambria Math" panose="02040503050406030204" pitchFamily="18" charset="0"/>
                            </a:rPr>
                          </m:ctrlPr>
                        </m:sSupPr>
                        <m:e>
                          <m:sSub>
                            <m:sSubPr>
                              <m:ctrlPr>
                                <a:rPr lang="en-ZA" b="1" i="1" smtClean="0">
                                  <a:latin typeface="Cambria Math" panose="02040503050406030204" pitchFamily="18" charset="0"/>
                                </a:rPr>
                              </m:ctrlPr>
                            </m:sSubPr>
                            <m:e>
                              <m:r>
                                <a:rPr lang="en-ZA" b="1" i="1" smtClean="0">
                                  <a:latin typeface="Cambria Math" panose="02040503050406030204" pitchFamily="18" charset="0"/>
                                </a:rPr>
                                <m:t>𝑺</m:t>
                              </m:r>
                            </m:e>
                            <m:sub>
                              <m:r>
                                <a:rPr lang="en-ZA" b="1" i="1" smtClean="0">
                                  <a:latin typeface="Cambria Math" panose="02040503050406030204" pitchFamily="18" charset="0"/>
                                </a:rPr>
                                <m:t>𝒑</m:t>
                              </m:r>
                            </m:sub>
                          </m:sSub>
                        </m:e>
                        <m:sup>
                          <m:r>
                            <a:rPr lang="en-ZA" b="1" i="1">
                              <a:latin typeface="Cambria Math" panose="02040503050406030204" pitchFamily="18" charset="0"/>
                            </a:rPr>
                            <m:t>−</m:t>
                          </m:r>
                          <m:r>
                            <a:rPr lang="en-ZA" b="1" i="1">
                              <a:latin typeface="Cambria Math" panose="02040503050406030204" pitchFamily="18" charset="0"/>
                            </a:rPr>
                            <m:t>𝟏</m:t>
                          </m:r>
                        </m:sup>
                      </m:sSup>
                      <m:r>
                        <a:rPr lang="en-ZA" b="1" i="1">
                          <a:latin typeface="Cambria Math" panose="02040503050406030204" pitchFamily="18" charset="0"/>
                        </a:rPr>
                        <m:t>𝒙</m:t>
                      </m:r>
                      <m:r>
                        <a:rPr lang="en-ZA" i="1">
                          <a:latin typeface="Cambria Math" panose="02040503050406030204" pitchFamily="18" charset="0"/>
                        </a:rPr>
                        <m:t>−1/2(</m:t>
                      </m:r>
                      <m:sSub>
                        <m:sSubPr>
                          <m:ctrlPr>
                            <a:rPr lang="en-ZA" i="1">
                              <a:latin typeface="Cambria Math" panose="02040503050406030204" pitchFamily="18" charset="0"/>
                            </a:rPr>
                          </m:ctrlPr>
                        </m:sSubPr>
                        <m:e>
                          <m:acc>
                            <m:accPr>
                              <m:chr m:val="̅"/>
                              <m:ctrlPr>
                                <a:rPr lang="en-ZA" i="1" smtClean="0">
                                  <a:latin typeface="Cambria Math" panose="02040503050406030204" pitchFamily="18" charset="0"/>
                                </a:rPr>
                              </m:ctrlPr>
                            </m:accPr>
                            <m:e>
                              <m:r>
                                <a:rPr lang="en-ZA" b="1" i="1" smtClean="0">
                                  <a:latin typeface="Cambria Math" panose="02040503050406030204" pitchFamily="18" charset="0"/>
                                </a:rPr>
                                <m:t>𝒙</m:t>
                              </m:r>
                            </m:e>
                          </m:acc>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b="1" i="1" smtClean="0">
                                  <a:latin typeface="Cambria Math" panose="02040503050406030204" pitchFamily="18" charset="0"/>
                                </a:rPr>
                              </m:ctrlPr>
                            </m:accPr>
                            <m:e>
                              <m:r>
                                <a:rPr lang="en-ZA" b="1" i="1" smtClean="0">
                                  <a:latin typeface="Cambria Math" panose="02040503050406030204" pitchFamily="18" charset="0"/>
                                </a:rPr>
                                <m:t>𝒙</m:t>
                              </m:r>
                            </m:e>
                          </m:acc>
                        </m:e>
                        <m:sub>
                          <m:r>
                            <a:rPr lang="en-ZA" i="1">
                              <a:latin typeface="Cambria Math" panose="02040503050406030204" pitchFamily="18" charset="0"/>
                            </a:rPr>
                            <m:t>2</m:t>
                          </m:r>
                        </m:sub>
                      </m:sSub>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m:t>
                          </m:r>
                        </m:sup>
                      </m:sSup>
                      <m:sSup>
                        <m:sSupPr>
                          <m:ctrlPr>
                            <a:rPr lang="en-ZA" i="1">
                              <a:latin typeface="Cambria Math" panose="02040503050406030204" pitchFamily="18" charset="0"/>
                            </a:rPr>
                          </m:ctrlPr>
                        </m:sSupPr>
                        <m:e>
                          <m:sSub>
                            <m:sSubPr>
                              <m:ctrlPr>
                                <a:rPr lang="en-ZA" i="1" smtClean="0">
                                  <a:latin typeface="Cambria Math" panose="02040503050406030204" pitchFamily="18" charset="0"/>
                                </a:rPr>
                              </m:ctrlPr>
                            </m:sSubPr>
                            <m:e>
                              <m:r>
                                <a:rPr lang="en-ZA" b="1" i="1" smtClean="0">
                                  <a:latin typeface="Cambria Math" panose="02040503050406030204" pitchFamily="18" charset="0"/>
                                </a:rPr>
                                <m:t>𝑺</m:t>
                              </m:r>
                            </m:e>
                            <m:sub>
                              <m:r>
                                <a:rPr lang="en-ZA" b="0" i="1" smtClean="0">
                                  <a:latin typeface="Cambria Math" panose="02040503050406030204" pitchFamily="18" charset="0"/>
                                </a:rPr>
                                <m:t>𝑝</m:t>
                              </m:r>
                            </m:sub>
                          </m:sSub>
                        </m:e>
                        <m:sup>
                          <m:r>
                            <a:rPr lang="en-ZA" i="1">
                              <a:latin typeface="Cambria Math" panose="02040503050406030204" pitchFamily="18" charset="0"/>
                            </a:rPr>
                            <m:t>−1</m:t>
                          </m:r>
                        </m:sup>
                      </m:sSup>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smtClean="0">
                                  <a:latin typeface="Cambria Math" panose="02040503050406030204" pitchFamily="18" charset="0"/>
                                </a:rPr>
                              </m:ctrlPr>
                            </m:accPr>
                            <m:e>
                              <m:r>
                                <a:rPr lang="en-ZA" b="1" i="1" smtClean="0">
                                  <a:latin typeface="Cambria Math" panose="02040503050406030204" pitchFamily="18" charset="0"/>
                                </a:rPr>
                                <m:t>𝒙</m:t>
                              </m:r>
                            </m:e>
                          </m:acc>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smtClean="0">
                                  <a:latin typeface="Cambria Math" panose="02040503050406030204" pitchFamily="18" charset="0"/>
                                </a:rPr>
                              </m:ctrlPr>
                            </m:accPr>
                            <m:e>
                              <m:r>
                                <a:rPr lang="en-ZA" b="1" i="1" smtClean="0">
                                  <a:latin typeface="Cambria Math" panose="02040503050406030204" pitchFamily="18" charset="0"/>
                                </a:rPr>
                                <m:t>𝒙</m:t>
                              </m:r>
                            </m:e>
                          </m:acc>
                        </m:e>
                        <m:sub>
                          <m:r>
                            <a:rPr lang="en-ZA" i="1">
                              <a:latin typeface="Cambria Math" panose="02040503050406030204" pitchFamily="18" charset="0"/>
                            </a:rPr>
                            <m:t>2</m:t>
                          </m:r>
                        </m:sub>
                      </m:sSub>
                      <m:r>
                        <a:rPr lang="en-ZA" i="1">
                          <a:latin typeface="Cambria Math" panose="02040503050406030204" pitchFamily="18" charset="0"/>
                        </a:rPr>
                        <m:t>)</m:t>
                      </m:r>
                      <m:r>
                        <a:rPr lang="en-ZA" i="1">
                          <a:latin typeface="Cambria Math" panose="02040503050406030204" pitchFamily="18" charset="0"/>
                          <a:ea typeface="Cambria Math" panose="02040503050406030204" pitchFamily="18" charset="0"/>
                        </a:rPr>
                        <m:t>≥</m:t>
                      </m:r>
                      <m:func>
                        <m:funcPr>
                          <m:ctrlPr>
                            <a:rPr lang="en-ZA" i="1">
                              <a:latin typeface="Cambria Math" panose="02040503050406030204" pitchFamily="18" charset="0"/>
                              <a:ea typeface="Cambria Math" panose="02040503050406030204" pitchFamily="18" charset="0"/>
                            </a:rPr>
                          </m:ctrlPr>
                        </m:funcPr>
                        <m:fName>
                          <m:r>
                            <m:rPr>
                              <m:sty m:val="p"/>
                            </m:rPr>
                            <a:rPr lang="en-ZA">
                              <a:latin typeface="Cambria Math" panose="02040503050406030204" pitchFamily="18" charset="0"/>
                              <a:ea typeface="Cambria Math" panose="02040503050406030204" pitchFamily="18" charset="0"/>
                            </a:rPr>
                            <m:t>log</m:t>
                          </m:r>
                        </m:fName>
                        <m:e>
                          <m:d>
                            <m:dPr>
                              <m:begChr m:val="["/>
                              <m:endChr m:val="]"/>
                              <m:ctrlPr>
                                <a:rPr lang="en-ZA" i="1">
                                  <a:latin typeface="Cambria Math" panose="02040503050406030204" pitchFamily="18" charset="0"/>
                                  <a:ea typeface="Cambria Math" panose="02040503050406030204" pitchFamily="18" charset="0"/>
                                </a:rPr>
                              </m:ctrlPr>
                            </m:dPr>
                            <m:e>
                              <m:d>
                                <m:dPr>
                                  <m:ctrlPr>
                                    <a:rPr lang="en-ZA" i="1">
                                      <a:latin typeface="Cambria Math" panose="02040503050406030204" pitchFamily="18" charset="0"/>
                                      <a:ea typeface="Cambria Math" panose="02040503050406030204" pitchFamily="18" charset="0"/>
                                    </a:rPr>
                                  </m:ctrlPr>
                                </m:dPr>
                                <m:e>
                                  <m:f>
                                    <m:fPr>
                                      <m:ctrlPr>
                                        <a:rPr lang="en-ZA" i="1">
                                          <a:latin typeface="Cambria Math" panose="02040503050406030204" pitchFamily="18" charset="0"/>
                                          <a:ea typeface="Cambria Math" panose="02040503050406030204" pitchFamily="18" charset="0"/>
                                        </a:rPr>
                                      </m:ctrlPr>
                                    </m:fPr>
                                    <m:num>
                                      <m:r>
                                        <a:rPr lang="en-ZA" i="1">
                                          <a:latin typeface="Cambria Math" panose="02040503050406030204" pitchFamily="18" charset="0"/>
                                          <a:ea typeface="Cambria Math" panose="02040503050406030204" pitchFamily="18" charset="0"/>
                                        </a:rPr>
                                        <m:t>𝑐</m:t>
                                      </m:r>
                                      <m:r>
                                        <a:rPr lang="en-ZA" i="1">
                                          <a:latin typeface="Cambria Math" panose="02040503050406030204" pitchFamily="18" charset="0"/>
                                          <a:ea typeface="Cambria Math" panose="02040503050406030204" pitchFamily="18" charset="0"/>
                                        </a:rPr>
                                        <m:t>(1|2)</m:t>
                                      </m:r>
                                    </m:num>
                                    <m:den>
                                      <m:r>
                                        <a:rPr lang="en-ZA" i="1">
                                          <a:latin typeface="Cambria Math" panose="02040503050406030204" pitchFamily="18" charset="0"/>
                                          <a:ea typeface="Cambria Math" panose="02040503050406030204" pitchFamily="18" charset="0"/>
                                        </a:rPr>
                                        <m:t>𝑐</m:t>
                                      </m:r>
                                      <m:r>
                                        <a:rPr lang="en-ZA" i="1">
                                          <a:latin typeface="Cambria Math" panose="02040503050406030204" pitchFamily="18" charset="0"/>
                                          <a:ea typeface="Cambria Math" panose="02040503050406030204" pitchFamily="18" charset="0"/>
                                        </a:rPr>
                                        <m:t>(2|1)</m:t>
                                      </m:r>
                                    </m:den>
                                  </m:f>
                                </m:e>
                              </m:d>
                              <m:d>
                                <m:dPr>
                                  <m:ctrlPr>
                                    <a:rPr lang="en-ZA" i="1">
                                      <a:latin typeface="Cambria Math" panose="02040503050406030204" pitchFamily="18" charset="0"/>
                                      <a:ea typeface="Cambria Math" panose="02040503050406030204" pitchFamily="18" charset="0"/>
                                    </a:rPr>
                                  </m:ctrlPr>
                                </m:dPr>
                                <m:e>
                                  <m:f>
                                    <m:fPr>
                                      <m:ctrlPr>
                                        <a:rPr lang="en-ZA" i="1">
                                          <a:latin typeface="Cambria Math" panose="02040503050406030204" pitchFamily="18" charset="0"/>
                                          <a:ea typeface="Cambria Math" panose="02040503050406030204" pitchFamily="18" charset="0"/>
                                        </a:rPr>
                                      </m:ctrlPr>
                                    </m:fPr>
                                    <m:num>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𝑝</m:t>
                                          </m:r>
                                        </m:e>
                                        <m:sub>
                                          <m:r>
                                            <a:rPr lang="en-ZA" i="1">
                                              <a:latin typeface="Cambria Math" panose="02040503050406030204" pitchFamily="18" charset="0"/>
                                              <a:ea typeface="Cambria Math" panose="02040503050406030204" pitchFamily="18" charset="0"/>
                                            </a:rPr>
                                            <m:t>2</m:t>
                                          </m:r>
                                        </m:sub>
                                      </m:sSub>
                                    </m:num>
                                    <m:den>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𝑝</m:t>
                                          </m:r>
                                        </m:e>
                                        <m:sub>
                                          <m:r>
                                            <a:rPr lang="en-ZA" i="1">
                                              <a:latin typeface="Cambria Math" panose="02040503050406030204" pitchFamily="18" charset="0"/>
                                              <a:ea typeface="Cambria Math" panose="02040503050406030204" pitchFamily="18" charset="0"/>
                                            </a:rPr>
                                            <m:t>1</m:t>
                                          </m:r>
                                        </m:sub>
                                      </m:sSub>
                                    </m:den>
                                  </m:f>
                                </m:e>
                              </m:d>
                            </m:e>
                          </m:d>
                          <m:r>
                            <a:rPr lang="en-ZA" b="0" i="1" smtClean="0">
                              <a:latin typeface="Cambria Math" panose="02040503050406030204" pitchFamily="18" charset="0"/>
                              <a:ea typeface="Cambria Math" panose="02040503050406030204" pitchFamily="18" charset="0"/>
                            </a:rPr>
                            <m:t>.</m:t>
                          </m:r>
                        </m:e>
                      </m:func>
                    </m:oMath>
                  </m:oMathPara>
                </a14:m>
                <a:endParaRPr lang="en-ZA" dirty="0" smtClean="0"/>
              </a:p>
              <a:p>
                <a:r>
                  <a:rPr lang="en-ZA" dirty="0" smtClean="0"/>
                  <a:t>In the case of equal costs equal prior probabilities,</a:t>
                </a:r>
                <a:r>
                  <a:rPr lang="en-ZA" dirty="0">
                    <a:ea typeface="Cambria Math" panose="02040503050406030204" pitchFamily="18" charset="0"/>
                  </a:rPr>
                  <a:t> </a:t>
                </a:r>
                <a14:m>
                  <m:oMath xmlns:m="http://schemas.openxmlformats.org/officeDocument/2006/math">
                    <m:d>
                      <m:dPr>
                        <m:ctrlPr>
                          <a:rPr lang="en-ZA" i="1">
                            <a:latin typeface="Cambria Math" panose="02040503050406030204" pitchFamily="18" charset="0"/>
                            <a:ea typeface="Cambria Math" panose="02040503050406030204" pitchFamily="18" charset="0"/>
                          </a:rPr>
                        </m:ctrlPr>
                      </m:dPr>
                      <m:e>
                        <m:f>
                          <m:fPr>
                            <m:ctrlPr>
                              <a:rPr lang="en-ZA" i="1">
                                <a:latin typeface="Cambria Math" panose="02040503050406030204" pitchFamily="18" charset="0"/>
                                <a:ea typeface="Cambria Math" panose="02040503050406030204" pitchFamily="18" charset="0"/>
                              </a:rPr>
                            </m:ctrlPr>
                          </m:fPr>
                          <m:num>
                            <m:r>
                              <a:rPr lang="en-ZA" i="1">
                                <a:latin typeface="Cambria Math" panose="02040503050406030204" pitchFamily="18" charset="0"/>
                                <a:ea typeface="Cambria Math" panose="02040503050406030204" pitchFamily="18" charset="0"/>
                              </a:rPr>
                              <m:t>𝑐</m:t>
                            </m:r>
                            <m:r>
                              <a:rPr lang="en-ZA" i="1">
                                <a:latin typeface="Cambria Math" panose="02040503050406030204" pitchFamily="18" charset="0"/>
                                <a:ea typeface="Cambria Math" panose="02040503050406030204" pitchFamily="18" charset="0"/>
                              </a:rPr>
                              <m:t>(1|2)</m:t>
                            </m:r>
                          </m:num>
                          <m:den>
                            <m:r>
                              <a:rPr lang="en-ZA" i="1">
                                <a:latin typeface="Cambria Math" panose="02040503050406030204" pitchFamily="18" charset="0"/>
                                <a:ea typeface="Cambria Math" panose="02040503050406030204" pitchFamily="18" charset="0"/>
                              </a:rPr>
                              <m:t>𝑐</m:t>
                            </m:r>
                            <m:r>
                              <a:rPr lang="en-ZA" i="1">
                                <a:latin typeface="Cambria Math" panose="02040503050406030204" pitchFamily="18" charset="0"/>
                                <a:ea typeface="Cambria Math" panose="02040503050406030204" pitchFamily="18" charset="0"/>
                              </a:rPr>
                              <m:t>(2|1)</m:t>
                            </m:r>
                          </m:den>
                        </m:f>
                      </m:e>
                    </m:d>
                    <m:d>
                      <m:dPr>
                        <m:ctrlPr>
                          <a:rPr lang="en-ZA" i="1">
                            <a:latin typeface="Cambria Math" panose="02040503050406030204" pitchFamily="18" charset="0"/>
                            <a:ea typeface="Cambria Math" panose="02040503050406030204" pitchFamily="18" charset="0"/>
                          </a:rPr>
                        </m:ctrlPr>
                      </m:dPr>
                      <m:e>
                        <m:f>
                          <m:fPr>
                            <m:ctrlPr>
                              <a:rPr lang="en-ZA" i="1">
                                <a:latin typeface="Cambria Math" panose="02040503050406030204" pitchFamily="18" charset="0"/>
                                <a:ea typeface="Cambria Math" panose="02040503050406030204" pitchFamily="18" charset="0"/>
                              </a:rPr>
                            </m:ctrlPr>
                          </m:fPr>
                          <m:num>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𝑝</m:t>
                                </m:r>
                              </m:e>
                              <m:sub>
                                <m:r>
                                  <a:rPr lang="en-ZA" i="1">
                                    <a:latin typeface="Cambria Math" panose="02040503050406030204" pitchFamily="18" charset="0"/>
                                    <a:ea typeface="Cambria Math" panose="02040503050406030204" pitchFamily="18" charset="0"/>
                                  </a:rPr>
                                  <m:t>2</m:t>
                                </m:r>
                              </m:sub>
                            </m:sSub>
                          </m:num>
                          <m:den>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𝑝</m:t>
                                </m:r>
                              </m:e>
                              <m:sub>
                                <m:r>
                                  <a:rPr lang="en-ZA" i="1">
                                    <a:latin typeface="Cambria Math" panose="02040503050406030204" pitchFamily="18" charset="0"/>
                                    <a:ea typeface="Cambria Math" panose="02040503050406030204" pitchFamily="18" charset="0"/>
                                  </a:rPr>
                                  <m:t>1</m:t>
                                </m:r>
                              </m:sub>
                            </m:sSub>
                          </m:den>
                        </m:f>
                      </m:e>
                    </m:d>
                  </m:oMath>
                </a14:m>
                <a:r>
                  <a:rPr lang="en-ZA" dirty="0" smtClean="0"/>
                  <a:t>=1  and </a:t>
                </a:r>
                <a14:m>
                  <m:oMath xmlns:m="http://schemas.openxmlformats.org/officeDocument/2006/math">
                    <m:func>
                      <m:funcPr>
                        <m:ctrlPr>
                          <a:rPr lang="en-ZA" i="1" smtClean="0">
                            <a:latin typeface="Cambria Math" panose="02040503050406030204" pitchFamily="18" charset="0"/>
                          </a:rPr>
                        </m:ctrlPr>
                      </m:funcPr>
                      <m:fName>
                        <m:r>
                          <m:rPr>
                            <m:sty m:val="p"/>
                          </m:rPr>
                          <a:rPr lang="en-ZA" i="0" smtClean="0">
                            <a:latin typeface="Cambria Math" panose="02040503050406030204" pitchFamily="18" charset="0"/>
                          </a:rPr>
                          <m:t>log</m:t>
                        </m:r>
                      </m:fName>
                      <m:e>
                        <m:r>
                          <a:rPr lang="en-ZA" b="0" i="1" smtClean="0">
                            <a:latin typeface="Cambria Math" panose="02040503050406030204" pitchFamily="18" charset="0"/>
                          </a:rPr>
                          <m:t>1</m:t>
                        </m:r>
                      </m:e>
                    </m:func>
                    <m:r>
                      <a:rPr lang="en-ZA" b="0" i="1" smtClean="0">
                        <a:latin typeface="Cambria Math" panose="02040503050406030204" pitchFamily="18" charset="0"/>
                      </a:rPr>
                      <m:t>=0</m:t>
                    </m:r>
                  </m:oMath>
                </a14:m>
                <a:r>
                  <a:rPr lang="en-ZA" dirty="0" smtClean="0"/>
                  <a:t>.</a:t>
                </a:r>
              </a:p>
            </p:txBody>
          </p:sp>
        </mc:Choice>
        <mc:Fallback xmlns="">
          <p:sp>
            <p:nvSpPr>
              <p:cNvPr id="2" name="TextBox 1"/>
              <p:cNvSpPr txBox="1">
                <a:spLocks noRot="1" noChangeAspect="1" noMove="1" noResize="1" noEditPoints="1" noAdjustHandles="1" noChangeArrowheads="1" noChangeShapeType="1" noTextEdit="1"/>
              </p:cNvSpPr>
              <p:nvPr/>
            </p:nvSpPr>
            <p:spPr>
              <a:xfrm>
                <a:off x="158750" y="190500"/>
                <a:ext cx="11830050" cy="6398162"/>
              </a:xfrm>
              <a:prstGeom prst="rect">
                <a:avLst/>
              </a:prstGeom>
              <a:blipFill rotWithShape="0">
                <a:blip r:embed="rId2"/>
                <a:stretch>
                  <a:fillRect l="-360" t="-380" r="-257"/>
                </a:stretch>
              </a:blipFill>
              <a:ln>
                <a:solidFill>
                  <a:schemeClr val="accent1"/>
                </a:solidFill>
              </a:ln>
            </p:spPr>
            <p:txBody>
              <a:bodyPr/>
              <a:lstStyle/>
              <a:p>
                <a:r>
                  <a:rPr lang="en-ZA">
                    <a:noFill/>
                  </a:rPr>
                  <a:t> </a:t>
                </a:r>
              </a:p>
            </p:txBody>
          </p:sp>
        </mc:Fallback>
      </mc:AlternateContent>
      <p:sp>
        <p:nvSpPr>
          <p:cNvPr id="3" name="Oval Callout 2"/>
          <p:cNvSpPr/>
          <p:nvPr/>
        </p:nvSpPr>
        <p:spPr>
          <a:xfrm>
            <a:off x="9575800" y="5314950"/>
            <a:ext cx="2324100" cy="1212850"/>
          </a:xfrm>
          <a:prstGeom prst="wedgeEllipseCallout">
            <a:avLst>
              <a:gd name="adj1" fmla="val -120014"/>
              <a:gd name="adj2" fmla="val 2689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With equal costs and equal prior probabilities, we have zero on RHS.</a:t>
            </a:r>
            <a:endParaRPr lang="en-ZA" sz="1100" dirty="0"/>
          </a:p>
        </p:txBody>
      </p:sp>
    </p:spTree>
    <p:extLst>
      <p:ext uri="{BB962C8B-B14F-4D97-AF65-F5344CB8AC3E}">
        <p14:creationId xmlns:p14="http://schemas.microsoft.com/office/powerpoint/2010/main" val="4786953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120650" y="196850"/>
                <a:ext cx="11728450" cy="5260927"/>
              </a:xfrm>
              <a:prstGeom prst="rect">
                <a:avLst/>
              </a:prstGeom>
              <a:noFill/>
              <a:ln>
                <a:solidFill>
                  <a:schemeClr val="accent1"/>
                </a:solidFill>
              </a:ln>
            </p:spPr>
            <p:txBody>
              <a:bodyPr wrap="square" rtlCol="0">
                <a:spAutoFit/>
              </a:bodyPr>
              <a:lstStyle/>
              <a:p>
                <a:r>
                  <a:rPr lang="en-ZA" dirty="0" smtClean="0"/>
                  <a:t>From</a:t>
                </a:r>
                <a:endParaRPr lang="en-ZA" dirty="0"/>
              </a:p>
              <a:p>
                <a:pPr/>
                <a14:m>
                  <m:oMathPara xmlns:m="http://schemas.openxmlformats.org/officeDocument/2006/math">
                    <m:oMathParaPr>
                      <m:jc m:val="centerGroup"/>
                    </m:oMathParaPr>
                    <m:oMath xmlns:m="http://schemas.openxmlformats.org/officeDocument/2006/math">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b="1"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2</m:t>
                          </m:r>
                        </m:sub>
                      </m:sSub>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m:t>
                          </m:r>
                        </m:sup>
                      </m:sSup>
                      <m:sSup>
                        <m:sSupPr>
                          <m:ctrlPr>
                            <a:rPr lang="en-ZA" i="1">
                              <a:latin typeface="Cambria Math" panose="02040503050406030204" pitchFamily="18" charset="0"/>
                            </a:rPr>
                          </m:ctrlPr>
                        </m:sSupPr>
                        <m:e>
                          <m:sSub>
                            <m:sSubPr>
                              <m:ctrlPr>
                                <a:rPr lang="en-ZA" i="1">
                                  <a:latin typeface="Cambria Math" panose="02040503050406030204" pitchFamily="18" charset="0"/>
                                </a:rPr>
                              </m:ctrlPr>
                            </m:sSubPr>
                            <m:e>
                              <m:r>
                                <a:rPr lang="en-ZA" b="1" i="1">
                                  <a:latin typeface="Cambria Math" panose="02040503050406030204" pitchFamily="18" charset="0"/>
                                </a:rPr>
                                <m:t>𝑺</m:t>
                              </m:r>
                            </m:e>
                            <m:sub>
                              <m:r>
                                <a:rPr lang="en-ZA" i="1">
                                  <a:latin typeface="Cambria Math" panose="02040503050406030204" pitchFamily="18" charset="0"/>
                                </a:rPr>
                                <m:t>𝑝</m:t>
                              </m:r>
                            </m:sub>
                          </m:sSub>
                        </m:e>
                        <m:sup>
                          <m:r>
                            <a:rPr lang="en-ZA" i="1">
                              <a:latin typeface="Cambria Math" panose="02040503050406030204" pitchFamily="18" charset="0"/>
                            </a:rPr>
                            <m:t>−1</m:t>
                          </m:r>
                        </m:sup>
                      </m:sSup>
                      <m:r>
                        <a:rPr lang="en-ZA" b="1" i="1">
                          <a:latin typeface="Cambria Math" panose="02040503050406030204" pitchFamily="18" charset="0"/>
                        </a:rPr>
                        <m:t>𝒙</m:t>
                      </m:r>
                      <m:r>
                        <a:rPr lang="en-ZA" i="1">
                          <a:latin typeface="Cambria Math" panose="02040503050406030204" pitchFamily="18" charset="0"/>
                        </a:rPr>
                        <m:t>−1/2(</m:t>
                      </m:r>
                      <m:sSub>
                        <m:sSubPr>
                          <m:ctrlPr>
                            <a:rPr lang="en-ZA" i="1" smtClean="0">
                              <a:latin typeface="Cambria Math" panose="02040503050406030204" pitchFamily="18" charset="0"/>
                            </a:rPr>
                          </m:ctrlPr>
                        </m:sSubPr>
                        <m:e>
                          <m:acc>
                            <m:accPr>
                              <m:chr m:val="̅"/>
                              <m:ctrlPr>
                                <a:rPr lang="en-ZA" b="1"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b="1"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2</m:t>
                          </m:r>
                        </m:sub>
                      </m:sSub>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m:t>
                          </m:r>
                        </m:sup>
                      </m:sSup>
                      <m:sSup>
                        <m:sSupPr>
                          <m:ctrlPr>
                            <a:rPr lang="en-ZA" i="1">
                              <a:latin typeface="Cambria Math" panose="02040503050406030204" pitchFamily="18" charset="0"/>
                            </a:rPr>
                          </m:ctrlPr>
                        </m:sSupPr>
                        <m:e>
                          <m:sSub>
                            <m:sSubPr>
                              <m:ctrlPr>
                                <a:rPr lang="en-ZA" i="1">
                                  <a:latin typeface="Cambria Math" panose="02040503050406030204" pitchFamily="18" charset="0"/>
                                </a:rPr>
                              </m:ctrlPr>
                            </m:sSubPr>
                            <m:e>
                              <m:r>
                                <a:rPr lang="en-ZA" b="1" i="1">
                                  <a:latin typeface="Cambria Math" panose="02040503050406030204" pitchFamily="18" charset="0"/>
                                </a:rPr>
                                <m:t>𝑺</m:t>
                              </m:r>
                            </m:e>
                            <m:sub>
                              <m:r>
                                <a:rPr lang="en-ZA" i="1">
                                  <a:latin typeface="Cambria Math" panose="02040503050406030204" pitchFamily="18" charset="0"/>
                                </a:rPr>
                                <m:t>𝑝</m:t>
                              </m:r>
                            </m:sub>
                          </m:sSub>
                        </m:e>
                        <m:sup>
                          <m:r>
                            <a:rPr lang="en-ZA" i="1">
                              <a:latin typeface="Cambria Math" panose="02040503050406030204" pitchFamily="18" charset="0"/>
                            </a:rPr>
                            <m:t>−1</m:t>
                          </m:r>
                        </m:sup>
                      </m:sSup>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2</m:t>
                          </m:r>
                        </m:sub>
                      </m:sSub>
                      <m:r>
                        <a:rPr lang="en-ZA" i="1">
                          <a:latin typeface="Cambria Math" panose="02040503050406030204" pitchFamily="18" charset="0"/>
                        </a:rPr>
                        <m:t>)</m:t>
                      </m:r>
                      <m:r>
                        <a:rPr lang="en-ZA" i="1">
                          <a:latin typeface="Cambria Math" panose="02040503050406030204" pitchFamily="18" charset="0"/>
                          <a:ea typeface="Cambria Math" panose="02040503050406030204" pitchFamily="18" charset="0"/>
                        </a:rPr>
                        <m:t>≥</m:t>
                      </m:r>
                      <m:r>
                        <a:rPr lang="en-ZA" b="0" i="1" smtClean="0">
                          <a:latin typeface="Cambria Math" panose="02040503050406030204" pitchFamily="18" charset="0"/>
                          <a:ea typeface="Cambria Math" panose="02040503050406030204" pitchFamily="18" charset="0"/>
                        </a:rPr>
                        <m:t>0,</m:t>
                      </m:r>
                    </m:oMath>
                  </m:oMathPara>
                </a14:m>
                <a:endParaRPr lang="en-ZA" dirty="0" smtClean="0"/>
              </a:p>
              <a:p>
                <a:endParaRPr lang="en-ZA" dirty="0" smtClean="0"/>
              </a:p>
              <a:p>
                <a:r>
                  <a:rPr lang="en-ZA" dirty="0" smtClean="0"/>
                  <a:t>the </a:t>
                </a:r>
                <a:r>
                  <a:rPr lang="en-ZA" dirty="0"/>
                  <a:t>ECM rule for two normal populations amounts to comparing the scalar variable</a:t>
                </a:r>
                <a:r>
                  <a:rPr lang="en-ZA" dirty="0" smtClean="0"/>
                  <a:t>,</a:t>
                </a:r>
              </a:p>
              <a:p>
                <a:endParaRPr lang="en-ZA" dirty="0" smtClean="0"/>
              </a:p>
              <a:p>
                <a:pPr/>
                <a14:m>
                  <m:oMathPara xmlns:m="http://schemas.openxmlformats.org/officeDocument/2006/math">
                    <m:oMathParaPr>
                      <m:jc m:val="centerGroup"/>
                    </m:oMathParaPr>
                    <m:oMath xmlns:m="http://schemas.openxmlformats.org/officeDocument/2006/math">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𝑦</m:t>
                          </m:r>
                        </m:e>
                      </m:acc>
                      <m:r>
                        <a:rPr lang="en-ZA" b="0" i="1" smtClean="0">
                          <a:latin typeface="Cambria Math" panose="02040503050406030204" pitchFamily="18" charset="0"/>
                        </a:rPr>
                        <m:t>=</m:t>
                      </m:r>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b="1"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2</m:t>
                          </m:r>
                        </m:sub>
                      </m:sSub>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m:t>
                          </m:r>
                        </m:sup>
                      </m:sSup>
                      <m:sSup>
                        <m:sSupPr>
                          <m:ctrlPr>
                            <a:rPr lang="en-ZA" i="1">
                              <a:latin typeface="Cambria Math" panose="02040503050406030204" pitchFamily="18" charset="0"/>
                            </a:rPr>
                          </m:ctrlPr>
                        </m:sSupPr>
                        <m:e>
                          <m:sSub>
                            <m:sSubPr>
                              <m:ctrlPr>
                                <a:rPr lang="en-ZA" i="1">
                                  <a:latin typeface="Cambria Math" panose="02040503050406030204" pitchFamily="18" charset="0"/>
                                </a:rPr>
                              </m:ctrlPr>
                            </m:sSubPr>
                            <m:e>
                              <m:r>
                                <a:rPr lang="en-ZA" b="1" i="1">
                                  <a:latin typeface="Cambria Math" panose="02040503050406030204" pitchFamily="18" charset="0"/>
                                </a:rPr>
                                <m:t>𝑺</m:t>
                              </m:r>
                            </m:e>
                            <m:sub>
                              <m:r>
                                <a:rPr lang="en-ZA" i="1">
                                  <a:latin typeface="Cambria Math" panose="02040503050406030204" pitchFamily="18" charset="0"/>
                                </a:rPr>
                                <m:t>𝑝</m:t>
                              </m:r>
                            </m:sub>
                          </m:sSub>
                        </m:e>
                        <m:sup>
                          <m:r>
                            <a:rPr lang="en-ZA" i="1">
                              <a:latin typeface="Cambria Math" panose="02040503050406030204" pitchFamily="18" charset="0"/>
                            </a:rPr>
                            <m:t>−1</m:t>
                          </m:r>
                        </m:sup>
                      </m:sSup>
                      <m:r>
                        <a:rPr lang="en-ZA" b="1" i="1">
                          <a:latin typeface="Cambria Math" panose="02040503050406030204" pitchFamily="18" charset="0"/>
                        </a:rPr>
                        <m:t>𝒙</m:t>
                      </m:r>
                      <m:r>
                        <a:rPr lang="en-ZA" b="0" i="0" smtClean="0">
                          <a:latin typeface="Cambria Math" panose="02040503050406030204" pitchFamily="18" charset="0"/>
                        </a:rPr>
                        <m:t>=</m:t>
                      </m:r>
                      <m:sSup>
                        <m:sSupPr>
                          <m:ctrlPr>
                            <a:rPr lang="en-ZA" b="1" i="1" smtClean="0">
                              <a:latin typeface="Cambria Math" panose="02040503050406030204" pitchFamily="18" charset="0"/>
                            </a:rPr>
                          </m:ctrlPr>
                        </m:sSupPr>
                        <m:e>
                          <m:acc>
                            <m:accPr>
                              <m:chr m:val="̂"/>
                              <m:ctrlPr>
                                <a:rPr lang="en-ZA" b="1" i="1" smtClean="0">
                                  <a:latin typeface="Cambria Math" panose="02040503050406030204" pitchFamily="18" charset="0"/>
                                </a:rPr>
                              </m:ctrlPr>
                            </m:accPr>
                            <m:e>
                              <m:r>
                                <a:rPr lang="en-ZA" b="1" i="1" smtClean="0">
                                  <a:latin typeface="Cambria Math" panose="02040503050406030204" pitchFamily="18" charset="0"/>
                                </a:rPr>
                                <m:t>𝒂</m:t>
                              </m:r>
                            </m:e>
                          </m:acc>
                        </m:e>
                        <m:sup>
                          <m:r>
                            <a:rPr lang="en-ZA" b="1" i="1" smtClean="0">
                              <a:latin typeface="Cambria Math" panose="02040503050406030204" pitchFamily="18" charset="0"/>
                            </a:rPr>
                            <m:t>′</m:t>
                          </m:r>
                        </m:sup>
                      </m:sSup>
                      <m:r>
                        <a:rPr lang="en-ZA" b="1" i="1" smtClean="0">
                          <a:latin typeface="Cambria Math" panose="02040503050406030204" pitchFamily="18" charset="0"/>
                        </a:rPr>
                        <m:t>𝒙</m:t>
                      </m:r>
                    </m:oMath>
                  </m:oMathPara>
                </a14:m>
                <a:endParaRPr lang="en-ZA" b="1" dirty="0" smtClean="0"/>
              </a:p>
              <a:p>
                <a:r>
                  <a:rPr lang="en-ZA" dirty="0"/>
                  <a:t>e</a:t>
                </a:r>
                <a:r>
                  <a:rPr lang="en-ZA" dirty="0" smtClean="0"/>
                  <a:t>valuated at </a:t>
                </a:r>
                <a14:m>
                  <m:oMath xmlns:m="http://schemas.openxmlformats.org/officeDocument/2006/math">
                    <m:sSub>
                      <m:sSubPr>
                        <m:ctrlPr>
                          <a:rPr lang="en-ZA" i="1" smtClean="0">
                            <a:latin typeface="Cambria Math" panose="02040503050406030204" pitchFamily="18" charset="0"/>
                          </a:rPr>
                        </m:ctrlPr>
                      </m:sSubPr>
                      <m:e>
                        <m:r>
                          <a:rPr lang="en-ZA" b="1" i="1" smtClean="0">
                            <a:latin typeface="Cambria Math" panose="02040503050406030204" pitchFamily="18" charset="0"/>
                          </a:rPr>
                          <m:t>𝒙</m:t>
                        </m:r>
                      </m:e>
                      <m:sub>
                        <m:r>
                          <a:rPr lang="en-ZA" b="0" i="1" smtClean="0">
                            <a:latin typeface="Cambria Math" panose="02040503050406030204" pitchFamily="18" charset="0"/>
                          </a:rPr>
                          <m:t>0</m:t>
                        </m:r>
                      </m:sub>
                    </m:sSub>
                  </m:oMath>
                </a14:m>
                <a:r>
                  <a:rPr lang="en-ZA" dirty="0" smtClean="0"/>
                  <a:t> with the number </a:t>
                </a:r>
              </a:p>
              <a:p>
                <a:endParaRPr lang="en-ZA" dirty="0" smtClean="0"/>
              </a:p>
              <a:p>
                <a:pPr/>
                <a14:m>
                  <m:oMathPara xmlns:m="http://schemas.openxmlformats.org/officeDocument/2006/math">
                    <m:oMathParaPr>
                      <m:jc m:val="centerGroup"/>
                    </m:oMathParaPr>
                    <m:oMath xmlns:m="http://schemas.openxmlformats.org/officeDocument/2006/math">
                      <m:r>
                        <a:rPr lang="en-ZA" b="0" i="1" smtClean="0">
                          <a:latin typeface="Cambria Math" panose="02040503050406030204" pitchFamily="18" charset="0"/>
                        </a:rPr>
                        <m:t>𝑚</m:t>
                      </m:r>
                      <m:r>
                        <a:rPr lang="en-ZA" b="0" i="1" smtClean="0">
                          <a:latin typeface="Cambria Math" panose="02040503050406030204" pitchFamily="18" charset="0"/>
                        </a:rPr>
                        <m:t>=1/2(</m:t>
                      </m:r>
                      <m:sSub>
                        <m:sSubPr>
                          <m:ctrlPr>
                            <a:rPr lang="en-ZA" i="1">
                              <a:latin typeface="Cambria Math" panose="02040503050406030204" pitchFamily="18" charset="0"/>
                            </a:rPr>
                          </m:ctrlPr>
                        </m:sSubPr>
                        <m:e>
                          <m:acc>
                            <m:accPr>
                              <m:chr m:val="̅"/>
                              <m:ctrlPr>
                                <a:rPr lang="en-ZA" b="1"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b="1" i="1" smtClean="0">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2</m:t>
                          </m:r>
                        </m:sub>
                      </m:sSub>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m:t>
                          </m:r>
                        </m:sup>
                      </m:sSup>
                      <m:sSup>
                        <m:sSupPr>
                          <m:ctrlPr>
                            <a:rPr lang="en-ZA" i="1">
                              <a:latin typeface="Cambria Math" panose="02040503050406030204" pitchFamily="18" charset="0"/>
                            </a:rPr>
                          </m:ctrlPr>
                        </m:sSupPr>
                        <m:e>
                          <m:sSub>
                            <m:sSubPr>
                              <m:ctrlPr>
                                <a:rPr lang="en-ZA" i="1">
                                  <a:latin typeface="Cambria Math" panose="02040503050406030204" pitchFamily="18" charset="0"/>
                                </a:rPr>
                              </m:ctrlPr>
                            </m:sSubPr>
                            <m:e>
                              <m:r>
                                <a:rPr lang="en-ZA" b="1" i="1">
                                  <a:latin typeface="Cambria Math" panose="02040503050406030204" pitchFamily="18" charset="0"/>
                                </a:rPr>
                                <m:t>𝑺</m:t>
                              </m:r>
                            </m:e>
                            <m:sub>
                              <m:r>
                                <a:rPr lang="en-ZA" i="1">
                                  <a:latin typeface="Cambria Math" panose="02040503050406030204" pitchFamily="18" charset="0"/>
                                </a:rPr>
                                <m:t>𝑝</m:t>
                              </m:r>
                            </m:sub>
                          </m:sSub>
                        </m:e>
                        <m:sup>
                          <m:r>
                            <a:rPr lang="en-ZA" i="1">
                              <a:latin typeface="Cambria Math" panose="02040503050406030204" pitchFamily="18" charset="0"/>
                            </a:rPr>
                            <m:t>−1</m:t>
                          </m:r>
                        </m:sup>
                      </m:sSup>
                      <m:d>
                        <m:dPr>
                          <m:ctrlPr>
                            <a:rPr lang="en-ZA" i="1">
                              <a:latin typeface="Cambria Math" panose="02040503050406030204" pitchFamily="18" charset="0"/>
                            </a:rPr>
                          </m:ctrlPr>
                        </m:dPr>
                        <m:e>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b="1"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2</m:t>
                              </m:r>
                            </m:sub>
                          </m:sSub>
                        </m:e>
                      </m:d>
                      <m:r>
                        <a:rPr lang="en-ZA" b="0" i="1" smtClean="0">
                          <a:latin typeface="Cambria Math" panose="02040503050406030204" pitchFamily="18" charset="0"/>
                        </a:rPr>
                        <m:t>=1/2(</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𝑦</m:t>
                              </m:r>
                            </m:e>
                          </m:acc>
                        </m:e>
                        <m:sub>
                          <m:r>
                            <a:rPr lang="en-ZA" b="0" i="1" smtClean="0">
                              <a:latin typeface="Cambria Math" panose="02040503050406030204" pitchFamily="18" charset="0"/>
                            </a:rPr>
                            <m:t>1</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𝑦</m:t>
                              </m:r>
                            </m:e>
                          </m:acc>
                        </m:e>
                        <m:sub>
                          <m:r>
                            <a:rPr lang="en-ZA" b="0" i="1" smtClean="0">
                              <a:latin typeface="Cambria Math" panose="02040503050406030204" pitchFamily="18" charset="0"/>
                            </a:rPr>
                            <m:t>2</m:t>
                          </m:r>
                        </m:sub>
                      </m:sSub>
                      <m:r>
                        <a:rPr lang="en-ZA" b="0" i="1" smtClean="0">
                          <a:latin typeface="Cambria Math" panose="02040503050406030204" pitchFamily="18" charset="0"/>
                        </a:rPr>
                        <m:t>)</m:t>
                      </m:r>
                    </m:oMath>
                  </m:oMathPara>
                </a14:m>
                <a:endParaRPr lang="en-ZA" dirty="0" smtClean="0"/>
              </a:p>
              <a:p>
                <a:endParaRPr lang="en-ZA" dirty="0" smtClean="0"/>
              </a:p>
              <a:p>
                <a:r>
                  <a:rPr lang="en-ZA" dirty="0"/>
                  <a:t>w</a:t>
                </a:r>
                <a:r>
                  <a:rPr lang="en-ZA" dirty="0" smtClean="0"/>
                  <a:t>here </a:t>
                </a:r>
                <a:endParaRPr lang="en-ZA" i="1" dirty="0">
                  <a:latin typeface="Cambria Math" panose="02040503050406030204" pitchFamily="18" charset="0"/>
                </a:endParaRPr>
              </a:p>
              <a:p>
                <a:endParaRPr lang="en-ZA" i="1" dirty="0" smtClean="0">
                  <a:latin typeface="Cambria Math" panose="02040503050406030204" pitchFamily="18" charset="0"/>
                </a:endParaRPr>
              </a:p>
              <a:p>
                <a:pPr algn="ctr"/>
                <a14:m>
                  <m:oMath xmlns:m="http://schemas.openxmlformats.org/officeDocument/2006/math">
                    <m:sSub>
                      <m:sSubPr>
                        <m:ctrlPr>
                          <a:rPr lang="en-ZA" i="1" smtClean="0">
                            <a:latin typeface="Cambria Math" panose="02040503050406030204" pitchFamily="18" charset="0"/>
                          </a:rPr>
                        </m:ctrlPr>
                      </m:sSubPr>
                      <m:e>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𝑦</m:t>
                            </m:r>
                          </m:e>
                        </m:acc>
                      </m:e>
                      <m:sub>
                        <m:r>
                          <a:rPr lang="en-ZA" b="0" i="1" smtClean="0">
                            <a:latin typeface="Cambria Math" panose="02040503050406030204" pitchFamily="18" charset="0"/>
                          </a:rPr>
                          <m:t>1</m:t>
                        </m:r>
                      </m:sub>
                    </m:sSub>
                    <m:r>
                      <a:rPr lang="en-ZA" b="0" i="1" smtClean="0">
                        <a:latin typeface="Cambria Math" panose="02040503050406030204" pitchFamily="18" charset="0"/>
                      </a:rPr>
                      <m:t>=</m:t>
                    </m:r>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b="1"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b="0" i="1">
                                <a:latin typeface="Cambria Math" panose="02040503050406030204" pitchFamily="18" charset="0"/>
                              </a:rPr>
                              <m:t>𝑥</m:t>
                            </m:r>
                          </m:e>
                        </m:acc>
                      </m:e>
                      <m:sub>
                        <m:r>
                          <a:rPr lang="en-ZA" i="1">
                            <a:latin typeface="Cambria Math" panose="02040503050406030204" pitchFamily="18" charset="0"/>
                          </a:rPr>
                          <m:t>2</m:t>
                        </m:r>
                      </m:sub>
                    </m:sSub>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m:t>
                        </m:r>
                      </m:sup>
                    </m:sSup>
                    <m:sSup>
                      <m:sSupPr>
                        <m:ctrlPr>
                          <a:rPr lang="en-ZA" i="1">
                            <a:latin typeface="Cambria Math" panose="02040503050406030204" pitchFamily="18" charset="0"/>
                          </a:rPr>
                        </m:ctrlPr>
                      </m:sSupPr>
                      <m:e>
                        <m:sSub>
                          <m:sSubPr>
                            <m:ctrlPr>
                              <a:rPr lang="en-ZA" i="1">
                                <a:latin typeface="Cambria Math" panose="02040503050406030204" pitchFamily="18" charset="0"/>
                              </a:rPr>
                            </m:ctrlPr>
                          </m:sSubPr>
                          <m:e>
                            <m:r>
                              <a:rPr lang="en-ZA" b="1" i="1">
                                <a:latin typeface="Cambria Math" panose="02040503050406030204" pitchFamily="18" charset="0"/>
                              </a:rPr>
                              <m:t>𝑺</m:t>
                            </m:r>
                          </m:e>
                          <m:sub>
                            <m:r>
                              <a:rPr lang="en-ZA" i="1">
                                <a:latin typeface="Cambria Math" panose="02040503050406030204" pitchFamily="18" charset="0"/>
                              </a:rPr>
                              <m:t>𝑝</m:t>
                            </m:r>
                          </m:sub>
                        </m:sSub>
                      </m:e>
                      <m:sup>
                        <m:r>
                          <a:rPr lang="en-ZA" i="1">
                            <a:latin typeface="Cambria Math" panose="02040503050406030204" pitchFamily="18" charset="0"/>
                          </a:rPr>
                          <m:t>−1</m:t>
                        </m:r>
                      </m:sup>
                    </m:sSup>
                    <m:sSub>
                      <m:sSubPr>
                        <m:ctrlPr>
                          <a:rPr lang="en-ZA" i="1" smtClean="0">
                            <a:latin typeface="Cambria Math" panose="02040503050406030204" pitchFamily="18" charset="0"/>
                          </a:rPr>
                        </m:ctrlPr>
                      </m:sSubPr>
                      <m:e>
                        <m:acc>
                          <m:accPr>
                            <m:chr m:val="̅"/>
                            <m:ctrlPr>
                              <a:rPr lang="en-ZA" b="1" i="1" smtClean="0">
                                <a:latin typeface="Cambria Math" panose="02040503050406030204" pitchFamily="18" charset="0"/>
                              </a:rPr>
                            </m:ctrlPr>
                          </m:accPr>
                          <m:e>
                            <m:r>
                              <a:rPr lang="en-ZA" b="1" i="1" smtClean="0">
                                <a:latin typeface="Cambria Math" panose="02040503050406030204" pitchFamily="18" charset="0"/>
                              </a:rPr>
                              <m:t>𝒙</m:t>
                            </m:r>
                          </m:e>
                        </m:acc>
                      </m:e>
                      <m:sub>
                        <m:r>
                          <a:rPr lang="en-ZA" b="0" i="1" smtClean="0">
                            <a:latin typeface="Cambria Math" panose="02040503050406030204" pitchFamily="18" charset="0"/>
                          </a:rPr>
                          <m:t>1</m:t>
                        </m:r>
                      </m:sub>
                    </m:sSub>
                    <m:r>
                      <a:rPr lang="en-ZA" b="0" i="1" smtClean="0">
                        <a:latin typeface="Cambria Math" panose="02040503050406030204" pitchFamily="18" charset="0"/>
                      </a:rPr>
                      <m:t>=</m:t>
                    </m:r>
                    <m:acc>
                      <m:accPr>
                        <m:chr m:val="̂"/>
                        <m:ctrlPr>
                          <a:rPr lang="en-ZA" b="1" i="1" smtClean="0">
                            <a:latin typeface="Cambria Math" panose="02040503050406030204" pitchFamily="18" charset="0"/>
                          </a:rPr>
                        </m:ctrlPr>
                      </m:accPr>
                      <m:e>
                        <m:r>
                          <a:rPr lang="en-ZA" b="1" i="1" smtClean="0">
                            <a:latin typeface="Cambria Math" panose="02040503050406030204" pitchFamily="18" charset="0"/>
                          </a:rPr>
                          <m:t>𝒂</m:t>
                        </m:r>
                      </m:e>
                    </m:acc>
                    <m:r>
                      <a:rPr lang="en-ZA" b="1" i="1" smtClean="0">
                        <a:latin typeface="Cambria Math" panose="02040503050406030204" pitchFamily="18" charset="0"/>
                      </a:rPr>
                      <m:t>′</m:t>
                    </m:r>
                    <m:sSub>
                      <m:sSubPr>
                        <m:ctrlPr>
                          <a:rPr lang="en-ZA" b="1" i="1" smtClean="0">
                            <a:latin typeface="Cambria Math" panose="02040503050406030204" pitchFamily="18" charset="0"/>
                          </a:rPr>
                        </m:ctrlPr>
                      </m:sSubPr>
                      <m:e>
                        <m:acc>
                          <m:accPr>
                            <m:chr m:val="̅"/>
                            <m:ctrlPr>
                              <a:rPr lang="en-ZA" b="1" i="1" smtClean="0">
                                <a:latin typeface="Cambria Math" panose="02040503050406030204" pitchFamily="18" charset="0"/>
                              </a:rPr>
                            </m:ctrlPr>
                          </m:accPr>
                          <m:e>
                            <m:r>
                              <a:rPr lang="en-ZA" b="1" i="1" smtClean="0">
                                <a:latin typeface="Cambria Math" panose="02040503050406030204" pitchFamily="18" charset="0"/>
                              </a:rPr>
                              <m:t>𝒙</m:t>
                            </m:r>
                          </m:e>
                        </m:acc>
                      </m:e>
                      <m:sub>
                        <m:r>
                          <a:rPr lang="en-ZA" b="1" i="1" smtClean="0">
                            <a:latin typeface="Cambria Math" panose="02040503050406030204" pitchFamily="18" charset="0"/>
                          </a:rPr>
                          <m:t>𝟏</m:t>
                        </m:r>
                      </m:sub>
                    </m:sSub>
                  </m:oMath>
                </a14:m>
                <a:r>
                  <a:rPr lang="en-ZA" dirty="0" smtClean="0"/>
                  <a:t> and </a:t>
                </a:r>
                <a14:m>
                  <m:oMath xmlns:m="http://schemas.openxmlformats.org/officeDocument/2006/math">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𝑦</m:t>
                            </m:r>
                          </m:e>
                        </m:acc>
                      </m:e>
                      <m:sub>
                        <m:r>
                          <a:rPr lang="en-ZA" b="0" i="1" smtClean="0">
                            <a:latin typeface="Cambria Math" panose="02040503050406030204" pitchFamily="18" charset="0"/>
                          </a:rPr>
                          <m:t>2</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b="1"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2</m:t>
                        </m:r>
                      </m:sub>
                    </m:sSub>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m:t>
                        </m:r>
                      </m:sup>
                    </m:sSup>
                    <m:sSup>
                      <m:sSupPr>
                        <m:ctrlPr>
                          <a:rPr lang="en-ZA" i="1">
                            <a:latin typeface="Cambria Math" panose="02040503050406030204" pitchFamily="18" charset="0"/>
                          </a:rPr>
                        </m:ctrlPr>
                      </m:sSupPr>
                      <m:e>
                        <m:sSub>
                          <m:sSubPr>
                            <m:ctrlPr>
                              <a:rPr lang="en-ZA" i="1">
                                <a:latin typeface="Cambria Math" panose="02040503050406030204" pitchFamily="18" charset="0"/>
                              </a:rPr>
                            </m:ctrlPr>
                          </m:sSubPr>
                          <m:e>
                            <m:r>
                              <a:rPr lang="en-ZA" b="1" i="1">
                                <a:latin typeface="Cambria Math" panose="02040503050406030204" pitchFamily="18" charset="0"/>
                              </a:rPr>
                              <m:t>𝑺</m:t>
                            </m:r>
                          </m:e>
                          <m:sub>
                            <m:r>
                              <a:rPr lang="en-ZA" i="1">
                                <a:latin typeface="Cambria Math" panose="02040503050406030204" pitchFamily="18" charset="0"/>
                              </a:rPr>
                              <m:t>𝑝</m:t>
                            </m:r>
                          </m:sub>
                        </m:sSub>
                      </m:e>
                      <m:sup>
                        <m:r>
                          <a:rPr lang="en-ZA" i="1">
                            <a:latin typeface="Cambria Math" panose="02040503050406030204" pitchFamily="18" charset="0"/>
                          </a:rPr>
                          <m:t>−1</m:t>
                        </m:r>
                      </m:sup>
                    </m:sSup>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b="1" i="1">
                                <a:latin typeface="Cambria Math" panose="02040503050406030204" pitchFamily="18" charset="0"/>
                              </a:rPr>
                              <m:t>𝒙</m:t>
                            </m:r>
                          </m:e>
                        </m:acc>
                      </m:e>
                      <m:sub>
                        <m:r>
                          <a:rPr lang="en-ZA" b="0" i="1" smtClean="0">
                            <a:latin typeface="Cambria Math" panose="02040503050406030204" pitchFamily="18" charset="0"/>
                          </a:rPr>
                          <m:t>2</m:t>
                        </m:r>
                      </m:sub>
                    </m:sSub>
                    <m:r>
                      <a:rPr lang="en-ZA" i="1">
                        <a:latin typeface="Cambria Math" panose="02040503050406030204" pitchFamily="18" charset="0"/>
                      </a:rPr>
                      <m:t>=</m:t>
                    </m:r>
                    <m:acc>
                      <m:accPr>
                        <m:chr m:val="̂"/>
                        <m:ctrlPr>
                          <a:rPr lang="en-ZA" b="1" i="1">
                            <a:latin typeface="Cambria Math" panose="02040503050406030204" pitchFamily="18" charset="0"/>
                          </a:rPr>
                        </m:ctrlPr>
                      </m:accPr>
                      <m:e>
                        <m:r>
                          <a:rPr lang="en-ZA" b="1" i="1">
                            <a:latin typeface="Cambria Math" panose="02040503050406030204" pitchFamily="18" charset="0"/>
                          </a:rPr>
                          <m:t>𝒂</m:t>
                        </m:r>
                      </m:e>
                    </m:acc>
                    <m:r>
                      <a:rPr lang="en-ZA" b="1" i="1">
                        <a:latin typeface="Cambria Math" panose="02040503050406030204" pitchFamily="18" charset="0"/>
                      </a:rPr>
                      <m:t>′</m:t>
                    </m:r>
                    <m:sSub>
                      <m:sSubPr>
                        <m:ctrlPr>
                          <a:rPr lang="en-ZA" b="1" i="1">
                            <a:latin typeface="Cambria Math" panose="02040503050406030204" pitchFamily="18" charset="0"/>
                          </a:rPr>
                        </m:ctrlPr>
                      </m:sSubPr>
                      <m:e>
                        <m:acc>
                          <m:accPr>
                            <m:chr m:val="̅"/>
                            <m:ctrlPr>
                              <a:rPr lang="en-ZA" b="1" i="1">
                                <a:latin typeface="Cambria Math" panose="02040503050406030204" pitchFamily="18" charset="0"/>
                              </a:rPr>
                            </m:ctrlPr>
                          </m:accPr>
                          <m:e>
                            <m:r>
                              <a:rPr lang="en-ZA" b="1" i="1">
                                <a:latin typeface="Cambria Math" panose="02040503050406030204" pitchFamily="18" charset="0"/>
                              </a:rPr>
                              <m:t>𝒙</m:t>
                            </m:r>
                          </m:e>
                        </m:acc>
                      </m:e>
                      <m:sub>
                        <m:r>
                          <a:rPr lang="en-ZA" b="1" i="1" smtClean="0">
                            <a:latin typeface="Cambria Math" panose="02040503050406030204" pitchFamily="18" charset="0"/>
                          </a:rPr>
                          <m:t>𝟐</m:t>
                        </m:r>
                      </m:sub>
                    </m:sSub>
                  </m:oMath>
                </a14:m>
                <a:r>
                  <a:rPr lang="en-ZA" dirty="0" smtClean="0"/>
                  <a:t>.</a:t>
                </a:r>
              </a:p>
              <a:p>
                <a:pPr algn="ctr"/>
                <a:endParaRPr lang="en-ZA" dirty="0" smtClean="0"/>
              </a:p>
              <a:p>
                <a:endParaRPr lang="en-ZA" dirty="0"/>
              </a:p>
              <a:p>
                <a:r>
                  <a:rPr lang="en-ZA" dirty="0"/>
                  <a:t>This is equivalent to creating two univariate populations for the </a:t>
                </a:r>
                <a:r>
                  <a:rPr lang="en-ZA" dirty="0" smtClean="0"/>
                  <a:t> </a:t>
                </a:r>
                <a14:m>
                  <m:oMath xmlns:m="http://schemas.openxmlformats.org/officeDocument/2006/math">
                    <m:r>
                      <a:rPr lang="en-ZA" b="0" i="1" smtClean="0">
                        <a:latin typeface="Cambria Math" panose="02040503050406030204" pitchFamily="18" charset="0"/>
                      </a:rPr>
                      <m:t>𝑦</m:t>
                    </m:r>
                    <m:r>
                      <a:rPr lang="en-ZA" b="0" i="1" smtClean="0">
                        <a:latin typeface="Cambria Math" panose="02040503050406030204" pitchFamily="18" charset="0"/>
                      </a:rPr>
                      <m:t> </m:t>
                    </m:r>
                  </m:oMath>
                </a14:m>
                <a:r>
                  <a:rPr lang="en-ZA" dirty="0" smtClean="0"/>
                  <a:t>values </a:t>
                </a:r>
                <a:r>
                  <a:rPr lang="en-ZA" dirty="0"/>
                  <a:t>by taking appropriate linear combinations of the observations from the populations </a:t>
                </a:r>
                <a:r>
                  <a:rPr lang="en-ZA" dirty="0" smtClean="0"/>
                  <a:t>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oMath>
                </a14:m>
                <a:r>
                  <a:rPr lang="en-ZA" dirty="0" smtClean="0"/>
                  <a:t>and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2</m:t>
                        </m:r>
                      </m:sub>
                    </m:sSub>
                  </m:oMath>
                </a14:m>
                <a:r>
                  <a:rPr lang="en-ZA" dirty="0" smtClean="0"/>
                  <a:t>and </a:t>
                </a:r>
                <a:r>
                  <a:rPr lang="en-ZA" dirty="0"/>
                  <a:t>assigning a new observation , </a:t>
                </a:r>
                <a:r>
                  <a:rPr lang="en-ZA" dirty="0" smtClean="0"/>
                  <a:t>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0</m:t>
                        </m:r>
                      </m:sub>
                    </m:sSub>
                  </m:oMath>
                </a14:m>
                <a:r>
                  <a:rPr lang="en-ZA" dirty="0" smtClean="0"/>
                  <a:t> to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1 </m:t>
                        </m:r>
                      </m:sub>
                    </m:sSub>
                  </m:oMath>
                </a14:m>
                <a:r>
                  <a:rPr lang="en-ZA" dirty="0" smtClean="0"/>
                  <a:t>or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2</m:t>
                        </m:r>
                      </m:sub>
                    </m:sSub>
                    <m:r>
                      <a:rPr lang="en-ZA" b="0" i="1" smtClean="0">
                        <a:latin typeface="Cambria Math" panose="02040503050406030204" pitchFamily="18" charset="0"/>
                      </a:rPr>
                      <m:t> </m:t>
                    </m:r>
                  </m:oMath>
                </a14:m>
                <a:r>
                  <a:rPr lang="en-ZA" dirty="0" smtClean="0"/>
                  <a:t>depending </a:t>
                </a:r>
                <a:r>
                  <a:rPr lang="en-ZA" dirty="0"/>
                  <a:t>upon </a:t>
                </a:r>
                <a:r>
                  <a:rPr lang="en-ZA" dirty="0" smtClean="0"/>
                  <a:t>whether </a:t>
                </a:r>
                <a14:m>
                  <m:oMath xmlns:m="http://schemas.openxmlformats.org/officeDocument/2006/math">
                    <m:acc>
                      <m:accPr>
                        <m:chr m:val="̂"/>
                        <m:ctrlPr>
                          <a:rPr lang="en-ZA" b="1" i="1" smtClean="0">
                            <a:latin typeface="Cambria Math" panose="02040503050406030204" pitchFamily="18" charset="0"/>
                          </a:rPr>
                        </m:ctrlPr>
                      </m:accPr>
                      <m:e>
                        <m:r>
                          <a:rPr lang="en-ZA" b="1" i="1" smtClean="0">
                            <a:latin typeface="Cambria Math" panose="02040503050406030204" pitchFamily="18" charset="0"/>
                          </a:rPr>
                          <m:t>𝒚</m:t>
                        </m:r>
                      </m:e>
                    </m:acc>
                    <m:r>
                      <a:rPr lang="en-ZA" b="1" i="1" smtClean="0">
                        <a:latin typeface="Cambria Math" panose="02040503050406030204" pitchFamily="18" charset="0"/>
                      </a:rPr>
                      <m:t>=</m:t>
                    </m:r>
                    <m:sSup>
                      <m:sSupPr>
                        <m:ctrlPr>
                          <a:rPr lang="en-ZA" b="1" i="1">
                            <a:latin typeface="Cambria Math" panose="02040503050406030204" pitchFamily="18" charset="0"/>
                          </a:rPr>
                        </m:ctrlPr>
                      </m:sSupPr>
                      <m:e>
                        <m:acc>
                          <m:accPr>
                            <m:chr m:val="̂"/>
                            <m:ctrlPr>
                              <a:rPr lang="en-ZA" b="1" i="1">
                                <a:latin typeface="Cambria Math" panose="02040503050406030204" pitchFamily="18" charset="0"/>
                              </a:rPr>
                            </m:ctrlPr>
                          </m:accPr>
                          <m:e>
                            <m:r>
                              <a:rPr lang="en-ZA" b="1" i="1">
                                <a:latin typeface="Cambria Math" panose="02040503050406030204" pitchFamily="18" charset="0"/>
                              </a:rPr>
                              <m:t>𝒂</m:t>
                            </m:r>
                          </m:e>
                        </m:acc>
                      </m:e>
                      <m:sup>
                        <m:r>
                          <a:rPr lang="en-ZA" b="1" i="1">
                            <a:latin typeface="Cambria Math" panose="02040503050406030204" pitchFamily="18" charset="0"/>
                          </a:rPr>
                          <m:t>′</m:t>
                        </m:r>
                      </m:sup>
                    </m:sSup>
                    <m:r>
                      <a:rPr lang="en-ZA" b="1" i="1">
                        <a:latin typeface="Cambria Math" panose="02040503050406030204" pitchFamily="18" charset="0"/>
                      </a:rPr>
                      <m:t>𝒙</m:t>
                    </m:r>
                    <m:r>
                      <a:rPr lang="en-ZA" b="1" i="0" smtClean="0">
                        <a:latin typeface="Cambria Math" panose="02040503050406030204" pitchFamily="18" charset="0"/>
                      </a:rPr>
                      <m:t> </m:t>
                    </m:r>
                  </m:oMath>
                </a14:m>
                <a:r>
                  <a:rPr lang="en-ZA" dirty="0"/>
                  <a:t>falls to the right or the left of the midpoint, </a:t>
                </a:r>
                <a:r>
                  <a:rPr lang="en-ZA" dirty="0" smtClean="0"/>
                  <a:t> </a:t>
                </a:r>
                <a14:m>
                  <m:oMath xmlns:m="http://schemas.openxmlformats.org/officeDocument/2006/math">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𝑚</m:t>
                        </m:r>
                      </m:e>
                    </m:acc>
                  </m:oMath>
                </a14:m>
                <a:r>
                  <a:rPr lang="en-ZA" dirty="0" smtClean="0"/>
                  <a:t> between </a:t>
                </a:r>
                <a:r>
                  <a:rPr lang="en-ZA" dirty="0"/>
                  <a:t>the two univariate </a:t>
                </a:r>
                <a:r>
                  <a:rPr lang="en-ZA" dirty="0" smtClean="0"/>
                  <a:t>means </a:t>
                </a:r>
                <a14:m>
                  <m:oMath xmlns:m="http://schemas.openxmlformats.org/officeDocument/2006/math">
                    <m:sSub>
                      <m:sSubPr>
                        <m:ctrlPr>
                          <a:rPr lang="en-ZA" i="1" smtClean="0">
                            <a:latin typeface="Cambria Math" panose="02040503050406030204" pitchFamily="18" charset="0"/>
                          </a:rPr>
                        </m:ctrlPr>
                      </m:sSubPr>
                      <m:e>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𝑦</m:t>
                            </m:r>
                          </m:e>
                        </m:acc>
                      </m:e>
                      <m:sub>
                        <m:r>
                          <a:rPr lang="en-ZA" b="0" i="1" smtClean="0">
                            <a:latin typeface="Cambria Math" panose="02040503050406030204" pitchFamily="18" charset="0"/>
                          </a:rPr>
                          <m:t>1</m:t>
                        </m:r>
                      </m:sub>
                    </m:sSub>
                  </m:oMath>
                </a14:m>
                <a:r>
                  <a:rPr lang="en-ZA" dirty="0" smtClean="0"/>
                  <a:t>  and </a:t>
                </a:r>
                <a14:m>
                  <m:oMath xmlns:m="http://schemas.openxmlformats.org/officeDocument/2006/math">
                    <m:sSub>
                      <m:sSubPr>
                        <m:ctrlPr>
                          <a:rPr lang="en-ZA" i="1" smtClean="0">
                            <a:latin typeface="Cambria Math" panose="02040503050406030204" pitchFamily="18" charset="0"/>
                          </a:rPr>
                        </m:ctrlPr>
                      </m:sSubPr>
                      <m:e>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𝑦</m:t>
                            </m:r>
                          </m:e>
                        </m:acc>
                      </m:e>
                      <m:sub>
                        <m:r>
                          <a:rPr lang="en-ZA" b="0" i="1" smtClean="0">
                            <a:latin typeface="Cambria Math" panose="02040503050406030204" pitchFamily="18" charset="0"/>
                          </a:rPr>
                          <m:t>2</m:t>
                        </m:r>
                      </m:sub>
                    </m:sSub>
                  </m:oMath>
                </a14:m>
                <a:r>
                  <a:rPr lang="en-ZA" dirty="0" smtClean="0"/>
                  <a:t>.</a:t>
                </a:r>
                <a:endParaRPr lang="en-ZA" dirty="0"/>
              </a:p>
            </p:txBody>
          </p:sp>
        </mc:Choice>
        <mc:Fallback xmlns="">
          <p:sp>
            <p:nvSpPr>
              <p:cNvPr id="2" name="TextBox 1"/>
              <p:cNvSpPr txBox="1">
                <a:spLocks noRot="1" noChangeAspect="1" noMove="1" noResize="1" noEditPoints="1" noAdjustHandles="1" noChangeArrowheads="1" noChangeShapeType="1" noTextEdit="1"/>
              </p:cNvSpPr>
              <p:nvPr/>
            </p:nvSpPr>
            <p:spPr>
              <a:xfrm>
                <a:off x="120650" y="196850"/>
                <a:ext cx="11728450" cy="5260927"/>
              </a:xfrm>
              <a:prstGeom prst="rect">
                <a:avLst/>
              </a:prstGeom>
              <a:blipFill rotWithShape="0">
                <a:blip r:embed="rId2"/>
                <a:stretch>
                  <a:fillRect l="-415" t="-462" b="-809"/>
                </a:stretch>
              </a:blipFill>
              <a:ln>
                <a:solidFill>
                  <a:schemeClr val="accent1"/>
                </a:solidFill>
              </a:ln>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3" name="Oval Callout 2"/>
              <p:cNvSpPr/>
              <p:nvPr/>
            </p:nvSpPr>
            <p:spPr>
              <a:xfrm>
                <a:off x="8788400" y="1193800"/>
                <a:ext cx="2832100" cy="933450"/>
              </a:xfrm>
              <a:prstGeom prst="wedgeEllipseCallout">
                <a:avLst>
                  <a:gd name="adj1" fmla="val -90115"/>
                  <a:gd name="adj2" fmla="val 5569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And this leads to a discriminant function,</a:t>
                </a:r>
                <a:r>
                  <a:rPr lang="en-ZA" sz="1100" dirty="0"/>
                  <a:t> </a:t>
                </a:r>
                <a14:m>
                  <m:oMath xmlns:m="http://schemas.openxmlformats.org/officeDocument/2006/math">
                    <m:acc>
                      <m:accPr>
                        <m:chr m:val="̂"/>
                        <m:ctrlPr>
                          <a:rPr lang="en-ZA" sz="1100" i="1">
                            <a:latin typeface="Cambria Math" panose="02040503050406030204" pitchFamily="18" charset="0"/>
                          </a:rPr>
                        </m:ctrlPr>
                      </m:accPr>
                      <m:e>
                        <m:r>
                          <a:rPr lang="en-ZA" sz="1100" i="1">
                            <a:latin typeface="Cambria Math" panose="02040503050406030204" pitchFamily="18" charset="0"/>
                          </a:rPr>
                          <m:t>𝑦</m:t>
                        </m:r>
                      </m:e>
                    </m:acc>
                  </m:oMath>
                </a14:m>
                <a:r>
                  <a:rPr lang="en-ZA" sz="1100" dirty="0" smtClean="0"/>
                  <a:t>  and a cut-off value</a:t>
                </a:r>
                <a:r>
                  <a:rPr lang="en-ZA" sz="1100" dirty="0"/>
                  <a:t> </a:t>
                </a:r>
                <a14:m>
                  <m:oMath xmlns:m="http://schemas.openxmlformats.org/officeDocument/2006/math">
                    <m:r>
                      <a:rPr lang="en-ZA" sz="1100" i="1">
                        <a:latin typeface="Cambria Math" panose="02040503050406030204" pitchFamily="18" charset="0"/>
                      </a:rPr>
                      <m:t>𝑚</m:t>
                    </m:r>
                  </m:oMath>
                </a14:m>
                <a:r>
                  <a:rPr lang="en-ZA" sz="1100" dirty="0" smtClean="0"/>
                  <a:t> </a:t>
                </a:r>
                <a:endParaRPr lang="en-ZA" sz="1100" dirty="0"/>
              </a:p>
            </p:txBody>
          </p:sp>
        </mc:Choice>
        <mc:Fallback xmlns="">
          <p:sp>
            <p:nvSpPr>
              <p:cNvPr id="3" name="Oval Callout 2"/>
              <p:cNvSpPr>
                <a:spLocks noRot="1" noChangeAspect="1" noMove="1" noResize="1" noEditPoints="1" noAdjustHandles="1" noChangeArrowheads="1" noChangeShapeType="1" noTextEdit="1"/>
              </p:cNvSpPr>
              <p:nvPr/>
            </p:nvSpPr>
            <p:spPr>
              <a:xfrm>
                <a:off x="8788400" y="1193800"/>
                <a:ext cx="2832100" cy="933450"/>
              </a:xfrm>
              <a:prstGeom prst="wedgeEllipseCallout">
                <a:avLst>
                  <a:gd name="adj1" fmla="val -90115"/>
                  <a:gd name="adj2" fmla="val 55697"/>
                </a:avLst>
              </a:prstGeom>
              <a:blipFill rotWithShape="0">
                <a:blip r:embed="rId3"/>
                <a:stretch>
                  <a:fillRect/>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4" name="Oval Callout 3"/>
              <p:cNvSpPr/>
              <p:nvPr/>
            </p:nvSpPr>
            <p:spPr>
              <a:xfrm>
                <a:off x="9182100" y="2482850"/>
                <a:ext cx="2152650" cy="1066800"/>
              </a:xfrm>
              <a:prstGeom prst="wedgeEllipseCallout">
                <a:avLst>
                  <a:gd name="adj1" fmla="val -130273"/>
                  <a:gd name="adj2" fmla="val 60714"/>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r>
                      <a:rPr lang="en-ZA" sz="1100" i="1">
                        <a:latin typeface="Cambria Math" panose="02040503050406030204" pitchFamily="18" charset="0"/>
                      </a:rPr>
                      <m:t>𝑚</m:t>
                    </m:r>
                  </m:oMath>
                </a14:m>
                <a:r>
                  <a:rPr lang="en-ZA" sz="1100" dirty="0" smtClean="0"/>
                  <a:t> is obtained by evaluating discriminant function using two sample group means and taking average.</a:t>
                </a:r>
                <a:endParaRPr lang="en-ZA" sz="1100" dirty="0"/>
              </a:p>
            </p:txBody>
          </p:sp>
        </mc:Choice>
        <mc:Fallback xmlns="">
          <p:sp>
            <p:nvSpPr>
              <p:cNvPr id="4" name="Oval Callout 3"/>
              <p:cNvSpPr>
                <a:spLocks noRot="1" noChangeAspect="1" noMove="1" noResize="1" noEditPoints="1" noAdjustHandles="1" noChangeArrowheads="1" noChangeShapeType="1" noTextEdit="1"/>
              </p:cNvSpPr>
              <p:nvPr/>
            </p:nvSpPr>
            <p:spPr>
              <a:xfrm>
                <a:off x="9182100" y="2482850"/>
                <a:ext cx="2152650" cy="1066800"/>
              </a:xfrm>
              <a:prstGeom prst="wedgeEllipseCallout">
                <a:avLst>
                  <a:gd name="adj1" fmla="val -130273"/>
                  <a:gd name="adj2" fmla="val 60714"/>
                </a:avLst>
              </a:prstGeom>
              <a:blipFill rotWithShape="0">
                <a:blip r:embed="rId4"/>
                <a:stretch>
                  <a:fillRect/>
                </a:stretch>
              </a:blipFill>
            </p:spPr>
            <p:txBody>
              <a:bodyPr/>
              <a:lstStyle/>
              <a:p>
                <a:r>
                  <a:rPr lang="en-ZA">
                    <a:noFill/>
                  </a:rPr>
                  <a:t> </a:t>
                </a:r>
              </a:p>
            </p:txBody>
          </p:sp>
        </mc:Fallback>
      </mc:AlternateContent>
    </p:spTree>
    <p:extLst>
      <p:ext uri="{BB962C8B-B14F-4D97-AF65-F5344CB8AC3E}">
        <p14:creationId xmlns:p14="http://schemas.microsoft.com/office/powerpoint/2010/main" val="19407681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190500" y="82550"/>
                <a:ext cx="11811000" cy="6640344"/>
              </a:xfrm>
              <a:prstGeom prst="rect">
                <a:avLst/>
              </a:prstGeom>
              <a:noFill/>
              <a:ln>
                <a:solidFill>
                  <a:schemeClr val="accent1"/>
                </a:solidFill>
              </a:ln>
            </p:spPr>
            <p:txBody>
              <a:bodyPr wrap="square" rtlCol="0">
                <a:spAutoFit/>
              </a:bodyPr>
              <a:lstStyle/>
              <a:p>
                <a:r>
                  <a:rPr lang="en-ZA" dirty="0" smtClean="0"/>
                  <a:t>Example</a:t>
                </a:r>
                <a:endParaRPr lang="en-ZA" dirty="0"/>
              </a:p>
              <a:p>
                <a:r>
                  <a:rPr lang="en-ZA" dirty="0"/>
                  <a:t>We are concerned about identifying </a:t>
                </a:r>
                <a:r>
                  <a:rPr lang="en-ZA" dirty="0" err="1"/>
                  <a:t>hemophilia</a:t>
                </a:r>
                <a:r>
                  <a:rPr lang="en-ZA" dirty="0"/>
                  <a:t> </a:t>
                </a:r>
                <a:r>
                  <a:rPr lang="en-ZA" dirty="0" err="1"/>
                  <a:t>cariers</a:t>
                </a:r>
                <a:r>
                  <a:rPr lang="en-ZA" dirty="0"/>
                  <a:t> based on two predictor variables.</a:t>
                </a:r>
              </a:p>
              <a:p>
                <a:r>
                  <a:rPr lang="en-ZA" dirty="0"/>
                  <a:t>We have sample from two populations, </a:t>
                </a:r>
              </a:p>
              <a:p>
                <a:r>
                  <a:rPr lang="en-ZA" dirty="0"/>
                  <a:t>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1</m:t>
                        </m:r>
                      </m:sub>
                    </m:sSub>
                    <m:r>
                      <a:rPr lang="en-ZA" b="0" i="1" smtClean="0">
                        <a:latin typeface="Cambria Math" panose="02040503050406030204" pitchFamily="18" charset="0"/>
                      </a:rPr>
                      <m:t>=30</m:t>
                    </m:r>
                  </m:oMath>
                </a14:m>
                <a:r>
                  <a:rPr lang="en-ZA" dirty="0" smtClean="0"/>
                  <a:t> </a:t>
                </a:r>
                <a:r>
                  <a:rPr lang="en-ZA" dirty="0"/>
                  <a:t>normal women who do not carry the </a:t>
                </a:r>
                <a:r>
                  <a:rPr lang="en-ZA" dirty="0" err="1"/>
                  <a:t>hemophilia</a:t>
                </a:r>
                <a:r>
                  <a:rPr lang="en-ZA" dirty="0"/>
                  <a:t> gene</a:t>
                </a:r>
              </a:p>
              <a:p>
                <a:r>
                  <a:rPr lang="en-ZA" dirty="0"/>
                  <a:t>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2</m:t>
                        </m:r>
                      </m:sub>
                    </m:sSub>
                    <m:r>
                      <a:rPr lang="en-ZA" b="0" i="1" smtClean="0">
                        <a:latin typeface="Cambria Math" panose="02040503050406030204" pitchFamily="18" charset="0"/>
                      </a:rPr>
                      <m:t>=22 </m:t>
                    </m:r>
                  </m:oMath>
                </a14:m>
                <a:r>
                  <a:rPr lang="en-ZA" dirty="0" smtClean="0"/>
                  <a:t>obligatory carriers </a:t>
                </a:r>
                <a:r>
                  <a:rPr lang="en-ZA" dirty="0"/>
                  <a:t>= women who do carry the </a:t>
                </a:r>
                <a:r>
                  <a:rPr lang="en-ZA" dirty="0" err="1"/>
                  <a:t>hemophilia</a:t>
                </a:r>
                <a:r>
                  <a:rPr lang="en-ZA" dirty="0"/>
                  <a:t> gene</a:t>
                </a:r>
              </a:p>
              <a:p>
                <a:r>
                  <a:rPr lang="en-ZA" dirty="0" smtClean="0"/>
                  <a:t>and </a:t>
                </a:r>
                <a:r>
                  <a:rPr lang="en-ZA" dirty="0"/>
                  <a:t>measurements on two predictor variables</a:t>
                </a:r>
                <a:r>
                  <a:rPr lang="en-ZA" dirty="0" smtClean="0"/>
                  <a:t>,</a:t>
                </a:r>
              </a:p>
              <a:p>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𝑋</m:t>
                        </m:r>
                      </m:e>
                      <m:sub>
                        <m:r>
                          <a:rPr lang="en-ZA" b="0" i="1" smtClean="0">
                            <a:latin typeface="Cambria Math" panose="02040503050406030204" pitchFamily="18" charset="0"/>
                          </a:rPr>
                          <m:t>1</m:t>
                        </m:r>
                      </m:sub>
                    </m:sSub>
                    <m:r>
                      <a:rPr lang="en-ZA" b="0" i="1" smtClean="0">
                        <a:latin typeface="Cambria Math" panose="02040503050406030204" pitchFamily="18" charset="0"/>
                      </a:rPr>
                      <m:t>=</m:t>
                    </m:r>
                    <m:func>
                      <m:funcPr>
                        <m:ctrlPr>
                          <a:rPr lang="en-ZA" b="0" i="1" smtClean="0">
                            <a:latin typeface="Cambria Math" panose="02040503050406030204" pitchFamily="18" charset="0"/>
                          </a:rPr>
                        </m:ctrlPr>
                      </m:funcPr>
                      <m:fName>
                        <m:r>
                          <m:rPr>
                            <m:sty m:val="p"/>
                          </m:rPr>
                          <a:rPr lang="en-ZA" b="0" i="0" smtClean="0">
                            <a:latin typeface="Cambria Math" panose="02040503050406030204" pitchFamily="18" charset="0"/>
                          </a:rPr>
                          <m:t>log</m:t>
                        </m:r>
                      </m:fName>
                      <m:e>
                        <m:r>
                          <a:rPr lang="en-ZA" b="0" i="1" smtClean="0">
                            <a:latin typeface="Cambria Math" panose="02040503050406030204" pitchFamily="18" charset="0"/>
                          </a:rPr>
                          <m:t>(</m:t>
                        </m:r>
                        <m:r>
                          <a:rPr lang="en-ZA" b="0" i="1" smtClean="0">
                            <a:latin typeface="Cambria Math" panose="02040503050406030204" pitchFamily="18" charset="0"/>
                          </a:rPr>
                          <m:t>𝐴𝐻𝐹</m:t>
                        </m:r>
                        <m:r>
                          <a:rPr lang="en-ZA" b="0" i="1" smtClean="0">
                            <a:latin typeface="Cambria Math" panose="02040503050406030204" pitchFamily="18" charset="0"/>
                          </a:rPr>
                          <m:t> </m:t>
                        </m:r>
                        <m:r>
                          <a:rPr lang="en-ZA" b="0" i="1" smtClean="0">
                            <a:latin typeface="Cambria Math" panose="02040503050406030204" pitchFamily="18" charset="0"/>
                          </a:rPr>
                          <m:t>𝑎𝑐𝑡𝑖𝑣𝑖𝑡𝑦</m:t>
                        </m:r>
                        <m:r>
                          <a:rPr lang="en-ZA" b="0" i="1" smtClean="0">
                            <a:latin typeface="Cambria Math" panose="02040503050406030204" pitchFamily="18" charset="0"/>
                          </a:rPr>
                          <m:t>)</m:t>
                        </m:r>
                      </m:e>
                    </m:func>
                  </m:oMath>
                </a14:m>
                <a:r>
                  <a:rPr lang="en-ZA" dirty="0" smtClean="0"/>
                  <a:t> and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𝑋</m:t>
                        </m:r>
                      </m:e>
                      <m:sub>
                        <m:r>
                          <a:rPr lang="en-ZA" b="0" i="1" smtClean="0">
                            <a:latin typeface="Cambria Math" panose="02040503050406030204" pitchFamily="18" charset="0"/>
                          </a:rPr>
                          <m:t>2</m:t>
                        </m:r>
                      </m:sub>
                    </m:sSub>
                    <m:r>
                      <a:rPr lang="en-ZA" b="0" i="1" smtClean="0">
                        <a:latin typeface="Cambria Math" panose="02040503050406030204" pitchFamily="18" charset="0"/>
                      </a:rPr>
                      <m:t>=</m:t>
                    </m:r>
                    <m:func>
                      <m:funcPr>
                        <m:ctrlPr>
                          <a:rPr lang="en-ZA" b="0" i="1" smtClean="0">
                            <a:latin typeface="Cambria Math" panose="02040503050406030204" pitchFamily="18" charset="0"/>
                          </a:rPr>
                        </m:ctrlPr>
                      </m:funcPr>
                      <m:fName>
                        <m:r>
                          <m:rPr>
                            <m:sty m:val="p"/>
                          </m:rPr>
                          <a:rPr lang="en-ZA" b="0" i="0" smtClean="0">
                            <a:latin typeface="Cambria Math" panose="02040503050406030204" pitchFamily="18" charset="0"/>
                          </a:rPr>
                          <m:t>log</m:t>
                        </m:r>
                      </m:fName>
                      <m:e>
                        <m:r>
                          <a:rPr lang="en-ZA" b="0" i="1" smtClean="0">
                            <a:latin typeface="Cambria Math" panose="02040503050406030204" pitchFamily="18" charset="0"/>
                          </a:rPr>
                          <m:t>(</m:t>
                        </m:r>
                        <m:r>
                          <a:rPr lang="en-ZA" b="0" i="1" smtClean="0">
                            <a:latin typeface="Cambria Math" panose="02040503050406030204" pitchFamily="18" charset="0"/>
                          </a:rPr>
                          <m:t>𝐴𝐻𝐹</m:t>
                        </m:r>
                        <m:r>
                          <a:rPr lang="en-ZA" b="0" i="1" smtClean="0">
                            <a:latin typeface="Cambria Math" panose="02040503050406030204" pitchFamily="18" charset="0"/>
                          </a:rPr>
                          <m:t>−</m:t>
                        </m:r>
                        <m:r>
                          <a:rPr lang="en-ZA" b="0" i="1" smtClean="0">
                            <a:latin typeface="Cambria Math" panose="02040503050406030204" pitchFamily="18" charset="0"/>
                          </a:rPr>
                          <m:t>𝑙𝑖𝑘𝑒</m:t>
                        </m:r>
                        <m:r>
                          <a:rPr lang="en-ZA" b="0" i="1" smtClean="0">
                            <a:latin typeface="Cambria Math" panose="02040503050406030204" pitchFamily="18" charset="0"/>
                          </a:rPr>
                          <m:t> </m:t>
                        </m:r>
                        <m:r>
                          <a:rPr lang="en-ZA" b="0" i="1" smtClean="0">
                            <a:latin typeface="Cambria Math" panose="02040503050406030204" pitchFamily="18" charset="0"/>
                          </a:rPr>
                          <m:t>𝑎𝑛𝑡𝑖𝑔𝑒𝑛</m:t>
                        </m:r>
                        <m:r>
                          <a:rPr lang="en-ZA" b="0" i="1" smtClean="0">
                            <a:latin typeface="Cambria Math" panose="02040503050406030204" pitchFamily="18" charset="0"/>
                          </a:rPr>
                          <m:t>)</m:t>
                        </m:r>
                      </m:e>
                    </m:func>
                  </m:oMath>
                </a14:m>
                <a:endParaRPr lang="en-ZA" dirty="0"/>
              </a:p>
              <a:p>
                <a:r>
                  <a:rPr lang="en-ZA" dirty="0"/>
                  <a:t>The pairs of observations on the two predictor variables for the two groups are </a:t>
                </a:r>
                <a:r>
                  <a:rPr lang="en-ZA" dirty="0" smtClean="0"/>
                  <a:t>plotted </a:t>
                </a:r>
                <a:r>
                  <a:rPr lang="en-ZA" dirty="0" smtClean="0">
                    <a:sym typeface="Wingdings" panose="05000000000000000000" pitchFamily="2" charset="2"/>
                  </a:rPr>
                  <a:t></a:t>
                </a:r>
              </a:p>
              <a:p>
                <a:endParaRPr lang="en-ZA" dirty="0">
                  <a:sym typeface="Wingdings" panose="05000000000000000000" pitchFamily="2" charset="2"/>
                </a:endParaRPr>
              </a:p>
              <a:p>
                <a:r>
                  <a:rPr lang="en-ZA" dirty="0" smtClean="0">
                    <a:sym typeface="Wingdings" panose="05000000000000000000" pitchFamily="2" charset="2"/>
                  </a:rPr>
                  <a:t>We have the following information for the sample,</a:t>
                </a:r>
              </a:p>
              <a:p>
                <a:pPr algn="ctr"/>
                <a14:m>
                  <m:oMath xmlns:m="http://schemas.openxmlformats.org/officeDocument/2006/math">
                    <m:sSub>
                      <m:sSubPr>
                        <m:ctrlPr>
                          <a:rPr lang="en-ZA" i="1" smtClean="0">
                            <a:latin typeface="Cambria Math" panose="02040503050406030204" pitchFamily="18" charset="0"/>
                          </a:rPr>
                        </m:ctrlPr>
                      </m:sSubPr>
                      <m:e>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1</m:t>
                        </m:r>
                      </m:sub>
                    </m:sSub>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1"/>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m:t>
                              </m:r>
                              <m:r>
                                <a:rPr lang="en-ZA" b="0" i="1" smtClean="0">
                                  <a:latin typeface="Cambria Math" panose="02040503050406030204" pitchFamily="18" charset="0"/>
                                </a:rPr>
                                <m:t>0.0065</m:t>
                              </m:r>
                            </m:e>
                          </m:mr>
                          <m:mr>
                            <m:e>
                              <m:r>
                                <a:rPr lang="en-ZA" b="0" i="1" smtClean="0">
                                  <a:latin typeface="Cambria Math" panose="02040503050406030204" pitchFamily="18" charset="0"/>
                                </a:rPr>
                                <m:t>−0.0390</m:t>
                              </m:r>
                            </m:e>
                          </m:mr>
                        </m:m>
                      </m:e>
                    </m:d>
                  </m:oMath>
                </a14:m>
                <a:r>
                  <a:rPr lang="en-ZA" dirty="0" smtClean="0"/>
                  <a:t> and </a:t>
                </a:r>
                <a14:m>
                  <m:oMath xmlns:m="http://schemas.openxmlformats.org/officeDocument/2006/math">
                    <m:sSub>
                      <m:sSubPr>
                        <m:ctrlPr>
                          <a:rPr lang="en-ZA" i="1" smtClean="0">
                            <a:latin typeface="Cambria Math" panose="02040503050406030204" pitchFamily="18" charset="0"/>
                          </a:rPr>
                        </m:ctrlPr>
                      </m:sSubPr>
                      <m:e>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2</m:t>
                        </m:r>
                      </m:sub>
                    </m:sSub>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1"/>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m:t>
                              </m:r>
                              <m:r>
                                <a:rPr lang="en-ZA" b="0" i="1" smtClean="0">
                                  <a:latin typeface="Cambria Math" panose="02040503050406030204" pitchFamily="18" charset="0"/>
                                </a:rPr>
                                <m:t>0.2483</m:t>
                              </m:r>
                            </m:e>
                          </m:mr>
                          <m:mr>
                            <m:e>
                              <m:r>
                                <a:rPr lang="en-ZA" b="0" i="1" smtClean="0">
                                  <a:latin typeface="Cambria Math" panose="02040503050406030204" pitchFamily="18" charset="0"/>
                                </a:rPr>
                                <m:t>   0.0262</m:t>
                              </m:r>
                            </m:e>
                          </m:mr>
                        </m:m>
                      </m:e>
                    </m:d>
                  </m:oMath>
                </a14:m>
                <a:r>
                  <a:rPr lang="en-ZA" dirty="0" smtClean="0"/>
                  <a:t> and </a:t>
                </a:r>
                <a14:m>
                  <m:oMath xmlns:m="http://schemas.openxmlformats.org/officeDocument/2006/math">
                    <m:sSubSup>
                      <m:sSubSupPr>
                        <m:ctrlPr>
                          <a:rPr lang="en-ZA" i="1" smtClean="0">
                            <a:latin typeface="Cambria Math" panose="02040503050406030204" pitchFamily="18" charset="0"/>
                          </a:rPr>
                        </m:ctrlPr>
                      </m:sSubSupPr>
                      <m:e>
                        <m:r>
                          <a:rPr lang="en-ZA" b="0" i="1" smtClean="0">
                            <a:latin typeface="Cambria Math" panose="02040503050406030204" pitchFamily="18" charset="0"/>
                          </a:rPr>
                          <m:t>𝑆</m:t>
                        </m:r>
                      </m:e>
                      <m:sub>
                        <m:r>
                          <a:rPr lang="en-ZA" b="0" i="1" smtClean="0">
                            <a:latin typeface="Cambria Math" panose="02040503050406030204" pitchFamily="18" charset="0"/>
                          </a:rPr>
                          <m:t>𝑝</m:t>
                        </m:r>
                      </m:sub>
                      <m:sup>
                        <m:r>
                          <a:rPr lang="en-ZA" b="0" i="1" smtClean="0">
                            <a:latin typeface="Cambria Math" panose="02040503050406030204" pitchFamily="18" charset="0"/>
                          </a:rPr>
                          <m:t>−1</m:t>
                        </m:r>
                      </m:sup>
                    </m:sSubSup>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2"/>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1</m:t>
                              </m:r>
                              <m:r>
                                <a:rPr lang="en-ZA" b="0" i="1" smtClean="0">
                                  <a:latin typeface="Cambria Math" panose="02040503050406030204" pitchFamily="18" charset="0"/>
                                </a:rPr>
                                <m:t>31.158</m:t>
                              </m:r>
                            </m:e>
                            <m:e>
                              <m:r>
                                <a:rPr lang="en-ZA" b="0" i="1" smtClean="0">
                                  <a:latin typeface="Cambria Math" panose="02040503050406030204" pitchFamily="18" charset="0"/>
                                </a:rPr>
                                <m:t>−90.423</m:t>
                              </m:r>
                            </m:e>
                          </m:mr>
                          <m:mr>
                            <m:e>
                              <m:r>
                                <a:rPr lang="en-ZA" b="0" i="1" smtClean="0">
                                  <a:latin typeface="Cambria Math" panose="02040503050406030204" pitchFamily="18" charset="0"/>
                                </a:rPr>
                                <m:t>−90.423</m:t>
                              </m:r>
                            </m:e>
                            <m:e>
                              <m:r>
                                <a:rPr lang="en-ZA" b="0" i="1" smtClean="0">
                                  <a:latin typeface="Cambria Math" panose="02040503050406030204" pitchFamily="18" charset="0"/>
                                </a:rPr>
                                <m:t>108.147</m:t>
                              </m:r>
                            </m:e>
                          </m:mr>
                        </m:m>
                      </m:e>
                    </m:d>
                  </m:oMath>
                </a14:m>
                <a:r>
                  <a:rPr lang="en-ZA" dirty="0" smtClean="0"/>
                  <a:t>.</a:t>
                </a:r>
              </a:p>
              <a:p>
                <a:r>
                  <a:rPr lang="en-ZA" dirty="0" smtClean="0"/>
                  <a:t>The equal costs and equal priors discriminant function is</a:t>
                </a:r>
              </a:p>
              <a:p>
                <a:pPr/>
                <a14:m>
                  <m:oMathPara xmlns:m="http://schemas.openxmlformats.org/officeDocument/2006/math">
                    <m:oMathParaPr>
                      <m:jc m:val="centerGroup"/>
                    </m:oMathParaPr>
                    <m:oMath xmlns:m="http://schemas.openxmlformats.org/officeDocument/2006/math">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𝑦</m:t>
                          </m:r>
                        </m:e>
                      </m:acc>
                      <m:r>
                        <a:rPr lang="en-ZA" b="0" i="1" smtClean="0">
                          <a:latin typeface="Cambria Math" panose="02040503050406030204" pitchFamily="18" charset="0"/>
                        </a:rPr>
                        <m:t>=</m:t>
                      </m:r>
                      <m:sSup>
                        <m:sSupPr>
                          <m:ctrlPr>
                            <a:rPr lang="en-ZA" b="0" i="1" smtClean="0">
                              <a:latin typeface="Cambria Math" panose="02040503050406030204" pitchFamily="18" charset="0"/>
                            </a:rPr>
                          </m:ctrlPr>
                        </m:sSup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𝑎</m:t>
                              </m:r>
                            </m:e>
                          </m:acc>
                        </m:e>
                        <m:sup>
                          <m:r>
                            <a:rPr lang="en-ZA" b="0" i="1" smtClean="0">
                              <a:latin typeface="Cambria Math" panose="02040503050406030204" pitchFamily="18" charset="0"/>
                            </a:rPr>
                            <m:t>′</m:t>
                          </m:r>
                        </m:sup>
                      </m:sSup>
                      <m:r>
                        <a:rPr lang="en-ZA" b="0" i="1" smtClean="0">
                          <a:latin typeface="Cambria Math" panose="02040503050406030204" pitchFamily="18" charset="0"/>
                        </a:rPr>
                        <m:t>𝑥</m:t>
                      </m:r>
                      <m:r>
                        <a:rPr lang="en-ZA" b="0" i="1" smtClean="0">
                          <a:latin typeface="Cambria Math" panose="02040503050406030204" pitchFamily="18" charset="0"/>
                        </a:rPr>
                        <m:t>=</m:t>
                      </m:r>
                      <m:sSup>
                        <m:sSupPr>
                          <m:ctrlPr>
                            <a:rPr lang="en-ZA" b="0" i="1" smtClean="0">
                              <a:latin typeface="Cambria Math" panose="02040503050406030204" pitchFamily="18" charset="0"/>
                            </a:rPr>
                          </m:ctrlPr>
                        </m:sSupPr>
                        <m:e>
                          <m:d>
                            <m:dPr>
                              <m:ctrlPr>
                                <a:rPr lang="en-ZA" b="0" i="1" smtClean="0">
                                  <a:latin typeface="Cambria Math" panose="02040503050406030204" pitchFamily="18" charset="0"/>
                                </a:rPr>
                              </m:ctrlPr>
                            </m:dPr>
                            <m:e>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1</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2</m:t>
                                  </m:r>
                                </m:sub>
                              </m:sSub>
                            </m:e>
                          </m:d>
                        </m:e>
                        <m:sup>
                          <m:r>
                            <a:rPr lang="en-ZA" b="0" i="1" smtClean="0">
                              <a:latin typeface="Cambria Math" panose="02040503050406030204" pitchFamily="18" charset="0"/>
                            </a:rPr>
                            <m:t>′</m:t>
                          </m:r>
                        </m:sup>
                      </m:sSup>
                      <m:sSubSup>
                        <m:sSubSupPr>
                          <m:ctrlPr>
                            <a:rPr lang="en-ZA" b="0" i="1" smtClean="0">
                              <a:latin typeface="Cambria Math" panose="02040503050406030204" pitchFamily="18" charset="0"/>
                            </a:rPr>
                          </m:ctrlPr>
                        </m:sSubSupPr>
                        <m:e>
                          <m:r>
                            <a:rPr lang="en-ZA" b="0" i="1" smtClean="0">
                              <a:latin typeface="Cambria Math" panose="02040503050406030204" pitchFamily="18" charset="0"/>
                            </a:rPr>
                            <m:t>𝑆</m:t>
                          </m:r>
                        </m:e>
                        <m:sub>
                          <m:r>
                            <a:rPr lang="en-ZA" b="0" i="1" smtClean="0">
                              <a:latin typeface="Cambria Math" panose="02040503050406030204" pitchFamily="18" charset="0"/>
                            </a:rPr>
                            <m:t>𝑝</m:t>
                          </m:r>
                        </m:sub>
                        <m:sup>
                          <m:r>
                            <a:rPr lang="en-ZA" b="0" i="1" smtClean="0">
                              <a:latin typeface="Cambria Math" panose="02040503050406030204" pitchFamily="18" charset="0"/>
                            </a:rPr>
                            <m:t>−1</m:t>
                          </m:r>
                        </m:sup>
                      </m:sSubSup>
                      <m:r>
                        <a:rPr lang="en-ZA" b="0" i="1" smtClean="0">
                          <a:latin typeface="Cambria Math" panose="02040503050406030204" pitchFamily="18" charset="0"/>
                        </a:rPr>
                        <m:t>𝑥</m:t>
                      </m:r>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2"/>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0</m:t>
                                </m:r>
                                <m:r>
                                  <a:rPr lang="en-ZA" b="0" i="1" smtClean="0">
                                    <a:latin typeface="Cambria Math" panose="02040503050406030204" pitchFamily="18" charset="0"/>
                                  </a:rPr>
                                  <m:t>.2418</m:t>
                                </m:r>
                              </m:e>
                              <m:e>
                                <m:r>
                                  <a:rPr lang="en-ZA" b="0" i="1" smtClean="0">
                                    <a:latin typeface="Cambria Math" panose="02040503050406030204" pitchFamily="18" charset="0"/>
                                  </a:rPr>
                                  <m:t>−0.0652</m:t>
                                </m:r>
                              </m:e>
                            </m:mr>
                          </m:m>
                        </m:e>
                      </m:d>
                      <m:d>
                        <m:dPr>
                          <m:begChr m:val="["/>
                          <m:endChr m:val="]"/>
                          <m:ctrlPr>
                            <a:rPr lang="en-ZA" b="0" i="1" smtClean="0">
                              <a:latin typeface="Cambria Math" panose="02040503050406030204" pitchFamily="18" charset="0"/>
                            </a:rPr>
                          </m:ctrlPr>
                        </m:dPr>
                        <m:e>
                          <m:m>
                            <m:mPr>
                              <m:mcs>
                                <m:mc>
                                  <m:mcPr>
                                    <m:count m:val="2"/>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1</m:t>
                                </m:r>
                                <m:r>
                                  <a:rPr lang="en-ZA" b="0" i="1" smtClean="0">
                                    <a:latin typeface="Cambria Math" panose="02040503050406030204" pitchFamily="18" charset="0"/>
                                  </a:rPr>
                                  <m:t>31.158</m:t>
                                </m:r>
                              </m:e>
                              <m:e>
                                <m:r>
                                  <a:rPr lang="en-ZA" b="0" i="1" smtClean="0">
                                    <a:latin typeface="Cambria Math" panose="02040503050406030204" pitchFamily="18" charset="0"/>
                                  </a:rPr>
                                  <m:t>−90.423</m:t>
                                </m:r>
                              </m:e>
                            </m:mr>
                            <m:mr>
                              <m:e>
                                <m:r>
                                  <a:rPr lang="en-ZA" b="0" i="1" smtClean="0">
                                    <a:latin typeface="Cambria Math" panose="02040503050406030204" pitchFamily="18" charset="0"/>
                                  </a:rPr>
                                  <m:t>−90.423</m:t>
                                </m:r>
                              </m:e>
                              <m:e>
                                <m:r>
                                  <a:rPr lang="en-ZA" b="0" i="1" smtClean="0">
                                    <a:latin typeface="Cambria Math" panose="02040503050406030204" pitchFamily="18" charset="0"/>
                                  </a:rPr>
                                  <m:t>108.147</m:t>
                                </m:r>
                              </m:e>
                            </m:mr>
                          </m:m>
                        </m:e>
                      </m:d>
                      <m:d>
                        <m:dPr>
                          <m:begChr m:val="["/>
                          <m:endChr m:val="]"/>
                          <m:ctrlPr>
                            <a:rPr lang="en-ZA" b="0" i="1" smtClean="0">
                              <a:latin typeface="Cambria Math" panose="02040503050406030204" pitchFamily="18" charset="0"/>
                            </a:rPr>
                          </m:ctrlPr>
                        </m:dPr>
                        <m:e>
                          <m:m>
                            <m:mPr>
                              <m:mcs>
                                <m:mc>
                                  <m:mcPr>
                                    <m:count m:val="1"/>
                                    <m:mcJc m:val="center"/>
                                  </m:mcPr>
                                </m:mc>
                              </m:mcs>
                              <m:ctrlPr>
                                <a:rPr lang="en-ZA" b="0" i="1" smtClean="0">
                                  <a:latin typeface="Cambria Math" panose="02040503050406030204" pitchFamily="18" charset="0"/>
                                </a:rPr>
                              </m:ctrlPr>
                            </m:mPr>
                            <m:mr>
                              <m:e>
                                <m:sSub>
                                  <m:sSubPr>
                                    <m:ctrlPr>
                                      <a:rPr lang="en-ZA" b="0"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1</m:t>
                                    </m:r>
                                  </m:sub>
                                </m:sSub>
                              </m:e>
                            </m:mr>
                            <m:mr>
                              <m:e>
                                <m:sSub>
                                  <m:sSubPr>
                                    <m:ctrlPr>
                                      <a:rPr lang="en-ZA" b="0"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2</m:t>
                                    </m:r>
                                  </m:sub>
                                </m:sSub>
                              </m:e>
                            </m:mr>
                          </m:m>
                        </m:e>
                      </m:d>
                      <m:r>
                        <a:rPr lang="en-ZA" b="0" i="1" smtClean="0">
                          <a:latin typeface="Cambria Math" panose="02040503050406030204" pitchFamily="18" charset="0"/>
                        </a:rPr>
                        <m:t>=37.61</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1</m:t>
                          </m:r>
                        </m:sub>
                      </m:sSub>
                      <m:r>
                        <a:rPr lang="en-ZA" b="0" i="1" smtClean="0">
                          <a:latin typeface="Cambria Math" panose="02040503050406030204" pitchFamily="18" charset="0"/>
                        </a:rPr>
                        <m:t>−28.92</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2</m:t>
                          </m:r>
                        </m:sub>
                      </m:sSub>
                      <m:r>
                        <a:rPr lang="en-ZA" b="0" i="1" smtClean="0">
                          <a:latin typeface="Cambria Math" panose="02040503050406030204" pitchFamily="18" charset="0"/>
                        </a:rPr>
                        <m:t>.</m:t>
                      </m:r>
                    </m:oMath>
                  </m:oMathPara>
                </a14:m>
                <a:endParaRPr lang="en-ZA" dirty="0" smtClean="0"/>
              </a:p>
              <a:p>
                <a:endParaRPr lang="en-ZA" dirty="0"/>
              </a:p>
              <a:p>
                <a:r>
                  <a:rPr lang="en-ZA" dirty="0" smtClean="0"/>
                  <a:t>Now we need to calculate the two univariate y-values,</a:t>
                </a:r>
              </a:p>
              <a:p>
                <a14:m>
                  <m:oMath xmlns:m="http://schemas.openxmlformats.org/officeDocument/2006/math">
                    <m:sSub>
                      <m:sSubPr>
                        <m:ctrlPr>
                          <a:rPr lang="en-ZA" i="1" smtClean="0">
                            <a:latin typeface="Cambria Math" panose="02040503050406030204" pitchFamily="18" charset="0"/>
                          </a:rPr>
                        </m:ctrlPr>
                      </m:sSubPr>
                      <m:e>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𝑦</m:t>
                            </m:r>
                          </m:e>
                        </m:acc>
                      </m:e>
                      <m:sub>
                        <m:r>
                          <a:rPr lang="en-ZA" b="0" i="1" smtClean="0">
                            <a:latin typeface="Cambria Math" panose="02040503050406030204" pitchFamily="18" charset="0"/>
                          </a:rPr>
                          <m:t>1</m:t>
                        </m:r>
                      </m:sub>
                    </m:sSub>
                    <m:r>
                      <a:rPr lang="en-ZA" b="0" i="1" smtClean="0">
                        <a:latin typeface="Cambria Math" panose="02040503050406030204" pitchFamily="18" charset="0"/>
                      </a:rPr>
                      <m:t>=</m:t>
                    </m:r>
                    <m:sSup>
                      <m:sSupPr>
                        <m:ctrlPr>
                          <a:rPr lang="en-ZA" b="0" i="1" smtClean="0">
                            <a:latin typeface="Cambria Math" panose="02040503050406030204" pitchFamily="18" charset="0"/>
                          </a:rPr>
                        </m:ctrlPr>
                      </m:sSup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𝑎</m:t>
                            </m:r>
                          </m:e>
                        </m:acc>
                      </m:e>
                      <m:sup>
                        <m:r>
                          <a:rPr lang="en-ZA" b="0" i="1" smtClean="0">
                            <a:latin typeface="Cambria Math" panose="02040503050406030204" pitchFamily="18" charset="0"/>
                          </a:rPr>
                          <m:t>′</m:t>
                        </m:r>
                      </m:sup>
                    </m:sSup>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1</m:t>
                        </m:r>
                      </m:sub>
                    </m:sSub>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2"/>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3</m:t>
                              </m:r>
                              <m:r>
                                <a:rPr lang="en-ZA" b="0" i="1" smtClean="0">
                                  <a:latin typeface="Cambria Math" panose="02040503050406030204" pitchFamily="18" charset="0"/>
                                </a:rPr>
                                <m:t>7.61</m:t>
                              </m:r>
                            </m:e>
                            <m:e>
                              <m:r>
                                <a:rPr lang="en-ZA" b="0" i="1" smtClean="0">
                                  <a:latin typeface="Cambria Math" panose="02040503050406030204" pitchFamily="18" charset="0"/>
                                </a:rPr>
                                <m:t>−28.92</m:t>
                              </m:r>
                            </m:e>
                          </m:mr>
                        </m:m>
                      </m:e>
                    </m:d>
                    <m:d>
                      <m:dPr>
                        <m:begChr m:val="["/>
                        <m:endChr m:val="]"/>
                        <m:ctrlPr>
                          <a:rPr lang="en-ZA" b="0" i="1" smtClean="0">
                            <a:latin typeface="Cambria Math" panose="02040503050406030204" pitchFamily="18" charset="0"/>
                          </a:rPr>
                        </m:ctrlPr>
                      </m:dPr>
                      <m:e>
                        <m:m>
                          <m:mPr>
                            <m:mcs>
                              <m:mc>
                                <m:mcPr>
                                  <m:count m:val="1"/>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m:t>
                              </m:r>
                              <m:r>
                                <a:rPr lang="en-ZA" b="0" i="1" smtClean="0">
                                  <a:latin typeface="Cambria Math" panose="02040503050406030204" pitchFamily="18" charset="0"/>
                                </a:rPr>
                                <m:t>0.0065</m:t>
                              </m:r>
                            </m:e>
                          </m:mr>
                          <m:mr>
                            <m:e>
                              <m:r>
                                <a:rPr lang="en-ZA" b="0" i="1" smtClean="0">
                                  <a:latin typeface="Cambria Math" panose="02040503050406030204" pitchFamily="18" charset="0"/>
                                </a:rPr>
                                <m:t>−0.0390</m:t>
                              </m:r>
                            </m:e>
                          </m:mr>
                        </m:m>
                      </m:e>
                    </m:d>
                    <m:r>
                      <a:rPr lang="en-ZA" b="0" i="1" smtClean="0">
                        <a:latin typeface="Cambria Math" panose="02040503050406030204" pitchFamily="18" charset="0"/>
                      </a:rPr>
                      <m:t>=0.88</m:t>
                    </m:r>
                  </m:oMath>
                </a14:m>
                <a:r>
                  <a:rPr lang="en-ZA" dirty="0" smtClean="0"/>
                  <a:t> and  </a:t>
                </a:r>
                <a14:m>
                  <m:oMath xmlns:m="http://schemas.openxmlformats.org/officeDocument/2006/math">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𝑦</m:t>
                            </m:r>
                          </m:e>
                        </m:acc>
                      </m:e>
                      <m:sub>
                        <m:r>
                          <a:rPr lang="en-ZA" b="0" i="1" smtClean="0">
                            <a:latin typeface="Cambria Math" panose="02040503050406030204" pitchFamily="18" charset="0"/>
                          </a:rPr>
                          <m:t>2</m:t>
                        </m:r>
                      </m:sub>
                    </m:sSub>
                    <m:r>
                      <a:rPr lang="en-ZA" i="1">
                        <a:latin typeface="Cambria Math" panose="02040503050406030204" pitchFamily="18" charset="0"/>
                      </a:rPr>
                      <m:t>=</m:t>
                    </m:r>
                    <m:sSup>
                      <m:sSupPr>
                        <m:ctrlPr>
                          <a:rPr lang="en-ZA" i="1">
                            <a:latin typeface="Cambria Math" panose="02040503050406030204" pitchFamily="18" charset="0"/>
                          </a:rPr>
                        </m:ctrlPr>
                      </m:sSupPr>
                      <m:e>
                        <m:acc>
                          <m:accPr>
                            <m:chr m:val="̂"/>
                            <m:ctrlPr>
                              <a:rPr lang="en-ZA" i="1">
                                <a:latin typeface="Cambria Math" panose="02040503050406030204" pitchFamily="18" charset="0"/>
                              </a:rPr>
                            </m:ctrlPr>
                          </m:accPr>
                          <m:e>
                            <m:r>
                              <a:rPr lang="en-ZA" i="1">
                                <a:latin typeface="Cambria Math" panose="02040503050406030204" pitchFamily="18" charset="0"/>
                              </a:rPr>
                              <m:t>𝑎</m:t>
                            </m:r>
                          </m:e>
                        </m:acc>
                      </m:e>
                      <m:sup>
                        <m:r>
                          <a:rPr lang="en-ZA" i="1">
                            <a:latin typeface="Cambria Math" panose="02040503050406030204" pitchFamily="18" charset="0"/>
                          </a:rPr>
                          <m:t>′</m:t>
                        </m:r>
                      </m:sup>
                    </m:sSup>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b="0" i="1" smtClean="0">
                            <a:latin typeface="Cambria Math" panose="02040503050406030204" pitchFamily="18" charset="0"/>
                          </a:rPr>
                          <m:t>2</m:t>
                        </m:r>
                      </m:sub>
                    </m:sSub>
                    <m:r>
                      <a:rPr lang="en-ZA" i="1">
                        <a:latin typeface="Cambria Math" panose="02040503050406030204" pitchFamily="18" charset="0"/>
                      </a:rPr>
                      <m:t>=</m:t>
                    </m:r>
                    <m:d>
                      <m:dPr>
                        <m:begChr m:val="["/>
                        <m:endChr m:val="]"/>
                        <m:ctrlPr>
                          <a:rPr lang="en-ZA" i="1" smtClean="0">
                            <a:latin typeface="Cambria Math" panose="02040503050406030204" pitchFamily="18" charset="0"/>
                          </a:rPr>
                        </m:ctrlPr>
                      </m:dPr>
                      <m:e>
                        <m:m>
                          <m:mPr>
                            <m:mcs>
                              <m:mc>
                                <m:mcPr>
                                  <m:count m:val="2"/>
                                  <m:mcJc m:val="center"/>
                                </m:mcPr>
                              </m:mc>
                            </m:mcs>
                            <m:ctrlPr>
                              <a:rPr lang="en-ZA" i="1" smtClean="0">
                                <a:latin typeface="Cambria Math" panose="02040503050406030204" pitchFamily="18" charset="0"/>
                              </a:rPr>
                            </m:ctrlPr>
                          </m:mPr>
                          <m:mr>
                            <m:e>
                              <m:r>
                                <m:rPr>
                                  <m:brk m:alnAt="7"/>
                                </m:rPr>
                                <a:rPr lang="en-ZA" b="0" i="1" smtClean="0">
                                  <a:latin typeface="Cambria Math" panose="02040503050406030204" pitchFamily="18" charset="0"/>
                                </a:rPr>
                                <m:t>3</m:t>
                              </m:r>
                              <m:r>
                                <a:rPr lang="en-ZA" b="0" i="1" smtClean="0">
                                  <a:latin typeface="Cambria Math" panose="02040503050406030204" pitchFamily="18" charset="0"/>
                                </a:rPr>
                                <m:t>7.61</m:t>
                              </m:r>
                            </m:e>
                            <m:e>
                              <m:r>
                                <a:rPr lang="en-ZA" b="0" i="1" smtClean="0">
                                  <a:latin typeface="Cambria Math" panose="02040503050406030204" pitchFamily="18" charset="0"/>
                                </a:rPr>
                                <m:t>−28.92</m:t>
                              </m:r>
                            </m:e>
                          </m:mr>
                        </m:m>
                      </m:e>
                    </m:d>
                    <m:d>
                      <m:dPr>
                        <m:begChr m:val="["/>
                        <m:endChr m:val="]"/>
                        <m:ctrlPr>
                          <a:rPr lang="en-ZA" i="1" smtClean="0">
                            <a:latin typeface="Cambria Math" panose="02040503050406030204" pitchFamily="18" charset="0"/>
                          </a:rPr>
                        </m:ctrlPr>
                      </m:dPr>
                      <m:e>
                        <m:m>
                          <m:mPr>
                            <m:mcs>
                              <m:mc>
                                <m:mcPr>
                                  <m:count m:val="1"/>
                                  <m:mcJc m:val="center"/>
                                </m:mcPr>
                              </m:mc>
                            </m:mcs>
                            <m:ctrlPr>
                              <a:rPr lang="en-ZA" i="1" smtClean="0">
                                <a:latin typeface="Cambria Math" panose="02040503050406030204" pitchFamily="18" charset="0"/>
                              </a:rPr>
                            </m:ctrlPr>
                          </m:mPr>
                          <m:mr>
                            <m:e>
                              <m:r>
                                <m:rPr>
                                  <m:brk m:alnAt="7"/>
                                </m:rPr>
                                <a:rPr lang="en-ZA" b="0" i="1" smtClean="0">
                                  <a:latin typeface="Cambria Math" panose="02040503050406030204" pitchFamily="18" charset="0"/>
                                </a:rPr>
                                <m:t>−</m:t>
                              </m:r>
                              <m:r>
                                <a:rPr lang="en-ZA" b="0" i="1" smtClean="0">
                                  <a:latin typeface="Cambria Math" panose="02040503050406030204" pitchFamily="18" charset="0"/>
                                </a:rPr>
                                <m:t>0.2483</m:t>
                              </m:r>
                            </m:e>
                          </m:mr>
                          <m:mr>
                            <m:e>
                              <m:r>
                                <a:rPr lang="en-ZA" b="0" i="1" smtClean="0">
                                  <a:latin typeface="Cambria Math" panose="02040503050406030204" pitchFamily="18" charset="0"/>
                                </a:rPr>
                                <m:t>   0.0262</m:t>
                              </m:r>
                            </m:e>
                          </m:mr>
                        </m:m>
                      </m:e>
                    </m:d>
                    <m:r>
                      <a:rPr lang="en-ZA" b="0" i="1" smtClean="0">
                        <a:latin typeface="Cambria Math" panose="02040503050406030204" pitchFamily="18" charset="0"/>
                      </a:rPr>
                      <m:t>=−10.10</m:t>
                    </m:r>
                  </m:oMath>
                </a14:m>
                <a:endParaRPr lang="en-ZA" dirty="0" smtClean="0"/>
              </a:p>
              <a:p>
                <a:r>
                  <a:rPr lang="en-ZA" dirty="0"/>
                  <a:t>a</a:t>
                </a:r>
                <a:r>
                  <a:rPr lang="en-ZA" dirty="0" smtClean="0"/>
                  <a:t>nd the midpoint between these means is </a:t>
                </a:r>
                <a14:m>
                  <m:oMath xmlns:m="http://schemas.openxmlformats.org/officeDocument/2006/math">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𝑚</m:t>
                        </m:r>
                      </m:e>
                    </m:acc>
                    <m:r>
                      <a:rPr lang="en-ZA" b="0" i="1" smtClean="0">
                        <a:latin typeface="Cambria Math" panose="02040503050406030204" pitchFamily="18" charset="0"/>
                      </a:rPr>
                      <m:t>=1/2</m:t>
                    </m:r>
                    <m:d>
                      <m:dPr>
                        <m:ctrlPr>
                          <a:rPr lang="en-ZA" b="0" i="1" smtClean="0">
                            <a:latin typeface="Cambria Math" panose="02040503050406030204" pitchFamily="18" charset="0"/>
                          </a:rPr>
                        </m:ctrlPr>
                      </m:dPr>
                      <m:e>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𝑦</m:t>
                                </m:r>
                              </m:e>
                            </m:acc>
                          </m:e>
                          <m:sub>
                            <m:r>
                              <a:rPr lang="en-ZA" b="0" i="1" smtClean="0">
                                <a:latin typeface="Cambria Math" panose="02040503050406030204" pitchFamily="18" charset="0"/>
                              </a:rPr>
                              <m:t>1</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𝑦</m:t>
                                </m:r>
                              </m:e>
                            </m:acc>
                          </m:e>
                          <m:sub>
                            <m:r>
                              <a:rPr lang="en-ZA" b="0" i="1" smtClean="0">
                                <a:latin typeface="Cambria Math" panose="02040503050406030204" pitchFamily="18" charset="0"/>
                              </a:rPr>
                              <m:t>2</m:t>
                            </m:r>
                          </m:sub>
                        </m:sSub>
                      </m:e>
                    </m:d>
                  </m:oMath>
                </a14:m>
                <a:r>
                  <a:rPr lang="en-ZA" dirty="0" smtClean="0"/>
                  <a:t> </a:t>
                </a:r>
                <a14:m>
                  <m:oMath xmlns:m="http://schemas.openxmlformats.org/officeDocument/2006/math">
                    <m:r>
                      <a:rPr lang="en-ZA" b="0" i="1" dirty="0" smtClean="0">
                        <a:latin typeface="Cambria Math" panose="02040503050406030204" pitchFamily="18" charset="0"/>
                      </a:rPr>
                      <m:t>=</m:t>
                    </m:r>
                    <m:f>
                      <m:fPr>
                        <m:ctrlPr>
                          <a:rPr lang="en-ZA" b="0" i="1" dirty="0" smtClean="0">
                            <a:latin typeface="Cambria Math" panose="02040503050406030204" pitchFamily="18" charset="0"/>
                          </a:rPr>
                        </m:ctrlPr>
                      </m:fPr>
                      <m:num>
                        <m:r>
                          <a:rPr lang="en-ZA" b="0" i="1" dirty="0" smtClean="0">
                            <a:latin typeface="Cambria Math" panose="02040503050406030204" pitchFamily="18" charset="0"/>
                          </a:rPr>
                          <m:t>1</m:t>
                        </m:r>
                      </m:num>
                      <m:den>
                        <m:r>
                          <a:rPr lang="en-ZA" b="0" i="1" dirty="0" smtClean="0">
                            <a:latin typeface="Cambria Math" panose="02040503050406030204" pitchFamily="18" charset="0"/>
                          </a:rPr>
                          <m:t>2</m:t>
                        </m:r>
                      </m:den>
                    </m:f>
                    <m:d>
                      <m:dPr>
                        <m:ctrlPr>
                          <a:rPr lang="en-ZA" i="1" dirty="0">
                            <a:latin typeface="Cambria Math" panose="02040503050406030204" pitchFamily="18" charset="0"/>
                          </a:rPr>
                        </m:ctrlPr>
                      </m:dPr>
                      <m:e>
                        <m:r>
                          <a:rPr lang="en-ZA" i="1" dirty="0">
                            <a:latin typeface="Cambria Math" panose="02040503050406030204" pitchFamily="18" charset="0"/>
                          </a:rPr>
                          <m:t>0.88−10.10</m:t>
                        </m:r>
                      </m:e>
                    </m:d>
                    <m:r>
                      <a:rPr lang="en-ZA" b="0" i="1" dirty="0" smtClean="0">
                        <a:latin typeface="Cambria Math" panose="02040503050406030204" pitchFamily="18" charset="0"/>
                      </a:rPr>
                      <m:t>=−4.61.</m:t>
                    </m:r>
                  </m:oMath>
                </a14:m>
                <a:endParaRPr lang="en-ZA" dirty="0" smtClean="0"/>
              </a:p>
              <a:p>
                <a:r>
                  <a:rPr lang="en-ZA" dirty="0" smtClean="0"/>
                  <a:t>Should a woman who measures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1</m:t>
                        </m:r>
                      </m:sub>
                    </m:sSub>
                    <m:r>
                      <a:rPr lang="en-ZA" b="0" i="1" smtClean="0">
                        <a:latin typeface="Cambria Math" panose="02040503050406030204" pitchFamily="18" charset="0"/>
                      </a:rPr>
                      <m:t>=−0.210</m:t>
                    </m:r>
                  </m:oMath>
                </a14:m>
                <a:r>
                  <a:rPr lang="en-ZA" dirty="0" smtClean="0"/>
                  <a:t> and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2</m:t>
                        </m:r>
                      </m:sub>
                    </m:sSub>
                    <m:r>
                      <a:rPr lang="en-ZA" b="0" i="1" smtClean="0">
                        <a:latin typeface="Cambria Math" panose="02040503050406030204" pitchFamily="18" charset="0"/>
                      </a:rPr>
                      <m:t>=−0.044</m:t>
                    </m:r>
                  </m:oMath>
                </a14:m>
                <a:r>
                  <a:rPr lang="en-ZA" dirty="0" smtClean="0"/>
                  <a:t> be classified as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oMath>
                </a14:m>
                <a:r>
                  <a:rPr lang="en-ZA" dirty="0" smtClean="0"/>
                  <a:t> (normal) or as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2</m:t>
                        </m:r>
                      </m:sub>
                    </m:sSub>
                  </m:oMath>
                </a14:m>
                <a:r>
                  <a:rPr lang="en-ZA" dirty="0" smtClean="0"/>
                  <a:t>(a carrier)?</a:t>
                </a:r>
              </a:p>
              <a:p>
                <a:r>
                  <a:rPr lang="en-ZA" dirty="0" smtClean="0"/>
                  <a:t>We need to calculate </a:t>
                </a:r>
                <a14:m>
                  <m:oMath xmlns:m="http://schemas.openxmlformats.org/officeDocument/2006/math">
                    <m:sSub>
                      <m:sSubPr>
                        <m:ctrlPr>
                          <a:rPr lang="en-ZA" i="1" smtClean="0">
                            <a:latin typeface="Cambria Math" panose="02040503050406030204" pitchFamily="18" charset="0"/>
                          </a:rPr>
                        </m:ctrlPr>
                      </m:sSubPr>
                      <m:e>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𝑦</m:t>
                            </m:r>
                          </m:e>
                        </m:acc>
                      </m:e>
                      <m:sub>
                        <m:r>
                          <a:rPr lang="en-ZA" b="0" i="1" smtClean="0">
                            <a:latin typeface="Cambria Math" panose="02040503050406030204" pitchFamily="18" charset="0"/>
                          </a:rPr>
                          <m:t>0</m:t>
                        </m:r>
                      </m:sub>
                    </m:sSub>
                    <m:r>
                      <a:rPr lang="en-ZA" b="0" i="1" smtClean="0">
                        <a:latin typeface="Cambria Math" panose="02040503050406030204" pitchFamily="18" charset="0"/>
                      </a:rPr>
                      <m:t>=</m:t>
                    </m:r>
                    <m:sSup>
                      <m:sSupPr>
                        <m:ctrlPr>
                          <a:rPr lang="en-ZA" b="0" i="1" smtClean="0">
                            <a:latin typeface="Cambria Math" panose="02040503050406030204" pitchFamily="18" charset="0"/>
                          </a:rPr>
                        </m:ctrlPr>
                      </m:sSup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𝑎</m:t>
                            </m:r>
                          </m:e>
                        </m:acc>
                      </m:e>
                      <m:sup>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0</m:t>
                            </m:r>
                          </m:sub>
                        </m:sSub>
                      </m:sup>
                    </m:sSup>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2"/>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3</m:t>
                              </m:r>
                              <m:r>
                                <a:rPr lang="en-ZA" b="0" i="1" smtClean="0">
                                  <a:latin typeface="Cambria Math" panose="02040503050406030204" pitchFamily="18" charset="0"/>
                                </a:rPr>
                                <m:t>7.61</m:t>
                              </m:r>
                            </m:e>
                            <m:e>
                              <m:r>
                                <a:rPr lang="en-ZA" b="0" i="1" smtClean="0">
                                  <a:latin typeface="Cambria Math" panose="02040503050406030204" pitchFamily="18" charset="0"/>
                                </a:rPr>
                                <m:t>−28.92</m:t>
                              </m:r>
                            </m:e>
                          </m:mr>
                        </m:m>
                      </m:e>
                    </m:d>
                    <m:d>
                      <m:dPr>
                        <m:begChr m:val="["/>
                        <m:endChr m:val="]"/>
                        <m:ctrlPr>
                          <a:rPr lang="en-ZA" b="0" i="1" smtClean="0">
                            <a:latin typeface="Cambria Math" panose="02040503050406030204" pitchFamily="18" charset="0"/>
                          </a:rPr>
                        </m:ctrlPr>
                      </m:dPr>
                      <m:e>
                        <m:m>
                          <m:mPr>
                            <m:mcs>
                              <m:mc>
                                <m:mcPr>
                                  <m:count m:val="1"/>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m:t>
                              </m:r>
                              <m:r>
                                <a:rPr lang="en-ZA" b="0" i="1" smtClean="0">
                                  <a:latin typeface="Cambria Math" panose="02040503050406030204" pitchFamily="18" charset="0"/>
                                </a:rPr>
                                <m:t>0.210</m:t>
                              </m:r>
                            </m:e>
                          </m:mr>
                          <m:mr>
                            <m:e>
                              <m:r>
                                <a:rPr lang="en-ZA" b="0" i="1" smtClean="0">
                                  <a:latin typeface="Cambria Math" panose="02040503050406030204" pitchFamily="18" charset="0"/>
                                </a:rPr>
                                <m:t>−0.044</m:t>
                              </m:r>
                            </m:e>
                          </m:mr>
                        </m:m>
                      </m:e>
                    </m:d>
                    <m:r>
                      <a:rPr lang="en-ZA" b="0" i="1" smtClean="0">
                        <a:latin typeface="Cambria Math" panose="02040503050406030204" pitchFamily="18" charset="0"/>
                      </a:rPr>
                      <m:t>=−6.62&lt;−4.61</m:t>
                    </m:r>
                  </m:oMath>
                </a14:m>
                <a:endParaRPr lang="en-ZA" dirty="0" smtClean="0"/>
              </a:p>
              <a:p>
                <a:r>
                  <a:rPr lang="en-ZA" dirty="0" smtClean="0"/>
                  <a:t>Which classifies the woman  of population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2</m:t>
                        </m:r>
                      </m:sub>
                    </m:sSub>
                  </m:oMath>
                </a14:m>
                <a:r>
                  <a:rPr lang="en-ZA" dirty="0" smtClean="0"/>
                  <a:t>, a carrier.</a:t>
                </a:r>
              </a:p>
            </p:txBody>
          </p:sp>
        </mc:Choice>
        <mc:Fallback xmlns="">
          <p:sp>
            <p:nvSpPr>
              <p:cNvPr id="2" name="TextBox 1"/>
              <p:cNvSpPr txBox="1">
                <a:spLocks noRot="1" noChangeAspect="1" noMove="1" noResize="1" noEditPoints="1" noAdjustHandles="1" noChangeArrowheads="1" noChangeShapeType="1" noTextEdit="1"/>
              </p:cNvSpPr>
              <p:nvPr/>
            </p:nvSpPr>
            <p:spPr>
              <a:xfrm>
                <a:off x="190500" y="82550"/>
                <a:ext cx="11811000" cy="6640344"/>
              </a:xfrm>
              <a:prstGeom prst="rect">
                <a:avLst/>
              </a:prstGeom>
              <a:blipFill rotWithShape="0">
                <a:blip r:embed="rId2"/>
                <a:stretch>
                  <a:fillRect l="-361" t="-458"/>
                </a:stretch>
              </a:blipFill>
              <a:ln>
                <a:solidFill>
                  <a:schemeClr val="accent1"/>
                </a:solidFill>
              </a:ln>
            </p:spPr>
            <p:txBody>
              <a:bodyPr/>
              <a:lstStyle/>
              <a:p>
                <a:r>
                  <a:rPr lang="en-ZA">
                    <a:noFill/>
                  </a:rPr>
                  <a:t> </a:t>
                </a:r>
              </a:p>
            </p:txBody>
          </p:sp>
        </mc:Fallback>
      </mc:AlternateContent>
      <p:pic>
        <p:nvPicPr>
          <p:cNvPr id="3" name="Picture 2"/>
          <p:cNvPicPr>
            <a:picLocks noChangeAspect="1"/>
          </p:cNvPicPr>
          <p:nvPr/>
        </p:nvPicPr>
        <p:blipFill>
          <a:blip r:embed="rId3"/>
          <a:stretch>
            <a:fillRect/>
          </a:stretch>
        </p:blipFill>
        <p:spPr>
          <a:xfrm>
            <a:off x="8539080" y="241350"/>
            <a:ext cx="3248474" cy="1968400"/>
          </a:xfrm>
          <a:prstGeom prst="rect">
            <a:avLst/>
          </a:prstGeom>
        </p:spPr>
      </p:pic>
      <p:sp>
        <p:nvSpPr>
          <p:cNvPr id="4" name="Oval Callout 3"/>
          <p:cNvSpPr/>
          <p:nvPr/>
        </p:nvSpPr>
        <p:spPr>
          <a:xfrm>
            <a:off x="9641254" y="2304122"/>
            <a:ext cx="2146300" cy="1098600"/>
          </a:xfrm>
          <a:prstGeom prst="wedgeEllipseCallout">
            <a:avLst>
              <a:gd name="adj1" fmla="val -22904"/>
              <a:gd name="adj2" fmla="val -97608"/>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Shows normal ellipses and separation between two groups</a:t>
            </a:r>
            <a:endParaRPr lang="en-ZA" sz="1100" dirty="0"/>
          </a:p>
        </p:txBody>
      </p:sp>
    </p:spTree>
    <p:extLst>
      <p:ext uri="{BB962C8B-B14F-4D97-AF65-F5344CB8AC3E}">
        <p14:creationId xmlns:p14="http://schemas.microsoft.com/office/powerpoint/2010/main" val="30948719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p:cNvSpPr txBox="1"/>
              <p:nvPr/>
            </p:nvSpPr>
            <p:spPr>
              <a:xfrm>
                <a:off x="88900" y="203200"/>
                <a:ext cx="11963400" cy="6477927"/>
              </a:xfrm>
              <a:prstGeom prst="rect">
                <a:avLst/>
              </a:prstGeom>
              <a:noFill/>
              <a:ln>
                <a:solidFill>
                  <a:schemeClr val="accent1"/>
                </a:solidFill>
              </a:ln>
            </p:spPr>
            <p:txBody>
              <a:bodyPr wrap="square" rtlCol="0">
                <a:spAutoFit/>
              </a:bodyPr>
              <a:lstStyle/>
              <a:p>
                <a:pPr algn="ctr"/>
                <a:r>
                  <a:rPr lang="en-ZA" dirty="0" smtClean="0"/>
                  <a:t>Fisher's </a:t>
                </a:r>
                <a:r>
                  <a:rPr lang="en-ZA" dirty="0"/>
                  <a:t>Linear Discriminant </a:t>
                </a:r>
                <a:r>
                  <a:rPr lang="en-ZA" dirty="0" smtClean="0"/>
                  <a:t>Analysis</a:t>
                </a:r>
              </a:p>
              <a:p>
                <a:pPr algn="ctr"/>
                <a:endParaRPr lang="en-ZA" dirty="0"/>
              </a:p>
              <a:p>
                <a:r>
                  <a:rPr lang="en-ZA" dirty="0"/>
                  <a:t>(making no distributional assumptions but assuming a common covariance matrix.)</a:t>
                </a:r>
              </a:p>
              <a:p>
                <a:endParaRPr lang="en-ZA" dirty="0"/>
              </a:p>
              <a:p>
                <a:r>
                  <a:rPr lang="en-ZA" dirty="0"/>
                  <a:t>The general idea is to transform multivariate observations </a:t>
                </a:r>
                <a:r>
                  <a:rPr lang="en-ZA" dirty="0" smtClean="0"/>
                  <a:t> </a:t>
                </a:r>
                <a14:m>
                  <m:oMath xmlns:m="http://schemas.openxmlformats.org/officeDocument/2006/math">
                    <m:r>
                      <a:rPr lang="en-ZA" b="0" i="1" smtClean="0">
                        <a:latin typeface="Cambria Math" panose="02040503050406030204" pitchFamily="18" charset="0"/>
                      </a:rPr>
                      <m:t>𝑥</m:t>
                    </m:r>
                    <m:r>
                      <a:rPr lang="en-ZA" b="0" i="1" smtClean="0">
                        <a:latin typeface="Cambria Math" panose="02040503050406030204" pitchFamily="18" charset="0"/>
                      </a:rPr>
                      <m:t> </m:t>
                    </m:r>
                  </m:oMath>
                </a14:m>
                <a:r>
                  <a:rPr lang="en-ZA" dirty="0" smtClean="0"/>
                  <a:t>to </a:t>
                </a:r>
                <a:r>
                  <a:rPr lang="en-ZA" dirty="0"/>
                  <a:t>univariate </a:t>
                </a:r>
                <a:r>
                  <a:rPr lang="en-ZA" dirty="0" smtClean="0"/>
                  <a:t>observations  </a:t>
                </a:r>
                <a14:m>
                  <m:oMath xmlns:m="http://schemas.openxmlformats.org/officeDocument/2006/math">
                    <m:r>
                      <a:rPr lang="en-ZA" b="0" i="1" smtClean="0">
                        <a:latin typeface="Cambria Math" panose="02040503050406030204" pitchFamily="18" charset="0"/>
                      </a:rPr>
                      <m:t>𝑦</m:t>
                    </m:r>
                  </m:oMath>
                </a14:m>
                <a:r>
                  <a:rPr lang="en-ZA" dirty="0" smtClean="0"/>
                  <a:t> (</a:t>
                </a:r>
                <a:r>
                  <a:rPr lang="en-ZA" dirty="0"/>
                  <a:t>by taking linear combinations) such that </a:t>
                </a:r>
                <a:r>
                  <a:rPr lang="en-ZA" dirty="0" smtClean="0"/>
                  <a:t>the </a:t>
                </a:r>
                <a14:m>
                  <m:oMath xmlns:m="http://schemas.openxmlformats.org/officeDocument/2006/math">
                    <m:sSup>
                      <m:sSupPr>
                        <m:ctrlPr>
                          <a:rPr lang="en-ZA" b="0" i="1" smtClean="0">
                            <a:latin typeface="Cambria Math" panose="02040503050406030204" pitchFamily="18" charset="0"/>
                          </a:rPr>
                        </m:ctrlPr>
                      </m:sSupPr>
                      <m:e>
                        <m:r>
                          <a:rPr lang="en-ZA" b="0" i="1" smtClean="0">
                            <a:latin typeface="Cambria Math" panose="02040503050406030204" pitchFamily="18" charset="0"/>
                          </a:rPr>
                          <m:t>𝑦</m:t>
                        </m:r>
                      </m:e>
                      <m:sup>
                        <m:r>
                          <a:rPr lang="en-ZA" b="0" i="1" smtClean="0">
                            <a:latin typeface="Cambria Math" panose="02040503050406030204" pitchFamily="18" charset="0"/>
                          </a:rPr>
                          <m:t>′</m:t>
                        </m:r>
                      </m:sup>
                    </m:sSup>
                    <m:r>
                      <a:rPr lang="en-ZA" b="0" i="1" smtClean="0">
                        <a:latin typeface="Cambria Math" panose="02040503050406030204" pitchFamily="18" charset="0"/>
                      </a:rPr>
                      <m:t>𝑠</m:t>
                    </m:r>
                  </m:oMath>
                </a14:m>
                <a:r>
                  <a:rPr lang="en-ZA" dirty="0" smtClean="0"/>
                  <a:t> derived </a:t>
                </a:r>
                <a:r>
                  <a:rPr lang="en-ZA" dirty="0"/>
                  <a:t>from </a:t>
                </a:r>
                <a:r>
                  <a:rPr lang="en-ZA" dirty="0" smtClean="0"/>
                  <a:t>populations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oMath>
                </a14:m>
                <a:r>
                  <a:rPr lang="en-ZA" dirty="0" smtClean="0"/>
                  <a:t> and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2</m:t>
                        </m:r>
                      </m:sub>
                    </m:sSub>
                  </m:oMath>
                </a14:m>
                <a:r>
                  <a:rPr lang="en-ZA" dirty="0" smtClean="0"/>
                  <a:t>  </a:t>
                </a:r>
                <a:r>
                  <a:rPr lang="en-ZA" dirty="0"/>
                  <a:t>are separated as much as possible. We measure this separation in terms of standard deviation units estimated by the average of the within-sample standard deviations corresponding to the two populations.</a:t>
                </a:r>
              </a:p>
              <a:p>
                <a:endParaRPr lang="en-ZA" dirty="0"/>
              </a:p>
              <a:p>
                <a:r>
                  <a:rPr lang="en-ZA" dirty="0"/>
                  <a:t>This equates to maximizing the </a:t>
                </a:r>
                <a:r>
                  <a:rPr lang="en-ZA" dirty="0" smtClean="0"/>
                  <a:t>ratio   </a:t>
                </a:r>
                <a14:m>
                  <m:oMath xmlns:m="http://schemas.openxmlformats.org/officeDocument/2006/math">
                    <m:f>
                      <m:fPr>
                        <m:ctrlPr>
                          <a:rPr lang="en-ZA" i="1" smtClean="0">
                            <a:latin typeface="Cambria Math" panose="02040503050406030204" pitchFamily="18" charset="0"/>
                          </a:rPr>
                        </m:ctrlPr>
                      </m:fPr>
                      <m:num>
                        <m:r>
                          <a:rPr lang="en-ZA" b="0" i="1" smtClean="0">
                            <a:latin typeface="Cambria Math" panose="02040503050406030204" pitchFamily="18" charset="0"/>
                          </a:rPr>
                          <m:t>𝑠𝑞𝑢𝑎𝑟𝑒𝑑</m:t>
                        </m:r>
                        <m:r>
                          <a:rPr lang="en-ZA" b="0" i="1" smtClean="0">
                            <a:latin typeface="Cambria Math" panose="02040503050406030204" pitchFamily="18" charset="0"/>
                          </a:rPr>
                          <m:t> </m:t>
                        </m:r>
                        <m:r>
                          <a:rPr lang="en-ZA" b="0" i="1" smtClean="0">
                            <a:latin typeface="Cambria Math" panose="02040503050406030204" pitchFamily="18" charset="0"/>
                          </a:rPr>
                          <m:t>𝑑𝑖𝑠𝑡𝑎𝑛𝑐𝑒</m:t>
                        </m:r>
                        <m:r>
                          <a:rPr lang="en-ZA" b="0" i="1" smtClean="0">
                            <a:latin typeface="Cambria Math" panose="02040503050406030204" pitchFamily="18" charset="0"/>
                          </a:rPr>
                          <m:t> </m:t>
                        </m:r>
                        <m:r>
                          <a:rPr lang="en-ZA" b="0" i="1" smtClean="0">
                            <a:latin typeface="Cambria Math" panose="02040503050406030204" pitchFamily="18" charset="0"/>
                          </a:rPr>
                          <m:t>𝑏𝑒𝑡𝑤𝑒𝑒𝑛</m:t>
                        </m:r>
                        <m:r>
                          <a:rPr lang="en-ZA" b="0" i="1" smtClean="0">
                            <a:latin typeface="Cambria Math" panose="02040503050406030204" pitchFamily="18" charset="0"/>
                          </a:rPr>
                          <m:t> </m:t>
                        </m:r>
                        <m:r>
                          <a:rPr lang="en-ZA" b="0" i="1" smtClean="0">
                            <a:latin typeface="Cambria Math" panose="02040503050406030204" pitchFamily="18" charset="0"/>
                          </a:rPr>
                          <m:t>𝑠𝑎𝑚𝑝𝑙𝑒</m:t>
                        </m:r>
                        <m:r>
                          <a:rPr lang="en-ZA" b="0" i="1" smtClean="0">
                            <a:latin typeface="Cambria Math" panose="02040503050406030204" pitchFamily="18" charset="0"/>
                          </a:rPr>
                          <m:t> </m:t>
                        </m:r>
                        <m:r>
                          <a:rPr lang="en-ZA" b="0" i="1" smtClean="0">
                            <a:latin typeface="Cambria Math" panose="02040503050406030204" pitchFamily="18" charset="0"/>
                          </a:rPr>
                          <m:t>𝑚𝑒𝑎𝑛𝑠</m:t>
                        </m:r>
                        <m:r>
                          <a:rPr lang="en-ZA" b="0" i="1" smtClean="0">
                            <a:latin typeface="Cambria Math" panose="02040503050406030204" pitchFamily="18" charset="0"/>
                          </a:rPr>
                          <m:t> </m:t>
                        </m:r>
                        <m:r>
                          <a:rPr lang="en-ZA" b="0" i="1" smtClean="0">
                            <a:latin typeface="Cambria Math" panose="02040503050406030204" pitchFamily="18" charset="0"/>
                          </a:rPr>
                          <m:t>𝑜𝑓</m:t>
                        </m:r>
                        <m:r>
                          <a:rPr lang="en-ZA" b="0" i="1" smtClean="0">
                            <a:latin typeface="Cambria Math" panose="02040503050406030204" pitchFamily="18" charset="0"/>
                          </a:rPr>
                          <m:t> </m:t>
                        </m:r>
                        <m:r>
                          <a:rPr lang="en-ZA" b="0" i="1" smtClean="0">
                            <a:latin typeface="Cambria Math" panose="02040503050406030204" pitchFamily="18" charset="0"/>
                          </a:rPr>
                          <m:t>𝑦</m:t>
                        </m:r>
                      </m:num>
                      <m:den>
                        <m:r>
                          <a:rPr lang="en-ZA" b="0" i="1" smtClean="0">
                            <a:latin typeface="Cambria Math" panose="02040503050406030204" pitchFamily="18" charset="0"/>
                          </a:rPr>
                          <m:t>𝑝𝑜𝑜𝑙𝑒𝑑</m:t>
                        </m:r>
                        <m:r>
                          <a:rPr lang="en-ZA" b="0" i="1" smtClean="0">
                            <a:latin typeface="Cambria Math" panose="02040503050406030204" pitchFamily="18" charset="0"/>
                          </a:rPr>
                          <m:t> </m:t>
                        </m:r>
                        <m:r>
                          <a:rPr lang="en-ZA" b="0" i="1" smtClean="0">
                            <a:latin typeface="Cambria Math" panose="02040503050406030204" pitchFamily="18" charset="0"/>
                          </a:rPr>
                          <m:t>𝑠𝑎𝑚𝑝𝑙𝑒</m:t>
                        </m:r>
                        <m:r>
                          <a:rPr lang="en-ZA" b="0" i="1" smtClean="0">
                            <a:latin typeface="Cambria Math" panose="02040503050406030204" pitchFamily="18" charset="0"/>
                          </a:rPr>
                          <m:t> </m:t>
                        </m:r>
                        <m:r>
                          <a:rPr lang="en-ZA" b="0" i="1" smtClean="0">
                            <a:latin typeface="Cambria Math" panose="02040503050406030204" pitchFamily="18" charset="0"/>
                          </a:rPr>
                          <m:t>𝑣𝑎𝑟𝑖𝑎𝑛𝑐𝑒</m:t>
                        </m:r>
                        <m:r>
                          <a:rPr lang="en-ZA" b="0" i="1" smtClean="0">
                            <a:latin typeface="Cambria Math" panose="02040503050406030204" pitchFamily="18" charset="0"/>
                          </a:rPr>
                          <m:t> </m:t>
                        </m:r>
                        <m:r>
                          <a:rPr lang="en-ZA" b="0" i="1" smtClean="0">
                            <a:latin typeface="Cambria Math" panose="02040503050406030204" pitchFamily="18" charset="0"/>
                          </a:rPr>
                          <m:t>𝑜𝑓</m:t>
                        </m:r>
                        <m:r>
                          <a:rPr lang="en-ZA" b="0" i="1" smtClean="0">
                            <a:latin typeface="Cambria Math" panose="02040503050406030204" pitchFamily="18" charset="0"/>
                          </a:rPr>
                          <m:t> </m:t>
                        </m:r>
                        <m:r>
                          <a:rPr lang="en-ZA" b="0" i="1" smtClean="0">
                            <a:latin typeface="Cambria Math" panose="02040503050406030204" pitchFamily="18" charset="0"/>
                          </a:rPr>
                          <m:t>𝑌</m:t>
                        </m:r>
                      </m:den>
                    </m:f>
                    <m:r>
                      <a:rPr lang="en-ZA" b="0" i="1" smtClean="0">
                        <a:latin typeface="Cambria Math" panose="02040503050406030204" pitchFamily="18" charset="0"/>
                      </a:rPr>
                      <m:t>=</m:t>
                    </m:r>
                    <m:f>
                      <m:fPr>
                        <m:ctrlPr>
                          <a:rPr lang="en-ZA" b="0" i="1" smtClean="0">
                            <a:latin typeface="Cambria Math" panose="02040503050406030204" pitchFamily="18" charset="0"/>
                          </a:rPr>
                        </m:ctrlPr>
                      </m:fPr>
                      <m:num>
                        <m:r>
                          <a:rPr lang="en-ZA" b="0" i="1" smtClean="0">
                            <a:latin typeface="Cambria Math" panose="02040503050406030204" pitchFamily="18" charset="0"/>
                          </a:rPr>
                          <m:t>𝐵𝑒𝑡𝑤𝑒𝑒𝑛</m:t>
                        </m:r>
                        <m:r>
                          <a:rPr lang="en-ZA" b="0" i="1" smtClean="0">
                            <a:latin typeface="Cambria Math" panose="02040503050406030204" pitchFamily="18" charset="0"/>
                          </a:rPr>
                          <m:t> </m:t>
                        </m:r>
                        <m:r>
                          <a:rPr lang="en-ZA" b="0" i="1" smtClean="0">
                            <a:latin typeface="Cambria Math" panose="02040503050406030204" pitchFamily="18" charset="0"/>
                          </a:rPr>
                          <m:t>𝑔𝑟𝑜𝑢𝑝</m:t>
                        </m:r>
                        <m:r>
                          <a:rPr lang="en-ZA" b="0" i="1" smtClean="0">
                            <a:latin typeface="Cambria Math" panose="02040503050406030204" pitchFamily="18" charset="0"/>
                          </a:rPr>
                          <m:t> </m:t>
                        </m:r>
                        <m:r>
                          <a:rPr lang="en-ZA" b="0" i="1" smtClean="0">
                            <a:latin typeface="Cambria Math" panose="02040503050406030204" pitchFamily="18" charset="0"/>
                          </a:rPr>
                          <m:t>𝑣𝑎𝑟𝑖𝑎𝑛𝑐𝑒</m:t>
                        </m:r>
                      </m:num>
                      <m:den>
                        <m:r>
                          <a:rPr lang="en-ZA" b="0" i="1" smtClean="0">
                            <a:latin typeface="Cambria Math" panose="02040503050406030204" pitchFamily="18" charset="0"/>
                          </a:rPr>
                          <m:t>𝑊𝑖𝑡h𝑖𝑛</m:t>
                        </m:r>
                        <m:r>
                          <a:rPr lang="en-ZA" b="0" i="1" smtClean="0">
                            <a:latin typeface="Cambria Math" panose="02040503050406030204" pitchFamily="18" charset="0"/>
                          </a:rPr>
                          <m:t> </m:t>
                        </m:r>
                        <m:r>
                          <a:rPr lang="en-ZA" b="0" i="1" smtClean="0">
                            <a:latin typeface="Cambria Math" panose="02040503050406030204" pitchFamily="18" charset="0"/>
                          </a:rPr>
                          <m:t>𝑔𝑟𝑜𝑢𝑝</m:t>
                        </m:r>
                        <m:r>
                          <a:rPr lang="en-ZA" b="0" i="1" smtClean="0">
                            <a:latin typeface="Cambria Math" panose="02040503050406030204" pitchFamily="18" charset="0"/>
                          </a:rPr>
                          <m:t> </m:t>
                        </m:r>
                        <m:r>
                          <a:rPr lang="en-ZA" b="0" i="1" smtClean="0">
                            <a:latin typeface="Cambria Math" panose="02040503050406030204" pitchFamily="18" charset="0"/>
                          </a:rPr>
                          <m:t>𝑣𝑎𝑟𝑖𝑎𝑛𝑐𝑒</m:t>
                        </m:r>
                      </m:den>
                    </m:f>
                    <m:r>
                      <a:rPr lang="en-ZA" b="0" i="1" smtClean="0">
                        <a:latin typeface="Cambria Math" panose="02040503050406030204" pitchFamily="18" charset="0"/>
                      </a:rPr>
                      <m:t>=</m:t>
                    </m:r>
                    <m:f>
                      <m:fPr>
                        <m:ctrlPr>
                          <a:rPr lang="en-ZA" b="0" i="1" smtClean="0">
                            <a:latin typeface="Cambria Math" panose="02040503050406030204" pitchFamily="18" charset="0"/>
                          </a:rPr>
                        </m:ctrlPr>
                      </m:fPr>
                      <m:num>
                        <m:sSup>
                          <m:sSupPr>
                            <m:ctrlPr>
                              <a:rPr lang="en-ZA" b="0" i="1" smtClean="0">
                                <a:latin typeface="Cambria Math" panose="02040503050406030204" pitchFamily="18" charset="0"/>
                              </a:rPr>
                            </m:ctrlPr>
                          </m:sSupPr>
                          <m:e>
                            <m:r>
                              <a:rPr lang="en-ZA" b="0" i="1" smtClean="0">
                                <a:latin typeface="Cambria Math" panose="02040503050406030204" pitchFamily="18" charset="0"/>
                              </a:rPr>
                              <m:t>𝑎</m:t>
                            </m:r>
                          </m:e>
                          <m:sup>
                            <m:r>
                              <a:rPr lang="en-ZA" b="0" i="1" smtClean="0">
                                <a:latin typeface="Cambria Math" panose="02040503050406030204" pitchFamily="18" charset="0"/>
                              </a:rPr>
                              <m:t>′</m:t>
                            </m:r>
                          </m:sup>
                        </m:sSup>
                        <m:r>
                          <a:rPr lang="en-ZA" b="0" i="1" smtClean="0">
                            <a:latin typeface="Cambria Math" panose="02040503050406030204" pitchFamily="18" charset="0"/>
                          </a:rPr>
                          <m:t>𝐵𝑎</m:t>
                        </m:r>
                      </m:num>
                      <m:den>
                        <m:sSup>
                          <m:sSupPr>
                            <m:ctrlPr>
                              <a:rPr lang="en-ZA" b="0" i="1" smtClean="0">
                                <a:latin typeface="Cambria Math" panose="02040503050406030204" pitchFamily="18" charset="0"/>
                              </a:rPr>
                            </m:ctrlPr>
                          </m:sSupPr>
                          <m:e>
                            <m:r>
                              <a:rPr lang="en-ZA" b="0" i="1" smtClean="0">
                                <a:latin typeface="Cambria Math" panose="02040503050406030204" pitchFamily="18" charset="0"/>
                              </a:rPr>
                              <m:t>𝑎</m:t>
                            </m:r>
                          </m:e>
                          <m:sup>
                            <m:r>
                              <a:rPr lang="en-ZA" b="0" i="1" smtClean="0">
                                <a:latin typeface="Cambria Math" panose="02040503050406030204" pitchFamily="18" charset="0"/>
                              </a:rPr>
                              <m:t>′</m:t>
                            </m:r>
                          </m:sup>
                        </m:sSup>
                        <m:r>
                          <a:rPr lang="en-ZA" b="0" i="1" smtClean="0">
                            <a:latin typeface="Cambria Math" panose="02040503050406030204" pitchFamily="18" charset="0"/>
                          </a:rPr>
                          <m:t>𝑊𝑎</m:t>
                        </m:r>
                      </m:den>
                    </m:f>
                  </m:oMath>
                </a14:m>
                <a:endParaRPr lang="en-ZA" dirty="0" smtClean="0"/>
              </a:p>
              <a:p>
                <a:endParaRPr lang="en-ZA" dirty="0" smtClean="0"/>
              </a:p>
              <a:p>
                <a:r>
                  <a:rPr lang="en-ZA" dirty="0" smtClean="0"/>
                  <a:t>where </a:t>
                </a:r>
                <a14:m>
                  <m:oMath xmlns:m="http://schemas.openxmlformats.org/officeDocument/2006/math">
                    <m:sSub>
                      <m:sSubPr>
                        <m:ctrlPr>
                          <a:rPr lang="en-ZA" i="1" smtClean="0">
                            <a:latin typeface="Cambria Math" panose="02040503050406030204" pitchFamily="18" charset="0"/>
                          </a:rPr>
                        </m:ctrlPr>
                      </m:sSubPr>
                      <m:e>
                        <m:r>
                          <a:rPr lang="en-ZA" b="1" i="1" smtClean="0">
                            <a:latin typeface="Cambria Math" panose="02040503050406030204" pitchFamily="18" charset="0"/>
                          </a:rPr>
                          <m:t>𝑩</m:t>
                        </m:r>
                      </m:e>
                      <m:sub>
                        <m:r>
                          <a:rPr lang="en-ZA" b="0" i="1" smtClean="0">
                            <a:latin typeface="Cambria Math" panose="02040503050406030204" pitchFamily="18" charset="0"/>
                          </a:rPr>
                          <m:t>𝑝</m:t>
                        </m:r>
                        <m:r>
                          <a:rPr lang="en-ZA" b="0" i="1" smtClean="0">
                            <a:latin typeface="Cambria Math" panose="02040503050406030204" pitchFamily="18" charset="0"/>
                            <a:ea typeface="Cambria Math" panose="02040503050406030204" pitchFamily="18" charset="0"/>
                          </a:rPr>
                          <m:t>×</m:t>
                        </m:r>
                        <m:r>
                          <a:rPr lang="en-ZA" b="0" i="1" smtClean="0">
                            <a:latin typeface="Cambria Math" panose="02040503050406030204" pitchFamily="18" charset="0"/>
                            <a:ea typeface="Cambria Math" panose="02040503050406030204" pitchFamily="18" charset="0"/>
                          </a:rPr>
                          <m:t>𝑝</m:t>
                        </m:r>
                      </m:sub>
                    </m:sSub>
                    <m:r>
                      <a:rPr lang="en-ZA" b="0" i="1" smtClean="0">
                        <a:latin typeface="Cambria Math" panose="02040503050406030204" pitchFamily="18" charset="0"/>
                      </a:rPr>
                      <m:t>=</m:t>
                    </m:r>
                    <m:nary>
                      <m:naryPr>
                        <m:chr m:val="∑"/>
                        <m:ctrlPr>
                          <a:rPr lang="en-ZA" b="0" i="1" smtClean="0">
                            <a:latin typeface="Cambria Math" panose="02040503050406030204" pitchFamily="18" charset="0"/>
                          </a:rPr>
                        </m:ctrlPr>
                      </m:naryPr>
                      <m:sub>
                        <m:r>
                          <m:rPr>
                            <m:brk m:alnAt="23"/>
                          </m:rPr>
                          <a:rPr lang="en-ZA" b="0" i="1" smtClean="0">
                            <a:latin typeface="Cambria Math" panose="02040503050406030204" pitchFamily="18" charset="0"/>
                          </a:rPr>
                          <m:t>𝑖</m:t>
                        </m:r>
                        <m:r>
                          <a:rPr lang="en-ZA" b="0" i="1" smtClean="0">
                            <a:latin typeface="Cambria Math" panose="02040503050406030204" pitchFamily="18" charset="0"/>
                          </a:rPr>
                          <m:t>=</m:t>
                        </m:r>
                        <m:r>
                          <m:rPr>
                            <m:brk m:alnAt="23"/>
                          </m:rPr>
                          <a:rPr lang="en-ZA" b="0" i="1" smtClean="0">
                            <a:latin typeface="Cambria Math" panose="02040503050406030204" pitchFamily="18" charset="0"/>
                          </a:rPr>
                          <m:t>1</m:t>
                        </m:r>
                      </m:sub>
                      <m:sup>
                        <m:r>
                          <a:rPr lang="en-ZA" b="0" i="1" smtClean="0">
                            <a:latin typeface="Cambria Math" panose="02040503050406030204" pitchFamily="18" charset="0"/>
                          </a:rPr>
                          <m:t>𝑔</m:t>
                        </m:r>
                      </m:sup>
                      <m:e>
                        <m:r>
                          <a:rPr lang="en-ZA" b="0" i="1" smtClean="0">
                            <a:latin typeface="Cambria Math" panose="02040503050406030204" pitchFamily="18" charset="0"/>
                          </a:rPr>
                          <m:t> </m:t>
                        </m:r>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𝑖</m:t>
                            </m:r>
                            <m:r>
                              <a:rPr lang="en-ZA" b="0" i="1" smtClean="0">
                                <a:latin typeface="Cambria Math" panose="02040503050406030204" pitchFamily="18" charset="0"/>
                              </a:rPr>
                              <m:t>.</m:t>
                            </m:r>
                          </m:sub>
                        </m:sSub>
                        <m:r>
                          <a:rPr lang="en-ZA" b="0" i="1" smtClean="0">
                            <a:latin typeface="Cambria Math" panose="02040503050406030204" pitchFamily="18" charset="0"/>
                          </a:rPr>
                          <m:t>−</m:t>
                        </m:r>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𝑖</m:t>
                            </m:r>
                            <m:r>
                              <a:rPr lang="en-ZA" b="0" i="1" smtClean="0">
                                <a:latin typeface="Cambria Math" panose="02040503050406030204" pitchFamily="18" charset="0"/>
                              </a:rPr>
                              <m:t>.</m:t>
                            </m:r>
                          </m:sub>
                        </m:sSub>
                        <m:r>
                          <a:rPr lang="en-ZA" b="0" i="1" smtClean="0">
                            <a:latin typeface="Cambria Math" panose="02040503050406030204" pitchFamily="18" charset="0"/>
                          </a:rPr>
                          <m:t>−</m:t>
                        </m:r>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r>
                          <a:rPr lang="en-ZA" b="0" i="1" smtClean="0">
                            <a:latin typeface="Cambria Math" panose="02040503050406030204" pitchFamily="18" charset="0"/>
                          </a:rPr>
                          <m:t>)′</m:t>
                        </m:r>
                      </m:e>
                    </m:nary>
                  </m:oMath>
                </a14:m>
                <a:r>
                  <a:rPr lang="en-ZA" dirty="0" smtClean="0"/>
                  <a:t> and </a:t>
                </a:r>
                <a14:m>
                  <m:oMath xmlns:m="http://schemas.openxmlformats.org/officeDocument/2006/math">
                    <m:sSub>
                      <m:sSubPr>
                        <m:ctrlPr>
                          <a:rPr lang="en-ZA" i="1" smtClean="0">
                            <a:latin typeface="Cambria Math" panose="02040503050406030204" pitchFamily="18" charset="0"/>
                          </a:rPr>
                        </m:ctrlPr>
                      </m:sSubPr>
                      <m:e>
                        <m:r>
                          <a:rPr lang="en-ZA" b="1" i="1" smtClean="0">
                            <a:latin typeface="Cambria Math" panose="02040503050406030204" pitchFamily="18" charset="0"/>
                          </a:rPr>
                          <m:t>𝑾</m:t>
                        </m:r>
                      </m:e>
                      <m:sub>
                        <m:r>
                          <a:rPr lang="en-ZA" b="0" i="1" smtClean="0">
                            <a:latin typeface="Cambria Math" panose="02040503050406030204" pitchFamily="18" charset="0"/>
                          </a:rPr>
                          <m:t>𝑝</m:t>
                        </m:r>
                        <m:r>
                          <a:rPr lang="en-ZA" b="0" i="1" smtClean="0">
                            <a:latin typeface="Cambria Math" panose="02040503050406030204" pitchFamily="18" charset="0"/>
                            <a:ea typeface="Cambria Math" panose="02040503050406030204" pitchFamily="18" charset="0"/>
                          </a:rPr>
                          <m:t>×</m:t>
                        </m:r>
                        <m:r>
                          <a:rPr lang="en-ZA" b="0" i="1" smtClean="0">
                            <a:latin typeface="Cambria Math" panose="02040503050406030204" pitchFamily="18" charset="0"/>
                            <a:ea typeface="Cambria Math" panose="02040503050406030204" pitchFamily="18" charset="0"/>
                          </a:rPr>
                          <m:t>𝑝</m:t>
                        </m:r>
                      </m:sub>
                    </m:sSub>
                    <m:r>
                      <a:rPr lang="en-ZA" b="0" i="1" smtClean="0">
                        <a:latin typeface="Cambria Math" panose="02040503050406030204" pitchFamily="18" charset="0"/>
                      </a:rPr>
                      <m:t>=</m:t>
                    </m:r>
                    <m:nary>
                      <m:naryPr>
                        <m:chr m:val="∑"/>
                        <m:ctrlPr>
                          <a:rPr lang="en-ZA" b="0" i="1" smtClean="0">
                            <a:latin typeface="Cambria Math" panose="02040503050406030204" pitchFamily="18" charset="0"/>
                          </a:rPr>
                        </m:ctrlPr>
                      </m:naryPr>
                      <m:sub>
                        <m:r>
                          <m:rPr>
                            <m:brk m:alnAt="23"/>
                          </m:rPr>
                          <a:rPr lang="en-ZA" b="0" i="1" smtClean="0">
                            <a:latin typeface="Cambria Math" panose="02040503050406030204" pitchFamily="18" charset="0"/>
                          </a:rPr>
                          <m:t>𝑖</m:t>
                        </m:r>
                        <m:r>
                          <a:rPr lang="en-ZA" b="0" i="1" smtClean="0">
                            <a:latin typeface="Cambria Math" panose="02040503050406030204" pitchFamily="18" charset="0"/>
                          </a:rPr>
                          <m:t>=</m:t>
                        </m:r>
                        <m:r>
                          <m:rPr>
                            <m:brk m:alnAt="23"/>
                          </m:rPr>
                          <a:rPr lang="en-ZA" b="0" i="1" smtClean="0">
                            <a:latin typeface="Cambria Math" panose="02040503050406030204" pitchFamily="18" charset="0"/>
                          </a:rPr>
                          <m:t>1</m:t>
                        </m:r>
                      </m:sub>
                      <m:sup>
                        <m:r>
                          <a:rPr lang="en-ZA" b="0" i="1" smtClean="0">
                            <a:latin typeface="Cambria Math" panose="02040503050406030204" pitchFamily="18" charset="0"/>
                          </a:rPr>
                          <m:t>𝑔</m:t>
                        </m:r>
                      </m:sup>
                      <m:e>
                        <m:nary>
                          <m:naryPr>
                            <m:chr m:val="∑"/>
                            <m:ctrlPr>
                              <a:rPr lang="en-ZA" b="0" i="1" smtClean="0">
                                <a:latin typeface="Cambria Math" panose="02040503050406030204" pitchFamily="18" charset="0"/>
                              </a:rPr>
                            </m:ctrlPr>
                          </m:naryPr>
                          <m:sub>
                            <m:r>
                              <m:rPr>
                                <m:brk m:alnAt="23"/>
                              </m:rPr>
                              <a:rPr lang="en-ZA" b="0" i="1" smtClean="0">
                                <a:latin typeface="Cambria Math" panose="02040503050406030204" pitchFamily="18" charset="0"/>
                              </a:rPr>
                              <m:t>𝑗</m:t>
                            </m:r>
                            <m:r>
                              <a:rPr lang="en-ZA" b="0" i="1" smtClean="0">
                                <a:latin typeface="Cambria Math" panose="02040503050406030204" pitchFamily="18" charset="0"/>
                              </a:rPr>
                              <m:t>=</m:t>
                            </m:r>
                            <m:r>
                              <m:rPr>
                                <m:brk m:alnAt="23"/>
                              </m:rPr>
                              <a:rPr lang="en-ZA" b="0" i="1" smtClean="0">
                                <a:latin typeface="Cambria Math" panose="02040503050406030204" pitchFamily="18" charset="0"/>
                              </a:rPr>
                              <m:t>1</m:t>
                            </m:r>
                          </m:sub>
                          <m:sup>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𝑖</m:t>
                                </m:r>
                              </m:sub>
                            </m:sSub>
                          </m:sup>
                          <m:e>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𝑖𝑗</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𝑖</m:t>
                                </m:r>
                                <m:r>
                                  <a:rPr lang="en-ZA" b="0" i="1" smtClean="0">
                                    <a:latin typeface="Cambria Math" panose="02040503050406030204" pitchFamily="18" charset="0"/>
                                  </a:rPr>
                                  <m:t>.</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𝑖𝑗</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𝑖</m:t>
                                </m:r>
                                <m:r>
                                  <a:rPr lang="en-ZA" b="0" i="1" smtClean="0">
                                    <a:latin typeface="Cambria Math" panose="02040503050406030204" pitchFamily="18" charset="0"/>
                                  </a:rPr>
                                  <m:t>.</m:t>
                                </m:r>
                              </m:sub>
                            </m:sSub>
                            <m:r>
                              <a:rPr lang="en-ZA" b="0" i="1" smtClean="0">
                                <a:latin typeface="Cambria Math" panose="02040503050406030204" pitchFamily="18" charset="0"/>
                              </a:rPr>
                              <m:t>)′</m:t>
                            </m:r>
                          </m:e>
                        </m:nary>
                      </m:e>
                    </m:nary>
                  </m:oMath>
                </a14:m>
                <a:r>
                  <a:rPr lang="en-ZA" dirty="0" smtClean="0"/>
                  <a:t>.</a:t>
                </a:r>
              </a:p>
              <a:p>
                <a:endParaRPr lang="en-ZA" dirty="0" smtClean="0"/>
              </a:p>
              <a:p>
                <a:r>
                  <a:rPr lang="en-ZA" dirty="0" smtClean="0"/>
                  <a:t>We </a:t>
                </a:r>
                <a:r>
                  <a:rPr lang="en-ZA" dirty="0"/>
                  <a:t>have already shown in previous chapters that the value of </a:t>
                </a:r>
                <a:r>
                  <a:rPr lang="en-ZA" dirty="0" smtClean="0"/>
                  <a:t> </a:t>
                </a:r>
                <a14:m>
                  <m:oMath xmlns:m="http://schemas.openxmlformats.org/officeDocument/2006/math">
                    <m:r>
                      <a:rPr lang="en-ZA" b="1" i="1" smtClean="0">
                        <a:latin typeface="Cambria Math" panose="02040503050406030204" pitchFamily="18" charset="0"/>
                      </a:rPr>
                      <m:t>𝒂</m:t>
                    </m:r>
                  </m:oMath>
                </a14:m>
                <a:r>
                  <a:rPr lang="en-ZA" dirty="0" smtClean="0"/>
                  <a:t> </a:t>
                </a:r>
                <a:r>
                  <a:rPr lang="en-ZA" dirty="0"/>
                  <a:t>for which this ratio is a maximum correspond </a:t>
                </a:r>
                <a:r>
                  <a:rPr lang="en-ZA" dirty="0" smtClean="0"/>
                  <a:t>to  </a:t>
                </a:r>
                <a14:m>
                  <m:oMath xmlns:m="http://schemas.openxmlformats.org/officeDocument/2006/math">
                    <m:r>
                      <a:rPr lang="en-ZA" b="1" i="1" smtClean="0">
                        <a:latin typeface="Cambria Math" panose="02040503050406030204" pitchFamily="18" charset="0"/>
                      </a:rPr>
                      <m:t>𝒂</m:t>
                    </m:r>
                  </m:oMath>
                </a14:m>
                <a:r>
                  <a:rPr lang="en-ZA" dirty="0" smtClean="0"/>
                  <a:t> being </a:t>
                </a:r>
                <a:r>
                  <a:rPr lang="en-ZA" dirty="0"/>
                  <a:t>an eigenvector of </a:t>
                </a:r>
                <a:r>
                  <a:rPr lang="en-ZA" dirty="0" smtClean="0"/>
                  <a:t> </a:t>
                </a:r>
                <a14:m>
                  <m:oMath xmlns:m="http://schemas.openxmlformats.org/officeDocument/2006/math">
                    <m:sSup>
                      <m:sSupPr>
                        <m:ctrlPr>
                          <a:rPr lang="en-ZA" b="1" i="1" smtClean="0">
                            <a:latin typeface="Cambria Math" panose="02040503050406030204" pitchFamily="18" charset="0"/>
                          </a:rPr>
                        </m:ctrlPr>
                      </m:sSupPr>
                      <m:e>
                        <m:r>
                          <a:rPr lang="en-ZA" b="1" i="1" smtClean="0">
                            <a:latin typeface="Cambria Math" panose="02040503050406030204" pitchFamily="18" charset="0"/>
                          </a:rPr>
                          <m:t>𝑾</m:t>
                        </m:r>
                      </m:e>
                      <m:sup>
                        <m:r>
                          <a:rPr lang="en-ZA" b="1" i="1" smtClean="0">
                            <a:latin typeface="Cambria Math" panose="02040503050406030204" pitchFamily="18" charset="0"/>
                          </a:rPr>
                          <m:t>−</m:t>
                        </m:r>
                        <m:r>
                          <a:rPr lang="en-ZA" b="1" i="1" smtClean="0">
                            <a:latin typeface="Cambria Math" panose="02040503050406030204" pitchFamily="18" charset="0"/>
                          </a:rPr>
                          <m:t>𝟏</m:t>
                        </m:r>
                      </m:sup>
                    </m:sSup>
                    <m:r>
                      <a:rPr lang="en-ZA" b="1" i="1" smtClean="0">
                        <a:latin typeface="Cambria Math" panose="02040503050406030204" pitchFamily="18" charset="0"/>
                      </a:rPr>
                      <m:t>𝑩</m:t>
                    </m:r>
                  </m:oMath>
                </a14:m>
                <a:r>
                  <a:rPr lang="en-ZA" b="1" dirty="0" smtClean="0"/>
                  <a:t> </a:t>
                </a:r>
                <a:r>
                  <a:rPr lang="en-ZA" dirty="0" smtClean="0"/>
                  <a:t>associated </a:t>
                </a:r>
                <a:r>
                  <a:rPr lang="en-ZA" dirty="0"/>
                  <a:t>with the largest eigenvalue.</a:t>
                </a:r>
              </a:p>
              <a:p>
                <a:endParaRPr lang="en-ZA" dirty="0"/>
              </a:p>
              <a:p>
                <a:r>
                  <a:rPr lang="en-ZA" dirty="0"/>
                  <a:t>It can also be shown that the Fisher LDA solution is equivalent to the minimization of the EMC under the equal misclassification costs, equal prior </a:t>
                </a:r>
                <a:r>
                  <a:rPr lang="en-ZA" dirty="0" smtClean="0"/>
                  <a:t>probabilities </a:t>
                </a:r>
                <a:r>
                  <a:rPr lang="en-ZA" dirty="0"/>
                  <a:t>assumption</a:t>
                </a:r>
                <a:r>
                  <a:rPr lang="en-ZA" dirty="0" smtClean="0"/>
                  <a:t>.</a:t>
                </a:r>
              </a:p>
              <a:p>
                <a:endParaRPr lang="en-ZA" dirty="0"/>
              </a:p>
              <a:p>
                <a:r>
                  <a:rPr lang="en-ZA" dirty="0"/>
                  <a:t>So both approaches lead to the following allocation rule</a:t>
                </a:r>
                <a:r>
                  <a:rPr lang="en-ZA" dirty="0" smtClean="0"/>
                  <a:t>:</a:t>
                </a:r>
              </a:p>
              <a:p>
                <a:endParaRPr lang="en-ZA" dirty="0"/>
              </a:p>
              <a:p>
                <a:r>
                  <a:rPr lang="en-ZA" dirty="0" smtClean="0"/>
                  <a:t>Allocate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0</m:t>
                        </m:r>
                      </m:sub>
                    </m:sSub>
                  </m:oMath>
                </a14:m>
                <a:r>
                  <a:rPr lang="en-ZA" dirty="0" smtClean="0"/>
                  <a:t> to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r>
                      <a:rPr lang="en-ZA" b="0" i="1" smtClean="0">
                        <a:latin typeface="Cambria Math" panose="02040503050406030204" pitchFamily="18" charset="0"/>
                      </a:rPr>
                      <m:t> </m:t>
                    </m:r>
                  </m:oMath>
                </a14:m>
                <a:r>
                  <a:rPr lang="en-ZA" dirty="0" smtClean="0"/>
                  <a:t>if </a:t>
                </a:r>
                <a14:m>
                  <m:oMath xmlns:m="http://schemas.openxmlformats.org/officeDocument/2006/math">
                    <m:sSub>
                      <m:sSubPr>
                        <m:ctrlPr>
                          <a:rPr lang="en-ZA" i="1" smtClean="0">
                            <a:latin typeface="Cambria Math" panose="02040503050406030204" pitchFamily="18" charset="0"/>
                          </a:rPr>
                        </m:ctrlPr>
                      </m:sSubPr>
                      <m:e>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𝑦</m:t>
                            </m:r>
                          </m:e>
                        </m:acc>
                      </m:e>
                      <m:sub>
                        <m:r>
                          <a:rPr lang="en-ZA" b="0" i="1" smtClean="0">
                            <a:latin typeface="Cambria Math" panose="02040503050406030204" pitchFamily="18" charset="0"/>
                          </a:rPr>
                          <m:t>0</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1</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2</m:t>
                        </m:r>
                      </m:sub>
                    </m:sSub>
                    <m:r>
                      <a:rPr lang="en-ZA" b="0" i="1" smtClean="0">
                        <a:latin typeface="Cambria Math" panose="02040503050406030204" pitchFamily="18" charset="0"/>
                      </a:rPr>
                      <m:t>)′</m:t>
                    </m:r>
                    <m:sSup>
                      <m:sSupPr>
                        <m:ctrlPr>
                          <a:rPr lang="en-ZA" b="0" i="1" smtClean="0">
                            <a:latin typeface="Cambria Math" panose="02040503050406030204" pitchFamily="18" charset="0"/>
                          </a:rPr>
                        </m:ctrlPr>
                      </m:sSupPr>
                      <m:e>
                        <m:r>
                          <a:rPr lang="en-ZA" b="0" i="1" smtClean="0">
                            <a:latin typeface="Cambria Math" panose="02040503050406030204" pitchFamily="18" charset="0"/>
                          </a:rPr>
                          <m:t>𝑆</m:t>
                        </m:r>
                      </m:e>
                      <m:sup>
                        <m:r>
                          <a:rPr lang="en-ZA" b="0" i="1" smtClean="0">
                            <a:latin typeface="Cambria Math" panose="02040503050406030204" pitchFamily="18" charset="0"/>
                          </a:rPr>
                          <m:t>−1</m:t>
                        </m:r>
                      </m:sup>
                    </m:sSup>
                    <m:sSub>
                      <m:sSubPr>
                        <m:ctrlPr>
                          <a:rPr lang="en-ZA" b="0"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0</m:t>
                        </m:r>
                      </m:sub>
                    </m:sSub>
                    <m:r>
                      <a:rPr lang="en-ZA" b="0" i="1" smtClean="0">
                        <a:latin typeface="Cambria Math" panose="02040503050406030204" pitchFamily="18" charset="0"/>
                        <a:ea typeface="Cambria Math" panose="02040503050406030204" pitchFamily="18" charset="0"/>
                      </a:rPr>
                      <m:t>≥1/2</m:t>
                    </m:r>
                  </m:oMath>
                </a14:m>
                <a:r>
                  <a:rPr lang="en-ZA" dirty="0" smtClean="0"/>
                  <a:t> </a:t>
                </a:r>
                <a14:m>
                  <m:oMath xmlns:m="http://schemas.openxmlformats.org/officeDocument/2006/math">
                    <m:r>
                      <a:rPr lang="en-ZA" b="0" i="1" dirty="0" smtClean="0">
                        <a:latin typeface="Cambria Math" panose="02040503050406030204" pitchFamily="18" charset="0"/>
                      </a:rPr>
                      <m:t>(</m:t>
                    </m:r>
                    <m:sSub>
                      <m:sSubPr>
                        <m:ctrlPr>
                          <a:rPr lang="en-ZA" b="0" i="1" dirty="0" smtClean="0">
                            <a:latin typeface="Cambria Math" panose="02040503050406030204" pitchFamily="18" charset="0"/>
                          </a:rPr>
                        </m:ctrlPr>
                      </m:sSubPr>
                      <m:e>
                        <m:acc>
                          <m:accPr>
                            <m:chr m:val="̅"/>
                            <m:ctrlPr>
                              <a:rPr lang="en-ZA" b="0" i="1" dirty="0" smtClean="0">
                                <a:latin typeface="Cambria Math" panose="02040503050406030204" pitchFamily="18" charset="0"/>
                              </a:rPr>
                            </m:ctrlPr>
                          </m:accPr>
                          <m:e>
                            <m:r>
                              <a:rPr lang="en-ZA" b="0" i="1" dirty="0" smtClean="0">
                                <a:latin typeface="Cambria Math" panose="02040503050406030204" pitchFamily="18" charset="0"/>
                              </a:rPr>
                              <m:t>𝑥</m:t>
                            </m:r>
                          </m:e>
                        </m:acc>
                      </m:e>
                      <m:sub>
                        <m:r>
                          <a:rPr lang="en-ZA" b="0" i="1" dirty="0" smtClean="0">
                            <a:latin typeface="Cambria Math" panose="02040503050406030204" pitchFamily="18" charset="0"/>
                          </a:rPr>
                          <m:t>1</m:t>
                        </m:r>
                      </m:sub>
                    </m:sSub>
                    <m:r>
                      <a:rPr lang="en-ZA" b="0" i="1" dirty="0" smtClean="0">
                        <a:latin typeface="Cambria Math" panose="02040503050406030204" pitchFamily="18" charset="0"/>
                      </a:rPr>
                      <m:t>−</m:t>
                    </m:r>
                    <m:sSub>
                      <m:sSubPr>
                        <m:ctrlPr>
                          <a:rPr lang="en-ZA" b="0" i="1" dirty="0" smtClean="0">
                            <a:latin typeface="Cambria Math" panose="02040503050406030204" pitchFamily="18" charset="0"/>
                          </a:rPr>
                        </m:ctrlPr>
                      </m:sSubPr>
                      <m:e>
                        <m:acc>
                          <m:accPr>
                            <m:chr m:val="̅"/>
                            <m:ctrlPr>
                              <a:rPr lang="en-ZA" b="0" i="1" dirty="0" smtClean="0">
                                <a:latin typeface="Cambria Math" panose="02040503050406030204" pitchFamily="18" charset="0"/>
                              </a:rPr>
                            </m:ctrlPr>
                          </m:accPr>
                          <m:e>
                            <m:r>
                              <a:rPr lang="en-ZA" b="0" i="1" dirty="0" smtClean="0">
                                <a:latin typeface="Cambria Math" panose="02040503050406030204" pitchFamily="18" charset="0"/>
                              </a:rPr>
                              <m:t>𝑥</m:t>
                            </m:r>
                          </m:e>
                        </m:acc>
                      </m:e>
                      <m:sub>
                        <m:r>
                          <a:rPr lang="en-ZA" b="0" i="1" dirty="0" smtClean="0">
                            <a:latin typeface="Cambria Math" panose="02040503050406030204" pitchFamily="18" charset="0"/>
                          </a:rPr>
                          <m:t>2</m:t>
                        </m:r>
                      </m:sub>
                    </m:sSub>
                    <m:r>
                      <a:rPr lang="en-ZA" b="0" i="1" dirty="0" smtClean="0">
                        <a:latin typeface="Cambria Math" panose="02040503050406030204" pitchFamily="18" charset="0"/>
                      </a:rPr>
                      <m:t>)′</m:t>
                    </m:r>
                    <m:sSubSup>
                      <m:sSubSupPr>
                        <m:ctrlPr>
                          <a:rPr lang="en-ZA" b="0" i="1" dirty="0" smtClean="0">
                            <a:latin typeface="Cambria Math" panose="02040503050406030204" pitchFamily="18" charset="0"/>
                          </a:rPr>
                        </m:ctrlPr>
                      </m:sSubSupPr>
                      <m:e>
                        <m:r>
                          <a:rPr lang="en-ZA" b="0" i="1" dirty="0" smtClean="0">
                            <a:latin typeface="Cambria Math" panose="02040503050406030204" pitchFamily="18" charset="0"/>
                          </a:rPr>
                          <m:t>𝑆</m:t>
                        </m:r>
                      </m:e>
                      <m:sub>
                        <m:r>
                          <a:rPr lang="en-ZA" b="0" i="1" dirty="0" smtClean="0">
                            <a:latin typeface="Cambria Math" panose="02040503050406030204" pitchFamily="18" charset="0"/>
                          </a:rPr>
                          <m:t>𝑝</m:t>
                        </m:r>
                      </m:sub>
                      <m:sup>
                        <m:r>
                          <a:rPr lang="en-ZA" b="0" i="1" dirty="0" smtClean="0">
                            <a:latin typeface="Cambria Math" panose="02040503050406030204" pitchFamily="18" charset="0"/>
                          </a:rPr>
                          <m:t>−1</m:t>
                        </m:r>
                      </m:sup>
                    </m:sSubSup>
                    <m:r>
                      <a:rPr lang="en-ZA" b="0" i="1" dirty="0" smtClean="0">
                        <a:latin typeface="Cambria Math" panose="02040503050406030204" pitchFamily="18" charset="0"/>
                      </a:rPr>
                      <m:t>(</m:t>
                    </m:r>
                    <m:sSub>
                      <m:sSubPr>
                        <m:ctrlPr>
                          <a:rPr lang="en-ZA" b="0" i="1" dirty="0" smtClean="0">
                            <a:latin typeface="Cambria Math" panose="02040503050406030204" pitchFamily="18" charset="0"/>
                          </a:rPr>
                        </m:ctrlPr>
                      </m:sSubPr>
                      <m:e>
                        <m:acc>
                          <m:accPr>
                            <m:chr m:val="̅"/>
                            <m:ctrlPr>
                              <a:rPr lang="en-ZA" b="0" i="1" dirty="0" smtClean="0">
                                <a:latin typeface="Cambria Math" panose="02040503050406030204" pitchFamily="18" charset="0"/>
                              </a:rPr>
                            </m:ctrlPr>
                          </m:accPr>
                          <m:e>
                            <m:r>
                              <a:rPr lang="en-ZA" b="0" i="1" dirty="0" smtClean="0">
                                <a:latin typeface="Cambria Math" panose="02040503050406030204" pitchFamily="18" charset="0"/>
                              </a:rPr>
                              <m:t>𝑥</m:t>
                            </m:r>
                          </m:e>
                        </m:acc>
                      </m:e>
                      <m:sub>
                        <m:r>
                          <a:rPr lang="en-ZA" b="0" i="1" dirty="0" smtClean="0">
                            <a:latin typeface="Cambria Math" panose="02040503050406030204" pitchFamily="18" charset="0"/>
                          </a:rPr>
                          <m:t>1</m:t>
                        </m:r>
                      </m:sub>
                    </m:sSub>
                    <m:r>
                      <a:rPr lang="en-ZA" b="0" i="1" dirty="0" smtClean="0">
                        <a:latin typeface="Cambria Math" panose="02040503050406030204" pitchFamily="18" charset="0"/>
                      </a:rPr>
                      <m:t>+</m:t>
                    </m:r>
                    <m:sSub>
                      <m:sSubPr>
                        <m:ctrlPr>
                          <a:rPr lang="en-ZA" b="0" i="1" dirty="0" smtClean="0">
                            <a:latin typeface="Cambria Math" panose="02040503050406030204" pitchFamily="18" charset="0"/>
                          </a:rPr>
                        </m:ctrlPr>
                      </m:sSubPr>
                      <m:e>
                        <m:acc>
                          <m:accPr>
                            <m:chr m:val="̅"/>
                            <m:ctrlPr>
                              <a:rPr lang="en-ZA" b="0" i="1" dirty="0" smtClean="0">
                                <a:latin typeface="Cambria Math" panose="02040503050406030204" pitchFamily="18" charset="0"/>
                              </a:rPr>
                            </m:ctrlPr>
                          </m:accPr>
                          <m:e>
                            <m:r>
                              <a:rPr lang="en-ZA" b="0" i="1" dirty="0" smtClean="0">
                                <a:latin typeface="Cambria Math" panose="02040503050406030204" pitchFamily="18" charset="0"/>
                              </a:rPr>
                              <m:t>𝑥</m:t>
                            </m:r>
                          </m:e>
                        </m:acc>
                      </m:e>
                      <m:sub>
                        <m:r>
                          <a:rPr lang="en-ZA" b="0" i="1" dirty="0" smtClean="0">
                            <a:latin typeface="Cambria Math" panose="02040503050406030204" pitchFamily="18" charset="0"/>
                          </a:rPr>
                          <m:t>2</m:t>
                        </m:r>
                      </m:sub>
                    </m:sSub>
                    <m:r>
                      <a:rPr lang="en-ZA" b="0" i="1" dirty="0" smtClean="0">
                        <a:latin typeface="Cambria Math" panose="02040503050406030204" pitchFamily="18" charset="0"/>
                      </a:rPr>
                      <m:t>)</m:t>
                    </m:r>
                  </m:oMath>
                </a14:m>
                <a:endParaRPr lang="en-ZA" dirty="0"/>
              </a:p>
            </p:txBody>
          </p:sp>
        </mc:Choice>
        <mc:Fallback>
          <p:sp>
            <p:nvSpPr>
              <p:cNvPr id="2" name="TextBox 1"/>
              <p:cNvSpPr txBox="1">
                <a:spLocks noRot="1" noChangeAspect="1" noMove="1" noResize="1" noEditPoints="1" noAdjustHandles="1" noChangeArrowheads="1" noChangeShapeType="1" noTextEdit="1"/>
              </p:cNvSpPr>
              <p:nvPr/>
            </p:nvSpPr>
            <p:spPr>
              <a:xfrm>
                <a:off x="88900" y="203200"/>
                <a:ext cx="11963400" cy="6477927"/>
              </a:xfrm>
              <a:prstGeom prst="rect">
                <a:avLst/>
              </a:prstGeom>
              <a:blipFill rotWithShape="0">
                <a:blip r:embed="rId2"/>
                <a:stretch>
                  <a:fillRect l="-407" t="-376" r="-305" b="-188"/>
                </a:stretch>
              </a:blipFill>
              <a:ln>
                <a:solidFill>
                  <a:schemeClr val="accent1"/>
                </a:solidFill>
              </a:ln>
            </p:spPr>
            <p:txBody>
              <a:bodyPr/>
              <a:lstStyle/>
              <a:p>
                <a:r>
                  <a:rPr lang="en-ZA">
                    <a:noFill/>
                  </a:rPr>
                  <a:t> </a:t>
                </a:r>
              </a:p>
            </p:txBody>
          </p:sp>
        </mc:Fallback>
      </mc:AlternateContent>
      <p:sp>
        <p:nvSpPr>
          <p:cNvPr id="3" name="Oval Callout 2"/>
          <p:cNvSpPr/>
          <p:nvPr/>
        </p:nvSpPr>
        <p:spPr>
          <a:xfrm>
            <a:off x="10439400" y="285750"/>
            <a:ext cx="1371600" cy="660400"/>
          </a:xfrm>
          <a:prstGeom prst="wedgeEllipseCallout">
            <a:avLst>
              <a:gd name="adj1" fmla="val -257870"/>
              <a:gd name="adj2" fmla="val 283654"/>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An ANOVA type approach.</a:t>
            </a:r>
            <a:endParaRPr lang="en-ZA" sz="1100" dirty="0"/>
          </a:p>
        </p:txBody>
      </p:sp>
    </p:spTree>
    <p:extLst>
      <p:ext uri="{BB962C8B-B14F-4D97-AF65-F5344CB8AC3E}">
        <p14:creationId xmlns:p14="http://schemas.microsoft.com/office/powerpoint/2010/main" val="1166189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82550" y="215900"/>
                <a:ext cx="11823700" cy="6524928"/>
              </a:xfrm>
              <a:prstGeom prst="rect">
                <a:avLst/>
              </a:prstGeom>
              <a:noFill/>
              <a:ln>
                <a:solidFill>
                  <a:schemeClr val="accent1"/>
                </a:solidFill>
              </a:ln>
            </p:spPr>
            <p:txBody>
              <a:bodyPr wrap="square" rtlCol="0">
                <a:spAutoFit/>
              </a:bodyPr>
              <a:lstStyle/>
              <a:p>
                <a:r>
                  <a:rPr lang="en-ZA" dirty="0" smtClean="0"/>
                  <a:t>Example</a:t>
                </a:r>
              </a:p>
              <a:p>
                <a:endParaRPr lang="en-ZA" dirty="0"/>
              </a:p>
              <a:p>
                <a:r>
                  <a:rPr lang="en-ZA" dirty="0"/>
                  <a:t>Back to the </a:t>
                </a:r>
                <a:r>
                  <a:rPr lang="en-ZA" dirty="0" err="1"/>
                  <a:t>hemophilia</a:t>
                </a:r>
                <a:r>
                  <a:rPr lang="en-ZA" dirty="0"/>
                  <a:t> example, we calculated the discriminant function to </a:t>
                </a:r>
                <a:r>
                  <a:rPr lang="en-ZA" dirty="0" smtClean="0"/>
                  <a:t>be</a:t>
                </a:r>
              </a:p>
              <a:p>
                <a:endParaRPr lang="en-ZA" dirty="0" smtClean="0"/>
              </a:p>
              <a:p>
                <a:pPr/>
                <a14:m>
                  <m:oMathPara xmlns:m="http://schemas.openxmlformats.org/officeDocument/2006/math">
                    <m:oMathParaPr>
                      <m:jc m:val="centerGroup"/>
                    </m:oMathParaPr>
                    <m:oMath xmlns:m="http://schemas.openxmlformats.org/officeDocument/2006/math">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𝑦</m:t>
                          </m:r>
                        </m:e>
                      </m:acc>
                      <m:r>
                        <a:rPr lang="en-ZA" b="0" i="1" smtClean="0">
                          <a:latin typeface="Cambria Math" panose="02040503050406030204" pitchFamily="18" charset="0"/>
                        </a:rPr>
                        <m:t>=</m:t>
                      </m:r>
                      <m:sSup>
                        <m:sSupPr>
                          <m:ctrlPr>
                            <a:rPr lang="en-ZA" b="0" i="1" smtClean="0">
                              <a:latin typeface="Cambria Math" panose="02040503050406030204" pitchFamily="18" charset="0"/>
                            </a:rPr>
                          </m:ctrlPr>
                        </m:sSup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𝑎</m:t>
                              </m:r>
                            </m:e>
                          </m:acc>
                        </m:e>
                        <m:sup>
                          <m:r>
                            <a:rPr lang="en-ZA" b="0" i="1" smtClean="0">
                              <a:latin typeface="Cambria Math" panose="02040503050406030204" pitchFamily="18" charset="0"/>
                            </a:rPr>
                            <m:t>′</m:t>
                          </m:r>
                        </m:sup>
                      </m:sSup>
                      <m:r>
                        <a:rPr lang="en-ZA" b="0" i="1" smtClean="0">
                          <a:latin typeface="Cambria Math" panose="02040503050406030204" pitchFamily="18" charset="0"/>
                        </a:rPr>
                        <m:t>𝑥</m:t>
                      </m:r>
                      <m:r>
                        <a:rPr lang="en-ZA" b="0" i="1" smtClean="0">
                          <a:latin typeface="Cambria Math" panose="02040503050406030204" pitchFamily="18" charset="0"/>
                        </a:rPr>
                        <m:t>=</m:t>
                      </m:r>
                      <m:sSup>
                        <m:sSupPr>
                          <m:ctrlPr>
                            <a:rPr lang="en-ZA" b="0" i="1" smtClean="0">
                              <a:latin typeface="Cambria Math" panose="02040503050406030204" pitchFamily="18" charset="0"/>
                            </a:rPr>
                          </m:ctrlPr>
                        </m:sSupPr>
                        <m:e>
                          <m:d>
                            <m:dPr>
                              <m:ctrlPr>
                                <a:rPr lang="en-ZA" b="0" i="1" smtClean="0">
                                  <a:latin typeface="Cambria Math" panose="02040503050406030204" pitchFamily="18" charset="0"/>
                                </a:rPr>
                              </m:ctrlPr>
                            </m:dPr>
                            <m:e>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1</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2</m:t>
                                  </m:r>
                                </m:sub>
                              </m:sSub>
                            </m:e>
                          </m:d>
                        </m:e>
                        <m:sup>
                          <m:r>
                            <a:rPr lang="en-ZA" b="0" i="1" smtClean="0">
                              <a:latin typeface="Cambria Math" panose="02040503050406030204" pitchFamily="18" charset="0"/>
                            </a:rPr>
                            <m:t>′</m:t>
                          </m:r>
                          <m:sSubSup>
                            <m:sSubSupPr>
                              <m:ctrlPr>
                                <a:rPr lang="en-ZA" b="0" i="1" smtClean="0">
                                  <a:latin typeface="Cambria Math" panose="02040503050406030204" pitchFamily="18" charset="0"/>
                                </a:rPr>
                              </m:ctrlPr>
                            </m:sSubSupPr>
                            <m:e>
                              <m:r>
                                <a:rPr lang="en-ZA" b="0" i="1" smtClean="0">
                                  <a:latin typeface="Cambria Math" panose="02040503050406030204" pitchFamily="18" charset="0"/>
                                </a:rPr>
                                <m:t>𝑆</m:t>
                              </m:r>
                            </m:e>
                            <m:sub>
                              <m:r>
                                <a:rPr lang="en-ZA" b="0" i="1" smtClean="0">
                                  <a:latin typeface="Cambria Math" panose="02040503050406030204" pitchFamily="18" charset="0"/>
                                </a:rPr>
                                <m:t>𝑝</m:t>
                              </m:r>
                            </m:sub>
                            <m:sup>
                              <m:r>
                                <a:rPr lang="en-ZA" b="0" i="1" smtClean="0">
                                  <a:latin typeface="Cambria Math" panose="02040503050406030204" pitchFamily="18" charset="0"/>
                                </a:rPr>
                                <m:t>−1</m:t>
                              </m:r>
                            </m:sup>
                          </m:sSubSup>
                        </m:sup>
                      </m:sSup>
                      <m:r>
                        <a:rPr lang="en-ZA" b="0" i="1" smtClean="0">
                          <a:latin typeface="Cambria Math" panose="02040503050406030204" pitchFamily="18" charset="0"/>
                        </a:rPr>
                        <m:t>𝑥</m:t>
                      </m:r>
                      <m:r>
                        <a:rPr lang="en-ZA" b="0" i="1" smtClean="0">
                          <a:latin typeface="Cambria Math" panose="02040503050406030204" pitchFamily="18" charset="0"/>
                        </a:rPr>
                        <m:t>=37.61</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1</m:t>
                          </m:r>
                        </m:sub>
                      </m:sSub>
                      <m:r>
                        <a:rPr lang="en-ZA" b="0" i="1" smtClean="0">
                          <a:latin typeface="Cambria Math" panose="02040503050406030204" pitchFamily="18" charset="0"/>
                        </a:rPr>
                        <m:t>−28.92</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2</m:t>
                          </m:r>
                        </m:sub>
                      </m:sSub>
                    </m:oMath>
                  </m:oMathPara>
                </a14:m>
                <a:endParaRPr lang="en-ZA" dirty="0"/>
              </a:p>
              <a:p>
                <a:endParaRPr lang="en-ZA" dirty="0"/>
              </a:p>
              <a:p>
                <a:endParaRPr lang="en-ZA" dirty="0"/>
              </a:p>
              <a:p>
                <a:r>
                  <a:rPr lang="en-ZA" dirty="0"/>
                  <a:t>This is also Fisher's linear discriminant function and the maximum separation in the samples </a:t>
                </a:r>
                <a:r>
                  <a:rPr lang="en-ZA" dirty="0" smtClean="0"/>
                  <a:t>is</a:t>
                </a:r>
              </a:p>
              <a:p>
                <a:endParaRPr lang="en-ZA" dirty="0"/>
              </a:p>
              <a:p>
                <a:pPr/>
                <a14:m>
                  <m:oMathPara xmlns:m="http://schemas.openxmlformats.org/officeDocument/2006/math">
                    <m:oMathParaPr>
                      <m:jc m:val="centerGroup"/>
                    </m:oMathParaPr>
                    <m:oMath xmlns:m="http://schemas.openxmlformats.org/officeDocument/2006/math">
                      <m:sSup>
                        <m:sSupPr>
                          <m:ctrlPr>
                            <a:rPr lang="en-ZA" i="1" smtClean="0">
                              <a:latin typeface="Cambria Math" panose="02040503050406030204" pitchFamily="18" charset="0"/>
                            </a:rPr>
                          </m:ctrlPr>
                        </m:sSupPr>
                        <m:e>
                          <m:r>
                            <a:rPr lang="en-ZA" b="0" i="1" smtClean="0">
                              <a:latin typeface="Cambria Math" panose="02040503050406030204" pitchFamily="18" charset="0"/>
                            </a:rPr>
                            <m:t>𝐷</m:t>
                          </m:r>
                        </m:e>
                        <m:sup>
                          <m:r>
                            <a:rPr lang="en-ZA" b="0" i="1" smtClean="0">
                              <a:latin typeface="Cambria Math" panose="02040503050406030204" pitchFamily="18" charset="0"/>
                            </a:rPr>
                            <m:t>2</m:t>
                          </m:r>
                        </m:sup>
                      </m:sSup>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1</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2</m:t>
                          </m:r>
                        </m:sub>
                      </m:sSub>
                      <m:r>
                        <a:rPr lang="en-ZA" b="0" i="1" smtClean="0">
                          <a:latin typeface="Cambria Math" panose="02040503050406030204" pitchFamily="18" charset="0"/>
                        </a:rPr>
                        <m:t>)′</m:t>
                      </m:r>
                      <m:sSubSup>
                        <m:sSubSupPr>
                          <m:ctrlPr>
                            <a:rPr lang="en-ZA" b="0" i="1" smtClean="0">
                              <a:latin typeface="Cambria Math" panose="02040503050406030204" pitchFamily="18" charset="0"/>
                            </a:rPr>
                          </m:ctrlPr>
                        </m:sSubSupPr>
                        <m:e>
                          <m:r>
                            <a:rPr lang="en-ZA" b="0" i="1" smtClean="0">
                              <a:latin typeface="Cambria Math" panose="02040503050406030204" pitchFamily="18" charset="0"/>
                            </a:rPr>
                            <m:t>𝑆</m:t>
                          </m:r>
                        </m:e>
                        <m:sub>
                          <m:r>
                            <a:rPr lang="en-ZA" b="0" i="1" smtClean="0">
                              <a:latin typeface="Cambria Math" panose="02040503050406030204" pitchFamily="18" charset="0"/>
                            </a:rPr>
                            <m:t>𝑝</m:t>
                          </m:r>
                        </m:sub>
                        <m:sup>
                          <m:r>
                            <a:rPr lang="en-ZA" b="0" i="1" smtClean="0">
                              <a:latin typeface="Cambria Math" panose="02040503050406030204" pitchFamily="18" charset="0"/>
                            </a:rPr>
                            <m:t>−1</m:t>
                          </m:r>
                        </m:sup>
                      </m:sSubSup>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1</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2</m:t>
                          </m:r>
                        </m:sub>
                      </m:sSub>
                      <m:r>
                        <a:rPr lang="en-ZA" b="0" i="1" smtClean="0">
                          <a:latin typeface="Cambria Math" panose="02040503050406030204" pitchFamily="18" charset="0"/>
                        </a:rPr>
                        <m:t>)</m:t>
                      </m:r>
                    </m:oMath>
                  </m:oMathPara>
                </a14:m>
                <a:endParaRPr lang="en-ZA" dirty="0" smtClean="0"/>
              </a:p>
              <a:p>
                <a:endParaRPr lang="en-ZA" dirty="0" smtClean="0"/>
              </a:p>
              <a:p>
                <a:pPr/>
                <a14:m>
                  <m:oMathPara xmlns:m="http://schemas.openxmlformats.org/officeDocument/2006/math">
                    <m:oMathParaPr>
                      <m:jc m:val="centerGroup"/>
                    </m:oMathParaPr>
                    <m:oMath xmlns:m="http://schemas.openxmlformats.org/officeDocument/2006/math">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2"/>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0</m:t>
                                </m:r>
                                <m:r>
                                  <a:rPr lang="en-ZA" b="0" i="1" smtClean="0">
                                    <a:latin typeface="Cambria Math" panose="02040503050406030204" pitchFamily="18" charset="0"/>
                                  </a:rPr>
                                  <m:t>.2418</m:t>
                                </m:r>
                              </m:e>
                              <m:e>
                                <m:r>
                                  <a:rPr lang="en-ZA" b="0" i="1" smtClean="0">
                                    <a:latin typeface="Cambria Math" panose="02040503050406030204" pitchFamily="18" charset="0"/>
                                  </a:rPr>
                                  <m:t>−0.0652</m:t>
                                </m:r>
                              </m:e>
                            </m:mr>
                          </m:m>
                        </m:e>
                      </m:d>
                      <m:d>
                        <m:dPr>
                          <m:begChr m:val="["/>
                          <m:endChr m:val="]"/>
                          <m:ctrlPr>
                            <a:rPr lang="en-ZA" b="0" i="1" smtClean="0">
                              <a:latin typeface="Cambria Math" panose="02040503050406030204" pitchFamily="18" charset="0"/>
                            </a:rPr>
                          </m:ctrlPr>
                        </m:dPr>
                        <m:e>
                          <m:m>
                            <m:mPr>
                              <m:mcs>
                                <m:mc>
                                  <m:mcPr>
                                    <m:count m:val="2"/>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1</m:t>
                                </m:r>
                                <m:r>
                                  <a:rPr lang="en-ZA" b="0" i="1" smtClean="0">
                                    <a:latin typeface="Cambria Math" panose="02040503050406030204" pitchFamily="18" charset="0"/>
                                  </a:rPr>
                                  <m:t>31.58</m:t>
                                </m:r>
                              </m:e>
                              <m:e>
                                <m:r>
                                  <a:rPr lang="en-ZA" b="0" i="1" smtClean="0">
                                    <a:latin typeface="Cambria Math" panose="02040503050406030204" pitchFamily="18" charset="0"/>
                                  </a:rPr>
                                  <m:t>−90.423</m:t>
                                </m:r>
                              </m:e>
                            </m:mr>
                            <m:mr>
                              <m:e>
                                <m:r>
                                  <a:rPr lang="en-ZA" b="0" i="1" smtClean="0">
                                    <a:latin typeface="Cambria Math" panose="02040503050406030204" pitchFamily="18" charset="0"/>
                                  </a:rPr>
                                  <m:t>−90.423</m:t>
                                </m:r>
                              </m:e>
                              <m:e>
                                <m:r>
                                  <a:rPr lang="en-ZA" b="0" i="1" smtClean="0">
                                    <a:latin typeface="Cambria Math" panose="02040503050406030204" pitchFamily="18" charset="0"/>
                                  </a:rPr>
                                  <m:t>108.147</m:t>
                                </m:r>
                              </m:e>
                            </m:mr>
                          </m:m>
                        </m:e>
                      </m:d>
                      <m:d>
                        <m:dPr>
                          <m:begChr m:val="["/>
                          <m:endChr m:val="]"/>
                          <m:ctrlPr>
                            <a:rPr lang="en-ZA" b="0" i="1" smtClean="0">
                              <a:latin typeface="Cambria Math" panose="02040503050406030204" pitchFamily="18" charset="0"/>
                            </a:rPr>
                          </m:ctrlPr>
                        </m:dPr>
                        <m:e>
                          <m:m>
                            <m:mPr>
                              <m:mcs>
                                <m:mc>
                                  <m:mcPr>
                                    <m:count m:val="1"/>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 </m:t>
                                </m:r>
                                <m:r>
                                  <a:rPr lang="en-ZA" b="0" i="1" smtClean="0">
                                    <a:latin typeface="Cambria Math" panose="02040503050406030204" pitchFamily="18" charset="0"/>
                                  </a:rPr>
                                  <m:t> 0.2418</m:t>
                                </m:r>
                              </m:e>
                            </m:mr>
                            <m:mr>
                              <m:e>
                                <m:r>
                                  <a:rPr lang="en-ZA" b="0" i="1" smtClean="0">
                                    <a:latin typeface="Cambria Math" panose="02040503050406030204" pitchFamily="18" charset="0"/>
                                  </a:rPr>
                                  <m:t>−0.0652</m:t>
                                </m:r>
                              </m:e>
                            </m:mr>
                          </m:m>
                        </m:e>
                      </m:d>
                      <m:r>
                        <a:rPr lang="en-ZA" b="0" i="1" smtClean="0">
                          <a:latin typeface="Cambria Math" panose="02040503050406030204" pitchFamily="18" charset="0"/>
                        </a:rPr>
                        <m:t>=10.98</m:t>
                      </m:r>
                    </m:oMath>
                  </m:oMathPara>
                </a14:m>
                <a:endParaRPr lang="en-ZA" dirty="0" smtClean="0"/>
              </a:p>
              <a:p>
                <a:endParaRPr lang="en-ZA" dirty="0"/>
              </a:p>
              <a:p>
                <a:r>
                  <a:rPr lang="en-ZA" dirty="0" smtClean="0"/>
                  <a:t>To allocate a new observation to one of 2 populations using Fisher’s Discriminant function, </a:t>
                </a:r>
              </a:p>
              <a:p>
                <a:endParaRPr lang="en-ZA" dirty="0" smtClean="0"/>
              </a:p>
              <a:p>
                <a:r>
                  <a:rPr lang="en-ZA" dirty="0" smtClean="0"/>
                  <a:t>Evaluate discriminant function at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0</m:t>
                        </m:r>
                      </m:sub>
                    </m:sSub>
                  </m:oMath>
                </a14:m>
                <a:r>
                  <a:rPr lang="en-ZA" dirty="0" smtClean="0"/>
                  <a:t>, </a:t>
                </a:r>
                <a14:m>
                  <m:oMath xmlns:m="http://schemas.openxmlformats.org/officeDocument/2006/math">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𝑦</m:t>
                            </m:r>
                          </m:e>
                        </m:acc>
                      </m:e>
                      <m:sub>
                        <m:r>
                          <a:rPr lang="en-ZA" i="1">
                            <a:latin typeface="Cambria Math" panose="02040503050406030204" pitchFamily="18" charset="0"/>
                          </a:rPr>
                          <m:t>0</m:t>
                        </m:r>
                      </m:sub>
                    </m:sSub>
                    <m:r>
                      <a:rPr lang="en-ZA" i="1">
                        <a:latin typeface="Cambria Math" panose="02040503050406030204" pitchFamily="18" charset="0"/>
                      </a:rPr>
                      <m:t>=</m:t>
                    </m:r>
                    <m:d>
                      <m:dPr>
                        <m:begChr m:val="["/>
                        <m:endChr m:val="]"/>
                        <m:ctrlPr>
                          <a:rPr lang="en-ZA" i="1">
                            <a:latin typeface="Cambria Math" panose="02040503050406030204" pitchFamily="18" charset="0"/>
                          </a:rPr>
                        </m:ctrlPr>
                      </m:dPr>
                      <m:e>
                        <m:m>
                          <m:mPr>
                            <m:mcs>
                              <m:mc>
                                <m:mcPr>
                                  <m:count m:val="2"/>
                                  <m:mcJc m:val="center"/>
                                </m:mcPr>
                              </m:mc>
                            </m:mcs>
                            <m:ctrlPr>
                              <a:rPr lang="en-ZA" i="1">
                                <a:latin typeface="Cambria Math" panose="02040503050406030204" pitchFamily="18" charset="0"/>
                              </a:rPr>
                            </m:ctrlPr>
                          </m:mPr>
                          <m:mr>
                            <m:e>
                              <m:r>
                                <m:rPr>
                                  <m:brk m:alnAt="7"/>
                                </m:rPr>
                                <a:rPr lang="en-ZA" i="1">
                                  <a:latin typeface="Cambria Math" panose="02040503050406030204" pitchFamily="18" charset="0"/>
                                </a:rPr>
                                <m:t>3</m:t>
                              </m:r>
                              <m:r>
                                <a:rPr lang="en-ZA" i="1">
                                  <a:latin typeface="Cambria Math" panose="02040503050406030204" pitchFamily="18" charset="0"/>
                                </a:rPr>
                                <m:t>7.61</m:t>
                              </m:r>
                            </m:e>
                            <m:e>
                              <m:r>
                                <a:rPr lang="en-ZA" i="1">
                                  <a:latin typeface="Cambria Math" panose="02040503050406030204" pitchFamily="18" charset="0"/>
                                </a:rPr>
                                <m:t>−28.92</m:t>
                              </m:r>
                            </m:e>
                          </m:mr>
                        </m:m>
                      </m:e>
                    </m:d>
                    <m:d>
                      <m:dPr>
                        <m:begChr m:val="["/>
                        <m:endChr m:val="]"/>
                        <m:ctrlPr>
                          <a:rPr lang="en-ZA" i="1">
                            <a:latin typeface="Cambria Math" panose="02040503050406030204" pitchFamily="18" charset="0"/>
                          </a:rPr>
                        </m:ctrlPr>
                      </m:dPr>
                      <m:e>
                        <m:m>
                          <m:mPr>
                            <m:mcs>
                              <m:mc>
                                <m:mcPr>
                                  <m:count m:val="1"/>
                                  <m:mcJc m:val="center"/>
                                </m:mcPr>
                              </m:mc>
                            </m:mcs>
                            <m:ctrlPr>
                              <a:rPr lang="en-ZA" i="1">
                                <a:latin typeface="Cambria Math" panose="02040503050406030204" pitchFamily="18" charset="0"/>
                              </a:rPr>
                            </m:ctrlPr>
                          </m:mPr>
                          <m:mr>
                            <m:e>
                              <m:r>
                                <m:rPr>
                                  <m:brk m:alnAt="7"/>
                                </m:rPr>
                                <a:rPr lang="en-ZA" i="1">
                                  <a:latin typeface="Cambria Math" panose="02040503050406030204" pitchFamily="18" charset="0"/>
                                </a:rPr>
                                <m:t>−</m:t>
                              </m:r>
                              <m:r>
                                <a:rPr lang="en-ZA" i="1">
                                  <a:latin typeface="Cambria Math" panose="02040503050406030204" pitchFamily="18" charset="0"/>
                                </a:rPr>
                                <m:t>0.210</m:t>
                              </m:r>
                            </m:e>
                          </m:mr>
                          <m:mr>
                            <m:e>
                              <m:r>
                                <a:rPr lang="en-ZA" i="1">
                                  <a:latin typeface="Cambria Math" panose="02040503050406030204" pitchFamily="18" charset="0"/>
                                </a:rPr>
                                <m:t>−0.044</m:t>
                              </m:r>
                            </m:e>
                          </m:mr>
                        </m:m>
                      </m:e>
                    </m:d>
                    <m:r>
                      <a:rPr lang="en-ZA" i="1">
                        <a:latin typeface="Cambria Math" panose="02040503050406030204" pitchFamily="18" charset="0"/>
                      </a:rPr>
                      <m:t>=−6.62</m:t>
                    </m:r>
                  </m:oMath>
                </a14:m>
                <a:endParaRPr lang="en-ZA" dirty="0" smtClean="0"/>
              </a:p>
              <a:p>
                <a:endParaRPr lang="en-ZA" dirty="0" smtClean="0"/>
              </a:p>
              <a:p>
                <a:r>
                  <a:rPr lang="en-ZA" dirty="0"/>
                  <a:t>a</a:t>
                </a:r>
                <a:r>
                  <a:rPr lang="en-ZA" dirty="0" smtClean="0"/>
                  <a:t>nd compare to </a:t>
                </a:r>
                <a14:m>
                  <m:oMath xmlns:m="http://schemas.openxmlformats.org/officeDocument/2006/math">
                    <m:acc>
                      <m:accPr>
                        <m:chr m:val="̂"/>
                        <m:ctrlPr>
                          <a:rPr lang="en-ZA" i="1">
                            <a:latin typeface="Cambria Math" panose="02040503050406030204" pitchFamily="18" charset="0"/>
                          </a:rPr>
                        </m:ctrlPr>
                      </m:accPr>
                      <m:e>
                        <m:r>
                          <a:rPr lang="en-ZA" i="1">
                            <a:latin typeface="Cambria Math" panose="02040503050406030204" pitchFamily="18" charset="0"/>
                          </a:rPr>
                          <m:t>𝑚</m:t>
                        </m:r>
                      </m:e>
                    </m:acc>
                    <m:r>
                      <a:rPr lang="en-ZA" i="1">
                        <a:latin typeface="Cambria Math" panose="02040503050406030204" pitchFamily="18" charset="0"/>
                      </a:rPr>
                      <m:t>=1/2</m:t>
                    </m:r>
                    <m:d>
                      <m:dPr>
                        <m:ctrlPr>
                          <a:rPr lang="en-ZA" i="1">
                            <a:latin typeface="Cambria Math" panose="02040503050406030204" pitchFamily="18" charset="0"/>
                          </a:rPr>
                        </m:ctrlPr>
                      </m:dPr>
                      <m:e>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𝑦</m:t>
                                </m:r>
                              </m:e>
                            </m:acc>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𝑦</m:t>
                                </m:r>
                              </m:e>
                            </m:acc>
                          </m:e>
                          <m:sub>
                            <m:r>
                              <a:rPr lang="en-ZA" i="1">
                                <a:latin typeface="Cambria Math" panose="02040503050406030204" pitchFamily="18" charset="0"/>
                              </a:rPr>
                              <m:t>2</m:t>
                            </m:r>
                          </m:sub>
                        </m:sSub>
                      </m:e>
                    </m:d>
                  </m:oMath>
                </a14:m>
                <a:r>
                  <a:rPr lang="en-ZA" dirty="0"/>
                  <a:t> </a:t>
                </a:r>
                <a14:m>
                  <m:oMath xmlns:m="http://schemas.openxmlformats.org/officeDocument/2006/math">
                    <m:r>
                      <a:rPr lang="en-ZA" b="0" i="0" dirty="0" smtClean="0">
                        <a:latin typeface="Cambria Math" panose="02040503050406030204" pitchFamily="18" charset="0"/>
                      </a:rPr>
                      <m:t>=</m:t>
                    </m:r>
                    <m:f>
                      <m:fPr>
                        <m:ctrlPr>
                          <a:rPr lang="en-ZA" b="0" i="1" dirty="0" smtClean="0">
                            <a:latin typeface="Cambria Math" panose="02040503050406030204" pitchFamily="18" charset="0"/>
                          </a:rPr>
                        </m:ctrlPr>
                      </m:fPr>
                      <m:num>
                        <m:r>
                          <a:rPr lang="en-ZA" b="0" i="1" dirty="0" smtClean="0">
                            <a:latin typeface="Cambria Math" panose="02040503050406030204" pitchFamily="18" charset="0"/>
                          </a:rPr>
                          <m:t>1</m:t>
                        </m:r>
                      </m:num>
                      <m:den>
                        <m:r>
                          <a:rPr lang="en-ZA" b="0" i="1" dirty="0" smtClean="0">
                            <a:latin typeface="Cambria Math" panose="02040503050406030204" pitchFamily="18" charset="0"/>
                          </a:rPr>
                          <m:t>2</m:t>
                        </m:r>
                      </m:den>
                    </m:f>
                    <m:r>
                      <a:rPr lang="en-ZA" b="0" i="1" dirty="0" smtClean="0">
                        <a:latin typeface="Cambria Math" panose="02040503050406030204" pitchFamily="18" charset="0"/>
                      </a:rPr>
                      <m:t>(</m:t>
                    </m:r>
                    <m:sSub>
                      <m:sSubPr>
                        <m:ctrlPr>
                          <a:rPr lang="en-ZA" b="0" i="1" dirty="0" smtClean="0">
                            <a:latin typeface="Cambria Math" panose="02040503050406030204" pitchFamily="18" charset="0"/>
                          </a:rPr>
                        </m:ctrlPr>
                      </m:sSubPr>
                      <m:e>
                        <m:acc>
                          <m:accPr>
                            <m:chr m:val="̅"/>
                            <m:ctrlPr>
                              <a:rPr lang="en-ZA" b="0" i="1" dirty="0" smtClean="0">
                                <a:latin typeface="Cambria Math" panose="02040503050406030204" pitchFamily="18" charset="0"/>
                              </a:rPr>
                            </m:ctrlPr>
                          </m:accPr>
                          <m:e>
                            <m:r>
                              <a:rPr lang="en-ZA" b="0" i="1" dirty="0" smtClean="0">
                                <a:latin typeface="Cambria Math" panose="02040503050406030204" pitchFamily="18" charset="0"/>
                              </a:rPr>
                              <m:t>𝑥</m:t>
                            </m:r>
                          </m:e>
                        </m:acc>
                      </m:e>
                      <m:sub>
                        <m:r>
                          <a:rPr lang="en-ZA" b="0" i="1" dirty="0" smtClean="0">
                            <a:latin typeface="Cambria Math" panose="02040503050406030204" pitchFamily="18" charset="0"/>
                          </a:rPr>
                          <m:t>1</m:t>
                        </m:r>
                      </m:sub>
                    </m:sSub>
                    <m:r>
                      <a:rPr lang="en-ZA" b="0" i="1" dirty="0" smtClean="0">
                        <a:latin typeface="Cambria Math" panose="02040503050406030204" pitchFamily="18" charset="0"/>
                      </a:rPr>
                      <m:t>−</m:t>
                    </m:r>
                    <m:sSub>
                      <m:sSubPr>
                        <m:ctrlPr>
                          <a:rPr lang="en-ZA" b="0" i="1" dirty="0" smtClean="0">
                            <a:latin typeface="Cambria Math" panose="02040503050406030204" pitchFamily="18" charset="0"/>
                          </a:rPr>
                        </m:ctrlPr>
                      </m:sSubPr>
                      <m:e>
                        <m:acc>
                          <m:accPr>
                            <m:chr m:val="̅"/>
                            <m:ctrlPr>
                              <a:rPr lang="en-ZA" b="0" i="1" dirty="0" smtClean="0">
                                <a:latin typeface="Cambria Math" panose="02040503050406030204" pitchFamily="18" charset="0"/>
                              </a:rPr>
                            </m:ctrlPr>
                          </m:accPr>
                          <m:e>
                            <m:r>
                              <a:rPr lang="en-ZA" b="0" i="1" dirty="0" smtClean="0">
                                <a:latin typeface="Cambria Math" panose="02040503050406030204" pitchFamily="18" charset="0"/>
                              </a:rPr>
                              <m:t>𝑥</m:t>
                            </m:r>
                          </m:e>
                        </m:acc>
                      </m:e>
                      <m:sub>
                        <m:r>
                          <a:rPr lang="en-ZA" b="0" i="1" dirty="0" smtClean="0">
                            <a:latin typeface="Cambria Math" panose="02040503050406030204" pitchFamily="18" charset="0"/>
                          </a:rPr>
                          <m:t>2</m:t>
                        </m:r>
                      </m:sub>
                    </m:sSub>
                    <m:r>
                      <a:rPr lang="en-ZA" b="0" i="1" dirty="0" smtClean="0">
                        <a:latin typeface="Cambria Math" panose="02040503050406030204" pitchFamily="18" charset="0"/>
                      </a:rPr>
                      <m:t>)′</m:t>
                    </m:r>
                    <m:sSubSup>
                      <m:sSubSupPr>
                        <m:ctrlPr>
                          <a:rPr lang="en-ZA" b="0" i="1" dirty="0" smtClean="0">
                            <a:latin typeface="Cambria Math" panose="02040503050406030204" pitchFamily="18" charset="0"/>
                          </a:rPr>
                        </m:ctrlPr>
                      </m:sSubSupPr>
                      <m:e>
                        <m:r>
                          <a:rPr lang="en-ZA" b="0" i="1" dirty="0" smtClean="0">
                            <a:latin typeface="Cambria Math" panose="02040503050406030204" pitchFamily="18" charset="0"/>
                          </a:rPr>
                          <m:t>𝑆</m:t>
                        </m:r>
                      </m:e>
                      <m:sub>
                        <m:r>
                          <a:rPr lang="en-ZA" b="0" i="1" dirty="0" smtClean="0">
                            <a:latin typeface="Cambria Math" panose="02040503050406030204" pitchFamily="18" charset="0"/>
                          </a:rPr>
                          <m:t>𝑝</m:t>
                        </m:r>
                      </m:sub>
                      <m:sup>
                        <m:r>
                          <a:rPr lang="en-ZA" b="0" i="1" dirty="0" smtClean="0">
                            <a:latin typeface="Cambria Math" panose="02040503050406030204" pitchFamily="18" charset="0"/>
                          </a:rPr>
                          <m:t>−1</m:t>
                        </m:r>
                      </m:sup>
                    </m:sSubSup>
                    <m:r>
                      <a:rPr lang="en-ZA" b="0" i="1" dirty="0" smtClean="0">
                        <a:latin typeface="Cambria Math" panose="02040503050406030204" pitchFamily="18" charset="0"/>
                      </a:rPr>
                      <m:t>(</m:t>
                    </m:r>
                    <m:sSub>
                      <m:sSubPr>
                        <m:ctrlPr>
                          <a:rPr lang="en-ZA" b="0" i="1" dirty="0" smtClean="0">
                            <a:latin typeface="Cambria Math" panose="02040503050406030204" pitchFamily="18" charset="0"/>
                          </a:rPr>
                        </m:ctrlPr>
                      </m:sSubPr>
                      <m:e>
                        <m:acc>
                          <m:accPr>
                            <m:chr m:val="̅"/>
                            <m:ctrlPr>
                              <a:rPr lang="en-ZA" b="0" i="1" dirty="0" smtClean="0">
                                <a:latin typeface="Cambria Math" panose="02040503050406030204" pitchFamily="18" charset="0"/>
                              </a:rPr>
                            </m:ctrlPr>
                          </m:accPr>
                          <m:e>
                            <m:r>
                              <a:rPr lang="en-ZA" b="0" i="1" dirty="0" smtClean="0">
                                <a:latin typeface="Cambria Math" panose="02040503050406030204" pitchFamily="18" charset="0"/>
                              </a:rPr>
                              <m:t>𝑥</m:t>
                            </m:r>
                          </m:e>
                        </m:acc>
                      </m:e>
                      <m:sub>
                        <m:r>
                          <a:rPr lang="en-ZA" b="0" i="1" dirty="0" smtClean="0">
                            <a:latin typeface="Cambria Math" panose="02040503050406030204" pitchFamily="18" charset="0"/>
                          </a:rPr>
                          <m:t>1</m:t>
                        </m:r>
                      </m:sub>
                    </m:sSub>
                    <m:r>
                      <a:rPr lang="en-ZA" b="0" i="1" dirty="0" smtClean="0">
                        <a:latin typeface="Cambria Math" panose="02040503050406030204" pitchFamily="18" charset="0"/>
                      </a:rPr>
                      <m:t>+</m:t>
                    </m:r>
                    <m:sSub>
                      <m:sSubPr>
                        <m:ctrlPr>
                          <a:rPr lang="en-ZA" b="0" i="1" dirty="0" smtClean="0">
                            <a:latin typeface="Cambria Math" panose="02040503050406030204" pitchFamily="18" charset="0"/>
                          </a:rPr>
                        </m:ctrlPr>
                      </m:sSubPr>
                      <m:e>
                        <m:acc>
                          <m:accPr>
                            <m:chr m:val="̅"/>
                            <m:ctrlPr>
                              <a:rPr lang="en-ZA" b="0" i="1" dirty="0" smtClean="0">
                                <a:latin typeface="Cambria Math" panose="02040503050406030204" pitchFamily="18" charset="0"/>
                              </a:rPr>
                            </m:ctrlPr>
                          </m:accPr>
                          <m:e>
                            <m:r>
                              <a:rPr lang="en-ZA" b="0" i="1" dirty="0" smtClean="0">
                                <a:latin typeface="Cambria Math" panose="02040503050406030204" pitchFamily="18" charset="0"/>
                              </a:rPr>
                              <m:t>𝑥</m:t>
                            </m:r>
                          </m:e>
                        </m:acc>
                      </m:e>
                      <m:sub>
                        <m:r>
                          <a:rPr lang="en-ZA" b="0" i="1" dirty="0" smtClean="0">
                            <a:latin typeface="Cambria Math" panose="02040503050406030204" pitchFamily="18" charset="0"/>
                          </a:rPr>
                          <m:t>2</m:t>
                        </m:r>
                      </m:sub>
                    </m:sSub>
                    <m:r>
                      <a:rPr lang="en-ZA" b="0" i="1" dirty="0" smtClean="0">
                        <a:latin typeface="Cambria Math" panose="02040503050406030204" pitchFamily="18" charset="0"/>
                      </a:rPr>
                      <m:t>)</m:t>
                    </m:r>
                    <m:r>
                      <a:rPr lang="en-ZA" i="1" dirty="0">
                        <a:latin typeface="Cambria Math" panose="02040503050406030204" pitchFamily="18" charset="0"/>
                      </a:rPr>
                      <m:t>=</m:t>
                    </m:r>
                    <m:f>
                      <m:fPr>
                        <m:ctrlPr>
                          <a:rPr lang="en-ZA" i="1" dirty="0">
                            <a:latin typeface="Cambria Math" panose="02040503050406030204" pitchFamily="18" charset="0"/>
                          </a:rPr>
                        </m:ctrlPr>
                      </m:fPr>
                      <m:num>
                        <m:r>
                          <a:rPr lang="en-ZA" i="1" dirty="0">
                            <a:latin typeface="Cambria Math" panose="02040503050406030204" pitchFamily="18" charset="0"/>
                          </a:rPr>
                          <m:t>1</m:t>
                        </m:r>
                      </m:num>
                      <m:den>
                        <m:r>
                          <a:rPr lang="en-ZA" i="1" dirty="0">
                            <a:latin typeface="Cambria Math" panose="02040503050406030204" pitchFamily="18" charset="0"/>
                          </a:rPr>
                          <m:t>2</m:t>
                        </m:r>
                      </m:den>
                    </m:f>
                    <m:d>
                      <m:dPr>
                        <m:ctrlPr>
                          <a:rPr lang="en-ZA" i="1" dirty="0">
                            <a:latin typeface="Cambria Math" panose="02040503050406030204" pitchFamily="18" charset="0"/>
                          </a:rPr>
                        </m:ctrlPr>
                      </m:dPr>
                      <m:e>
                        <m:r>
                          <a:rPr lang="en-ZA" i="1" dirty="0">
                            <a:latin typeface="Cambria Math" panose="02040503050406030204" pitchFamily="18" charset="0"/>
                          </a:rPr>
                          <m:t>0.88−10.10</m:t>
                        </m:r>
                      </m:e>
                    </m:d>
                    <m:r>
                      <a:rPr lang="en-ZA" i="1" dirty="0">
                        <a:latin typeface="Cambria Math" panose="02040503050406030204" pitchFamily="18" charset="0"/>
                      </a:rPr>
                      <m:t>=−4.61.</m:t>
                    </m:r>
                  </m:oMath>
                </a14:m>
                <a:endParaRPr lang="en-ZA" dirty="0"/>
              </a:p>
              <a:p>
                <a:endParaRPr lang="en-ZA" dirty="0" smtClean="0"/>
              </a:p>
              <a:p>
                <a:r>
                  <a:rPr lang="en-ZA" dirty="0" smtClean="0"/>
                  <a:t>Since -6.62&lt;-4.61, allocate to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2</m:t>
                        </m:r>
                      </m:sub>
                    </m:sSub>
                    <m:r>
                      <a:rPr lang="en-ZA" b="0" i="1" smtClean="0">
                        <a:latin typeface="Cambria Math" panose="02040503050406030204" pitchFamily="18" charset="0"/>
                      </a:rPr>
                      <m:t>.</m:t>
                    </m:r>
                  </m:oMath>
                </a14:m>
                <a:endParaRPr lang="en-ZA" dirty="0" smtClean="0"/>
              </a:p>
              <a:p>
                <a:endParaRPr lang="en-ZA" dirty="0"/>
              </a:p>
            </p:txBody>
          </p:sp>
        </mc:Choice>
        <mc:Fallback xmlns="">
          <p:sp>
            <p:nvSpPr>
              <p:cNvPr id="2" name="TextBox 1"/>
              <p:cNvSpPr txBox="1">
                <a:spLocks noRot="1" noChangeAspect="1" noMove="1" noResize="1" noEditPoints="1" noAdjustHandles="1" noChangeArrowheads="1" noChangeShapeType="1" noTextEdit="1"/>
              </p:cNvSpPr>
              <p:nvPr/>
            </p:nvSpPr>
            <p:spPr>
              <a:xfrm>
                <a:off x="82550" y="215900"/>
                <a:ext cx="11823700" cy="6524928"/>
              </a:xfrm>
              <a:prstGeom prst="rect">
                <a:avLst/>
              </a:prstGeom>
              <a:blipFill rotWithShape="0">
                <a:blip r:embed="rId3"/>
                <a:stretch>
                  <a:fillRect l="-412" t="-373"/>
                </a:stretch>
              </a:blipFill>
              <a:ln>
                <a:solidFill>
                  <a:schemeClr val="accent1"/>
                </a:solidFill>
              </a:ln>
            </p:spPr>
            <p:txBody>
              <a:bodyPr/>
              <a:lstStyle/>
              <a:p>
                <a:r>
                  <a:rPr lang="en-ZA">
                    <a:noFill/>
                  </a:rPr>
                  <a:t> </a:t>
                </a:r>
              </a:p>
            </p:txBody>
          </p:sp>
        </mc:Fallback>
      </mc:AlternateContent>
    </p:spTree>
    <p:extLst>
      <p:ext uri="{BB962C8B-B14F-4D97-AF65-F5344CB8AC3E}">
        <p14:creationId xmlns:p14="http://schemas.microsoft.com/office/powerpoint/2010/main" val="11683108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184150" y="228600"/>
                <a:ext cx="11912600" cy="6309228"/>
              </a:xfrm>
              <a:prstGeom prst="rect">
                <a:avLst/>
              </a:prstGeom>
              <a:noFill/>
              <a:ln>
                <a:solidFill>
                  <a:schemeClr val="accent1"/>
                </a:solidFill>
              </a:ln>
            </p:spPr>
            <p:txBody>
              <a:bodyPr wrap="square" rtlCol="0">
                <a:spAutoFit/>
              </a:bodyPr>
              <a:lstStyle/>
              <a:p>
                <a:r>
                  <a:rPr lang="en-ZA" dirty="0" smtClean="0"/>
                  <a:t>Quadratic </a:t>
                </a:r>
                <a:r>
                  <a:rPr lang="en-ZA" dirty="0"/>
                  <a:t>Discriminant </a:t>
                </a:r>
                <a:r>
                  <a:rPr lang="en-ZA" dirty="0" smtClean="0"/>
                  <a:t>Analysis</a:t>
                </a:r>
              </a:p>
              <a:p>
                <a:endParaRPr lang="en-ZA" dirty="0"/>
              </a:p>
              <a:p>
                <a:r>
                  <a:rPr lang="en-ZA" dirty="0" smtClean="0"/>
                  <a:t>When </a:t>
                </a:r>
                <a14:m>
                  <m:oMath xmlns:m="http://schemas.openxmlformats.org/officeDocument/2006/math">
                    <m:sSub>
                      <m:sSubPr>
                        <m:ctrlPr>
                          <a:rPr lang="en-ZA" i="1" smtClean="0">
                            <a:latin typeface="Cambria Math" panose="02040503050406030204" pitchFamily="18" charset="0"/>
                          </a:rPr>
                        </m:ctrlPr>
                      </m:sSubPr>
                      <m:e>
                        <m:r>
                          <m:rPr>
                            <m:sty m:val="p"/>
                          </m:rPr>
                          <a:rPr lang="el-GR" i="1" smtClean="0">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rPr>
                          <m:t>1</m:t>
                        </m:r>
                      </m:sub>
                    </m:sSub>
                    <m:r>
                      <a:rPr lang="en-ZA" i="1" smtClean="0">
                        <a:latin typeface="Cambria Math" panose="02040503050406030204" pitchFamily="18" charset="0"/>
                        <a:ea typeface="Cambria Math" panose="02040503050406030204" pitchFamily="18" charset="0"/>
                      </a:rPr>
                      <m:t>≠</m:t>
                    </m:r>
                    <m:sSub>
                      <m:sSubPr>
                        <m:ctrlPr>
                          <a:rPr lang="en-ZA" i="1" smtClean="0">
                            <a:latin typeface="Cambria Math" panose="02040503050406030204" pitchFamily="18" charset="0"/>
                            <a:ea typeface="Cambria Math" panose="02040503050406030204" pitchFamily="18" charset="0"/>
                          </a:rPr>
                        </m:ctrlPr>
                      </m:sSubPr>
                      <m:e>
                        <m:r>
                          <m:rPr>
                            <m:sty m:val="p"/>
                          </m:rPr>
                          <a:rPr lang="el-GR" i="1" smtClean="0">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ea typeface="Cambria Math" panose="02040503050406030204" pitchFamily="18" charset="0"/>
                          </a:rPr>
                          <m:t>2</m:t>
                        </m:r>
                      </m:sub>
                    </m:sSub>
                    <m:r>
                      <a:rPr lang="en-ZA" b="0" i="1" smtClean="0">
                        <a:latin typeface="Cambria Math" panose="02040503050406030204" pitchFamily="18" charset="0"/>
                        <a:ea typeface="Cambria Math" panose="02040503050406030204" pitchFamily="18" charset="0"/>
                      </a:rPr>
                      <m:t> </m:t>
                    </m:r>
                  </m:oMath>
                </a14:m>
                <a:r>
                  <a:rPr lang="en-ZA" dirty="0" smtClean="0"/>
                  <a:t>the </a:t>
                </a:r>
                <a:r>
                  <a:rPr lang="en-ZA" dirty="0"/>
                  <a:t>terms in the density ratio </a:t>
                </a:r>
                <a14:m>
                  <m:oMath xmlns:m="http://schemas.openxmlformats.org/officeDocument/2006/math">
                    <m:f>
                      <m:fPr>
                        <m:ctrlPr>
                          <a:rPr lang="en-ZA" i="1" smtClean="0">
                            <a:latin typeface="Cambria Math" panose="02040503050406030204" pitchFamily="18" charset="0"/>
                          </a:rPr>
                        </m:ctrlPr>
                      </m:fPr>
                      <m:num>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1</m:t>
                            </m:r>
                          </m:sub>
                        </m:sSub>
                        <m:r>
                          <a:rPr lang="en-ZA" b="0" i="1" smtClean="0">
                            <a:latin typeface="Cambria Math" panose="02040503050406030204" pitchFamily="18" charset="0"/>
                          </a:rPr>
                          <m:t>(</m:t>
                        </m:r>
                        <m:r>
                          <a:rPr lang="en-ZA" b="0" i="1" smtClean="0">
                            <a:latin typeface="Cambria Math" panose="02040503050406030204" pitchFamily="18" charset="0"/>
                          </a:rPr>
                          <m:t>𝑥</m:t>
                        </m:r>
                        <m:r>
                          <a:rPr lang="en-ZA" b="0" i="1" smtClean="0">
                            <a:latin typeface="Cambria Math" panose="02040503050406030204" pitchFamily="18" charset="0"/>
                          </a:rPr>
                          <m:t>)</m:t>
                        </m:r>
                      </m:num>
                      <m:den>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2</m:t>
                            </m:r>
                          </m:sub>
                        </m:sSub>
                        <m:r>
                          <a:rPr lang="en-ZA" b="0" i="1" smtClean="0">
                            <a:latin typeface="Cambria Math" panose="02040503050406030204" pitchFamily="18" charset="0"/>
                          </a:rPr>
                          <m:t>(</m:t>
                        </m:r>
                        <m:r>
                          <a:rPr lang="en-ZA" b="0" i="1" smtClean="0">
                            <a:latin typeface="Cambria Math" panose="02040503050406030204" pitchFamily="18" charset="0"/>
                          </a:rPr>
                          <m:t>𝑥</m:t>
                        </m:r>
                        <m:r>
                          <a:rPr lang="en-ZA" b="0" i="1" smtClean="0">
                            <a:latin typeface="Cambria Math" panose="02040503050406030204" pitchFamily="18" charset="0"/>
                          </a:rPr>
                          <m:t>)</m:t>
                        </m:r>
                      </m:den>
                    </m:f>
                  </m:oMath>
                </a14:m>
                <a:r>
                  <a:rPr lang="en-ZA" dirty="0" smtClean="0"/>
                  <a:t> involving </a:t>
                </a:r>
                <a14:m>
                  <m:oMath xmlns:m="http://schemas.openxmlformats.org/officeDocument/2006/math">
                    <m:r>
                      <a:rPr lang="en-ZA" i="1">
                        <a:latin typeface="Cambria Math" panose="02040503050406030204" pitchFamily="18" charset="0"/>
                      </a:rPr>
                      <m:t>|</m:t>
                    </m:r>
                    <m:sSub>
                      <m:sSubPr>
                        <m:ctrlPr>
                          <a:rPr lang="en-ZA"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Σ</m:t>
                        </m:r>
                      </m:e>
                      <m:sub>
                        <m:r>
                          <a:rPr lang="en-ZA" i="1">
                            <a:latin typeface="Cambria Math" panose="02040503050406030204" pitchFamily="18" charset="0"/>
                          </a:rPr>
                          <m:t>𝑖</m:t>
                        </m:r>
                      </m:sub>
                    </m:sSub>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m:t>
                        </m:r>
                        <m:f>
                          <m:fPr>
                            <m:ctrlPr>
                              <a:rPr lang="en-ZA" i="1">
                                <a:latin typeface="Cambria Math" panose="02040503050406030204" pitchFamily="18" charset="0"/>
                              </a:rPr>
                            </m:ctrlPr>
                          </m:fPr>
                          <m:num>
                            <m:r>
                              <a:rPr lang="en-ZA" i="1">
                                <a:latin typeface="Cambria Math" panose="02040503050406030204" pitchFamily="18" charset="0"/>
                              </a:rPr>
                              <m:t>1</m:t>
                            </m:r>
                          </m:num>
                          <m:den>
                            <m:r>
                              <a:rPr lang="en-ZA" i="1">
                                <a:latin typeface="Cambria Math" panose="02040503050406030204" pitchFamily="18" charset="0"/>
                              </a:rPr>
                              <m:t>2</m:t>
                            </m:r>
                          </m:den>
                        </m:f>
                      </m:sup>
                    </m:sSup>
                  </m:oMath>
                </a14:m>
                <a:r>
                  <a:rPr lang="en-ZA" dirty="0" smtClean="0"/>
                  <a:t> do </a:t>
                </a:r>
                <a:r>
                  <a:rPr lang="en-ZA" dirty="0"/>
                  <a:t>not cancel and the quadratic forms in the exponents of </a:t>
                </a:r>
                <a:r>
                  <a:rPr lang="en-ZA" dirty="0" smtClean="0"/>
                  <a:t>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1</m:t>
                        </m:r>
                      </m:sub>
                    </m:sSub>
                    <m:r>
                      <a:rPr lang="en-ZA" b="0" i="1" smtClean="0">
                        <a:latin typeface="Cambria Math" panose="02040503050406030204" pitchFamily="18" charset="0"/>
                      </a:rPr>
                      <m:t>(</m:t>
                    </m:r>
                    <m:r>
                      <a:rPr lang="en-ZA" b="0" i="1" smtClean="0">
                        <a:latin typeface="Cambria Math" panose="02040503050406030204" pitchFamily="18" charset="0"/>
                      </a:rPr>
                      <m:t>𝑥</m:t>
                    </m:r>
                    <m:r>
                      <a:rPr lang="en-ZA" b="0" i="1" smtClean="0">
                        <a:latin typeface="Cambria Math" panose="02040503050406030204" pitchFamily="18" charset="0"/>
                      </a:rPr>
                      <m:t>)</m:t>
                    </m:r>
                  </m:oMath>
                </a14:m>
                <a:r>
                  <a:rPr lang="en-ZA" dirty="0" smtClean="0"/>
                  <a:t> and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2</m:t>
                        </m:r>
                      </m:sub>
                    </m:sSub>
                    <m:d>
                      <m:dPr>
                        <m:ctrlPr>
                          <a:rPr lang="en-ZA" b="0" i="1" smtClean="0">
                            <a:latin typeface="Cambria Math" panose="02040503050406030204" pitchFamily="18" charset="0"/>
                          </a:rPr>
                        </m:ctrlPr>
                      </m:dPr>
                      <m:e>
                        <m:r>
                          <a:rPr lang="en-ZA" b="0" i="1" smtClean="0">
                            <a:latin typeface="Cambria Math" panose="02040503050406030204" pitchFamily="18" charset="0"/>
                          </a:rPr>
                          <m:t>𝑥</m:t>
                        </m:r>
                      </m:e>
                    </m:d>
                  </m:oMath>
                </a14:m>
                <a:r>
                  <a:rPr lang="en-ZA" dirty="0" smtClean="0"/>
                  <a:t> </a:t>
                </a:r>
                <a:r>
                  <a:rPr lang="en-ZA" dirty="0"/>
                  <a:t>do not combine</a:t>
                </a:r>
                <a:r>
                  <a:rPr lang="en-ZA" dirty="0" smtClean="0"/>
                  <a:t>:</a:t>
                </a:r>
              </a:p>
              <a:p>
                <a:pPr/>
                <a14:m>
                  <m:oMathPara xmlns:m="http://schemas.openxmlformats.org/officeDocument/2006/math">
                    <m:oMathParaPr>
                      <m:jc m:val="centerGroup"/>
                    </m:oMathParaPr>
                    <m:oMath xmlns:m="http://schemas.openxmlformats.org/officeDocument/2006/math">
                      <m:f>
                        <m:fPr>
                          <m:ctrlPr>
                            <a:rPr lang="en-ZA" i="1" smtClean="0">
                              <a:latin typeface="Cambria Math" panose="02040503050406030204" pitchFamily="18" charset="0"/>
                            </a:rPr>
                          </m:ctrlPr>
                        </m:fPr>
                        <m:num>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1</m:t>
                              </m:r>
                            </m:sub>
                          </m:sSub>
                          <m:r>
                            <a:rPr lang="en-ZA" b="0" i="1" smtClean="0">
                              <a:latin typeface="Cambria Math" panose="02040503050406030204" pitchFamily="18" charset="0"/>
                            </a:rPr>
                            <m:t>(</m:t>
                          </m:r>
                          <m:r>
                            <a:rPr lang="en-ZA" b="0" i="1" smtClean="0">
                              <a:latin typeface="Cambria Math" panose="02040503050406030204" pitchFamily="18" charset="0"/>
                            </a:rPr>
                            <m:t>𝑥</m:t>
                          </m:r>
                          <m:r>
                            <a:rPr lang="en-ZA" b="0" i="1" smtClean="0">
                              <a:latin typeface="Cambria Math" panose="02040503050406030204" pitchFamily="18" charset="0"/>
                            </a:rPr>
                            <m:t>)</m:t>
                          </m:r>
                        </m:num>
                        <m:den>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2</m:t>
                              </m:r>
                            </m:sub>
                          </m:sSub>
                          <m:r>
                            <a:rPr lang="en-ZA" b="0" i="1" smtClean="0">
                              <a:latin typeface="Cambria Math" panose="02040503050406030204" pitchFamily="18" charset="0"/>
                            </a:rPr>
                            <m:t>(</m:t>
                          </m:r>
                          <m:r>
                            <a:rPr lang="en-ZA" b="0" i="1" smtClean="0">
                              <a:latin typeface="Cambria Math" panose="02040503050406030204" pitchFamily="18" charset="0"/>
                            </a:rPr>
                            <m:t>𝑥</m:t>
                          </m:r>
                          <m:r>
                            <a:rPr lang="en-ZA" b="0" i="1" smtClean="0">
                              <a:latin typeface="Cambria Math" panose="02040503050406030204" pitchFamily="18" charset="0"/>
                            </a:rPr>
                            <m:t>)</m:t>
                          </m:r>
                        </m:den>
                      </m:f>
                      <m:r>
                        <a:rPr lang="en-ZA" b="0" i="1" smtClean="0">
                          <a:latin typeface="Cambria Math" panose="02040503050406030204" pitchFamily="18" charset="0"/>
                        </a:rPr>
                        <m:t>=</m:t>
                      </m:r>
                      <m:f>
                        <m:fPr>
                          <m:ctrlPr>
                            <a:rPr lang="en-ZA" b="0" i="1" smtClean="0">
                              <a:latin typeface="Cambria Math" panose="02040503050406030204" pitchFamily="18" charset="0"/>
                            </a:rPr>
                          </m:ctrlPr>
                        </m:fPr>
                        <m:num>
                          <m:r>
                            <a:rPr lang="en-ZA" b="0" i="1" smtClean="0">
                              <a:latin typeface="Cambria Math" panose="02040503050406030204" pitchFamily="18" charset="0"/>
                            </a:rPr>
                            <m:t>(2</m:t>
                          </m:r>
                          <m:r>
                            <a:rPr lang="en-ZA" b="0" i="1" smtClean="0">
                              <a:latin typeface="Cambria Math" panose="02040503050406030204" pitchFamily="18" charset="0"/>
                              <a:ea typeface="Cambria Math" panose="02040503050406030204" pitchFamily="18" charset="0"/>
                            </a:rPr>
                            <m:t>𝜋</m:t>
                          </m:r>
                          <m:sSup>
                            <m:sSupPr>
                              <m:ctrlPr>
                                <a:rPr lang="en-ZA" b="0" i="1" smtClean="0">
                                  <a:latin typeface="Cambria Math" panose="02040503050406030204" pitchFamily="18" charset="0"/>
                                  <a:ea typeface="Cambria Math" panose="02040503050406030204" pitchFamily="18" charset="0"/>
                                </a:rPr>
                              </m:ctrlPr>
                            </m:sSupPr>
                            <m:e>
                              <m:r>
                                <a:rPr lang="en-ZA" b="0" i="1" smtClean="0">
                                  <a:latin typeface="Cambria Math" panose="02040503050406030204" pitchFamily="18" charset="0"/>
                                  <a:ea typeface="Cambria Math" panose="02040503050406030204" pitchFamily="18" charset="0"/>
                                </a:rPr>
                                <m:t>)</m:t>
                              </m:r>
                            </m:e>
                            <m:sup>
                              <m:r>
                                <a:rPr lang="en-ZA" b="0" i="1" smtClean="0">
                                  <a:latin typeface="Cambria Math" panose="02040503050406030204" pitchFamily="18" charset="0"/>
                                  <a:ea typeface="Cambria Math" panose="02040503050406030204" pitchFamily="18" charset="0"/>
                                </a:rPr>
                                <m:t>−</m:t>
                              </m:r>
                              <m:f>
                                <m:fPr>
                                  <m:ctrlPr>
                                    <a:rPr lang="en-ZA" b="0" i="1" smtClean="0">
                                      <a:latin typeface="Cambria Math" panose="02040503050406030204" pitchFamily="18" charset="0"/>
                                      <a:ea typeface="Cambria Math" panose="02040503050406030204" pitchFamily="18" charset="0"/>
                                    </a:rPr>
                                  </m:ctrlPr>
                                </m:fPr>
                                <m:num>
                                  <m:r>
                                    <a:rPr lang="en-ZA" b="0" i="1" smtClean="0">
                                      <a:latin typeface="Cambria Math" panose="02040503050406030204" pitchFamily="18" charset="0"/>
                                      <a:ea typeface="Cambria Math" panose="02040503050406030204" pitchFamily="18" charset="0"/>
                                    </a:rPr>
                                    <m:t>𝑝</m:t>
                                  </m:r>
                                </m:num>
                                <m:den>
                                  <m:r>
                                    <a:rPr lang="en-ZA" b="0" i="1" smtClean="0">
                                      <a:latin typeface="Cambria Math" panose="02040503050406030204" pitchFamily="18" charset="0"/>
                                      <a:ea typeface="Cambria Math" panose="02040503050406030204" pitchFamily="18" charset="0"/>
                                    </a:rPr>
                                    <m:t>2</m:t>
                                  </m:r>
                                </m:den>
                              </m:f>
                            </m:sup>
                          </m:sSup>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ea typeface="Cambria Math" panose="02040503050406030204" pitchFamily="18" charset="0"/>
                                </a:rPr>
                                <m:t>1</m:t>
                              </m:r>
                            </m:sub>
                          </m:sSub>
                          <m:sSup>
                            <m:sSupPr>
                              <m:ctrlPr>
                                <a:rPr lang="en-ZA" b="0" i="1" smtClean="0">
                                  <a:latin typeface="Cambria Math" panose="02040503050406030204" pitchFamily="18" charset="0"/>
                                  <a:ea typeface="Cambria Math" panose="02040503050406030204" pitchFamily="18" charset="0"/>
                                </a:rPr>
                              </m:ctrlPr>
                            </m:sSupPr>
                            <m:e>
                              <m:r>
                                <a:rPr lang="en-ZA" b="0" i="1" smtClean="0">
                                  <a:latin typeface="Cambria Math" panose="02040503050406030204" pitchFamily="18" charset="0"/>
                                  <a:ea typeface="Cambria Math" panose="02040503050406030204" pitchFamily="18" charset="0"/>
                                </a:rPr>
                                <m:t>|</m:t>
                              </m:r>
                            </m:e>
                            <m:sup>
                              <m:r>
                                <a:rPr lang="en-ZA" b="0" i="1" smtClean="0">
                                  <a:latin typeface="Cambria Math" panose="02040503050406030204" pitchFamily="18" charset="0"/>
                                  <a:ea typeface="Cambria Math" panose="02040503050406030204" pitchFamily="18" charset="0"/>
                                </a:rPr>
                                <m:t>−</m:t>
                              </m:r>
                              <m:f>
                                <m:fPr>
                                  <m:ctrlPr>
                                    <a:rPr lang="en-ZA" b="0" i="1" smtClean="0">
                                      <a:latin typeface="Cambria Math" panose="02040503050406030204" pitchFamily="18" charset="0"/>
                                      <a:ea typeface="Cambria Math" panose="02040503050406030204" pitchFamily="18" charset="0"/>
                                    </a:rPr>
                                  </m:ctrlPr>
                                </m:fPr>
                                <m:num>
                                  <m:r>
                                    <a:rPr lang="en-ZA" b="0" i="1" smtClean="0">
                                      <a:latin typeface="Cambria Math" panose="02040503050406030204" pitchFamily="18" charset="0"/>
                                      <a:ea typeface="Cambria Math" panose="02040503050406030204" pitchFamily="18" charset="0"/>
                                    </a:rPr>
                                    <m:t>1</m:t>
                                  </m:r>
                                </m:num>
                                <m:den>
                                  <m:r>
                                    <a:rPr lang="en-ZA" b="0" i="1" smtClean="0">
                                      <a:latin typeface="Cambria Math" panose="02040503050406030204" pitchFamily="18" charset="0"/>
                                      <a:ea typeface="Cambria Math" panose="02040503050406030204" pitchFamily="18" charset="0"/>
                                    </a:rPr>
                                    <m:t>2</m:t>
                                  </m:r>
                                </m:den>
                              </m:f>
                            </m:sup>
                          </m:sSup>
                          <m:r>
                            <m:rPr>
                              <m:sty m:val="p"/>
                            </m:rPr>
                            <a:rPr lang="en-ZA" b="0" i="0" smtClean="0">
                              <a:latin typeface="Cambria Math" panose="02040503050406030204" pitchFamily="18" charset="0"/>
                              <a:ea typeface="Cambria Math" panose="02040503050406030204" pitchFamily="18" charset="0"/>
                            </a:rPr>
                            <m:t>exp</m:t>
                          </m:r>
                          <m:r>
                            <a:rPr lang="en-ZA" b="0" i="1" smtClean="0">
                              <a:latin typeface="Cambria Math" panose="02040503050406030204" pitchFamily="18" charset="0"/>
                              <a:ea typeface="Cambria Math" panose="02040503050406030204" pitchFamily="18" charset="0"/>
                            </a:rPr>
                            <m:t>⁡[−1/2(</m:t>
                          </m:r>
                          <m:r>
                            <a:rPr lang="en-ZA" b="0" i="1" smtClean="0">
                              <a:latin typeface="Cambria Math" panose="02040503050406030204" pitchFamily="18" charset="0"/>
                              <a:ea typeface="Cambria Math" panose="02040503050406030204" pitchFamily="18" charset="0"/>
                            </a:rPr>
                            <m:t>𝑥</m:t>
                          </m:r>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1</m:t>
                              </m:r>
                            </m:sub>
                          </m:sSub>
                          <m:sSup>
                            <m:sSupPr>
                              <m:ctrlPr>
                                <a:rPr lang="en-ZA" b="0" i="1" smtClean="0">
                                  <a:latin typeface="Cambria Math" panose="02040503050406030204" pitchFamily="18" charset="0"/>
                                  <a:ea typeface="Cambria Math" panose="02040503050406030204" pitchFamily="18" charset="0"/>
                                </a:rPr>
                              </m:ctrlPr>
                            </m:sSupPr>
                            <m:e>
                              <m:r>
                                <a:rPr lang="en-ZA" b="0" i="1" smtClean="0">
                                  <a:latin typeface="Cambria Math" panose="02040503050406030204" pitchFamily="18" charset="0"/>
                                  <a:ea typeface="Cambria Math" panose="02040503050406030204" pitchFamily="18" charset="0"/>
                                </a:rPr>
                                <m:t>)</m:t>
                              </m:r>
                            </m:e>
                            <m:sup>
                              <m:r>
                                <a:rPr lang="en-ZA" b="0" i="1" smtClean="0">
                                  <a:latin typeface="Cambria Math" panose="02040503050406030204" pitchFamily="18" charset="0"/>
                                  <a:ea typeface="Cambria Math" panose="02040503050406030204" pitchFamily="18" charset="0"/>
                                </a:rPr>
                                <m:t>′</m:t>
                              </m:r>
                            </m:sup>
                          </m:sSup>
                          <m:sSubSup>
                            <m:sSubSupPr>
                              <m:ctrlPr>
                                <a:rPr lang="en-ZA" b="0" i="1" smtClean="0">
                                  <a:latin typeface="Cambria Math" panose="02040503050406030204" pitchFamily="18" charset="0"/>
                                  <a:ea typeface="Cambria Math" panose="02040503050406030204" pitchFamily="18" charset="0"/>
                                </a:rPr>
                              </m:ctrlPr>
                            </m:sSubSupPr>
                            <m:e>
                              <m:r>
                                <m:rPr>
                                  <m:sty m:val="p"/>
                                </m:rPr>
                                <a:rPr lang="el-GR" b="0" i="1" smtClean="0">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ea typeface="Cambria Math" panose="02040503050406030204" pitchFamily="18" charset="0"/>
                                </a:rPr>
                                <m:t>1</m:t>
                              </m:r>
                            </m:sub>
                            <m:sup>
                              <m:r>
                                <a:rPr lang="en-ZA" b="0" i="1" smtClean="0">
                                  <a:latin typeface="Cambria Math" panose="02040503050406030204" pitchFamily="18" charset="0"/>
                                  <a:ea typeface="Cambria Math" panose="02040503050406030204" pitchFamily="18" charset="0"/>
                                </a:rPr>
                                <m:t>−1</m:t>
                              </m:r>
                            </m:sup>
                          </m:sSubSup>
                          <m:d>
                            <m:dPr>
                              <m:ctrlPr>
                                <a:rPr lang="en-ZA" b="0" i="1" smtClean="0">
                                  <a:latin typeface="Cambria Math" panose="02040503050406030204" pitchFamily="18" charset="0"/>
                                  <a:ea typeface="Cambria Math" panose="02040503050406030204" pitchFamily="18" charset="0"/>
                                </a:rPr>
                              </m:ctrlPr>
                            </m:dPr>
                            <m:e>
                              <m:r>
                                <a:rPr lang="en-ZA" b="0" i="1" smtClean="0">
                                  <a:latin typeface="Cambria Math" panose="02040503050406030204" pitchFamily="18" charset="0"/>
                                  <a:ea typeface="Cambria Math" panose="02040503050406030204" pitchFamily="18" charset="0"/>
                                </a:rPr>
                                <m:t>𝑥</m:t>
                              </m:r>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1</m:t>
                                  </m:r>
                                </m:sub>
                              </m:sSub>
                            </m:e>
                          </m:d>
                          <m:r>
                            <a:rPr lang="en-ZA" b="0" i="1" smtClean="0">
                              <a:latin typeface="Cambria Math" panose="02040503050406030204" pitchFamily="18" charset="0"/>
                              <a:ea typeface="Cambria Math" panose="02040503050406030204" pitchFamily="18" charset="0"/>
                            </a:rPr>
                            <m:t>]</m:t>
                          </m:r>
                        </m:num>
                        <m:den>
                          <m:r>
                            <a:rPr lang="en-ZA" b="0" i="1" smtClean="0">
                              <a:latin typeface="Cambria Math" panose="02040503050406030204" pitchFamily="18" charset="0"/>
                            </a:rPr>
                            <m:t>(</m:t>
                          </m:r>
                          <m:r>
                            <a:rPr lang="en-ZA" i="1">
                              <a:latin typeface="Cambria Math" panose="02040503050406030204" pitchFamily="18" charset="0"/>
                            </a:rPr>
                            <m:t>2</m:t>
                          </m:r>
                          <m:r>
                            <a:rPr lang="en-ZA" i="1">
                              <a:latin typeface="Cambria Math" panose="02040503050406030204" pitchFamily="18" charset="0"/>
                              <a:ea typeface="Cambria Math" panose="02040503050406030204" pitchFamily="18" charset="0"/>
                            </a:rPr>
                            <m:t>𝜋</m:t>
                          </m:r>
                          <m:sSup>
                            <m:sSupPr>
                              <m:ctrlPr>
                                <a:rPr lang="en-ZA" i="1">
                                  <a:latin typeface="Cambria Math" panose="02040503050406030204" pitchFamily="18" charset="0"/>
                                  <a:ea typeface="Cambria Math" panose="02040503050406030204" pitchFamily="18" charset="0"/>
                                </a:rPr>
                              </m:ctrlPr>
                            </m:sSupPr>
                            <m:e>
                              <m:r>
                                <a:rPr lang="en-ZA" i="1">
                                  <a:latin typeface="Cambria Math" panose="02040503050406030204" pitchFamily="18" charset="0"/>
                                  <a:ea typeface="Cambria Math" panose="02040503050406030204" pitchFamily="18" charset="0"/>
                                </a:rPr>
                                <m:t>)</m:t>
                              </m:r>
                            </m:e>
                            <m:sup>
                              <m:r>
                                <a:rPr lang="en-ZA" i="1">
                                  <a:latin typeface="Cambria Math" panose="02040503050406030204" pitchFamily="18" charset="0"/>
                                  <a:ea typeface="Cambria Math" panose="02040503050406030204" pitchFamily="18" charset="0"/>
                                </a:rPr>
                                <m:t>−</m:t>
                              </m:r>
                              <m:f>
                                <m:fPr>
                                  <m:ctrlPr>
                                    <a:rPr lang="en-ZA" i="1">
                                      <a:latin typeface="Cambria Math" panose="02040503050406030204" pitchFamily="18" charset="0"/>
                                      <a:ea typeface="Cambria Math" panose="02040503050406030204" pitchFamily="18" charset="0"/>
                                    </a:rPr>
                                  </m:ctrlPr>
                                </m:fPr>
                                <m:num>
                                  <m:r>
                                    <a:rPr lang="en-ZA" i="1">
                                      <a:latin typeface="Cambria Math" panose="02040503050406030204" pitchFamily="18" charset="0"/>
                                      <a:ea typeface="Cambria Math" panose="02040503050406030204" pitchFamily="18" charset="0"/>
                                    </a:rPr>
                                    <m:t>𝑝</m:t>
                                  </m:r>
                                </m:num>
                                <m:den>
                                  <m:r>
                                    <a:rPr lang="en-ZA" i="1">
                                      <a:latin typeface="Cambria Math" panose="02040503050406030204" pitchFamily="18" charset="0"/>
                                      <a:ea typeface="Cambria Math" panose="02040503050406030204" pitchFamily="18" charset="0"/>
                                    </a:rPr>
                                    <m:t>2</m:t>
                                  </m:r>
                                </m:den>
                              </m:f>
                            </m:sup>
                          </m:sSup>
                          <m:r>
                            <a:rPr lang="en-ZA" i="1">
                              <a:latin typeface="Cambria Math" panose="02040503050406030204" pitchFamily="18" charset="0"/>
                              <a:ea typeface="Cambria Math" panose="02040503050406030204" pitchFamily="18" charset="0"/>
                            </a:rPr>
                            <m:t>|</m:t>
                          </m:r>
                          <m:sSub>
                            <m:sSubPr>
                              <m:ctrlPr>
                                <a:rPr lang="en-ZA"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ea typeface="Cambria Math" panose="02040503050406030204" pitchFamily="18" charset="0"/>
                                </a:rPr>
                                <m:t>2</m:t>
                              </m:r>
                            </m:sub>
                          </m:sSub>
                          <m:sSup>
                            <m:sSupPr>
                              <m:ctrlPr>
                                <a:rPr lang="en-ZA" i="1">
                                  <a:latin typeface="Cambria Math" panose="02040503050406030204" pitchFamily="18" charset="0"/>
                                  <a:ea typeface="Cambria Math" panose="02040503050406030204" pitchFamily="18" charset="0"/>
                                </a:rPr>
                              </m:ctrlPr>
                            </m:sSupPr>
                            <m:e>
                              <m:r>
                                <a:rPr lang="en-ZA" i="1">
                                  <a:latin typeface="Cambria Math" panose="02040503050406030204" pitchFamily="18" charset="0"/>
                                  <a:ea typeface="Cambria Math" panose="02040503050406030204" pitchFamily="18" charset="0"/>
                                </a:rPr>
                                <m:t>|</m:t>
                              </m:r>
                            </m:e>
                            <m:sup>
                              <m:r>
                                <a:rPr lang="en-ZA" i="1">
                                  <a:latin typeface="Cambria Math" panose="02040503050406030204" pitchFamily="18" charset="0"/>
                                  <a:ea typeface="Cambria Math" panose="02040503050406030204" pitchFamily="18" charset="0"/>
                                </a:rPr>
                                <m:t>−</m:t>
                              </m:r>
                              <m:f>
                                <m:fPr>
                                  <m:ctrlPr>
                                    <a:rPr lang="en-ZA" i="1">
                                      <a:latin typeface="Cambria Math" panose="02040503050406030204" pitchFamily="18" charset="0"/>
                                      <a:ea typeface="Cambria Math" panose="02040503050406030204" pitchFamily="18" charset="0"/>
                                    </a:rPr>
                                  </m:ctrlPr>
                                </m:fPr>
                                <m:num>
                                  <m:r>
                                    <a:rPr lang="en-ZA" i="1">
                                      <a:latin typeface="Cambria Math" panose="02040503050406030204" pitchFamily="18" charset="0"/>
                                      <a:ea typeface="Cambria Math" panose="02040503050406030204" pitchFamily="18" charset="0"/>
                                    </a:rPr>
                                    <m:t>1</m:t>
                                  </m:r>
                                </m:num>
                                <m:den>
                                  <m:r>
                                    <a:rPr lang="en-ZA" i="1">
                                      <a:latin typeface="Cambria Math" panose="02040503050406030204" pitchFamily="18" charset="0"/>
                                      <a:ea typeface="Cambria Math" panose="02040503050406030204" pitchFamily="18" charset="0"/>
                                    </a:rPr>
                                    <m:t>2</m:t>
                                  </m:r>
                                </m:den>
                              </m:f>
                            </m:sup>
                          </m:sSup>
                          <m:r>
                            <m:rPr>
                              <m:sty m:val="p"/>
                            </m:rPr>
                            <a:rPr lang="en-ZA">
                              <a:latin typeface="Cambria Math" panose="02040503050406030204" pitchFamily="18" charset="0"/>
                              <a:ea typeface="Cambria Math" panose="02040503050406030204" pitchFamily="18" charset="0"/>
                            </a:rPr>
                            <m:t>exp</m:t>
                          </m:r>
                          <m:r>
                            <a:rPr lang="en-ZA" i="1">
                              <a:latin typeface="Cambria Math" panose="02040503050406030204" pitchFamily="18" charset="0"/>
                              <a:ea typeface="Cambria Math" panose="02040503050406030204" pitchFamily="18" charset="0"/>
                            </a:rPr>
                            <m:t>⁡[−1/2(</m:t>
                          </m:r>
                          <m:r>
                            <a:rPr lang="en-ZA" i="1">
                              <a:latin typeface="Cambria Math" panose="02040503050406030204" pitchFamily="18" charset="0"/>
                              <a:ea typeface="Cambria Math" panose="02040503050406030204" pitchFamily="18" charset="0"/>
                            </a:rPr>
                            <m:t>𝑥</m:t>
                          </m:r>
                          <m:r>
                            <a:rPr lang="en-ZA" i="1">
                              <a:latin typeface="Cambria Math" panose="02040503050406030204" pitchFamily="18" charset="0"/>
                              <a:ea typeface="Cambria Math" panose="02040503050406030204" pitchFamily="18" charset="0"/>
                            </a:rPr>
                            <m:t>−</m:t>
                          </m:r>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2</m:t>
                              </m:r>
                            </m:sub>
                          </m:sSub>
                          <m:sSup>
                            <m:sSupPr>
                              <m:ctrlPr>
                                <a:rPr lang="en-ZA" i="1">
                                  <a:latin typeface="Cambria Math" panose="02040503050406030204" pitchFamily="18" charset="0"/>
                                  <a:ea typeface="Cambria Math" panose="02040503050406030204" pitchFamily="18" charset="0"/>
                                </a:rPr>
                              </m:ctrlPr>
                            </m:sSupPr>
                            <m:e>
                              <m:r>
                                <a:rPr lang="en-ZA" i="1">
                                  <a:latin typeface="Cambria Math" panose="02040503050406030204" pitchFamily="18" charset="0"/>
                                  <a:ea typeface="Cambria Math" panose="02040503050406030204" pitchFamily="18" charset="0"/>
                                </a:rPr>
                                <m:t>)</m:t>
                              </m:r>
                            </m:e>
                            <m:sup>
                              <m:r>
                                <a:rPr lang="en-ZA" i="1">
                                  <a:latin typeface="Cambria Math" panose="02040503050406030204" pitchFamily="18" charset="0"/>
                                  <a:ea typeface="Cambria Math" panose="02040503050406030204" pitchFamily="18" charset="0"/>
                                </a:rPr>
                                <m:t>′</m:t>
                              </m:r>
                            </m:sup>
                          </m:sSup>
                          <m:sSubSup>
                            <m:sSubSupPr>
                              <m:ctrlPr>
                                <a:rPr lang="en-ZA" i="1">
                                  <a:latin typeface="Cambria Math" panose="02040503050406030204" pitchFamily="18" charset="0"/>
                                  <a:ea typeface="Cambria Math" panose="02040503050406030204" pitchFamily="18" charset="0"/>
                                </a:rPr>
                              </m:ctrlPr>
                            </m:sSubSupPr>
                            <m:e>
                              <m:r>
                                <m:rPr>
                                  <m:sty m:val="p"/>
                                </m:rPr>
                                <a:rPr lang="el-GR" i="1">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ea typeface="Cambria Math" panose="02040503050406030204" pitchFamily="18" charset="0"/>
                                </a:rPr>
                                <m:t>2</m:t>
                              </m:r>
                            </m:sub>
                            <m:sup>
                              <m:r>
                                <a:rPr lang="en-ZA" i="1">
                                  <a:latin typeface="Cambria Math" panose="02040503050406030204" pitchFamily="18" charset="0"/>
                                  <a:ea typeface="Cambria Math" panose="02040503050406030204" pitchFamily="18" charset="0"/>
                                </a:rPr>
                                <m:t>−1</m:t>
                              </m:r>
                            </m:sup>
                          </m:sSubSup>
                          <m:d>
                            <m:dPr>
                              <m:ctrlPr>
                                <a:rPr lang="en-ZA" i="1">
                                  <a:latin typeface="Cambria Math" panose="02040503050406030204" pitchFamily="18" charset="0"/>
                                  <a:ea typeface="Cambria Math" panose="02040503050406030204" pitchFamily="18" charset="0"/>
                                </a:rPr>
                              </m:ctrlPr>
                            </m:dPr>
                            <m:e>
                              <m:r>
                                <a:rPr lang="en-ZA" i="1">
                                  <a:latin typeface="Cambria Math" panose="02040503050406030204" pitchFamily="18" charset="0"/>
                                  <a:ea typeface="Cambria Math" panose="02040503050406030204" pitchFamily="18" charset="0"/>
                                </a:rPr>
                                <m:t>𝑥</m:t>
                              </m:r>
                              <m:r>
                                <a:rPr lang="en-ZA" i="1">
                                  <a:latin typeface="Cambria Math" panose="02040503050406030204" pitchFamily="18" charset="0"/>
                                  <a:ea typeface="Cambria Math" panose="02040503050406030204" pitchFamily="18" charset="0"/>
                                </a:rPr>
                                <m:t>−</m:t>
                              </m:r>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2</m:t>
                                  </m:r>
                                </m:sub>
                              </m:sSub>
                            </m:e>
                          </m:d>
                          <m:r>
                            <a:rPr lang="en-ZA" b="0" i="1" smtClean="0">
                              <a:latin typeface="Cambria Math" panose="02040503050406030204" pitchFamily="18" charset="0"/>
                              <a:ea typeface="Cambria Math" panose="02040503050406030204" pitchFamily="18" charset="0"/>
                            </a:rPr>
                            <m:t>]</m:t>
                          </m:r>
                        </m:den>
                      </m:f>
                    </m:oMath>
                  </m:oMathPara>
                </a14:m>
                <a:endParaRPr lang="en-ZA" dirty="0" smtClean="0"/>
              </a:p>
              <a:p>
                <a:pPr/>
                <a14:m>
                  <m:oMathPara xmlns:m="http://schemas.openxmlformats.org/officeDocument/2006/math">
                    <m:oMathParaPr>
                      <m:jc m:val="centerGroup"/>
                    </m:oMathParaPr>
                    <m:oMath xmlns:m="http://schemas.openxmlformats.org/officeDocument/2006/math">
                      <m:r>
                        <a:rPr lang="en-ZA" b="0" i="1" smtClean="0">
                          <a:latin typeface="Cambria Math" panose="02040503050406030204" pitchFamily="18" charset="0"/>
                        </a:rPr>
                        <m:t>=</m:t>
                      </m:r>
                      <m:sSup>
                        <m:sSupPr>
                          <m:ctrlPr>
                            <a:rPr lang="en-ZA" b="0" i="1" smtClean="0">
                              <a:latin typeface="Cambria Math" panose="02040503050406030204" pitchFamily="18" charset="0"/>
                            </a:rPr>
                          </m:ctrlPr>
                        </m:sSupPr>
                        <m:e>
                          <m:d>
                            <m:dPr>
                              <m:ctrlPr>
                                <a:rPr lang="en-ZA" b="0" i="1" smtClean="0">
                                  <a:latin typeface="Cambria Math" panose="02040503050406030204" pitchFamily="18" charset="0"/>
                                </a:rPr>
                              </m:ctrlPr>
                            </m:dPr>
                            <m:e>
                              <m:f>
                                <m:fPr>
                                  <m:ctrlPr>
                                    <a:rPr lang="en-ZA" b="0" i="1" smtClean="0">
                                      <a:latin typeface="Cambria Math" panose="02040503050406030204" pitchFamily="18" charset="0"/>
                                    </a:rPr>
                                  </m:ctrlPr>
                                </m:fPr>
                                <m:num>
                                  <m:sSub>
                                    <m:sSubPr>
                                      <m:ctrlPr>
                                        <a:rPr lang="en-ZA" b="0" i="1" smtClean="0">
                                          <a:latin typeface="Cambria Math" panose="02040503050406030204" pitchFamily="18" charset="0"/>
                                        </a:rPr>
                                      </m:ctrlPr>
                                    </m:sSubPr>
                                    <m:e>
                                      <m:r>
                                        <a:rPr lang="en-ZA"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rPr>
                                        <m:t>1</m:t>
                                      </m:r>
                                    </m:sub>
                                  </m:sSub>
                                  <m:r>
                                    <a:rPr lang="en-ZA" b="0" i="1" smtClean="0">
                                      <a:latin typeface="Cambria Math" panose="02040503050406030204" pitchFamily="18" charset="0"/>
                                    </a:rPr>
                                    <m:t>|</m:t>
                                  </m:r>
                                </m:num>
                                <m:den>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rPr>
                                        <m:t>2</m:t>
                                      </m:r>
                                    </m:sub>
                                  </m:sSub>
                                  <m:r>
                                    <a:rPr lang="en-ZA" b="0" i="1" smtClean="0">
                                      <a:latin typeface="Cambria Math" panose="02040503050406030204" pitchFamily="18" charset="0"/>
                                    </a:rPr>
                                    <m:t>|</m:t>
                                  </m:r>
                                </m:den>
                              </m:f>
                            </m:e>
                          </m:d>
                        </m:e>
                        <m:sup>
                          <m:r>
                            <a:rPr lang="en-ZA" b="0" i="1" smtClean="0">
                              <a:latin typeface="Cambria Math" panose="02040503050406030204" pitchFamily="18" charset="0"/>
                            </a:rPr>
                            <m:t>−1/2</m:t>
                          </m:r>
                        </m:sup>
                      </m:sSup>
                      <m:r>
                        <m:rPr>
                          <m:sty m:val="p"/>
                        </m:rPr>
                        <a:rPr lang="en-ZA" b="0" i="0" smtClean="0">
                          <a:latin typeface="Cambria Math" panose="02040503050406030204" pitchFamily="18" charset="0"/>
                        </a:rPr>
                        <m:t>exp</m:t>
                      </m:r>
                      <m:r>
                        <a:rPr lang="en-ZA" b="0" i="1" smtClean="0">
                          <a:latin typeface="Cambria Math" panose="02040503050406030204" pitchFamily="18" charset="0"/>
                        </a:rPr>
                        <m:t>⁡[−</m:t>
                      </m:r>
                      <m:f>
                        <m:fPr>
                          <m:ctrlPr>
                            <a:rPr lang="en-ZA" b="0" i="1" smtClean="0">
                              <a:latin typeface="Cambria Math" panose="02040503050406030204" pitchFamily="18" charset="0"/>
                            </a:rPr>
                          </m:ctrlPr>
                        </m:fPr>
                        <m:num>
                          <m:r>
                            <a:rPr lang="en-ZA" b="0" i="1" smtClean="0">
                              <a:latin typeface="Cambria Math" panose="02040503050406030204" pitchFamily="18" charset="0"/>
                            </a:rPr>
                            <m:t>1</m:t>
                          </m:r>
                        </m:num>
                        <m:den>
                          <m:r>
                            <a:rPr lang="en-ZA" b="0" i="1" smtClean="0">
                              <a:latin typeface="Cambria Math" panose="02040503050406030204" pitchFamily="18" charset="0"/>
                            </a:rPr>
                            <m:t>2</m:t>
                          </m:r>
                        </m:den>
                      </m:f>
                      <m:d>
                        <m:dPr>
                          <m:begChr m:val="{"/>
                          <m:endChr m:val="}"/>
                          <m:ctrlPr>
                            <a:rPr lang="en-ZA" b="0" i="1" smtClean="0">
                              <a:latin typeface="Cambria Math" panose="02040503050406030204" pitchFamily="18" charset="0"/>
                            </a:rPr>
                          </m:ctrlPr>
                        </m:dPr>
                        <m:e>
                          <m:sSup>
                            <m:sSupPr>
                              <m:ctrlPr>
                                <a:rPr lang="en-ZA" b="0" i="1" smtClean="0">
                                  <a:latin typeface="Cambria Math" panose="02040503050406030204" pitchFamily="18" charset="0"/>
                                </a:rPr>
                              </m:ctrlPr>
                            </m:sSupPr>
                            <m:e>
                              <m:r>
                                <a:rPr lang="en-ZA" b="0" i="1" smtClean="0">
                                  <a:latin typeface="Cambria Math" panose="02040503050406030204" pitchFamily="18" charset="0"/>
                                </a:rPr>
                                <m:t>𝑥</m:t>
                              </m:r>
                            </m:e>
                            <m:sup>
                              <m:r>
                                <a:rPr lang="en-ZA" b="0" i="1" smtClean="0">
                                  <a:latin typeface="Cambria Math" panose="02040503050406030204" pitchFamily="18" charset="0"/>
                                </a:rPr>
                                <m:t>′</m:t>
                              </m:r>
                            </m:sup>
                          </m:sSup>
                          <m:sSubSup>
                            <m:sSubSupPr>
                              <m:ctrlPr>
                                <a:rPr lang="en-ZA" b="0" i="1" smtClean="0">
                                  <a:latin typeface="Cambria Math" panose="02040503050406030204" pitchFamily="18" charset="0"/>
                                </a:rPr>
                              </m:ctrlPr>
                            </m:sSubSupPr>
                            <m:e>
                              <m:r>
                                <m:rPr>
                                  <m:sty m:val="p"/>
                                </m:rPr>
                                <a:rPr lang="el-GR" b="0" i="1" smtClean="0">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rPr>
                                <m:t>1</m:t>
                              </m:r>
                            </m:sub>
                            <m:sup>
                              <m:r>
                                <a:rPr lang="en-ZA" b="0" i="1" smtClean="0">
                                  <a:latin typeface="Cambria Math" panose="02040503050406030204" pitchFamily="18" charset="0"/>
                                </a:rPr>
                                <m:t>−1</m:t>
                              </m:r>
                            </m:sup>
                          </m:sSubSup>
                          <m:r>
                            <a:rPr lang="en-ZA" b="0" i="1" smtClean="0">
                              <a:latin typeface="Cambria Math" panose="02040503050406030204" pitchFamily="18" charset="0"/>
                            </a:rPr>
                            <m:t>𝑥</m:t>
                          </m:r>
                          <m:r>
                            <a:rPr lang="en-ZA" b="0" i="1" smtClean="0">
                              <a:latin typeface="Cambria Math" panose="02040503050406030204" pitchFamily="18" charset="0"/>
                            </a:rPr>
                            <m:t>−2</m:t>
                          </m:r>
                          <m:sSubSup>
                            <m:sSubSupPr>
                              <m:ctrlPr>
                                <a:rPr lang="en-ZA" b="0" i="1" smtClean="0">
                                  <a:latin typeface="Cambria Math" panose="02040503050406030204" pitchFamily="18" charset="0"/>
                                </a:rPr>
                              </m:ctrlPr>
                            </m:sSubSup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rPr>
                                <m:t>1</m:t>
                              </m:r>
                            </m:sub>
                            <m:sup>
                              <m:r>
                                <a:rPr lang="en-ZA" b="0" i="1" smtClean="0">
                                  <a:latin typeface="Cambria Math" panose="02040503050406030204" pitchFamily="18" charset="0"/>
                                </a:rPr>
                                <m:t>′</m:t>
                              </m:r>
                            </m:sup>
                          </m:sSubSup>
                          <m:sSubSup>
                            <m:sSubSupPr>
                              <m:ctrlPr>
                                <a:rPr lang="en-ZA" b="0" i="1" smtClean="0">
                                  <a:latin typeface="Cambria Math" panose="02040503050406030204" pitchFamily="18" charset="0"/>
                                </a:rPr>
                              </m:ctrlPr>
                            </m:sSubSupPr>
                            <m:e>
                              <m:r>
                                <m:rPr>
                                  <m:sty m:val="p"/>
                                </m:rPr>
                                <a:rPr lang="el-GR" b="0" i="1" smtClean="0">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rPr>
                                <m:t>1</m:t>
                              </m:r>
                            </m:sub>
                            <m:sup>
                              <m:r>
                                <a:rPr lang="en-ZA" b="0" i="1" smtClean="0">
                                  <a:latin typeface="Cambria Math" panose="02040503050406030204" pitchFamily="18" charset="0"/>
                                </a:rPr>
                                <m:t>−1</m:t>
                              </m:r>
                            </m:sup>
                          </m:sSubSup>
                          <m:r>
                            <a:rPr lang="en-ZA" b="0" i="1" smtClean="0">
                              <a:latin typeface="Cambria Math" panose="02040503050406030204" pitchFamily="18" charset="0"/>
                            </a:rPr>
                            <m:t>𝑥</m:t>
                          </m:r>
                          <m:r>
                            <a:rPr lang="en-ZA" b="0" i="1" smtClean="0">
                              <a:latin typeface="Cambria Math" panose="02040503050406030204" pitchFamily="18" charset="0"/>
                            </a:rPr>
                            <m:t>+</m:t>
                          </m:r>
                          <m:sSubSup>
                            <m:sSubSupPr>
                              <m:ctrlPr>
                                <a:rPr lang="en-ZA" b="0" i="1" smtClean="0">
                                  <a:latin typeface="Cambria Math" panose="02040503050406030204" pitchFamily="18" charset="0"/>
                                </a:rPr>
                              </m:ctrlPr>
                            </m:sSubSup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rPr>
                                <m:t>1</m:t>
                              </m:r>
                            </m:sub>
                            <m:sup>
                              <m:r>
                                <a:rPr lang="en-ZA" b="0" i="1" smtClean="0">
                                  <a:latin typeface="Cambria Math" panose="02040503050406030204" pitchFamily="18" charset="0"/>
                                </a:rPr>
                                <m:t>′</m:t>
                              </m:r>
                            </m:sup>
                          </m:sSubSup>
                          <m:sSubSup>
                            <m:sSubSupPr>
                              <m:ctrlPr>
                                <a:rPr lang="en-ZA" b="0" i="1" smtClean="0">
                                  <a:latin typeface="Cambria Math" panose="02040503050406030204" pitchFamily="18" charset="0"/>
                                </a:rPr>
                              </m:ctrlPr>
                            </m:sSubSupPr>
                            <m:e>
                              <m:r>
                                <m:rPr>
                                  <m:sty m:val="p"/>
                                </m:rPr>
                                <a:rPr lang="el-GR" b="0" i="1" smtClean="0">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rPr>
                                <m:t>1</m:t>
                              </m:r>
                            </m:sub>
                            <m:sup>
                              <m:r>
                                <a:rPr lang="en-ZA" b="0" i="1" smtClean="0">
                                  <a:latin typeface="Cambria Math" panose="02040503050406030204" pitchFamily="18" charset="0"/>
                                </a:rPr>
                                <m:t>−1</m:t>
                              </m:r>
                            </m:sup>
                          </m:sSubSup>
                          <m:sSub>
                            <m:sSubPr>
                              <m:ctrlPr>
                                <a:rPr lang="en-ZA" b="0" i="1" smtClean="0">
                                  <a:latin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rPr>
                                <m:t>1</m:t>
                              </m:r>
                            </m:sub>
                          </m:sSub>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sSup>
                                <m:sSupPr>
                                  <m:ctrlPr>
                                    <a:rPr lang="en-ZA" i="1">
                                      <a:latin typeface="Cambria Math" panose="02040503050406030204" pitchFamily="18" charset="0"/>
                                    </a:rPr>
                                  </m:ctrlPr>
                                </m:sSupPr>
                                <m:e>
                                  <m:r>
                                    <a:rPr lang="en-ZA" i="1">
                                      <a:latin typeface="Cambria Math" panose="02040503050406030204" pitchFamily="18" charset="0"/>
                                    </a:rPr>
                                    <m:t>𝑥</m:t>
                                  </m:r>
                                </m:e>
                                <m:sup>
                                  <m:r>
                                    <a:rPr lang="en-ZA" i="1">
                                      <a:latin typeface="Cambria Math" panose="02040503050406030204" pitchFamily="18" charset="0"/>
                                    </a:rPr>
                                    <m:t>′</m:t>
                                  </m:r>
                                </m:sup>
                              </m:sSup>
                              <m:sSubSup>
                                <m:sSubSupPr>
                                  <m:ctrlPr>
                                    <a:rPr lang="en-ZA" i="1">
                                      <a:latin typeface="Cambria Math" panose="02040503050406030204" pitchFamily="18" charset="0"/>
                                    </a:rPr>
                                  </m:ctrlPr>
                                </m:sSubSupPr>
                                <m:e>
                                  <m:r>
                                    <m:rPr>
                                      <m:sty m:val="p"/>
                                    </m:rPr>
                                    <a:rPr lang="el-GR" i="1">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ea typeface="Cambria Math" panose="02040503050406030204" pitchFamily="18" charset="0"/>
                                    </a:rPr>
                                    <m:t>2</m:t>
                                  </m:r>
                                </m:sub>
                                <m:sup>
                                  <m:r>
                                    <a:rPr lang="en-ZA" i="1">
                                      <a:latin typeface="Cambria Math" panose="02040503050406030204" pitchFamily="18" charset="0"/>
                                    </a:rPr>
                                    <m:t>−1</m:t>
                                  </m:r>
                                </m:sup>
                              </m:sSubSup>
                              <m:r>
                                <a:rPr lang="en-ZA" i="1">
                                  <a:latin typeface="Cambria Math" panose="02040503050406030204" pitchFamily="18" charset="0"/>
                                </a:rPr>
                                <m:t>𝑥</m:t>
                              </m:r>
                              <m:r>
                                <a:rPr lang="en-ZA" i="1">
                                  <a:latin typeface="Cambria Math" panose="02040503050406030204" pitchFamily="18" charset="0"/>
                                </a:rPr>
                                <m:t>−2</m:t>
                              </m:r>
                              <m:sSubSup>
                                <m:sSubSupPr>
                                  <m:ctrlPr>
                                    <a:rPr lang="en-ZA" i="1">
                                      <a:latin typeface="Cambria Math" panose="02040503050406030204" pitchFamily="18" charset="0"/>
                                    </a:rPr>
                                  </m:ctrlPr>
                                </m:sSubSupPr>
                                <m:e>
                                  <m:r>
                                    <a:rPr lang="en-ZA" i="1">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2</m:t>
                                  </m:r>
                                </m:sub>
                                <m:sup>
                                  <m:r>
                                    <a:rPr lang="en-ZA" i="1">
                                      <a:latin typeface="Cambria Math" panose="02040503050406030204" pitchFamily="18" charset="0"/>
                                    </a:rPr>
                                    <m:t>′</m:t>
                                  </m:r>
                                </m:sup>
                              </m:sSubSup>
                              <m:sSubSup>
                                <m:sSubSupPr>
                                  <m:ctrlPr>
                                    <a:rPr lang="en-ZA" i="1">
                                      <a:latin typeface="Cambria Math" panose="02040503050406030204" pitchFamily="18" charset="0"/>
                                    </a:rPr>
                                  </m:ctrlPr>
                                </m:sSubSupPr>
                                <m:e>
                                  <m:r>
                                    <m:rPr>
                                      <m:sty m:val="p"/>
                                    </m:rPr>
                                    <a:rPr lang="el-GR" i="1">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ea typeface="Cambria Math" panose="02040503050406030204" pitchFamily="18" charset="0"/>
                                    </a:rPr>
                                    <m:t>2</m:t>
                                  </m:r>
                                </m:sub>
                                <m:sup>
                                  <m:r>
                                    <a:rPr lang="en-ZA" i="1">
                                      <a:latin typeface="Cambria Math" panose="02040503050406030204" pitchFamily="18" charset="0"/>
                                    </a:rPr>
                                    <m:t>−1</m:t>
                                  </m:r>
                                </m:sup>
                              </m:sSubSup>
                              <m:r>
                                <a:rPr lang="en-ZA" i="1">
                                  <a:latin typeface="Cambria Math" panose="02040503050406030204" pitchFamily="18" charset="0"/>
                                </a:rPr>
                                <m:t>𝑥</m:t>
                              </m:r>
                              <m:r>
                                <a:rPr lang="en-ZA" i="1">
                                  <a:latin typeface="Cambria Math" panose="02040503050406030204" pitchFamily="18" charset="0"/>
                                </a:rPr>
                                <m:t>+</m:t>
                              </m:r>
                              <m:sSubSup>
                                <m:sSubSupPr>
                                  <m:ctrlPr>
                                    <a:rPr lang="en-ZA" i="1">
                                      <a:latin typeface="Cambria Math" panose="02040503050406030204" pitchFamily="18" charset="0"/>
                                    </a:rPr>
                                  </m:ctrlPr>
                                </m:sSubSupPr>
                                <m:e>
                                  <m:r>
                                    <a:rPr lang="en-ZA" i="1">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2</m:t>
                                  </m:r>
                                </m:sub>
                                <m:sup>
                                  <m:r>
                                    <a:rPr lang="en-ZA" i="1">
                                      <a:latin typeface="Cambria Math" panose="02040503050406030204" pitchFamily="18" charset="0"/>
                                    </a:rPr>
                                    <m:t>′</m:t>
                                  </m:r>
                                </m:sup>
                              </m:sSubSup>
                              <m:sSubSup>
                                <m:sSubSupPr>
                                  <m:ctrlPr>
                                    <a:rPr lang="en-ZA" i="1">
                                      <a:latin typeface="Cambria Math" panose="02040503050406030204" pitchFamily="18" charset="0"/>
                                    </a:rPr>
                                  </m:ctrlPr>
                                </m:sSubSupPr>
                                <m:e>
                                  <m:r>
                                    <m:rPr>
                                      <m:sty m:val="p"/>
                                    </m:rPr>
                                    <a:rPr lang="el-GR" i="1">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ea typeface="Cambria Math" panose="02040503050406030204" pitchFamily="18" charset="0"/>
                                    </a:rPr>
                                    <m:t>2</m:t>
                                  </m:r>
                                </m:sub>
                                <m:sup>
                                  <m:r>
                                    <a:rPr lang="en-ZA" i="1">
                                      <a:latin typeface="Cambria Math" panose="02040503050406030204" pitchFamily="18" charset="0"/>
                                    </a:rPr>
                                    <m:t>−1</m:t>
                                  </m:r>
                                </m:sup>
                              </m:sSubSup>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2</m:t>
                                  </m:r>
                                </m:sub>
                              </m:sSub>
                            </m:e>
                          </m:d>
                        </m:e>
                      </m:d>
                      <m:r>
                        <a:rPr lang="en-ZA" b="0" i="1" smtClean="0">
                          <a:latin typeface="Cambria Math" panose="02040503050406030204" pitchFamily="18" charset="0"/>
                        </a:rPr>
                        <m:t>]</m:t>
                      </m:r>
                    </m:oMath>
                  </m:oMathPara>
                </a14:m>
                <a:endParaRPr lang="en-ZA" dirty="0" smtClean="0"/>
              </a:p>
              <a:p>
                <a:pPr/>
                <a14:m>
                  <m:oMathPara xmlns:m="http://schemas.openxmlformats.org/officeDocument/2006/math">
                    <m:oMathParaPr>
                      <m:jc m:val="centerGroup"/>
                    </m:oMathParaPr>
                    <m:oMath xmlns:m="http://schemas.openxmlformats.org/officeDocument/2006/math">
                      <m:r>
                        <a:rPr lang="en-ZA" b="0" i="1" smtClean="0">
                          <a:latin typeface="Cambria Math" panose="02040503050406030204" pitchFamily="18" charset="0"/>
                        </a:rPr>
                        <m:t>=</m:t>
                      </m:r>
                      <m:sSup>
                        <m:sSupPr>
                          <m:ctrlPr>
                            <a:rPr lang="en-ZA" i="1">
                              <a:latin typeface="Cambria Math" panose="02040503050406030204" pitchFamily="18" charset="0"/>
                            </a:rPr>
                          </m:ctrlPr>
                        </m:sSupPr>
                        <m:e>
                          <m:d>
                            <m:dPr>
                              <m:ctrlPr>
                                <a:rPr lang="en-ZA" i="1">
                                  <a:latin typeface="Cambria Math" panose="02040503050406030204" pitchFamily="18" charset="0"/>
                                </a:rPr>
                              </m:ctrlPr>
                            </m:dPr>
                            <m:e>
                              <m:f>
                                <m:fPr>
                                  <m:ctrlPr>
                                    <a:rPr lang="en-ZA" i="1">
                                      <a:latin typeface="Cambria Math" panose="02040503050406030204" pitchFamily="18" charset="0"/>
                                    </a:rPr>
                                  </m:ctrlPr>
                                </m:fPr>
                                <m:num>
                                  <m:sSub>
                                    <m:sSubPr>
                                      <m:ctrlPr>
                                        <a:rPr lang="en-ZA" i="1">
                                          <a:latin typeface="Cambria Math" panose="02040503050406030204" pitchFamily="18" charset="0"/>
                                        </a:rPr>
                                      </m:ctrlPr>
                                    </m:sSubPr>
                                    <m:e>
                                      <m:r>
                                        <a:rPr lang="en-ZA" i="1">
                                          <a:latin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Σ</m:t>
                                      </m:r>
                                    </m:e>
                                    <m:sub>
                                      <m:r>
                                        <a:rPr lang="en-ZA" i="1">
                                          <a:latin typeface="Cambria Math" panose="02040503050406030204" pitchFamily="18" charset="0"/>
                                        </a:rPr>
                                        <m:t>1</m:t>
                                      </m:r>
                                    </m:sub>
                                  </m:sSub>
                                  <m:r>
                                    <a:rPr lang="en-ZA" i="1">
                                      <a:latin typeface="Cambria Math" panose="02040503050406030204" pitchFamily="18" charset="0"/>
                                    </a:rPr>
                                    <m:t>|</m:t>
                                  </m:r>
                                </m:num>
                                <m:den>
                                  <m:r>
                                    <a:rPr lang="en-ZA" i="1">
                                      <a:latin typeface="Cambria Math" panose="02040503050406030204" pitchFamily="18" charset="0"/>
                                    </a:rPr>
                                    <m:t>|</m:t>
                                  </m:r>
                                  <m:sSub>
                                    <m:sSubPr>
                                      <m:ctrlPr>
                                        <a:rPr lang="en-ZA"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Σ</m:t>
                                      </m:r>
                                    </m:e>
                                    <m:sub>
                                      <m:r>
                                        <a:rPr lang="en-ZA" i="1">
                                          <a:latin typeface="Cambria Math" panose="02040503050406030204" pitchFamily="18" charset="0"/>
                                        </a:rPr>
                                        <m:t>2</m:t>
                                      </m:r>
                                    </m:sub>
                                  </m:sSub>
                                  <m:r>
                                    <a:rPr lang="en-ZA" i="1">
                                      <a:latin typeface="Cambria Math" panose="02040503050406030204" pitchFamily="18" charset="0"/>
                                    </a:rPr>
                                    <m:t>|</m:t>
                                  </m:r>
                                </m:den>
                              </m:f>
                            </m:e>
                          </m:d>
                        </m:e>
                        <m:sup>
                          <m:r>
                            <a:rPr lang="en-ZA" i="1">
                              <a:latin typeface="Cambria Math" panose="02040503050406030204" pitchFamily="18" charset="0"/>
                            </a:rPr>
                            <m:t>−1/2</m:t>
                          </m:r>
                        </m:sup>
                      </m:sSup>
                      <m:r>
                        <m:rPr>
                          <m:sty m:val="p"/>
                        </m:rPr>
                        <a:rPr lang="en-ZA" b="0" i="0" smtClean="0">
                          <a:latin typeface="Cambria Math" panose="02040503050406030204" pitchFamily="18" charset="0"/>
                        </a:rPr>
                        <m:t>exp</m:t>
                      </m:r>
                      <m:r>
                        <a:rPr lang="en-ZA" b="0" i="1" smtClean="0">
                          <a:latin typeface="Cambria Math" panose="02040503050406030204" pitchFamily="18" charset="0"/>
                        </a:rPr>
                        <m:t>⁡[−</m:t>
                      </m:r>
                      <m:f>
                        <m:fPr>
                          <m:ctrlPr>
                            <a:rPr lang="en-ZA" b="0" i="1" smtClean="0">
                              <a:latin typeface="Cambria Math" panose="02040503050406030204" pitchFamily="18" charset="0"/>
                            </a:rPr>
                          </m:ctrlPr>
                        </m:fPr>
                        <m:num>
                          <m:r>
                            <a:rPr lang="en-ZA" b="0" i="1" smtClean="0">
                              <a:latin typeface="Cambria Math" panose="02040503050406030204" pitchFamily="18" charset="0"/>
                            </a:rPr>
                            <m:t>1</m:t>
                          </m:r>
                        </m:num>
                        <m:den>
                          <m:r>
                            <a:rPr lang="en-ZA" b="0" i="1" smtClean="0">
                              <a:latin typeface="Cambria Math" panose="02040503050406030204" pitchFamily="18" charset="0"/>
                            </a:rPr>
                            <m:t>2</m:t>
                          </m:r>
                        </m:den>
                      </m:f>
                      <m:d>
                        <m:dPr>
                          <m:begChr m:val="{"/>
                          <m:endChr m:val="}"/>
                          <m:ctrlPr>
                            <a:rPr lang="en-ZA" b="0" i="1" smtClean="0">
                              <a:latin typeface="Cambria Math" panose="02040503050406030204" pitchFamily="18" charset="0"/>
                            </a:rPr>
                          </m:ctrlPr>
                        </m:dPr>
                        <m:e>
                          <m:sSup>
                            <m:sSupPr>
                              <m:ctrlPr>
                                <a:rPr lang="en-ZA" b="0" i="1" smtClean="0">
                                  <a:latin typeface="Cambria Math" panose="02040503050406030204" pitchFamily="18" charset="0"/>
                                </a:rPr>
                              </m:ctrlPr>
                            </m:sSupPr>
                            <m:e>
                              <m:r>
                                <a:rPr lang="en-ZA" b="0" i="1" smtClean="0">
                                  <a:latin typeface="Cambria Math" panose="02040503050406030204" pitchFamily="18" charset="0"/>
                                </a:rPr>
                                <m:t>𝑥</m:t>
                              </m:r>
                            </m:e>
                            <m:sup>
                              <m:r>
                                <a:rPr lang="en-ZA" b="0" i="1" smtClean="0">
                                  <a:latin typeface="Cambria Math" panose="02040503050406030204" pitchFamily="18" charset="0"/>
                                </a:rPr>
                                <m:t>′</m:t>
                              </m:r>
                            </m:sup>
                          </m:sSup>
                          <m:d>
                            <m:dPr>
                              <m:ctrlPr>
                                <a:rPr lang="en-ZA" b="0" i="1" smtClean="0">
                                  <a:latin typeface="Cambria Math" panose="02040503050406030204" pitchFamily="18" charset="0"/>
                                </a:rPr>
                              </m:ctrlPr>
                            </m:dPr>
                            <m:e>
                              <m:sSubSup>
                                <m:sSubSupPr>
                                  <m:ctrlPr>
                                    <a:rPr lang="en-ZA" b="0" i="1" smtClean="0">
                                      <a:latin typeface="Cambria Math" panose="02040503050406030204" pitchFamily="18" charset="0"/>
                                    </a:rPr>
                                  </m:ctrlPr>
                                </m:sSubSupPr>
                                <m:e>
                                  <m:r>
                                    <m:rPr>
                                      <m:sty m:val="p"/>
                                    </m:rPr>
                                    <a:rPr lang="el-GR" b="0" i="1" smtClean="0">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rPr>
                                    <m:t>1</m:t>
                                  </m:r>
                                </m:sub>
                                <m:sup>
                                  <m:r>
                                    <a:rPr lang="en-ZA" b="0" i="1" smtClean="0">
                                      <a:latin typeface="Cambria Math" panose="02040503050406030204" pitchFamily="18" charset="0"/>
                                    </a:rPr>
                                    <m:t>−1</m:t>
                                  </m:r>
                                </m:sup>
                              </m:sSubSup>
                              <m:r>
                                <a:rPr lang="en-ZA" b="0" i="1" smtClean="0">
                                  <a:latin typeface="Cambria Math" panose="02040503050406030204" pitchFamily="18" charset="0"/>
                                </a:rPr>
                                <m:t>−</m:t>
                              </m:r>
                              <m:sSubSup>
                                <m:sSubSupPr>
                                  <m:ctrlPr>
                                    <a:rPr lang="en-ZA" b="0" i="1" smtClean="0">
                                      <a:latin typeface="Cambria Math" panose="02040503050406030204" pitchFamily="18" charset="0"/>
                                    </a:rPr>
                                  </m:ctrlPr>
                                </m:sSubSupPr>
                                <m:e>
                                  <m:r>
                                    <m:rPr>
                                      <m:sty m:val="p"/>
                                    </m:rPr>
                                    <a:rPr lang="el-GR" b="0" i="1" smtClean="0">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rPr>
                                    <m:t>2</m:t>
                                  </m:r>
                                </m:sub>
                                <m:sup>
                                  <m:r>
                                    <a:rPr lang="en-ZA" b="0" i="1" smtClean="0">
                                      <a:latin typeface="Cambria Math" panose="02040503050406030204" pitchFamily="18" charset="0"/>
                                    </a:rPr>
                                    <m:t>−1</m:t>
                                  </m:r>
                                </m:sup>
                              </m:sSubSup>
                            </m:e>
                          </m:d>
                          <m:r>
                            <a:rPr lang="en-ZA" b="0" i="1" smtClean="0">
                              <a:latin typeface="Cambria Math" panose="02040503050406030204" pitchFamily="18" charset="0"/>
                            </a:rPr>
                            <m:t>𝑥</m:t>
                          </m:r>
                          <m:r>
                            <a:rPr lang="en-ZA" b="0" i="1" smtClean="0">
                              <a:latin typeface="Cambria Math" panose="02040503050406030204" pitchFamily="18" charset="0"/>
                            </a:rPr>
                            <m:t>−2</m:t>
                          </m:r>
                          <m:d>
                            <m:dPr>
                              <m:ctrlPr>
                                <a:rPr lang="en-ZA" b="0" i="1" smtClean="0">
                                  <a:latin typeface="Cambria Math" panose="02040503050406030204" pitchFamily="18" charset="0"/>
                                </a:rPr>
                              </m:ctrlPr>
                            </m:dPr>
                            <m:e>
                              <m:sSubSup>
                                <m:sSubSupPr>
                                  <m:ctrlPr>
                                    <a:rPr lang="en-ZA" b="0" i="1" smtClean="0">
                                      <a:latin typeface="Cambria Math" panose="02040503050406030204" pitchFamily="18" charset="0"/>
                                    </a:rPr>
                                  </m:ctrlPr>
                                </m:sSubSup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rPr>
                                    <m:t>1</m:t>
                                  </m:r>
                                </m:sub>
                                <m:sup>
                                  <m:r>
                                    <a:rPr lang="en-ZA" b="0" i="1" smtClean="0">
                                      <a:latin typeface="Cambria Math" panose="02040503050406030204" pitchFamily="18" charset="0"/>
                                    </a:rPr>
                                    <m:t>′</m:t>
                                  </m:r>
                                </m:sup>
                              </m:sSubSup>
                              <m:sSubSup>
                                <m:sSubSupPr>
                                  <m:ctrlPr>
                                    <a:rPr lang="en-ZA" b="0" i="1" smtClean="0">
                                      <a:latin typeface="Cambria Math" panose="02040503050406030204" pitchFamily="18" charset="0"/>
                                    </a:rPr>
                                  </m:ctrlPr>
                                </m:sSubSupPr>
                                <m:e>
                                  <m:r>
                                    <m:rPr>
                                      <m:sty m:val="p"/>
                                    </m:rPr>
                                    <a:rPr lang="el-GR" b="0" i="1" smtClean="0">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rPr>
                                    <m:t>1</m:t>
                                  </m:r>
                                </m:sub>
                                <m:sup>
                                  <m:r>
                                    <a:rPr lang="en-ZA" b="0" i="1" smtClean="0">
                                      <a:latin typeface="Cambria Math" panose="02040503050406030204" pitchFamily="18" charset="0"/>
                                    </a:rPr>
                                    <m:t>−1</m:t>
                                  </m:r>
                                </m:sup>
                              </m:sSubSup>
                              <m:r>
                                <a:rPr lang="en-ZA" b="0" i="1" smtClean="0">
                                  <a:latin typeface="Cambria Math" panose="02040503050406030204" pitchFamily="18" charset="0"/>
                                </a:rPr>
                                <m:t>−</m:t>
                              </m:r>
                              <m:sSubSup>
                                <m:sSubSupPr>
                                  <m:ctrlPr>
                                    <a:rPr lang="en-ZA" b="0" i="1" smtClean="0">
                                      <a:latin typeface="Cambria Math" panose="02040503050406030204" pitchFamily="18" charset="0"/>
                                    </a:rPr>
                                  </m:ctrlPr>
                                </m:sSubSup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rPr>
                                    <m:t>2</m:t>
                                  </m:r>
                                </m:sub>
                                <m:sup>
                                  <m:r>
                                    <a:rPr lang="en-ZA" b="0" i="1" smtClean="0">
                                      <a:latin typeface="Cambria Math" panose="02040503050406030204" pitchFamily="18" charset="0"/>
                                    </a:rPr>
                                    <m:t>′</m:t>
                                  </m:r>
                                </m:sup>
                              </m:sSubSup>
                              <m:sSubSup>
                                <m:sSubSupPr>
                                  <m:ctrlPr>
                                    <a:rPr lang="en-ZA" b="0" i="1" smtClean="0">
                                      <a:latin typeface="Cambria Math" panose="02040503050406030204" pitchFamily="18" charset="0"/>
                                    </a:rPr>
                                  </m:ctrlPr>
                                </m:sSubSupPr>
                                <m:e>
                                  <m:r>
                                    <m:rPr>
                                      <m:sty m:val="p"/>
                                    </m:rPr>
                                    <a:rPr lang="el-GR" b="0" i="1" smtClean="0">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rPr>
                                    <m:t>2</m:t>
                                  </m:r>
                                </m:sub>
                                <m:sup>
                                  <m:r>
                                    <a:rPr lang="en-ZA" b="0" i="1" smtClean="0">
                                      <a:latin typeface="Cambria Math" panose="02040503050406030204" pitchFamily="18" charset="0"/>
                                    </a:rPr>
                                    <m:t>−1</m:t>
                                  </m:r>
                                </m:sup>
                              </m:sSubSup>
                            </m:e>
                          </m:d>
                          <m:r>
                            <a:rPr lang="en-ZA" b="0" i="1" smtClean="0">
                              <a:latin typeface="Cambria Math" panose="02040503050406030204" pitchFamily="18" charset="0"/>
                            </a:rPr>
                            <m:t>𝑥</m:t>
                          </m:r>
                          <m:r>
                            <a:rPr lang="en-ZA" b="0" i="1" smtClean="0">
                              <a:latin typeface="Cambria Math" panose="02040503050406030204" pitchFamily="18" charset="0"/>
                            </a:rPr>
                            <m:t>+</m:t>
                          </m:r>
                          <m:sSubSup>
                            <m:sSubSupPr>
                              <m:ctrlPr>
                                <a:rPr lang="en-ZA" b="0" i="1" smtClean="0">
                                  <a:latin typeface="Cambria Math" panose="02040503050406030204" pitchFamily="18" charset="0"/>
                                </a:rPr>
                              </m:ctrlPr>
                            </m:sSubSup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rPr>
                                <m:t>1</m:t>
                              </m:r>
                            </m:sub>
                            <m:sup>
                              <m:r>
                                <a:rPr lang="en-ZA" b="0" i="1" smtClean="0">
                                  <a:latin typeface="Cambria Math" panose="02040503050406030204" pitchFamily="18" charset="0"/>
                                </a:rPr>
                                <m:t>′</m:t>
                              </m:r>
                            </m:sup>
                          </m:sSubSup>
                          <m:sSubSup>
                            <m:sSubSupPr>
                              <m:ctrlPr>
                                <a:rPr lang="en-ZA" b="0" i="1" smtClean="0">
                                  <a:latin typeface="Cambria Math" panose="02040503050406030204" pitchFamily="18" charset="0"/>
                                </a:rPr>
                              </m:ctrlPr>
                            </m:sSubSupPr>
                            <m:e>
                              <m:r>
                                <m:rPr>
                                  <m:sty m:val="p"/>
                                </m:rPr>
                                <a:rPr lang="el-GR" b="0" i="1" smtClean="0">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rPr>
                                <m:t>1</m:t>
                              </m:r>
                            </m:sub>
                            <m:sup>
                              <m:r>
                                <a:rPr lang="en-ZA" b="0" i="1" smtClean="0">
                                  <a:latin typeface="Cambria Math" panose="02040503050406030204" pitchFamily="18" charset="0"/>
                                </a:rPr>
                                <m:t>−1</m:t>
                              </m:r>
                            </m:sup>
                          </m:sSubSup>
                          <m:sSub>
                            <m:sSubPr>
                              <m:ctrlPr>
                                <a:rPr lang="en-ZA" b="0" i="1" smtClean="0">
                                  <a:latin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rPr>
                                <m:t>1</m:t>
                              </m:r>
                            </m:sub>
                          </m:sSub>
                          <m:r>
                            <a:rPr lang="en-ZA" b="0" i="1" smtClean="0">
                              <a:latin typeface="Cambria Math" panose="02040503050406030204" pitchFamily="18" charset="0"/>
                            </a:rPr>
                            <m:t>−</m:t>
                          </m:r>
                          <m:sSubSup>
                            <m:sSubSupPr>
                              <m:ctrlPr>
                                <a:rPr lang="en-ZA" i="1">
                                  <a:latin typeface="Cambria Math" panose="02040503050406030204" pitchFamily="18" charset="0"/>
                                </a:rPr>
                              </m:ctrlPr>
                            </m:sSubSupPr>
                            <m:e>
                              <m:r>
                                <a:rPr lang="en-ZA" i="1">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2</m:t>
                              </m:r>
                            </m:sub>
                            <m:sup>
                              <m:r>
                                <a:rPr lang="en-ZA" i="1">
                                  <a:latin typeface="Cambria Math" panose="02040503050406030204" pitchFamily="18" charset="0"/>
                                </a:rPr>
                                <m:t>′</m:t>
                              </m:r>
                            </m:sup>
                          </m:sSubSup>
                          <m:sSubSup>
                            <m:sSubSupPr>
                              <m:ctrlPr>
                                <a:rPr lang="en-ZA" i="1">
                                  <a:latin typeface="Cambria Math" panose="02040503050406030204" pitchFamily="18" charset="0"/>
                                </a:rPr>
                              </m:ctrlPr>
                            </m:sSubSupPr>
                            <m:e>
                              <m:r>
                                <m:rPr>
                                  <m:sty m:val="p"/>
                                </m:rPr>
                                <a:rPr lang="el-GR" i="1">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ea typeface="Cambria Math" panose="02040503050406030204" pitchFamily="18" charset="0"/>
                                </a:rPr>
                                <m:t>2</m:t>
                              </m:r>
                            </m:sub>
                            <m:sup>
                              <m:r>
                                <a:rPr lang="en-ZA" i="1">
                                  <a:latin typeface="Cambria Math" panose="02040503050406030204" pitchFamily="18" charset="0"/>
                                </a:rPr>
                                <m:t>−1</m:t>
                              </m:r>
                            </m:sup>
                          </m:sSubSup>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b="0" i="1" smtClean="0">
                                  <a:latin typeface="Cambria Math" panose="02040503050406030204" pitchFamily="18" charset="0"/>
                                  <a:ea typeface="Cambria Math" panose="02040503050406030204" pitchFamily="18" charset="0"/>
                                </a:rPr>
                                <m:t>2</m:t>
                              </m:r>
                            </m:sub>
                          </m:sSub>
                        </m:e>
                      </m:d>
                      <m:r>
                        <a:rPr lang="en-ZA" b="0" i="1" smtClean="0">
                          <a:latin typeface="Cambria Math" panose="02040503050406030204" pitchFamily="18" charset="0"/>
                        </a:rPr>
                        <m:t>]</m:t>
                      </m:r>
                    </m:oMath>
                  </m:oMathPara>
                </a14:m>
                <a:endParaRPr lang="en-ZA" dirty="0" smtClean="0"/>
              </a:p>
              <a:p>
                <a:endParaRPr lang="en-ZA" dirty="0" smtClean="0"/>
              </a:p>
              <a:p>
                <a:r>
                  <a:rPr lang="en-ZA" dirty="0" smtClean="0"/>
                  <a:t>So the partition becomes:</a:t>
                </a:r>
              </a:p>
              <a:p>
                <a:pPr/>
                <a14:m>
                  <m:oMathPara xmlns:m="http://schemas.openxmlformats.org/officeDocument/2006/math">
                    <m:oMathParaPr>
                      <m:jc m:val="centerGroup"/>
                    </m:oMathParaPr>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𝑅</m:t>
                          </m:r>
                        </m:e>
                        <m:sub>
                          <m:r>
                            <a:rPr lang="en-ZA" b="0" i="1" smtClean="0">
                              <a:latin typeface="Cambria Math" panose="02040503050406030204" pitchFamily="18" charset="0"/>
                            </a:rPr>
                            <m:t>1</m:t>
                          </m:r>
                        </m:sub>
                      </m:sSub>
                      <m:r>
                        <a:rPr lang="en-ZA" b="0" i="1" smtClean="0">
                          <a:latin typeface="Cambria Math" panose="02040503050406030204" pitchFamily="18" charset="0"/>
                        </a:rPr>
                        <m:t>:( −</m:t>
                      </m:r>
                      <m:f>
                        <m:fPr>
                          <m:ctrlPr>
                            <a:rPr lang="en-ZA" b="0" i="1" smtClean="0">
                              <a:latin typeface="Cambria Math" panose="02040503050406030204" pitchFamily="18" charset="0"/>
                            </a:rPr>
                          </m:ctrlPr>
                        </m:fPr>
                        <m:num>
                          <m:r>
                            <a:rPr lang="en-ZA" b="0" i="1" smtClean="0">
                              <a:latin typeface="Cambria Math" panose="02040503050406030204" pitchFamily="18" charset="0"/>
                            </a:rPr>
                            <m:t>1</m:t>
                          </m:r>
                        </m:num>
                        <m:den>
                          <m:r>
                            <a:rPr lang="en-ZA" b="0" i="1" smtClean="0">
                              <a:latin typeface="Cambria Math" panose="02040503050406030204" pitchFamily="18" charset="0"/>
                            </a:rPr>
                            <m:t>2</m:t>
                          </m:r>
                        </m:den>
                      </m:f>
                      <m:sSup>
                        <m:sSupPr>
                          <m:ctrlPr>
                            <a:rPr lang="en-ZA" i="1">
                              <a:latin typeface="Cambria Math" panose="02040503050406030204" pitchFamily="18" charset="0"/>
                            </a:rPr>
                          </m:ctrlPr>
                        </m:sSupPr>
                        <m:e>
                          <m:r>
                            <a:rPr lang="en-ZA" i="1">
                              <a:latin typeface="Cambria Math" panose="02040503050406030204" pitchFamily="18" charset="0"/>
                            </a:rPr>
                            <m:t>𝑥</m:t>
                          </m:r>
                        </m:e>
                        <m:sup>
                          <m:r>
                            <a:rPr lang="en-ZA" i="1">
                              <a:latin typeface="Cambria Math" panose="02040503050406030204" pitchFamily="18" charset="0"/>
                            </a:rPr>
                            <m:t>′</m:t>
                          </m:r>
                        </m:sup>
                      </m:sSup>
                      <m:d>
                        <m:dPr>
                          <m:ctrlPr>
                            <a:rPr lang="en-ZA" i="1">
                              <a:latin typeface="Cambria Math" panose="02040503050406030204" pitchFamily="18" charset="0"/>
                            </a:rPr>
                          </m:ctrlPr>
                        </m:dPr>
                        <m:e>
                          <m:sSubSup>
                            <m:sSubSupPr>
                              <m:ctrlPr>
                                <a:rPr lang="en-ZA" i="1">
                                  <a:latin typeface="Cambria Math" panose="02040503050406030204" pitchFamily="18" charset="0"/>
                                </a:rPr>
                              </m:ctrlPr>
                            </m:sSubSupPr>
                            <m:e>
                              <m:r>
                                <m:rPr>
                                  <m:sty m:val="p"/>
                                </m:rPr>
                                <a:rPr lang="el-GR" i="1">
                                  <a:latin typeface="Cambria Math" panose="02040503050406030204" pitchFamily="18" charset="0"/>
                                  <a:ea typeface="Cambria Math" panose="02040503050406030204" pitchFamily="18" charset="0"/>
                                </a:rPr>
                                <m:t>Σ</m:t>
                              </m:r>
                            </m:e>
                            <m:sub>
                              <m:r>
                                <a:rPr lang="en-ZA" i="1">
                                  <a:latin typeface="Cambria Math" panose="02040503050406030204" pitchFamily="18" charset="0"/>
                                </a:rPr>
                                <m:t>1</m:t>
                              </m:r>
                            </m:sub>
                            <m:sup>
                              <m:r>
                                <a:rPr lang="en-ZA" i="1">
                                  <a:latin typeface="Cambria Math" panose="02040503050406030204" pitchFamily="18" charset="0"/>
                                </a:rPr>
                                <m:t>−1</m:t>
                              </m:r>
                            </m:sup>
                          </m:sSubSup>
                          <m:r>
                            <a:rPr lang="en-ZA" i="1">
                              <a:latin typeface="Cambria Math" panose="02040503050406030204" pitchFamily="18" charset="0"/>
                            </a:rPr>
                            <m:t>−</m:t>
                          </m:r>
                          <m:sSubSup>
                            <m:sSubSupPr>
                              <m:ctrlPr>
                                <a:rPr lang="en-ZA" i="1">
                                  <a:latin typeface="Cambria Math" panose="02040503050406030204" pitchFamily="18" charset="0"/>
                                </a:rPr>
                              </m:ctrlPr>
                            </m:sSubSupPr>
                            <m:e>
                              <m:r>
                                <m:rPr>
                                  <m:sty m:val="p"/>
                                </m:rPr>
                                <a:rPr lang="el-GR" i="1">
                                  <a:latin typeface="Cambria Math" panose="02040503050406030204" pitchFamily="18" charset="0"/>
                                  <a:ea typeface="Cambria Math" panose="02040503050406030204" pitchFamily="18" charset="0"/>
                                </a:rPr>
                                <m:t>Σ</m:t>
                              </m:r>
                            </m:e>
                            <m:sub>
                              <m:r>
                                <a:rPr lang="en-ZA" i="1">
                                  <a:latin typeface="Cambria Math" panose="02040503050406030204" pitchFamily="18" charset="0"/>
                                </a:rPr>
                                <m:t>2</m:t>
                              </m:r>
                            </m:sub>
                            <m:sup>
                              <m:r>
                                <a:rPr lang="en-ZA" i="1">
                                  <a:latin typeface="Cambria Math" panose="02040503050406030204" pitchFamily="18" charset="0"/>
                                </a:rPr>
                                <m:t>−1</m:t>
                              </m:r>
                            </m:sup>
                          </m:sSubSup>
                        </m:e>
                      </m:d>
                      <m:r>
                        <a:rPr lang="en-ZA" i="1">
                          <a:latin typeface="Cambria Math" panose="02040503050406030204" pitchFamily="18" charset="0"/>
                        </a:rPr>
                        <m:t>𝑥</m:t>
                      </m:r>
                      <m:r>
                        <a:rPr lang="en-ZA" b="0" i="1" smtClean="0">
                          <a:latin typeface="Cambria Math" panose="02040503050406030204" pitchFamily="18" charset="0"/>
                        </a:rPr>
                        <m:t>+</m:t>
                      </m:r>
                      <m:d>
                        <m:dPr>
                          <m:ctrlPr>
                            <a:rPr lang="en-ZA" i="1">
                              <a:latin typeface="Cambria Math" panose="02040503050406030204" pitchFamily="18" charset="0"/>
                            </a:rPr>
                          </m:ctrlPr>
                        </m:dPr>
                        <m:e>
                          <m:sSubSup>
                            <m:sSubSupPr>
                              <m:ctrlPr>
                                <a:rPr lang="en-ZA" i="1">
                                  <a:latin typeface="Cambria Math" panose="02040503050406030204" pitchFamily="18" charset="0"/>
                                </a:rPr>
                              </m:ctrlPr>
                            </m:sSubSup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1</m:t>
                              </m:r>
                            </m:sub>
                            <m:sup>
                              <m:r>
                                <a:rPr lang="en-ZA" i="1">
                                  <a:latin typeface="Cambria Math" panose="02040503050406030204" pitchFamily="18" charset="0"/>
                                </a:rPr>
                                <m:t>′</m:t>
                              </m:r>
                            </m:sup>
                          </m:sSubSup>
                          <m:sSubSup>
                            <m:sSubSupPr>
                              <m:ctrlPr>
                                <a:rPr lang="en-ZA" i="1">
                                  <a:latin typeface="Cambria Math" panose="02040503050406030204" pitchFamily="18" charset="0"/>
                                </a:rPr>
                              </m:ctrlPr>
                            </m:sSubSupPr>
                            <m:e>
                              <m:r>
                                <m:rPr>
                                  <m:sty m:val="p"/>
                                </m:rPr>
                                <a:rPr lang="el-GR" i="1">
                                  <a:latin typeface="Cambria Math" panose="02040503050406030204" pitchFamily="18" charset="0"/>
                                  <a:ea typeface="Cambria Math" panose="02040503050406030204" pitchFamily="18" charset="0"/>
                                </a:rPr>
                                <m:t>Σ</m:t>
                              </m:r>
                            </m:e>
                            <m:sub>
                              <m:r>
                                <a:rPr lang="en-ZA" i="1">
                                  <a:latin typeface="Cambria Math" panose="02040503050406030204" pitchFamily="18" charset="0"/>
                                </a:rPr>
                                <m:t>1</m:t>
                              </m:r>
                            </m:sub>
                            <m:sup>
                              <m:r>
                                <a:rPr lang="en-ZA" i="1">
                                  <a:latin typeface="Cambria Math" panose="02040503050406030204" pitchFamily="18" charset="0"/>
                                </a:rPr>
                                <m:t>−1</m:t>
                              </m:r>
                            </m:sup>
                          </m:sSubSup>
                          <m:r>
                            <a:rPr lang="en-ZA" i="1">
                              <a:latin typeface="Cambria Math" panose="02040503050406030204" pitchFamily="18" charset="0"/>
                            </a:rPr>
                            <m:t>−</m:t>
                          </m:r>
                          <m:sSubSup>
                            <m:sSubSupPr>
                              <m:ctrlPr>
                                <a:rPr lang="en-ZA" i="1">
                                  <a:latin typeface="Cambria Math" panose="02040503050406030204" pitchFamily="18" charset="0"/>
                                </a:rPr>
                              </m:ctrlPr>
                            </m:sSubSup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2</m:t>
                              </m:r>
                            </m:sub>
                            <m:sup>
                              <m:r>
                                <a:rPr lang="en-ZA" i="1">
                                  <a:latin typeface="Cambria Math" panose="02040503050406030204" pitchFamily="18" charset="0"/>
                                </a:rPr>
                                <m:t>′</m:t>
                              </m:r>
                            </m:sup>
                          </m:sSubSup>
                          <m:sSubSup>
                            <m:sSubSupPr>
                              <m:ctrlPr>
                                <a:rPr lang="en-ZA" i="1">
                                  <a:latin typeface="Cambria Math" panose="02040503050406030204" pitchFamily="18" charset="0"/>
                                </a:rPr>
                              </m:ctrlPr>
                            </m:sSubSupPr>
                            <m:e>
                              <m:r>
                                <m:rPr>
                                  <m:sty m:val="p"/>
                                </m:rPr>
                                <a:rPr lang="el-GR" i="1">
                                  <a:latin typeface="Cambria Math" panose="02040503050406030204" pitchFamily="18" charset="0"/>
                                  <a:ea typeface="Cambria Math" panose="02040503050406030204" pitchFamily="18" charset="0"/>
                                </a:rPr>
                                <m:t>Σ</m:t>
                              </m:r>
                            </m:e>
                            <m:sub>
                              <m:r>
                                <a:rPr lang="en-ZA" i="1">
                                  <a:latin typeface="Cambria Math" panose="02040503050406030204" pitchFamily="18" charset="0"/>
                                </a:rPr>
                                <m:t>2</m:t>
                              </m:r>
                            </m:sub>
                            <m:sup>
                              <m:r>
                                <a:rPr lang="en-ZA" i="1">
                                  <a:latin typeface="Cambria Math" panose="02040503050406030204" pitchFamily="18" charset="0"/>
                                </a:rPr>
                                <m:t>−1</m:t>
                              </m:r>
                            </m:sup>
                          </m:sSubSup>
                        </m:e>
                      </m:d>
                      <m:r>
                        <a:rPr lang="en-ZA" i="1">
                          <a:latin typeface="Cambria Math" panose="02040503050406030204" pitchFamily="18" charset="0"/>
                        </a:rPr>
                        <m:t>𝑥</m:t>
                      </m:r>
                      <m:r>
                        <a:rPr lang="en-ZA" b="0" i="1" smtClean="0">
                          <a:latin typeface="Cambria Math" panose="02040503050406030204" pitchFamily="18" charset="0"/>
                        </a:rPr>
                        <m:t>−</m:t>
                      </m:r>
                      <m:r>
                        <a:rPr lang="en-ZA" b="0" i="1" smtClean="0">
                          <a:latin typeface="Cambria Math" panose="02040503050406030204" pitchFamily="18" charset="0"/>
                        </a:rPr>
                        <m:t>𝑘</m:t>
                      </m:r>
                      <m:r>
                        <a:rPr lang="en-ZA" b="0" i="1" smtClean="0">
                          <a:latin typeface="Cambria Math" panose="02040503050406030204" pitchFamily="18" charset="0"/>
                        </a:rPr>
                        <m:t>)≥</m:t>
                      </m:r>
                      <m:func>
                        <m:funcPr>
                          <m:ctrlPr>
                            <a:rPr lang="en-ZA" b="0" i="1" smtClean="0">
                              <a:latin typeface="Cambria Math" panose="02040503050406030204" pitchFamily="18" charset="0"/>
                              <a:ea typeface="Cambria Math" panose="02040503050406030204" pitchFamily="18" charset="0"/>
                            </a:rPr>
                          </m:ctrlPr>
                        </m:funcPr>
                        <m:fName>
                          <m:r>
                            <m:rPr>
                              <m:sty m:val="p"/>
                            </m:rPr>
                            <a:rPr lang="en-ZA" b="0" i="0" smtClean="0">
                              <a:latin typeface="Cambria Math" panose="02040503050406030204" pitchFamily="18" charset="0"/>
                              <a:ea typeface="Cambria Math" panose="02040503050406030204" pitchFamily="18" charset="0"/>
                            </a:rPr>
                            <m:t>log</m:t>
                          </m:r>
                        </m:fName>
                        <m:e>
                          <m:d>
                            <m:dPr>
                              <m:begChr m:val="["/>
                              <m:endChr m:val="]"/>
                              <m:ctrlPr>
                                <a:rPr lang="en-ZA" b="0" i="1" smtClean="0">
                                  <a:latin typeface="Cambria Math" panose="02040503050406030204" pitchFamily="18" charset="0"/>
                                  <a:ea typeface="Cambria Math" panose="02040503050406030204" pitchFamily="18" charset="0"/>
                                </a:rPr>
                              </m:ctrlPr>
                            </m:dPr>
                            <m:e>
                              <m:d>
                                <m:dPr>
                                  <m:ctrlPr>
                                    <a:rPr lang="en-ZA" b="0" i="1" smtClean="0">
                                      <a:latin typeface="Cambria Math" panose="02040503050406030204" pitchFamily="18" charset="0"/>
                                      <a:ea typeface="Cambria Math" panose="02040503050406030204" pitchFamily="18" charset="0"/>
                                    </a:rPr>
                                  </m:ctrlPr>
                                </m:dPr>
                                <m:e>
                                  <m:f>
                                    <m:fPr>
                                      <m:ctrlPr>
                                        <a:rPr lang="en-ZA" b="0" i="1" smtClean="0">
                                          <a:latin typeface="Cambria Math" panose="02040503050406030204" pitchFamily="18" charset="0"/>
                                          <a:ea typeface="Cambria Math" panose="02040503050406030204" pitchFamily="18" charset="0"/>
                                        </a:rPr>
                                      </m:ctrlPr>
                                    </m:fPr>
                                    <m:num>
                                      <m:r>
                                        <a:rPr lang="en-ZA" b="0" i="1" smtClean="0">
                                          <a:latin typeface="Cambria Math" panose="02040503050406030204" pitchFamily="18" charset="0"/>
                                          <a:ea typeface="Cambria Math" panose="02040503050406030204" pitchFamily="18" charset="0"/>
                                        </a:rPr>
                                        <m:t>𝑐</m:t>
                                      </m:r>
                                      <m:r>
                                        <a:rPr lang="en-ZA" b="0" i="1" smtClean="0">
                                          <a:latin typeface="Cambria Math" panose="02040503050406030204" pitchFamily="18" charset="0"/>
                                          <a:ea typeface="Cambria Math" panose="02040503050406030204" pitchFamily="18" charset="0"/>
                                        </a:rPr>
                                        <m:t>(1|2)</m:t>
                                      </m:r>
                                    </m:num>
                                    <m:den>
                                      <m:r>
                                        <a:rPr lang="en-ZA" b="0" i="1" smtClean="0">
                                          <a:latin typeface="Cambria Math" panose="02040503050406030204" pitchFamily="18" charset="0"/>
                                          <a:ea typeface="Cambria Math" panose="02040503050406030204" pitchFamily="18" charset="0"/>
                                        </a:rPr>
                                        <m:t>𝑐</m:t>
                                      </m:r>
                                      <m:r>
                                        <a:rPr lang="en-ZA" b="0" i="1" smtClean="0">
                                          <a:latin typeface="Cambria Math" panose="02040503050406030204" pitchFamily="18" charset="0"/>
                                          <a:ea typeface="Cambria Math" panose="02040503050406030204" pitchFamily="18" charset="0"/>
                                        </a:rPr>
                                        <m:t>(2|1)</m:t>
                                      </m:r>
                                    </m:den>
                                  </m:f>
                                </m:e>
                              </m:d>
                              <m:d>
                                <m:dPr>
                                  <m:ctrlPr>
                                    <a:rPr lang="en-ZA" b="0" i="1" smtClean="0">
                                      <a:latin typeface="Cambria Math" panose="02040503050406030204" pitchFamily="18" charset="0"/>
                                      <a:ea typeface="Cambria Math" panose="02040503050406030204" pitchFamily="18" charset="0"/>
                                    </a:rPr>
                                  </m:ctrlPr>
                                </m:dPr>
                                <m:e>
                                  <m:f>
                                    <m:fPr>
                                      <m:ctrlPr>
                                        <a:rPr lang="en-ZA" b="0" i="1" smtClean="0">
                                          <a:latin typeface="Cambria Math" panose="02040503050406030204" pitchFamily="18" charset="0"/>
                                          <a:ea typeface="Cambria Math" panose="02040503050406030204" pitchFamily="18" charset="0"/>
                                        </a:rPr>
                                      </m:ctrlPr>
                                    </m:fPr>
                                    <m:num>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𝑝</m:t>
                                          </m:r>
                                        </m:e>
                                        <m:sub>
                                          <m:r>
                                            <a:rPr lang="en-ZA" b="0" i="1" smtClean="0">
                                              <a:latin typeface="Cambria Math" panose="02040503050406030204" pitchFamily="18" charset="0"/>
                                              <a:ea typeface="Cambria Math" panose="02040503050406030204" pitchFamily="18" charset="0"/>
                                            </a:rPr>
                                            <m:t>2</m:t>
                                          </m:r>
                                        </m:sub>
                                      </m:sSub>
                                    </m:num>
                                    <m:den>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𝑝</m:t>
                                          </m:r>
                                        </m:e>
                                        <m:sub>
                                          <m:r>
                                            <a:rPr lang="en-ZA" b="0" i="1" smtClean="0">
                                              <a:latin typeface="Cambria Math" panose="02040503050406030204" pitchFamily="18" charset="0"/>
                                              <a:ea typeface="Cambria Math" panose="02040503050406030204" pitchFamily="18" charset="0"/>
                                            </a:rPr>
                                            <m:t>1</m:t>
                                          </m:r>
                                        </m:sub>
                                      </m:sSub>
                                    </m:den>
                                  </m:f>
                                </m:e>
                              </m:d>
                            </m:e>
                          </m:d>
                        </m:e>
                      </m:func>
                    </m:oMath>
                  </m:oMathPara>
                </a14:m>
                <a:endParaRPr lang="en-ZA" dirty="0" smtClean="0"/>
              </a:p>
              <a:p>
                <a:pPr/>
                <a14:m>
                  <m:oMathPara xmlns:m="http://schemas.openxmlformats.org/officeDocument/2006/math">
                    <m:oMathParaPr>
                      <m:jc m:val="centerGroup"/>
                    </m:oMathParaPr>
                    <m:oMath xmlns:m="http://schemas.openxmlformats.org/officeDocument/2006/math">
                      <m:sSub>
                        <m:sSubPr>
                          <m:ctrlPr>
                            <a:rPr lang="en-ZA" i="1">
                              <a:latin typeface="Cambria Math" panose="02040503050406030204" pitchFamily="18" charset="0"/>
                            </a:rPr>
                          </m:ctrlPr>
                        </m:sSubPr>
                        <m:e>
                          <m:r>
                            <a:rPr lang="en-ZA" i="1">
                              <a:latin typeface="Cambria Math" panose="02040503050406030204" pitchFamily="18" charset="0"/>
                            </a:rPr>
                            <m:t>𝑅</m:t>
                          </m:r>
                        </m:e>
                        <m:sub>
                          <m:r>
                            <a:rPr lang="en-ZA" b="0" i="1" smtClean="0">
                              <a:latin typeface="Cambria Math" panose="02040503050406030204" pitchFamily="18" charset="0"/>
                            </a:rPr>
                            <m:t>2</m:t>
                          </m:r>
                        </m:sub>
                      </m:sSub>
                      <m:r>
                        <a:rPr lang="en-ZA" i="1">
                          <a:latin typeface="Cambria Math" panose="02040503050406030204" pitchFamily="18" charset="0"/>
                        </a:rPr>
                        <m:t>:</m:t>
                      </m:r>
                      <m:d>
                        <m:dPr>
                          <m:ctrlPr>
                            <a:rPr lang="en-ZA" i="1">
                              <a:latin typeface="Cambria Math" panose="02040503050406030204" pitchFamily="18" charset="0"/>
                            </a:rPr>
                          </m:ctrlPr>
                        </m:dPr>
                        <m:e>
                          <m:r>
                            <a:rPr lang="en-ZA" i="1">
                              <a:latin typeface="Cambria Math" panose="02040503050406030204" pitchFamily="18" charset="0"/>
                            </a:rPr>
                            <m:t> −</m:t>
                          </m:r>
                          <m:f>
                            <m:fPr>
                              <m:ctrlPr>
                                <a:rPr lang="en-ZA" i="1">
                                  <a:latin typeface="Cambria Math" panose="02040503050406030204" pitchFamily="18" charset="0"/>
                                </a:rPr>
                              </m:ctrlPr>
                            </m:fPr>
                            <m:num>
                              <m:r>
                                <a:rPr lang="en-ZA" i="1">
                                  <a:latin typeface="Cambria Math" panose="02040503050406030204" pitchFamily="18" charset="0"/>
                                </a:rPr>
                                <m:t>1</m:t>
                              </m:r>
                            </m:num>
                            <m:den>
                              <m:r>
                                <a:rPr lang="en-ZA" i="1">
                                  <a:latin typeface="Cambria Math" panose="02040503050406030204" pitchFamily="18" charset="0"/>
                                </a:rPr>
                                <m:t>2</m:t>
                              </m:r>
                            </m:den>
                          </m:f>
                          <m:sSup>
                            <m:sSupPr>
                              <m:ctrlPr>
                                <a:rPr lang="en-ZA" i="1">
                                  <a:latin typeface="Cambria Math" panose="02040503050406030204" pitchFamily="18" charset="0"/>
                                </a:rPr>
                              </m:ctrlPr>
                            </m:sSupPr>
                            <m:e>
                              <m:r>
                                <a:rPr lang="en-ZA" i="1">
                                  <a:latin typeface="Cambria Math" panose="02040503050406030204" pitchFamily="18" charset="0"/>
                                </a:rPr>
                                <m:t>𝑥</m:t>
                              </m:r>
                            </m:e>
                            <m:sup>
                              <m:r>
                                <a:rPr lang="en-ZA" i="1">
                                  <a:latin typeface="Cambria Math" panose="02040503050406030204" pitchFamily="18" charset="0"/>
                                </a:rPr>
                                <m:t>′</m:t>
                              </m:r>
                            </m:sup>
                          </m:sSup>
                          <m:d>
                            <m:dPr>
                              <m:ctrlPr>
                                <a:rPr lang="en-ZA" i="1">
                                  <a:latin typeface="Cambria Math" panose="02040503050406030204" pitchFamily="18" charset="0"/>
                                </a:rPr>
                              </m:ctrlPr>
                            </m:dPr>
                            <m:e>
                              <m:sSubSup>
                                <m:sSubSupPr>
                                  <m:ctrlPr>
                                    <a:rPr lang="en-ZA" i="1">
                                      <a:latin typeface="Cambria Math" panose="02040503050406030204" pitchFamily="18" charset="0"/>
                                    </a:rPr>
                                  </m:ctrlPr>
                                </m:sSubSupPr>
                                <m:e>
                                  <m:r>
                                    <m:rPr>
                                      <m:sty m:val="p"/>
                                    </m:rPr>
                                    <a:rPr lang="el-GR" i="1">
                                      <a:latin typeface="Cambria Math" panose="02040503050406030204" pitchFamily="18" charset="0"/>
                                      <a:ea typeface="Cambria Math" panose="02040503050406030204" pitchFamily="18" charset="0"/>
                                    </a:rPr>
                                    <m:t>Σ</m:t>
                                  </m:r>
                                </m:e>
                                <m:sub>
                                  <m:r>
                                    <a:rPr lang="en-ZA" i="1">
                                      <a:latin typeface="Cambria Math" panose="02040503050406030204" pitchFamily="18" charset="0"/>
                                    </a:rPr>
                                    <m:t>1</m:t>
                                  </m:r>
                                </m:sub>
                                <m:sup>
                                  <m:r>
                                    <a:rPr lang="en-ZA" i="1">
                                      <a:latin typeface="Cambria Math" panose="02040503050406030204" pitchFamily="18" charset="0"/>
                                    </a:rPr>
                                    <m:t>−1</m:t>
                                  </m:r>
                                </m:sup>
                              </m:sSubSup>
                              <m:r>
                                <a:rPr lang="en-ZA" i="1">
                                  <a:latin typeface="Cambria Math" panose="02040503050406030204" pitchFamily="18" charset="0"/>
                                </a:rPr>
                                <m:t>−</m:t>
                              </m:r>
                              <m:sSubSup>
                                <m:sSubSupPr>
                                  <m:ctrlPr>
                                    <a:rPr lang="en-ZA" i="1">
                                      <a:latin typeface="Cambria Math" panose="02040503050406030204" pitchFamily="18" charset="0"/>
                                    </a:rPr>
                                  </m:ctrlPr>
                                </m:sSubSupPr>
                                <m:e>
                                  <m:r>
                                    <m:rPr>
                                      <m:sty m:val="p"/>
                                    </m:rPr>
                                    <a:rPr lang="el-GR" i="1">
                                      <a:latin typeface="Cambria Math" panose="02040503050406030204" pitchFamily="18" charset="0"/>
                                      <a:ea typeface="Cambria Math" panose="02040503050406030204" pitchFamily="18" charset="0"/>
                                    </a:rPr>
                                    <m:t>Σ</m:t>
                                  </m:r>
                                </m:e>
                                <m:sub>
                                  <m:r>
                                    <a:rPr lang="en-ZA" i="1">
                                      <a:latin typeface="Cambria Math" panose="02040503050406030204" pitchFamily="18" charset="0"/>
                                    </a:rPr>
                                    <m:t>2</m:t>
                                  </m:r>
                                </m:sub>
                                <m:sup>
                                  <m:r>
                                    <a:rPr lang="en-ZA" i="1">
                                      <a:latin typeface="Cambria Math" panose="02040503050406030204" pitchFamily="18" charset="0"/>
                                    </a:rPr>
                                    <m:t>−1</m:t>
                                  </m:r>
                                </m:sup>
                              </m:sSubSup>
                            </m:e>
                          </m:d>
                          <m:r>
                            <a:rPr lang="en-ZA" i="1">
                              <a:latin typeface="Cambria Math" panose="02040503050406030204" pitchFamily="18" charset="0"/>
                            </a:rPr>
                            <m:t>𝑥</m:t>
                          </m:r>
                          <m:r>
                            <a:rPr lang="en-ZA" i="1">
                              <a:latin typeface="Cambria Math" panose="02040503050406030204" pitchFamily="18" charset="0"/>
                            </a:rPr>
                            <m:t>+</m:t>
                          </m:r>
                          <m:d>
                            <m:dPr>
                              <m:ctrlPr>
                                <a:rPr lang="en-ZA" i="1">
                                  <a:latin typeface="Cambria Math" panose="02040503050406030204" pitchFamily="18" charset="0"/>
                                </a:rPr>
                              </m:ctrlPr>
                            </m:dPr>
                            <m:e>
                              <m:sSubSup>
                                <m:sSubSupPr>
                                  <m:ctrlPr>
                                    <a:rPr lang="en-ZA" i="1">
                                      <a:latin typeface="Cambria Math" panose="02040503050406030204" pitchFamily="18" charset="0"/>
                                    </a:rPr>
                                  </m:ctrlPr>
                                </m:sSubSup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1</m:t>
                                  </m:r>
                                </m:sub>
                                <m:sup>
                                  <m:r>
                                    <a:rPr lang="en-ZA" i="1">
                                      <a:latin typeface="Cambria Math" panose="02040503050406030204" pitchFamily="18" charset="0"/>
                                    </a:rPr>
                                    <m:t>′</m:t>
                                  </m:r>
                                </m:sup>
                              </m:sSubSup>
                              <m:sSubSup>
                                <m:sSubSupPr>
                                  <m:ctrlPr>
                                    <a:rPr lang="en-ZA" i="1">
                                      <a:latin typeface="Cambria Math" panose="02040503050406030204" pitchFamily="18" charset="0"/>
                                    </a:rPr>
                                  </m:ctrlPr>
                                </m:sSubSupPr>
                                <m:e>
                                  <m:r>
                                    <m:rPr>
                                      <m:sty m:val="p"/>
                                    </m:rPr>
                                    <a:rPr lang="el-GR" i="1">
                                      <a:latin typeface="Cambria Math" panose="02040503050406030204" pitchFamily="18" charset="0"/>
                                      <a:ea typeface="Cambria Math" panose="02040503050406030204" pitchFamily="18" charset="0"/>
                                    </a:rPr>
                                    <m:t>Σ</m:t>
                                  </m:r>
                                </m:e>
                                <m:sub>
                                  <m:r>
                                    <a:rPr lang="en-ZA" i="1">
                                      <a:latin typeface="Cambria Math" panose="02040503050406030204" pitchFamily="18" charset="0"/>
                                    </a:rPr>
                                    <m:t>1</m:t>
                                  </m:r>
                                </m:sub>
                                <m:sup>
                                  <m:r>
                                    <a:rPr lang="en-ZA" i="1">
                                      <a:latin typeface="Cambria Math" panose="02040503050406030204" pitchFamily="18" charset="0"/>
                                    </a:rPr>
                                    <m:t>−1</m:t>
                                  </m:r>
                                </m:sup>
                              </m:sSubSup>
                              <m:r>
                                <a:rPr lang="en-ZA" i="1">
                                  <a:latin typeface="Cambria Math" panose="02040503050406030204" pitchFamily="18" charset="0"/>
                                </a:rPr>
                                <m:t>−</m:t>
                              </m:r>
                              <m:sSubSup>
                                <m:sSubSupPr>
                                  <m:ctrlPr>
                                    <a:rPr lang="en-ZA" i="1">
                                      <a:latin typeface="Cambria Math" panose="02040503050406030204" pitchFamily="18" charset="0"/>
                                    </a:rPr>
                                  </m:ctrlPr>
                                </m:sSubSup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2</m:t>
                                  </m:r>
                                </m:sub>
                                <m:sup>
                                  <m:r>
                                    <a:rPr lang="en-ZA" i="1">
                                      <a:latin typeface="Cambria Math" panose="02040503050406030204" pitchFamily="18" charset="0"/>
                                    </a:rPr>
                                    <m:t>′</m:t>
                                  </m:r>
                                </m:sup>
                              </m:sSubSup>
                              <m:sSubSup>
                                <m:sSubSupPr>
                                  <m:ctrlPr>
                                    <a:rPr lang="en-ZA" i="1">
                                      <a:latin typeface="Cambria Math" panose="02040503050406030204" pitchFamily="18" charset="0"/>
                                    </a:rPr>
                                  </m:ctrlPr>
                                </m:sSubSupPr>
                                <m:e>
                                  <m:r>
                                    <m:rPr>
                                      <m:sty m:val="p"/>
                                    </m:rPr>
                                    <a:rPr lang="el-GR" i="1">
                                      <a:latin typeface="Cambria Math" panose="02040503050406030204" pitchFamily="18" charset="0"/>
                                      <a:ea typeface="Cambria Math" panose="02040503050406030204" pitchFamily="18" charset="0"/>
                                    </a:rPr>
                                    <m:t>Σ</m:t>
                                  </m:r>
                                </m:e>
                                <m:sub>
                                  <m:r>
                                    <a:rPr lang="en-ZA" i="1">
                                      <a:latin typeface="Cambria Math" panose="02040503050406030204" pitchFamily="18" charset="0"/>
                                    </a:rPr>
                                    <m:t>2</m:t>
                                  </m:r>
                                </m:sub>
                                <m:sup>
                                  <m:r>
                                    <a:rPr lang="en-ZA" i="1">
                                      <a:latin typeface="Cambria Math" panose="02040503050406030204" pitchFamily="18" charset="0"/>
                                    </a:rPr>
                                    <m:t>−1</m:t>
                                  </m:r>
                                </m:sup>
                              </m:sSubSup>
                            </m:e>
                          </m:d>
                          <m:r>
                            <a:rPr lang="en-ZA" i="1">
                              <a:latin typeface="Cambria Math" panose="02040503050406030204" pitchFamily="18" charset="0"/>
                            </a:rPr>
                            <m:t>𝑥</m:t>
                          </m:r>
                          <m:r>
                            <a:rPr lang="en-ZA" i="1">
                              <a:latin typeface="Cambria Math" panose="02040503050406030204" pitchFamily="18" charset="0"/>
                            </a:rPr>
                            <m:t>−</m:t>
                          </m:r>
                          <m:r>
                            <a:rPr lang="en-ZA" i="1">
                              <a:latin typeface="Cambria Math" panose="02040503050406030204" pitchFamily="18" charset="0"/>
                            </a:rPr>
                            <m:t>𝑘</m:t>
                          </m:r>
                        </m:e>
                      </m:d>
                      <m:r>
                        <a:rPr lang="en-ZA" b="0" i="1" smtClean="0">
                          <a:latin typeface="Cambria Math" panose="02040503050406030204" pitchFamily="18" charset="0"/>
                        </a:rPr>
                        <m:t>&lt;</m:t>
                      </m:r>
                      <m:func>
                        <m:funcPr>
                          <m:ctrlPr>
                            <a:rPr lang="en-ZA" i="1">
                              <a:latin typeface="Cambria Math" panose="02040503050406030204" pitchFamily="18" charset="0"/>
                              <a:ea typeface="Cambria Math" panose="02040503050406030204" pitchFamily="18" charset="0"/>
                            </a:rPr>
                          </m:ctrlPr>
                        </m:funcPr>
                        <m:fName>
                          <m:r>
                            <m:rPr>
                              <m:sty m:val="p"/>
                            </m:rPr>
                            <a:rPr lang="en-ZA">
                              <a:latin typeface="Cambria Math" panose="02040503050406030204" pitchFamily="18" charset="0"/>
                              <a:ea typeface="Cambria Math" panose="02040503050406030204" pitchFamily="18" charset="0"/>
                            </a:rPr>
                            <m:t>log</m:t>
                          </m:r>
                        </m:fName>
                        <m:e>
                          <m:d>
                            <m:dPr>
                              <m:begChr m:val="["/>
                              <m:endChr m:val="]"/>
                              <m:ctrlPr>
                                <a:rPr lang="en-ZA" i="1">
                                  <a:latin typeface="Cambria Math" panose="02040503050406030204" pitchFamily="18" charset="0"/>
                                  <a:ea typeface="Cambria Math" panose="02040503050406030204" pitchFamily="18" charset="0"/>
                                </a:rPr>
                              </m:ctrlPr>
                            </m:dPr>
                            <m:e>
                              <m:d>
                                <m:dPr>
                                  <m:ctrlPr>
                                    <a:rPr lang="en-ZA" i="1">
                                      <a:latin typeface="Cambria Math" panose="02040503050406030204" pitchFamily="18" charset="0"/>
                                      <a:ea typeface="Cambria Math" panose="02040503050406030204" pitchFamily="18" charset="0"/>
                                    </a:rPr>
                                  </m:ctrlPr>
                                </m:dPr>
                                <m:e>
                                  <m:f>
                                    <m:fPr>
                                      <m:ctrlPr>
                                        <a:rPr lang="en-ZA" i="1">
                                          <a:latin typeface="Cambria Math" panose="02040503050406030204" pitchFamily="18" charset="0"/>
                                          <a:ea typeface="Cambria Math" panose="02040503050406030204" pitchFamily="18" charset="0"/>
                                        </a:rPr>
                                      </m:ctrlPr>
                                    </m:fPr>
                                    <m:num>
                                      <m:r>
                                        <a:rPr lang="en-ZA" i="1">
                                          <a:latin typeface="Cambria Math" panose="02040503050406030204" pitchFamily="18" charset="0"/>
                                          <a:ea typeface="Cambria Math" panose="02040503050406030204" pitchFamily="18" charset="0"/>
                                        </a:rPr>
                                        <m:t>𝑐</m:t>
                                      </m:r>
                                      <m:r>
                                        <a:rPr lang="en-ZA" i="1">
                                          <a:latin typeface="Cambria Math" panose="02040503050406030204" pitchFamily="18" charset="0"/>
                                          <a:ea typeface="Cambria Math" panose="02040503050406030204" pitchFamily="18" charset="0"/>
                                        </a:rPr>
                                        <m:t>(1|2)</m:t>
                                      </m:r>
                                    </m:num>
                                    <m:den>
                                      <m:r>
                                        <a:rPr lang="en-ZA" i="1">
                                          <a:latin typeface="Cambria Math" panose="02040503050406030204" pitchFamily="18" charset="0"/>
                                          <a:ea typeface="Cambria Math" panose="02040503050406030204" pitchFamily="18" charset="0"/>
                                        </a:rPr>
                                        <m:t>𝑐</m:t>
                                      </m:r>
                                      <m:r>
                                        <a:rPr lang="en-ZA" i="1">
                                          <a:latin typeface="Cambria Math" panose="02040503050406030204" pitchFamily="18" charset="0"/>
                                          <a:ea typeface="Cambria Math" panose="02040503050406030204" pitchFamily="18" charset="0"/>
                                        </a:rPr>
                                        <m:t>(2|1)</m:t>
                                      </m:r>
                                    </m:den>
                                  </m:f>
                                </m:e>
                              </m:d>
                              <m:d>
                                <m:dPr>
                                  <m:ctrlPr>
                                    <a:rPr lang="en-ZA" i="1">
                                      <a:latin typeface="Cambria Math" panose="02040503050406030204" pitchFamily="18" charset="0"/>
                                      <a:ea typeface="Cambria Math" panose="02040503050406030204" pitchFamily="18" charset="0"/>
                                    </a:rPr>
                                  </m:ctrlPr>
                                </m:dPr>
                                <m:e>
                                  <m:f>
                                    <m:fPr>
                                      <m:ctrlPr>
                                        <a:rPr lang="en-ZA" i="1">
                                          <a:latin typeface="Cambria Math" panose="02040503050406030204" pitchFamily="18" charset="0"/>
                                          <a:ea typeface="Cambria Math" panose="02040503050406030204" pitchFamily="18" charset="0"/>
                                        </a:rPr>
                                      </m:ctrlPr>
                                    </m:fPr>
                                    <m:num>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𝑝</m:t>
                                          </m:r>
                                        </m:e>
                                        <m:sub>
                                          <m:r>
                                            <a:rPr lang="en-ZA" i="1">
                                              <a:latin typeface="Cambria Math" panose="02040503050406030204" pitchFamily="18" charset="0"/>
                                              <a:ea typeface="Cambria Math" panose="02040503050406030204" pitchFamily="18" charset="0"/>
                                            </a:rPr>
                                            <m:t>2</m:t>
                                          </m:r>
                                        </m:sub>
                                      </m:sSub>
                                    </m:num>
                                    <m:den>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𝑝</m:t>
                                          </m:r>
                                        </m:e>
                                        <m:sub>
                                          <m:r>
                                            <a:rPr lang="en-ZA" i="1">
                                              <a:latin typeface="Cambria Math" panose="02040503050406030204" pitchFamily="18" charset="0"/>
                                              <a:ea typeface="Cambria Math" panose="02040503050406030204" pitchFamily="18" charset="0"/>
                                            </a:rPr>
                                            <m:t>1</m:t>
                                          </m:r>
                                        </m:sub>
                                      </m:sSub>
                                    </m:den>
                                  </m:f>
                                </m:e>
                              </m:d>
                            </m:e>
                          </m:d>
                        </m:e>
                      </m:func>
                    </m:oMath>
                  </m:oMathPara>
                </a14:m>
                <a:endParaRPr lang="en-ZA" dirty="0" smtClean="0"/>
              </a:p>
              <a:p>
                <a:r>
                  <a:rPr lang="en-ZA" dirty="0" smtClean="0"/>
                  <a:t>Where</a:t>
                </a:r>
              </a:p>
              <a:p>
                <a:pPr/>
                <a14:m>
                  <m:oMathPara xmlns:m="http://schemas.openxmlformats.org/officeDocument/2006/math">
                    <m:oMathParaPr>
                      <m:jc m:val="centerGroup"/>
                    </m:oMathParaPr>
                    <m:oMath xmlns:m="http://schemas.openxmlformats.org/officeDocument/2006/math">
                      <m:r>
                        <a:rPr lang="en-ZA" b="0" i="1" smtClean="0">
                          <a:latin typeface="Cambria Math" panose="02040503050406030204" pitchFamily="18" charset="0"/>
                        </a:rPr>
                        <m:t>𝑘</m:t>
                      </m:r>
                      <m:r>
                        <a:rPr lang="en-ZA" b="0" i="1" smtClean="0">
                          <a:latin typeface="Cambria Math" panose="02040503050406030204" pitchFamily="18" charset="0"/>
                        </a:rPr>
                        <m:t>=</m:t>
                      </m:r>
                      <m:f>
                        <m:fPr>
                          <m:ctrlPr>
                            <a:rPr lang="en-ZA" b="0" i="1" smtClean="0">
                              <a:latin typeface="Cambria Math" panose="02040503050406030204" pitchFamily="18" charset="0"/>
                            </a:rPr>
                          </m:ctrlPr>
                        </m:fPr>
                        <m:num>
                          <m:r>
                            <a:rPr lang="en-ZA" b="0" i="1" smtClean="0">
                              <a:latin typeface="Cambria Math" panose="02040503050406030204" pitchFamily="18" charset="0"/>
                            </a:rPr>
                            <m:t>1</m:t>
                          </m:r>
                        </m:num>
                        <m:den>
                          <m:r>
                            <a:rPr lang="en-ZA" b="0" i="1" smtClean="0">
                              <a:latin typeface="Cambria Math" panose="02040503050406030204" pitchFamily="18" charset="0"/>
                            </a:rPr>
                            <m:t>2</m:t>
                          </m:r>
                        </m:den>
                      </m:f>
                      <m:func>
                        <m:funcPr>
                          <m:ctrlPr>
                            <a:rPr lang="en-ZA" b="0" i="1" smtClean="0">
                              <a:latin typeface="Cambria Math" panose="02040503050406030204" pitchFamily="18" charset="0"/>
                            </a:rPr>
                          </m:ctrlPr>
                        </m:funcPr>
                        <m:fName>
                          <m:r>
                            <m:rPr>
                              <m:sty m:val="p"/>
                            </m:rPr>
                            <a:rPr lang="en-ZA" b="0" i="0" smtClean="0">
                              <a:latin typeface="Cambria Math" panose="02040503050406030204" pitchFamily="18" charset="0"/>
                            </a:rPr>
                            <m:t>log</m:t>
                          </m:r>
                        </m:fName>
                        <m:e>
                          <m:d>
                            <m:dPr>
                              <m:ctrlPr>
                                <a:rPr lang="en-ZA" b="0" i="1" smtClean="0">
                                  <a:latin typeface="Cambria Math" panose="02040503050406030204" pitchFamily="18" charset="0"/>
                                </a:rPr>
                              </m:ctrlPr>
                            </m:dPr>
                            <m:e>
                              <m:f>
                                <m:fPr>
                                  <m:ctrlPr>
                                    <a:rPr lang="en-ZA" b="0" i="1" smtClean="0">
                                      <a:latin typeface="Cambria Math" panose="02040503050406030204" pitchFamily="18" charset="0"/>
                                    </a:rPr>
                                  </m:ctrlPr>
                                </m:fPr>
                                <m:num>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rPr>
                                        <m:t>1</m:t>
                                      </m:r>
                                    </m:sub>
                                  </m:sSub>
                                  <m:r>
                                    <a:rPr lang="en-ZA" b="0" i="1" smtClean="0">
                                      <a:latin typeface="Cambria Math" panose="02040503050406030204" pitchFamily="18" charset="0"/>
                                    </a:rPr>
                                    <m:t>|</m:t>
                                  </m:r>
                                </m:num>
                                <m:den>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Σ</m:t>
                                      </m:r>
                                    </m:e>
                                    <m:sub>
                                      <m:r>
                                        <a:rPr lang="en-ZA" b="0" i="1" smtClean="0">
                                          <a:latin typeface="Cambria Math" panose="02040503050406030204" pitchFamily="18" charset="0"/>
                                        </a:rPr>
                                        <m:t>2</m:t>
                                      </m:r>
                                    </m:sub>
                                  </m:sSub>
                                  <m:r>
                                    <a:rPr lang="en-ZA" b="0" i="1" smtClean="0">
                                      <a:latin typeface="Cambria Math" panose="02040503050406030204" pitchFamily="18" charset="0"/>
                                    </a:rPr>
                                    <m:t>|</m:t>
                                  </m:r>
                                </m:den>
                              </m:f>
                            </m:e>
                          </m:d>
                          <m:r>
                            <a:rPr lang="en-ZA" b="0" i="1" smtClean="0">
                              <a:latin typeface="Cambria Math" panose="02040503050406030204" pitchFamily="18" charset="0"/>
                            </a:rPr>
                            <m:t>+</m:t>
                          </m:r>
                          <m:f>
                            <m:fPr>
                              <m:ctrlPr>
                                <a:rPr lang="en-ZA" b="0" i="1" smtClean="0">
                                  <a:latin typeface="Cambria Math" panose="02040503050406030204" pitchFamily="18" charset="0"/>
                                </a:rPr>
                              </m:ctrlPr>
                            </m:fPr>
                            <m:num>
                              <m:r>
                                <a:rPr lang="en-ZA" b="0" i="1" smtClean="0">
                                  <a:latin typeface="Cambria Math" panose="02040503050406030204" pitchFamily="18" charset="0"/>
                                </a:rPr>
                                <m:t>1</m:t>
                              </m:r>
                            </m:num>
                            <m:den>
                              <m:r>
                                <a:rPr lang="en-ZA" b="0" i="1" smtClean="0">
                                  <a:latin typeface="Cambria Math" panose="02040503050406030204" pitchFamily="18" charset="0"/>
                                </a:rPr>
                                <m:t>2</m:t>
                              </m:r>
                            </m:den>
                          </m:f>
                          <m:r>
                            <a:rPr lang="en-ZA" b="0" i="1" smtClean="0">
                              <a:latin typeface="Cambria Math" panose="02040503050406030204" pitchFamily="18" charset="0"/>
                            </a:rPr>
                            <m:t>(</m:t>
                          </m:r>
                          <m:sSubSup>
                            <m:sSubSupPr>
                              <m:ctrlPr>
                                <a:rPr lang="en-ZA" i="1">
                                  <a:latin typeface="Cambria Math" panose="02040503050406030204" pitchFamily="18" charset="0"/>
                                </a:rPr>
                              </m:ctrlPr>
                            </m:sSubSup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1</m:t>
                              </m:r>
                            </m:sub>
                            <m:sup>
                              <m:r>
                                <a:rPr lang="en-ZA" i="1">
                                  <a:latin typeface="Cambria Math" panose="02040503050406030204" pitchFamily="18" charset="0"/>
                                </a:rPr>
                                <m:t>′</m:t>
                              </m:r>
                            </m:sup>
                          </m:sSubSup>
                          <m:sSubSup>
                            <m:sSubSupPr>
                              <m:ctrlPr>
                                <a:rPr lang="en-ZA" i="1">
                                  <a:latin typeface="Cambria Math" panose="02040503050406030204" pitchFamily="18" charset="0"/>
                                </a:rPr>
                              </m:ctrlPr>
                            </m:sSubSupPr>
                            <m:e>
                              <m:r>
                                <m:rPr>
                                  <m:sty m:val="p"/>
                                </m:rPr>
                                <a:rPr lang="el-GR" i="1">
                                  <a:latin typeface="Cambria Math" panose="02040503050406030204" pitchFamily="18" charset="0"/>
                                  <a:ea typeface="Cambria Math" panose="02040503050406030204" pitchFamily="18" charset="0"/>
                                </a:rPr>
                                <m:t>Σ</m:t>
                              </m:r>
                            </m:e>
                            <m:sub>
                              <m:r>
                                <a:rPr lang="en-ZA" i="1">
                                  <a:latin typeface="Cambria Math" panose="02040503050406030204" pitchFamily="18" charset="0"/>
                                </a:rPr>
                                <m:t>1</m:t>
                              </m:r>
                            </m:sub>
                            <m:sup>
                              <m:r>
                                <a:rPr lang="en-ZA" i="1">
                                  <a:latin typeface="Cambria Math" panose="02040503050406030204" pitchFamily="18" charset="0"/>
                                </a:rPr>
                                <m:t>−1</m:t>
                              </m:r>
                            </m:sup>
                          </m:sSubSup>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1</m:t>
                              </m:r>
                            </m:sub>
                          </m:sSub>
                          <m:r>
                            <a:rPr lang="en-ZA" i="1">
                              <a:latin typeface="Cambria Math" panose="02040503050406030204" pitchFamily="18" charset="0"/>
                            </a:rPr>
                            <m:t>−</m:t>
                          </m:r>
                          <m:sSubSup>
                            <m:sSubSupPr>
                              <m:ctrlPr>
                                <a:rPr lang="en-ZA" i="1">
                                  <a:latin typeface="Cambria Math" panose="02040503050406030204" pitchFamily="18" charset="0"/>
                                </a:rPr>
                              </m:ctrlPr>
                            </m:sSubSup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ea typeface="Cambria Math" panose="02040503050406030204" pitchFamily="18" charset="0"/>
                                </a:rPr>
                                <m:t>2</m:t>
                              </m:r>
                            </m:sub>
                            <m:sup>
                              <m:r>
                                <a:rPr lang="en-ZA" i="1">
                                  <a:latin typeface="Cambria Math" panose="02040503050406030204" pitchFamily="18" charset="0"/>
                                </a:rPr>
                                <m:t>′</m:t>
                              </m:r>
                            </m:sup>
                          </m:sSubSup>
                          <m:sSubSup>
                            <m:sSubSupPr>
                              <m:ctrlPr>
                                <a:rPr lang="en-ZA" i="1">
                                  <a:latin typeface="Cambria Math" panose="02040503050406030204" pitchFamily="18" charset="0"/>
                                </a:rPr>
                              </m:ctrlPr>
                            </m:sSubSupPr>
                            <m:e>
                              <m:r>
                                <m:rPr>
                                  <m:sty m:val="p"/>
                                </m:rPr>
                                <a:rPr lang="el-GR" i="1">
                                  <a:latin typeface="Cambria Math" panose="02040503050406030204" pitchFamily="18" charset="0"/>
                                  <a:ea typeface="Cambria Math" panose="02040503050406030204" pitchFamily="18" charset="0"/>
                                </a:rPr>
                                <m:t>Σ</m:t>
                              </m:r>
                            </m:e>
                            <m:sub>
                              <m:r>
                                <a:rPr lang="en-ZA" i="1">
                                  <a:latin typeface="Cambria Math" panose="02040503050406030204" pitchFamily="18" charset="0"/>
                                  <a:ea typeface="Cambria Math" panose="02040503050406030204" pitchFamily="18" charset="0"/>
                                </a:rPr>
                                <m:t>2</m:t>
                              </m:r>
                            </m:sub>
                            <m:sup>
                              <m:r>
                                <a:rPr lang="en-ZA" i="1">
                                  <a:latin typeface="Cambria Math" panose="02040503050406030204" pitchFamily="18" charset="0"/>
                                </a:rPr>
                                <m:t>−1</m:t>
                              </m:r>
                            </m:sup>
                          </m:sSubSup>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ea typeface="Cambria Math" panose="02040503050406030204" pitchFamily="18" charset="0"/>
                                </a:rPr>
                                <m:t>2</m:t>
                              </m:r>
                            </m:sub>
                          </m:sSub>
                          <m:r>
                            <a:rPr lang="en-ZA" b="0" i="1" smtClean="0">
                              <a:latin typeface="Cambria Math" panose="02040503050406030204" pitchFamily="18" charset="0"/>
                              <a:ea typeface="Cambria Math" panose="02040503050406030204" pitchFamily="18" charset="0"/>
                            </a:rPr>
                            <m:t>)</m:t>
                          </m:r>
                        </m:e>
                      </m:func>
                    </m:oMath>
                  </m:oMathPara>
                </a14:m>
                <a:endParaRPr lang="en-ZA" dirty="0"/>
              </a:p>
            </p:txBody>
          </p:sp>
        </mc:Choice>
        <mc:Fallback xmlns="">
          <p:sp>
            <p:nvSpPr>
              <p:cNvPr id="2" name="TextBox 1"/>
              <p:cNvSpPr txBox="1">
                <a:spLocks noRot="1" noChangeAspect="1" noMove="1" noResize="1" noEditPoints="1" noAdjustHandles="1" noChangeArrowheads="1" noChangeShapeType="1" noTextEdit="1"/>
              </p:cNvSpPr>
              <p:nvPr/>
            </p:nvSpPr>
            <p:spPr>
              <a:xfrm>
                <a:off x="184150" y="228600"/>
                <a:ext cx="11912600" cy="6309228"/>
              </a:xfrm>
              <a:prstGeom prst="rect">
                <a:avLst/>
              </a:prstGeom>
              <a:blipFill rotWithShape="0">
                <a:blip r:embed="rId2"/>
                <a:stretch>
                  <a:fillRect l="-358" t="-483"/>
                </a:stretch>
              </a:blipFill>
              <a:ln>
                <a:solidFill>
                  <a:schemeClr val="accent1"/>
                </a:solidFill>
              </a:ln>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3" name="Oval Callout 2"/>
              <p:cNvSpPr/>
              <p:nvPr/>
            </p:nvSpPr>
            <p:spPr>
              <a:xfrm>
                <a:off x="10223500" y="4248150"/>
                <a:ext cx="1612900" cy="1574800"/>
              </a:xfrm>
              <a:prstGeom prst="wedgeEllipseCallout">
                <a:avLst>
                  <a:gd name="adj1" fmla="val -109022"/>
                  <a:gd name="adj2" fmla="val 5403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Due to lack of cancellation of  </a:t>
                </a:r>
                <a14:m>
                  <m:oMath xmlns:m="http://schemas.openxmlformats.org/officeDocument/2006/math">
                    <m:r>
                      <a:rPr lang="en-ZA" sz="1100" i="1">
                        <a:latin typeface="Cambria Math" panose="02040503050406030204" pitchFamily="18" charset="0"/>
                      </a:rPr>
                      <m:t>|</m:t>
                    </m:r>
                    <m:sSub>
                      <m:sSubPr>
                        <m:ctrlPr>
                          <a:rPr lang="en-ZA" sz="1100" i="1">
                            <a:latin typeface="Cambria Math" panose="02040503050406030204" pitchFamily="18" charset="0"/>
                          </a:rPr>
                        </m:ctrlPr>
                      </m:sSubPr>
                      <m:e>
                        <m:r>
                          <m:rPr>
                            <m:sty m:val="p"/>
                          </m:rPr>
                          <a:rPr lang="el-GR" sz="1100" i="1">
                            <a:latin typeface="Cambria Math" panose="02040503050406030204" pitchFamily="18" charset="0"/>
                            <a:ea typeface="Cambria Math" panose="02040503050406030204" pitchFamily="18" charset="0"/>
                          </a:rPr>
                          <m:t>Σ</m:t>
                        </m:r>
                      </m:e>
                      <m:sub>
                        <m:r>
                          <a:rPr lang="en-ZA" sz="1100" i="1">
                            <a:latin typeface="Cambria Math" panose="02040503050406030204" pitchFamily="18" charset="0"/>
                          </a:rPr>
                          <m:t>𝑖</m:t>
                        </m:r>
                      </m:sub>
                    </m:sSub>
                    <m:sSup>
                      <m:sSupPr>
                        <m:ctrlPr>
                          <a:rPr lang="en-ZA" sz="1100" i="1">
                            <a:latin typeface="Cambria Math" panose="02040503050406030204" pitchFamily="18" charset="0"/>
                          </a:rPr>
                        </m:ctrlPr>
                      </m:sSupPr>
                      <m:e>
                        <m:r>
                          <a:rPr lang="en-ZA" sz="1100" i="1">
                            <a:latin typeface="Cambria Math" panose="02040503050406030204" pitchFamily="18" charset="0"/>
                          </a:rPr>
                          <m:t>|</m:t>
                        </m:r>
                      </m:e>
                      <m:sup>
                        <m:r>
                          <a:rPr lang="en-ZA" sz="1100" i="1">
                            <a:latin typeface="Cambria Math" panose="02040503050406030204" pitchFamily="18" charset="0"/>
                          </a:rPr>
                          <m:t>−</m:t>
                        </m:r>
                        <m:f>
                          <m:fPr>
                            <m:ctrlPr>
                              <a:rPr lang="en-ZA" sz="1100" i="1">
                                <a:latin typeface="Cambria Math" panose="02040503050406030204" pitchFamily="18" charset="0"/>
                              </a:rPr>
                            </m:ctrlPr>
                          </m:fPr>
                          <m:num>
                            <m:r>
                              <a:rPr lang="en-ZA" sz="1100" i="1">
                                <a:latin typeface="Cambria Math" panose="02040503050406030204" pitchFamily="18" charset="0"/>
                              </a:rPr>
                              <m:t>1</m:t>
                            </m:r>
                          </m:num>
                          <m:den>
                            <m:r>
                              <a:rPr lang="en-ZA" sz="1100" i="1">
                                <a:latin typeface="Cambria Math" panose="02040503050406030204" pitchFamily="18" charset="0"/>
                              </a:rPr>
                              <m:t>2</m:t>
                            </m:r>
                          </m:den>
                        </m:f>
                      </m:sup>
                    </m:sSup>
                  </m:oMath>
                </a14:m>
                <a:r>
                  <a:rPr lang="en-ZA" sz="1100" dirty="0" smtClean="0"/>
                  <a:t>, maths a little more complicated leaving us with an extra term.</a:t>
                </a:r>
                <a:endParaRPr lang="en-ZA" sz="1100" dirty="0"/>
              </a:p>
            </p:txBody>
          </p:sp>
        </mc:Choice>
        <mc:Fallback xmlns="">
          <p:sp>
            <p:nvSpPr>
              <p:cNvPr id="3" name="Oval Callout 2"/>
              <p:cNvSpPr>
                <a:spLocks noRot="1" noChangeAspect="1" noMove="1" noResize="1" noEditPoints="1" noAdjustHandles="1" noChangeArrowheads="1" noChangeShapeType="1" noTextEdit="1"/>
              </p:cNvSpPr>
              <p:nvPr/>
            </p:nvSpPr>
            <p:spPr>
              <a:xfrm>
                <a:off x="10223500" y="4248150"/>
                <a:ext cx="1612900" cy="1574800"/>
              </a:xfrm>
              <a:prstGeom prst="wedgeEllipseCallout">
                <a:avLst>
                  <a:gd name="adj1" fmla="val -109022"/>
                  <a:gd name="adj2" fmla="val 54032"/>
                </a:avLst>
              </a:prstGeom>
              <a:blipFill rotWithShape="0">
                <a:blip r:embed="rId3"/>
                <a:stretch>
                  <a:fillRect/>
                </a:stretch>
              </a:blipFill>
            </p:spPr>
            <p:txBody>
              <a:bodyPr/>
              <a:lstStyle/>
              <a:p>
                <a:r>
                  <a:rPr lang="en-ZA">
                    <a:noFill/>
                  </a:rPr>
                  <a:t> </a:t>
                </a:r>
              </a:p>
            </p:txBody>
          </p:sp>
        </mc:Fallback>
      </mc:AlternateContent>
    </p:spTree>
    <p:extLst>
      <p:ext uri="{BB962C8B-B14F-4D97-AF65-F5344CB8AC3E}">
        <p14:creationId xmlns:p14="http://schemas.microsoft.com/office/powerpoint/2010/main" val="1309389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234950" y="241300"/>
                <a:ext cx="11595100" cy="6403548"/>
              </a:xfrm>
              <a:prstGeom prst="rect">
                <a:avLst/>
              </a:prstGeom>
              <a:noFill/>
              <a:ln>
                <a:solidFill>
                  <a:schemeClr val="accent1"/>
                </a:solidFill>
              </a:ln>
            </p:spPr>
            <p:txBody>
              <a:bodyPr wrap="square" rtlCol="0">
                <a:spAutoFit/>
              </a:bodyPr>
              <a:lstStyle/>
              <a:p>
                <a:pPr algn="ctr"/>
                <a:r>
                  <a:rPr lang="en-ZA" dirty="0" smtClean="0"/>
                  <a:t>Evaluating </a:t>
                </a:r>
                <a:r>
                  <a:rPr lang="en-ZA" dirty="0"/>
                  <a:t>Classification </a:t>
                </a:r>
                <a:r>
                  <a:rPr lang="en-ZA" dirty="0" smtClean="0"/>
                  <a:t>Functions</a:t>
                </a:r>
              </a:p>
              <a:p>
                <a:pPr algn="ctr"/>
                <a:endParaRPr lang="en-ZA" dirty="0"/>
              </a:p>
              <a:p>
                <a:r>
                  <a:rPr lang="en-ZA" dirty="0"/>
                  <a:t>Based </a:t>
                </a:r>
                <a:r>
                  <a:rPr lang="en-ZA" dirty="0" smtClean="0"/>
                  <a:t>on minimizing  </a:t>
                </a:r>
                <a:r>
                  <a:rPr lang="en-ZA" dirty="0"/>
                  <a:t>the "optimum error rate</a:t>
                </a:r>
                <a:r>
                  <a:rPr lang="en-ZA" dirty="0" smtClean="0"/>
                  <a:t>", </a:t>
                </a:r>
                <a14:m>
                  <m:oMath xmlns:m="http://schemas.openxmlformats.org/officeDocument/2006/math">
                    <m:r>
                      <a:rPr lang="en-ZA" b="0" i="1" smtClean="0">
                        <a:latin typeface="Cambria Math" panose="02040503050406030204" pitchFamily="18" charset="0"/>
                      </a:rPr>
                      <m:t>𝑂𝐸𝑅</m:t>
                    </m:r>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1</m:t>
                        </m:r>
                      </m:sub>
                    </m:sSub>
                    <m:nary>
                      <m:naryPr>
                        <m:ctrlPr>
                          <a:rPr lang="en-ZA" b="0" i="1" smtClean="0">
                            <a:latin typeface="Cambria Math" panose="02040503050406030204" pitchFamily="18" charset="0"/>
                          </a:rPr>
                        </m:ctrlPr>
                      </m:naryPr>
                      <m:sub>
                        <m:sSub>
                          <m:sSubPr>
                            <m:ctrlPr>
                              <a:rPr lang="en-ZA" b="0" i="1" smtClean="0">
                                <a:latin typeface="Cambria Math" panose="02040503050406030204" pitchFamily="18" charset="0"/>
                              </a:rPr>
                            </m:ctrlPr>
                          </m:sSubPr>
                          <m:e>
                            <m:r>
                              <a:rPr lang="en-ZA" b="0" i="1" smtClean="0">
                                <a:latin typeface="Cambria Math" panose="02040503050406030204" pitchFamily="18" charset="0"/>
                              </a:rPr>
                              <m:t>𝑅</m:t>
                            </m:r>
                          </m:e>
                          <m:sub>
                            <m:r>
                              <a:rPr lang="en-ZA" b="0" i="1" smtClean="0">
                                <a:latin typeface="Cambria Math" panose="02040503050406030204" pitchFamily="18" charset="0"/>
                              </a:rPr>
                              <m:t>2</m:t>
                            </m:r>
                          </m:sub>
                        </m:sSub>
                      </m:sub>
                      <m:sup>
                        <m:r>
                          <a:rPr lang="en-ZA" b="0" i="1" smtClean="0">
                            <a:latin typeface="Cambria Math" panose="02040503050406030204" pitchFamily="18" charset="0"/>
                          </a:rPr>
                          <m:t> </m:t>
                        </m:r>
                      </m:sup>
                      <m:e>
                        <m:sSub>
                          <m:sSubPr>
                            <m:ctrlPr>
                              <a:rPr lang="en-ZA" b="0"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1</m:t>
                            </m:r>
                          </m:sub>
                        </m:sSub>
                        <m:d>
                          <m:dPr>
                            <m:ctrlPr>
                              <a:rPr lang="en-ZA" b="0" i="1" smtClean="0">
                                <a:latin typeface="Cambria Math" panose="02040503050406030204" pitchFamily="18" charset="0"/>
                              </a:rPr>
                            </m:ctrlPr>
                          </m:dPr>
                          <m:e>
                            <m:r>
                              <a:rPr lang="en-ZA" b="0" i="1" smtClean="0">
                                <a:latin typeface="Cambria Math" panose="02040503050406030204" pitchFamily="18" charset="0"/>
                              </a:rPr>
                              <m:t>𝑥</m:t>
                            </m:r>
                          </m:e>
                        </m:d>
                        <m:r>
                          <a:rPr lang="en-ZA" b="0" i="1" smtClean="0">
                            <a:latin typeface="Cambria Math" panose="02040503050406030204" pitchFamily="18" charset="0"/>
                          </a:rPr>
                          <m:t>𝑑𝑥</m:t>
                        </m:r>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2</m:t>
                            </m:r>
                          </m:sub>
                        </m:sSub>
                        <m:nary>
                          <m:naryPr>
                            <m:ctrlPr>
                              <a:rPr lang="en-ZA" b="0" i="1" smtClean="0">
                                <a:latin typeface="Cambria Math" panose="02040503050406030204" pitchFamily="18" charset="0"/>
                              </a:rPr>
                            </m:ctrlPr>
                          </m:naryPr>
                          <m:sub>
                            <m:sSub>
                              <m:sSubPr>
                                <m:ctrlPr>
                                  <a:rPr lang="en-ZA" b="0" i="1" smtClean="0">
                                    <a:latin typeface="Cambria Math" panose="02040503050406030204" pitchFamily="18" charset="0"/>
                                  </a:rPr>
                                </m:ctrlPr>
                              </m:sSubPr>
                              <m:e>
                                <m:r>
                                  <a:rPr lang="en-ZA" b="0" i="1" smtClean="0">
                                    <a:latin typeface="Cambria Math" panose="02040503050406030204" pitchFamily="18" charset="0"/>
                                  </a:rPr>
                                  <m:t>𝑅</m:t>
                                </m:r>
                              </m:e>
                              <m:sub>
                                <m:r>
                                  <a:rPr lang="en-ZA" b="0" i="1" smtClean="0">
                                    <a:latin typeface="Cambria Math" panose="02040503050406030204" pitchFamily="18" charset="0"/>
                                  </a:rPr>
                                  <m:t>1</m:t>
                                </m:r>
                              </m:sub>
                            </m:sSub>
                          </m:sub>
                          <m:sup>
                            <m:r>
                              <a:rPr lang="en-ZA" b="0" i="1" smtClean="0">
                                <a:latin typeface="Cambria Math" panose="02040503050406030204" pitchFamily="18" charset="0"/>
                              </a:rPr>
                              <m:t> </m:t>
                            </m:r>
                          </m:sup>
                          <m:e>
                            <m:sSub>
                              <m:sSubPr>
                                <m:ctrlPr>
                                  <a:rPr lang="en-ZA" b="0"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2</m:t>
                                </m:r>
                              </m:sub>
                            </m:sSub>
                            <m:d>
                              <m:dPr>
                                <m:ctrlPr>
                                  <a:rPr lang="en-ZA" b="0" i="1" smtClean="0">
                                    <a:latin typeface="Cambria Math" panose="02040503050406030204" pitchFamily="18" charset="0"/>
                                  </a:rPr>
                                </m:ctrlPr>
                              </m:dPr>
                              <m:e>
                                <m:r>
                                  <a:rPr lang="en-ZA" b="0" i="1" smtClean="0">
                                    <a:latin typeface="Cambria Math" panose="02040503050406030204" pitchFamily="18" charset="0"/>
                                  </a:rPr>
                                  <m:t>𝑥</m:t>
                                </m:r>
                              </m:e>
                            </m:d>
                            <m:r>
                              <a:rPr lang="en-ZA" b="0" i="1" smtClean="0">
                                <a:latin typeface="Cambria Math" panose="02040503050406030204" pitchFamily="18" charset="0"/>
                              </a:rPr>
                              <m:t>𝑑𝑥</m:t>
                            </m:r>
                          </m:e>
                        </m:nary>
                      </m:e>
                    </m:nary>
                    <m:r>
                      <a:rPr lang="en-ZA" b="0" i="0" smtClean="0">
                        <a:latin typeface="Cambria Math" panose="02040503050406030204" pitchFamily="18" charset="0"/>
                      </a:rPr>
                      <m:t>,</m:t>
                    </m:r>
                  </m:oMath>
                </a14:m>
                <a:endParaRPr lang="en-ZA" b="0" dirty="0" smtClean="0"/>
              </a:p>
              <a:p>
                <a:r>
                  <a:rPr lang="en-ZA" dirty="0"/>
                  <a:t>of which the sample equivalent is the "apparent error rate" (APER) that can be calculated from the "confusion matrix</a:t>
                </a:r>
                <a:r>
                  <a:rPr lang="en-ZA" dirty="0" smtClean="0"/>
                  <a:t>":</a:t>
                </a:r>
              </a:p>
              <a:p>
                <a:endParaRPr lang="en-ZA" dirty="0"/>
              </a:p>
              <a:p>
                <a:endParaRPr lang="en-ZA" dirty="0" smtClean="0"/>
              </a:p>
              <a:p>
                <a:endParaRPr lang="en-ZA" dirty="0"/>
              </a:p>
              <a:p>
                <a:endParaRPr lang="en-ZA" dirty="0" smtClean="0"/>
              </a:p>
              <a:p>
                <a:endParaRPr lang="en-ZA" dirty="0"/>
              </a:p>
              <a:p>
                <a:endParaRPr lang="en-ZA" dirty="0" smtClean="0"/>
              </a:p>
              <a:p>
                <a:endParaRPr lang="en-ZA" dirty="0"/>
              </a:p>
              <a:p>
                <a:endParaRPr lang="en-ZA" dirty="0" smtClean="0"/>
              </a:p>
              <a:p>
                <a:r>
                  <a:rPr lang="en-ZA" dirty="0"/>
                  <a:t>w</a:t>
                </a:r>
                <a:r>
                  <a:rPr lang="en-ZA" dirty="0" smtClean="0"/>
                  <a:t>here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1</m:t>
                        </m:r>
                        <m:r>
                          <a:rPr lang="en-ZA" b="0" i="1" smtClean="0">
                            <a:latin typeface="Cambria Math" panose="02040503050406030204" pitchFamily="18" charset="0"/>
                          </a:rPr>
                          <m:t>𝐶</m:t>
                        </m:r>
                      </m:sub>
                    </m:sSub>
                    <m:r>
                      <a:rPr lang="en-ZA" b="0" i="1" smtClean="0">
                        <a:latin typeface="Cambria Math" panose="02040503050406030204" pitchFamily="18" charset="0"/>
                      </a:rPr>
                      <m:t>=</m:t>
                    </m:r>
                  </m:oMath>
                </a14:m>
                <a:r>
                  <a:rPr lang="en-ZA" dirty="0" smtClean="0"/>
                  <a:t> number of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oMath>
                </a14:m>
                <a:r>
                  <a:rPr lang="en-ZA" dirty="0" smtClean="0"/>
                  <a:t> items correctly classified as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oMath>
                </a14:m>
                <a:r>
                  <a:rPr lang="en-ZA" dirty="0" smtClean="0"/>
                  <a:t> items,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1</m:t>
                        </m:r>
                        <m:r>
                          <a:rPr lang="en-ZA" b="0" i="1" smtClean="0">
                            <a:latin typeface="Cambria Math" panose="02040503050406030204" pitchFamily="18" charset="0"/>
                          </a:rPr>
                          <m:t>𝑀</m:t>
                        </m:r>
                      </m:sub>
                    </m:sSub>
                    <m:r>
                      <a:rPr lang="en-ZA" b="0" i="1" smtClean="0">
                        <a:latin typeface="Cambria Math" panose="02040503050406030204" pitchFamily="18" charset="0"/>
                      </a:rPr>
                      <m:t>=</m:t>
                    </m:r>
                  </m:oMath>
                </a14:m>
                <a:r>
                  <a:rPr lang="en-ZA" dirty="0" smtClean="0"/>
                  <a:t>number of </a:t>
                </a:r>
                <a14:m>
                  <m:oMath xmlns:m="http://schemas.openxmlformats.org/officeDocument/2006/math">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𝜋</m:t>
                        </m:r>
                      </m:e>
                      <m:sub>
                        <m:r>
                          <a:rPr lang="en-ZA" i="1">
                            <a:latin typeface="Cambria Math" panose="02040503050406030204" pitchFamily="18" charset="0"/>
                          </a:rPr>
                          <m:t>1</m:t>
                        </m:r>
                      </m:sub>
                    </m:sSub>
                  </m:oMath>
                </a14:m>
                <a:r>
                  <a:rPr lang="en-ZA" dirty="0" smtClean="0"/>
                  <a:t> items misclassified as </a:t>
                </a:r>
                <a14:m>
                  <m:oMath xmlns:m="http://schemas.openxmlformats.org/officeDocument/2006/math">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2</m:t>
                        </m:r>
                      </m:sub>
                    </m:sSub>
                  </m:oMath>
                </a14:m>
                <a:r>
                  <a:rPr lang="en-ZA" dirty="0" smtClean="0"/>
                  <a:t> items, and similarly for </a:t>
                </a:r>
                <a14:m>
                  <m:oMath xmlns:m="http://schemas.openxmlformats.org/officeDocument/2006/math">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2</m:t>
                        </m:r>
                      </m:sub>
                    </m:sSub>
                  </m:oMath>
                </a14:m>
                <a:r>
                  <a:rPr lang="en-ZA" dirty="0" smtClean="0"/>
                  <a:t> items.</a:t>
                </a:r>
              </a:p>
              <a:p>
                <a:endParaRPr lang="en-ZA" dirty="0"/>
              </a:p>
              <a:p>
                <a:r>
                  <a:rPr lang="en-ZA" dirty="0" smtClean="0"/>
                  <a:t>The apparent error rate is then </a:t>
                </a:r>
                <a14:m>
                  <m:oMath xmlns:m="http://schemas.openxmlformats.org/officeDocument/2006/math">
                    <m:r>
                      <a:rPr lang="en-ZA" b="0" i="1" smtClean="0">
                        <a:latin typeface="Cambria Math" panose="02040503050406030204" pitchFamily="18" charset="0"/>
                      </a:rPr>
                      <m:t>𝐴𝑃𝐸𝑅</m:t>
                    </m:r>
                    <m:r>
                      <a:rPr lang="en-ZA" b="0" i="1" smtClean="0">
                        <a:latin typeface="Cambria Math" panose="02040503050406030204" pitchFamily="18" charset="0"/>
                      </a:rPr>
                      <m:t>=</m:t>
                    </m:r>
                    <m:f>
                      <m:fPr>
                        <m:ctrlPr>
                          <a:rPr lang="en-ZA" b="0" i="1" smtClean="0">
                            <a:latin typeface="Cambria Math" panose="02040503050406030204" pitchFamily="18" charset="0"/>
                          </a:rPr>
                        </m:ctrlPr>
                      </m:fPr>
                      <m:num>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1</m:t>
                            </m:r>
                            <m:r>
                              <a:rPr lang="en-ZA" b="0" i="1" smtClean="0">
                                <a:latin typeface="Cambria Math" panose="02040503050406030204" pitchFamily="18" charset="0"/>
                              </a:rPr>
                              <m:t>𝑀</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2</m:t>
                            </m:r>
                            <m:r>
                              <a:rPr lang="en-ZA" b="0" i="1" smtClean="0">
                                <a:latin typeface="Cambria Math" panose="02040503050406030204" pitchFamily="18" charset="0"/>
                              </a:rPr>
                              <m:t>𝑀</m:t>
                            </m:r>
                          </m:sub>
                        </m:sSub>
                      </m:num>
                      <m:den>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1</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2</m:t>
                            </m:r>
                          </m:sub>
                        </m:sSub>
                      </m:den>
                    </m:f>
                    <m:r>
                      <a:rPr lang="en-ZA" b="0" i="0" smtClean="0">
                        <a:latin typeface="Cambria Math" panose="02040503050406030204" pitchFamily="18" charset="0"/>
                      </a:rPr>
                      <m:t>=</m:t>
                    </m:r>
                  </m:oMath>
                </a14:m>
                <a:r>
                  <a:rPr lang="en-ZA" dirty="0" smtClean="0"/>
                  <a:t> the proportion of items in the training set that are misclassified.</a:t>
                </a:r>
              </a:p>
              <a:p>
                <a:endParaRPr lang="en-ZA" dirty="0"/>
              </a:p>
              <a:p>
                <a:r>
                  <a:rPr lang="en-ZA" dirty="0" smtClean="0"/>
                  <a:t>BUT it underestimates the true error rate because the data used to build the classification function are also used to evaluate it.</a:t>
                </a:r>
              </a:p>
              <a:p>
                <a:endParaRPr lang="en-ZA" dirty="0" smtClean="0"/>
              </a:p>
              <a:p>
                <a:r>
                  <a:rPr lang="en-ZA" dirty="0"/>
                  <a:t>The classification should not be tested on the same sample that was used to derive the rule. So we use a kind of </a:t>
                </a:r>
                <a:r>
                  <a:rPr lang="en-ZA" dirty="0" smtClean="0"/>
                  <a:t>cross-validation</a:t>
                </a:r>
                <a:r>
                  <a:rPr lang="en-ZA" dirty="0"/>
                  <a:t> </a:t>
                </a:r>
                <a:r>
                  <a:rPr lang="en-ZA" dirty="0" smtClean="0"/>
                  <a:t>based on what is called “</a:t>
                </a:r>
                <a:r>
                  <a:rPr lang="en-ZA" dirty="0" err="1" smtClean="0"/>
                  <a:t>Lachenbruch’s</a:t>
                </a:r>
                <a:r>
                  <a:rPr lang="en-ZA" dirty="0" smtClean="0"/>
                  <a:t> holdout procedure”.</a:t>
                </a:r>
              </a:p>
            </p:txBody>
          </p:sp>
        </mc:Choice>
        <mc:Fallback xmlns="">
          <p:sp>
            <p:nvSpPr>
              <p:cNvPr id="2" name="TextBox 1"/>
              <p:cNvSpPr txBox="1">
                <a:spLocks noRot="1" noChangeAspect="1" noMove="1" noResize="1" noEditPoints="1" noAdjustHandles="1" noChangeArrowheads="1" noChangeShapeType="1" noTextEdit="1"/>
              </p:cNvSpPr>
              <p:nvPr/>
            </p:nvSpPr>
            <p:spPr>
              <a:xfrm>
                <a:off x="234950" y="241300"/>
                <a:ext cx="11595100" cy="6403548"/>
              </a:xfrm>
              <a:prstGeom prst="rect">
                <a:avLst/>
              </a:prstGeom>
              <a:blipFill rotWithShape="0">
                <a:blip r:embed="rId2"/>
                <a:stretch>
                  <a:fillRect l="-420" t="-475" r="-158" b="-475"/>
                </a:stretch>
              </a:blipFill>
              <a:ln>
                <a:solidFill>
                  <a:schemeClr val="accent1"/>
                </a:solidFill>
              </a:ln>
            </p:spPr>
            <p:txBody>
              <a:bodyPr/>
              <a:lstStyle/>
              <a:p>
                <a:r>
                  <a:rPr lang="en-ZA">
                    <a:noFill/>
                  </a:rPr>
                  <a:t> </a:t>
                </a:r>
              </a:p>
            </p:txBody>
          </p:sp>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628166233"/>
                  </p:ext>
                </p:extLst>
              </p:nvPr>
            </p:nvGraphicFramePr>
            <p:xfrm>
              <a:off x="3435351" y="1581150"/>
              <a:ext cx="5759448" cy="1828800"/>
            </p:xfrm>
            <a:graphic>
              <a:graphicData uri="http://schemas.openxmlformats.org/drawingml/2006/table">
                <a:tbl>
                  <a:tblPr firstRow="1" bandRow="1">
                    <a:tableStyleId>{5940675A-B579-460E-94D1-54222C63F5DA}</a:tableStyleId>
                  </a:tblPr>
                  <a:tblGrid>
                    <a:gridCol w="1919816"/>
                    <a:gridCol w="1919816"/>
                    <a:gridCol w="1919816"/>
                  </a:tblGrid>
                  <a:tr h="314113">
                    <a:tc rowSpan="2">
                      <a:txBody>
                        <a:bodyPr/>
                        <a:lstStyle/>
                        <a:p>
                          <a:pPr algn="ctr"/>
                          <a:r>
                            <a:rPr lang="en-ZA" dirty="0" smtClean="0"/>
                            <a:t>Classification</a:t>
                          </a:r>
                          <a:endParaRPr lang="en-ZA" dirty="0"/>
                        </a:p>
                        <a:p>
                          <a:pPr algn="ctr"/>
                          <a:r>
                            <a:rPr lang="en-ZA" dirty="0" smtClean="0"/>
                            <a:t>Based on X</a:t>
                          </a:r>
                          <a:endParaRPr lang="en-ZA" dirty="0"/>
                        </a:p>
                      </a:txBody>
                      <a:tcPr/>
                    </a:tc>
                    <a:tc gridSpan="2">
                      <a:txBody>
                        <a:bodyPr/>
                        <a:lstStyle/>
                        <a:p>
                          <a:pPr algn="ctr"/>
                          <a:r>
                            <a:rPr lang="en-ZA" dirty="0" smtClean="0"/>
                            <a:t>True Group membership</a:t>
                          </a:r>
                          <a:endParaRPr lang="en-ZA" dirty="0"/>
                        </a:p>
                      </a:txBody>
                      <a:tcPr/>
                    </a:tc>
                    <a:tc hMerge="1">
                      <a:txBody>
                        <a:bodyPr/>
                        <a:lstStyle/>
                        <a:p>
                          <a:endParaRPr lang="en-ZA" dirty="0"/>
                        </a:p>
                      </a:txBody>
                      <a:tcPr/>
                    </a:tc>
                  </a:tr>
                  <a:tr h="314113">
                    <a:tc vMerge="1">
                      <a:txBody>
                        <a:bodyPr/>
                        <a:lstStyle/>
                        <a:p>
                          <a:endParaRPr lang="en-ZA"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oMath>
                            </m:oMathPara>
                          </a14:m>
                          <a:endParaRPr lang="en-ZA"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2</m:t>
                                    </m:r>
                                  </m:sub>
                                </m:sSub>
                              </m:oMath>
                            </m:oMathPara>
                          </a14:m>
                          <a:endParaRPr lang="en-ZA" dirty="0"/>
                        </a:p>
                      </a:txBody>
                      <a:tcPr/>
                    </a:tc>
                  </a:tr>
                  <a:tr h="314113">
                    <a:tc>
                      <a:txBody>
                        <a:bodyPr/>
                        <a:lstStyle/>
                        <a:p>
                          <a:pPr/>
                          <a14:m>
                            <m:oMathPara xmlns:m="http://schemas.openxmlformats.org/officeDocument/2006/math">
                              <m:oMathParaPr>
                                <m:jc m:val="centerGroup"/>
                              </m:oMathParaPr>
                              <m:oMath xmlns:m="http://schemas.openxmlformats.org/officeDocument/2006/math">
                                <m:r>
                                  <a:rPr lang="en-ZA" b="0" i="1" smtClean="0">
                                    <a:latin typeface="Cambria Math" panose="02040503050406030204" pitchFamily="18" charset="0"/>
                                  </a:rPr>
                                  <m:t>𝑋</m:t>
                                </m:r>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1</m:t>
                                    </m:r>
                                  </m:sub>
                                </m:sSub>
                              </m:oMath>
                            </m:oMathPara>
                          </a14:m>
                          <a:endParaRPr lang="en-ZA"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1</m:t>
                                    </m:r>
                                    <m:r>
                                      <a:rPr lang="en-ZA" b="0" i="1" smtClean="0">
                                        <a:latin typeface="Cambria Math" panose="02040503050406030204" pitchFamily="18" charset="0"/>
                                      </a:rPr>
                                      <m:t>𝐶</m:t>
                                    </m:r>
                                  </m:sub>
                                </m:sSub>
                              </m:oMath>
                            </m:oMathPara>
                          </a14:m>
                          <a:endParaRPr lang="en-ZA"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1</m:t>
                                    </m:r>
                                    <m:r>
                                      <a:rPr lang="en-ZA" b="0" i="1" smtClean="0">
                                        <a:latin typeface="Cambria Math" panose="02040503050406030204" pitchFamily="18" charset="0"/>
                                      </a:rPr>
                                      <m:t>𝑀</m:t>
                                    </m:r>
                                  </m:sub>
                                </m:sSub>
                              </m:oMath>
                            </m:oMathPara>
                          </a14:m>
                          <a:endParaRPr lang="en-ZA" dirty="0"/>
                        </a:p>
                      </a:txBody>
                      <a:tcPr/>
                    </a:tc>
                  </a:tr>
                  <a:tr h="314113">
                    <a:tc>
                      <a:txBody>
                        <a:bodyPr/>
                        <a:lstStyle/>
                        <a:p>
                          <a:pPr/>
                          <a14:m>
                            <m:oMathPara xmlns:m="http://schemas.openxmlformats.org/officeDocument/2006/math">
                              <m:oMathParaPr>
                                <m:jc m:val="centerGroup"/>
                              </m:oMathParaPr>
                              <m:oMath xmlns:m="http://schemas.openxmlformats.org/officeDocument/2006/math">
                                <m:r>
                                  <a:rPr lang="en-ZA" b="0" i="1" smtClean="0">
                                    <a:latin typeface="Cambria Math" panose="02040503050406030204" pitchFamily="18" charset="0"/>
                                  </a:rPr>
                                  <m:t>𝑋</m:t>
                                </m:r>
                                <m:r>
                                  <a:rPr lang="en-ZA" b="0" i="1" smtClean="0">
                                    <a:latin typeface="Cambria Math" panose="02040503050406030204" pitchFamily="18" charset="0"/>
                                    <a:ea typeface="Cambria Math" panose="02040503050406030204" pitchFamily="18" charset="0"/>
                                  </a:rPr>
                                  <m:t>∈</m:t>
                                </m:r>
                                <m:sSub>
                                  <m:sSubPr>
                                    <m:ctrlPr>
                                      <a:rPr lang="en-ZA" b="0" i="1" smtClean="0">
                                        <a:latin typeface="Cambria Math" panose="02040503050406030204" pitchFamily="18" charset="0"/>
                                        <a:ea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𝑅</m:t>
                                    </m:r>
                                  </m:e>
                                  <m:sub>
                                    <m:r>
                                      <a:rPr lang="en-ZA" b="0" i="1" smtClean="0">
                                        <a:latin typeface="Cambria Math" panose="02040503050406030204" pitchFamily="18" charset="0"/>
                                        <a:ea typeface="Cambria Math" panose="02040503050406030204" pitchFamily="18" charset="0"/>
                                      </a:rPr>
                                      <m:t>2</m:t>
                                    </m:r>
                                  </m:sub>
                                </m:sSub>
                              </m:oMath>
                            </m:oMathPara>
                          </a14:m>
                          <a:endParaRPr lang="en-ZA"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2</m:t>
                                    </m:r>
                                    <m:r>
                                      <a:rPr lang="en-ZA" b="0" i="1" smtClean="0">
                                        <a:latin typeface="Cambria Math" panose="02040503050406030204" pitchFamily="18" charset="0"/>
                                      </a:rPr>
                                      <m:t>𝑀</m:t>
                                    </m:r>
                                  </m:sub>
                                </m:sSub>
                              </m:oMath>
                            </m:oMathPara>
                          </a14:m>
                          <a:endParaRPr lang="en-ZA"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2</m:t>
                                    </m:r>
                                    <m:r>
                                      <a:rPr lang="en-ZA" b="0" i="1" smtClean="0">
                                        <a:latin typeface="Cambria Math" panose="02040503050406030204" pitchFamily="18" charset="0"/>
                                      </a:rPr>
                                      <m:t>𝐶</m:t>
                                    </m:r>
                                  </m:sub>
                                </m:sSub>
                              </m:oMath>
                            </m:oMathPara>
                          </a14:m>
                          <a:endParaRPr lang="en-ZA" dirty="0"/>
                        </a:p>
                      </a:txBody>
                      <a:tcPr/>
                    </a:tc>
                  </a:tr>
                  <a:tr h="314113">
                    <a:tc>
                      <a:txBody>
                        <a:bodyPr/>
                        <a:lstStyle/>
                        <a:p>
                          <a:endParaRPr lang="en-ZA"/>
                        </a:p>
                      </a:txBody>
                      <a:tcPr/>
                    </a:tc>
                    <a:tc>
                      <a:txBody>
                        <a:bodyPr/>
                        <a:lstStyle/>
                        <a:p>
                          <a:pPr/>
                          <a14:m>
                            <m:oMathPara xmlns:m="http://schemas.openxmlformats.org/officeDocument/2006/math">
                              <m:oMathParaPr>
                                <m:jc m:val="centerGroup"/>
                              </m:oMathParaPr>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1</m:t>
                                    </m:r>
                                  </m:sub>
                                </m:sSub>
                              </m:oMath>
                            </m:oMathPara>
                          </a14:m>
                          <a:endParaRPr lang="en-ZA"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2</m:t>
                                    </m:r>
                                  </m:sub>
                                </m:sSub>
                              </m:oMath>
                            </m:oMathPara>
                          </a14:m>
                          <a:endParaRPr lang="en-ZA" dirty="0"/>
                        </a:p>
                      </a:txBody>
                      <a:tcPr/>
                    </a:tc>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628166233"/>
                  </p:ext>
                </p:extLst>
              </p:nvPr>
            </p:nvGraphicFramePr>
            <p:xfrm>
              <a:off x="3435351" y="1581150"/>
              <a:ext cx="5759448" cy="1828800"/>
            </p:xfrm>
            <a:graphic>
              <a:graphicData uri="http://schemas.openxmlformats.org/drawingml/2006/table">
                <a:tbl>
                  <a:tblPr firstRow="1" bandRow="1">
                    <a:tableStyleId>{5940675A-B579-460E-94D1-54222C63F5DA}</a:tableStyleId>
                  </a:tblPr>
                  <a:tblGrid>
                    <a:gridCol w="1919816"/>
                    <a:gridCol w="1919816"/>
                    <a:gridCol w="1919816"/>
                  </a:tblGrid>
                  <a:tr h="365760">
                    <a:tc rowSpan="2">
                      <a:txBody>
                        <a:bodyPr/>
                        <a:lstStyle/>
                        <a:p>
                          <a:pPr algn="ctr"/>
                          <a:r>
                            <a:rPr lang="en-ZA" dirty="0" smtClean="0"/>
                            <a:t>Classification</a:t>
                          </a:r>
                          <a:endParaRPr lang="en-ZA" dirty="0"/>
                        </a:p>
                        <a:p>
                          <a:pPr algn="ctr"/>
                          <a:r>
                            <a:rPr lang="en-ZA" dirty="0" smtClean="0"/>
                            <a:t>Based on X</a:t>
                          </a:r>
                          <a:endParaRPr lang="en-ZA" dirty="0"/>
                        </a:p>
                      </a:txBody>
                      <a:tcPr/>
                    </a:tc>
                    <a:tc gridSpan="2">
                      <a:txBody>
                        <a:bodyPr/>
                        <a:lstStyle/>
                        <a:p>
                          <a:pPr algn="ctr"/>
                          <a:r>
                            <a:rPr lang="en-ZA" dirty="0" smtClean="0"/>
                            <a:t>True Group membership</a:t>
                          </a:r>
                          <a:endParaRPr lang="en-ZA" dirty="0"/>
                        </a:p>
                      </a:txBody>
                      <a:tcPr/>
                    </a:tc>
                    <a:tc hMerge="1">
                      <a:txBody>
                        <a:bodyPr/>
                        <a:lstStyle/>
                        <a:p>
                          <a:endParaRPr lang="en-ZA" dirty="0"/>
                        </a:p>
                      </a:txBody>
                      <a:tcPr/>
                    </a:tc>
                  </a:tr>
                  <a:tr h="365760">
                    <a:tc vMerge="1">
                      <a:txBody>
                        <a:bodyPr/>
                        <a:lstStyle/>
                        <a:p>
                          <a:endParaRPr lang="en-ZA" dirty="0"/>
                        </a:p>
                      </a:txBody>
                      <a:tcPr/>
                    </a:tc>
                    <a:tc>
                      <a:txBody>
                        <a:bodyPr/>
                        <a:lstStyle/>
                        <a:p>
                          <a:endParaRPr lang="en-US"/>
                        </a:p>
                      </a:txBody>
                      <a:tcPr>
                        <a:blipFill rotWithShape="0">
                          <a:blip r:embed="rId3"/>
                          <a:stretch>
                            <a:fillRect l="-100000" t="-108333" r="-100316" b="-305000"/>
                          </a:stretch>
                        </a:blipFill>
                      </a:tcPr>
                    </a:tc>
                    <a:tc>
                      <a:txBody>
                        <a:bodyPr/>
                        <a:lstStyle/>
                        <a:p>
                          <a:endParaRPr lang="en-US"/>
                        </a:p>
                      </a:txBody>
                      <a:tcPr>
                        <a:blipFill rotWithShape="0">
                          <a:blip r:embed="rId3"/>
                          <a:stretch>
                            <a:fillRect l="-200635" t="-108333" r="-635" b="-305000"/>
                          </a:stretch>
                        </a:blipFill>
                      </a:tcPr>
                    </a:tc>
                  </a:tr>
                  <a:tr h="365760">
                    <a:tc>
                      <a:txBody>
                        <a:bodyPr/>
                        <a:lstStyle/>
                        <a:p>
                          <a:endParaRPr lang="en-US"/>
                        </a:p>
                      </a:txBody>
                      <a:tcPr>
                        <a:blipFill rotWithShape="0">
                          <a:blip r:embed="rId3"/>
                          <a:stretch>
                            <a:fillRect l="-317" t="-204918" r="-200952" b="-200000"/>
                          </a:stretch>
                        </a:blipFill>
                      </a:tcPr>
                    </a:tc>
                    <a:tc>
                      <a:txBody>
                        <a:bodyPr/>
                        <a:lstStyle/>
                        <a:p>
                          <a:endParaRPr lang="en-US"/>
                        </a:p>
                      </a:txBody>
                      <a:tcPr>
                        <a:blipFill rotWithShape="0">
                          <a:blip r:embed="rId3"/>
                          <a:stretch>
                            <a:fillRect l="-100000" t="-204918" r="-100316" b="-200000"/>
                          </a:stretch>
                        </a:blipFill>
                      </a:tcPr>
                    </a:tc>
                    <a:tc>
                      <a:txBody>
                        <a:bodyPr/>
                        <a:lstStyle/>
                        <a:p>
                          <a:endParaRPr lang="en-US"/>
                        </a:p>
                      </a:txBody>
                      <a:tcPr>
                        <a:blipFill rotWithShape="0">
                          <a:blip r:embed="rId3"/>
                          <a:stretch>
                            <a:fillRect l="-200635" t="-204918" r="-635" b="-200000"/>
                          </a:stretch>
                        </a:blipFill>
                      </a:tcPr>
                    </a:tc>
                  </a:tr>
                  <a:tr h="365760">
                    <a:tc>
                      <a:txBody>
                        <a:bodyPr/>
                        <a:lstStyle/>
                        <a:p>
                          <a:endParaRPr lang="en-US"/>
                        </a:p>
                      </a:txBody>
                      <a:tcPr>
                        <a:blipFill rotWithShape="0">
                          <a:blip r:embed="rId3"/>
                          <a:stretch>
                            <a:fillRect l="-317" t="-310000" r="-200952" b="-103333"/>
                          </a:stretch>
                        </a:blipFill>
                      </a:tcPr>
                    </a:tc>
                    <a:tc>
                      <a:txBody>
                        <a:bodyPr/>
                        <a:lstStyle/>
                        <a:p>
                          <a:endParaRPr lang="en-US"/>
                        </a:p>
                      </a:txBody>
                      <a:tcPr>
                        <a:blipFill rotWithShape="0">
                          <a:blip r:embed="rId3"/>
                          <a:stretch>
                            <a:fillRect l="-100000" t="-310000" r="-100316" b="-103333"/>
                          </a:stretch>
                        </a:blipFill>
                      </a:tcPr>
                    </a:tc>
                    <a:tc>
                      <a:txBody>
                        <a:bodyPr/>
                        <a:lstStyle/>
                        <a:p>
                          <a:endParaRPr lang="en-US"/>
                        </a:p>
                      </a:txBody>
                      <a:tcPr>
                        <a:blipFill rotWithShape="0">
                          <a:blip r:embed="rId3"/>
                          <a:stretch>
                            <a:fillRect l="-200635" t="-310000" r="-635" b="-103333"/>
                          </a:stretch>
                        </a:blipFill>
                      </a:tcPr>
                    </a:tc>
                  </a:tr>
                  <a:tr h="365760">
                    <a:tc>
                      <a:txBody>
                        <a:bodyPr/>
                        <a:lstStyle/>
                        <a:p>
                          <a:endParaRPr lang="en-ZA"/>
                        </a:p>
                      </a:txBody>
                      <a:tcPr/>
                    </a:tc>
                    <a:tc>
                      <a:txBody>
                        <a:bodyPr/>
                        <a:lstStyle/>
                        <a:p>
                          <a:endParaRPr lang="en-US"/>
                        </a:p>
                      </a:txBody>
                      <a:tcPr>
                        <a:blipFill rotWithShape="0">
                          <a:blip r:embed="rId3"/>
                          <a:stretch>
                            <a:fillRect l="-100000" t="-410000" r="-100316" b="-3333"/>
                          </a:stretch>
                        </a:blipFill>
                      </a:tcPr>
                    </a:tc>
                    <a:tc>
                      <a:txBody>
                        <a:bodyPr/>
                        <a:lstStyle/>
                        <a:p>
                          <a:endParaRPr lang="en-US"/>
                        </a:p>
                      </a:txBody>
                      <a:tcPr>
                        <a:blipFill rotWithShape="0">
                          <a:blip r:embed="rId3"/>
                          <a:stretch>
                            <a:fillRect l="-200635" t="-410000" r="-635" b="-3333"/>
                          </a:stretch>
                        </a:blipFill>
                      </a:tcPr>
                    </a:tc>
                  </a:tr>
                </a:tbl>
              </a:graphicData>
            </a:graphic>
          </p:graphicFrame>
        </mc:Fallback>
      </mc:AlternateContent>
    </p:spTree>
    <p:extLst>
      <p:ext uri="{BB962C8B-B14F-4D97-AF65-F5344CB8AC3E}">
        <p14:creationId xmlns:p14="http://schemas.microsoft.com/office/powerpoint/2010/main" val="2388022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222250" y="323850"/>
                <a:ext cx="11684000" cy="6294480"/>
              </a:xfrm>
              <a:prstGeom prst="rect">
                <a:avLst/>
              </a:prstGeom>
              <a:noFill/>
              <a:ln>
                <a:solidFill>
                  <a:schemeClr val="accent6"/>
                </a:solidFill>
              </a:ln>
            </p:spPr>
            <p:txBody>
              <a:bodyPr wrap="square" rtlCol="0">
                <a:spAutoFit/>
              </a:bodyPr>
              <a:lstStyle/>
              <a:p>
                <a:r>
                  <a:rPr lang="en-ZA" dirty="0" smtClean="0"/>
                  <a:t>Example (11.7 from Johnson and Wichern to illustrate calculation of E(AER) and compare to APER</a:t>
                </a:r>
              </a:p>
              <a:p>
                <a:endParaRPr lang="en-ZA" dirty="0"/>
              </a:p>
              <a:p>
                <a:r>
                  <a:rPr lang="en-ZA" dirty="0" smtClean="0"/>
                  <a:t>Given 3 bivariate observations from two populations,</a:t>
                </a:r>
              </a:p>
              <a:p>
                <a:pPr algn="ct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𝑋</m:t>
                        </m:r>
                      </m:e>
                      <m:sub>
                        <m:r>
                          <a:rPr lang="en-ZA" b="0" i="1" smtClean="0">
                            <a:latin typeface="Cambria Math" panose="02040503050406030204" pitchFamily="18" charset="0"/>
                          </a:rPr>
                          <m:t>1</m:t>
                        </m:r>
                      </m:sub>
                    </m:sSub>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2"/>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2</m:t>
                              </m:r>
                            </m:e>
                            <m:e>
                              <m:r>
                                <a:rPr lang="en-ZA" b="0" i="1" smtClean="0">
                                  <a:latin typeface="Cambria Math" panose="02040503050406030204" pitchFamily="18" charset="0"/>
                                </a:rPr>
                                <m:t>12</m:t>
                              </m:r>
                            </m:e>
                          </m:mr>
                          <m:mr>
                            <m:e>
                              <m:r>
                                <a:rPr lang="en-ZA" b="0" i="1" smtClean="0">
                                  <a:latin typeface="Cambria Math" panose="02040503050406030204" pitchFamily="18" charset="0"/>
                                </a:rPr>
                                <m:t>4</m:t>
                              </m:r>
                            </m:e>
                            <m:e>
                              <m:r>
                                <a:rPr lang="en-ZA" b="0" i="1" smtClean="0">
                                  <a:latin typeface="Cambria Math" panose="02040503050406030204" pitchFamily="18" charset="0"/>
                                </a:rPr>
                                <m:t>10</m:t>
                              </m:r>
                            </m:e>
                          </m:mr>
                          <m:mr>
                            <m:e>
                              <m:r>
                                <a:rPr lang="en-ZA" b="0" i="1" smtClean="0">
                                  <a:latin typeface="Cambria Math" panose="02040503050406030204" pitchFamily="18" charset="0"/>
                                </a:rPr>
                                <m:t>3</m:t>
                              </m:r>
                            </m:e>
                            <m:e>
                              <m:r>
                                <a:rPr lang="en-ZA" b="0" i="1" smtClean="0">
                                  <a:latin typeface="Cambria Math" panose="02040503050406030204" pitchFamily="18" charset="0"/>
                                </a:rPr>
                                <m:t>8</m:t>
                              </m:r>
                            </m:e>
                          </m:mr>
                        </m:m>
                      </m:e>
                    </m:d>
                  </m:oMath>
                </a14:m>
                <a:r>
                  <a:rPr lang="en-ZA" dirty="0" smtClean="0"/>
                  <a:t>and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𝑋</m:t>
                        </m:r>
                      </m:e>
                      <m:sub>
                        <m:r>
                          <a:rPr lang="en-ZA" b="0" i="1" smtClean="0">
                            <a:latin typeface="Cambria Math" panose="02040503050406030204" pitchFamily="18" charset="0"/>
                          </a:rPr>
                          <m:t>2</m:t>
                        </m:r>
                      </m:sub>
                    </m:sSub>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2"/>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5</m:t>
                              </m:r>
                            </m:e>
                            <m:e>
                              <m:r>
                                <a:rPr lang="en-ZA" b="0" i="1" smtClean="0">
                                  <a:latin typeface="Cambria Math" panose="02040503050406030204" pitchFamily="18" charset="0"/>
                                </a:rPr>
                                <m:t>7</m:t>
                              </m:r>
                            </m:e>
                          </m:mr>
                          <m:mr>
                            <m:e>
                              <m:r>
                                <a:rPr lang="en-ZA" b="0" i="1" smtClean="0">
                                  <a:latin typeface="Cambria Math" panose="02040503050406030204" pitchFamily="18" charset="0"/>
                                </a:rPr>
                                <m:t>3</m:t>
                              </m:r>
                            </m:e>
                            <m:e>
                              <m:r>
                                <a:rPr lang="en-ZA" b="0" i="1" smtClean="0">
                                  <a:latin typeface="Cambria Math" panose="02040503050406030204" pitchFamily="18" charset="0"/>
                                </a:rPr>
                                <m:t>9</m:t>
                              </m:r>
                            </m:e>
                          </m:mr>
                          <m:mr>
                            <m:e>
                              <m:r>
                                <a:rPr lang="en-ZA" b="0" i="1" smtClean="0">
                                  <a:latin typeface="Cambria Math" panose="02040503050406030204" pitchFamily="18" charset="0"/>
                                </a:rPr>
                                <m:t>4</m:t>
                              </m:r>
                            </m:e>
                            <m:e>
                              <m:r>
                                <a:rPr lang="en-ZA" b="0" i="1" smtClean="0">
                                  <a:latin typeface="Cambria Math" panose="02040503050406030204" pitchFamily="18" charset="0"/>
                                </a:rPr>
                                <m:t>5</m:t>
                              </m:r>
                            </m:e>
                          </m:mr>
                        </m:m>
                      </m:e>
                    </m:d>
                  </m:oMath>
                </a14:m>
                <a:endParaRPr lang="en-ZA" dirty="0" smtClean="0"/>
              </a:p>
              <a:p>
                <a:r>
                  <a:rPr lang="en-ZA" dirty="0"/>
                  <a:t>w</a:t>
                </a:r>
                <a:r>
                  <a:rPr lang="en-ZA" dirty="0" smtClean="0"/>
                  <a:t>ith </a:t>
                </a:r>
              </a:p>
              <a:p>
                <a:pPr algn="ctr"/>
                <a14:m>
                  <m:oMath xmlns:m="http://schemas.openxmlformats.org/officeDocument/2006/math">
                    <m:sSub>
                      <m:sSubPr>
                        <m:ctrlPr>
                          <a:rPr lang="en-ZA" i="1" smtClean="0">
                            <a:latin typeface="Cambria Math" panose="02040503050406030204" pitchFamily="18" charset="0"/>
                          </a:rPr>
                        </m:ctrlPr>
                      </m:sSubPr>
                      <m:e>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1</m:t>
                        </m:r>
                      </m:sub>
                    </m:sSub>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1"/>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3</m:t>
                              </m:r>
                            </m:e>
                          </m:mr>
                          <m:mr>
                            <m:e>
                              <m:r>
                                <a:rPr lang="en-ZA" b="0" i="1" smtClean="0">
                                  <a:latin typeface="Cambria Math" panose="02040503050406030204" pitchFamily="18" charset="0"/>
                                </a:rPr>
                                <m:t>10</m:t>
                              </m:r>
                            </m:e>
                          </m:mr>
                        </m:m>
                      </m:e>
                    </m:d>
                  </m:oMath>
                </a14:m>
                <a:r>
                  <a:rPr lang="en-ZA" dirty="0" smtClean="0"/>
                  <a:t> , </a:t>
                </a:r>
                <a14:m>
                  <m:oMath xmlns:m="http://schemas.openxmlformats.org/officeDocument/2006/math">
                    <m:r>
                      <a:rPr lang="en-ZA" b="0" i="1" smtClean="0">
                        <a:latin typeface="Cambria Math" panose="02040503050406030204" pitchFamily="18" charset="0"/>
                      </a:rPr>
                      <m:t>2</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𝑆</m:t>
                        </m:r>
                      </m:e>
                      <m:sub>
                        <m:r>
                          <a:rPr lang="en-ZA" b="0" i="1" smtClean="0">
                            <a:latin typeface="Cambria Math" panose="02040503050406030204" pitchFamily="18" charset="0"/>
                          </a:rPr>
                          <m:t>1</m:t>
                        </m:r>
                      </m:sub>
                    </m:sSub>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2"/>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 </m:t>
                              </m:r>
                              <m:r>
                                <a:rPr lang="en-ZA" b="0" i="1" smtClean="0">
                                  <a:latin typeface="Cambria Math" panose="02040503050406030204" pitchFamily="18" charset="0"/>
                                </a:rPr>
                                <m:t>  2</m:t>
                              </m:r>
                            </m:e>
                            <m:e>
                              <m:r>
                                <a:rPr lang="en-ZA" b="0" i="1" smtClean="0">
                                  <a:latin typeface="Cambria Math" panose="02040503050406030204" pitchFamily="18" charset="0"/>
                                </a:rPr>
                                <m:t>−2</m:t>
                              </m:r>
                            </m:e>
                          </m:mr>
                          <m:mr>
                            <m:e>
                              <m:r>
                                <a:rPr lang="en-ZA" b="0" i="1" smtClean="0">
                                  <a:latin typeface="Cambria Math" panose="02040503050406030204" pitchFamily="18" charset="0"/>
                                </a:rPr>
                                <m:t>−2</m:t>
                              </m:r>
                            </m:e>
                            <m:e>
                              <m:r>
                                <a:rPr lang="en-ZA" b="0" i="1" smtClean="0">
                                  <a:latin typeface="Cambria Math" panose="02040503050406030204" pitchFamily="18" charset="0"/>
                                </a:rPr>
                                <m:t>   8</m:t>
                              </m:r>
                            </m:e>
                          </m:mr>
                        </m:m>
                      </m:e>
                    </m:d>
                  </m:oMath>
                </a14:m>
                <a:r>
                  <a:rPr lang="en-ZA" dirty="0" smtClean="0"/>
                  <a:t>, </a:t>
                </a:r>
                <a14:m>
                  <m:oMath xmlns:m="http://schemas.openxmlformats.org/officeDocument/2006/math">
                    <m:sSub>
                      <m:sSubPr>
                        <m:ctrlPr>
                          <a:rPr lang="en-ZA" i="1" smtClean="0">
                            <a:latin typeface="Cambria Math" panose="02040503050406030204" pitchFamily="18" charset="0"/>
                          </a:rPr>
                        </m:ctrlPr>
                      </m:sSubPr>
                      <m:e>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2</m:t>
                        </m:r>
                      </m:sub>
                    </m:sSub>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1"/>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4</m:t>
                              </m:r>
                            </m:e>
                          </m:mr>
                          <m:mr>
                            <m:e>
                              <m:r>
                                <a:rPr lang="en-ZA" b="0" i="1" smtClean="0">
                                  <a:latin typeface="Cambria Math" panose="02040503050406030204" pitchFamily="18" charset="0"/>
                                </a:rPr>
                                <m:t>7</m:t>
                              </m:r>
                            </m:e>
                          </m:mr>
                        </m:m>
                      </m:e>
                    </m:d>
                  </m:oMath>
                </a14:m>
                <a:r>
                  <a:rPr lang="en-ZA" dirty="0" smtClean="0"/>
                  <a:t>, </a:t>
                </a:r>
                <a14:m>
                  <m:oMath xmlns:m="http://schemas.openxmlformats.org/officeDocument/2006/math">
                    <m:r>
                      <a:rPr lang="en-ZA" b="0" i="1" smtClean="0">
                        <a:latin typeface="Cambria Math" panose="02040503050406030204" pitchFamily="18" charset="0"/>
                      </a:rPr>
                      <m:t>2</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𝑆</m:t>
                        </m:r>
                      </m:e>
                      <m:sub>
                        <m:r>
                          <a:rPr lang="en-ZA" b="0" i="1" smtClean="0">
                            <a:latin typeface="Cambria Math" panose="02040503050406030204" pitchFamily="18" charset="0"/>
                          </a:rPr>
                          <m:t>2</m:t>
                        </m:r>
                      </m:sub>
                    </m:sSub>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2"/>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 </m:t>
                              </m:r>
                              <m:r>
                                <a:rPr lang="en-ZA" b="0" i="1" smtClean="0">
                                  <a:latin typeface="Cambria Math" panose="02040503050406030204" pitchFamily="18" charset="0"/>
                                </a:rPr>
                                <m:t>  2</m:t>
                              </m:r>
                            </m:e>
                            <m:e>
                              <m:r>
                                <a:rPr lang="en-ZA" b="0" i="1" smtClean="0">
                                  <a:latin typeface="Cambria Math" panose="02040503050406030204" pitchFamily="18" charset="0"/>
                                </a:rPr>
                                <m:t>−2</m:t>
                              </m:r>
                            </m:e>
                          </m:mr>
                          <m:mr>
                            <m:e>
                              <m:r>
                                <a:rPr lang="en-ZA" b="0" i="1" smtClean="0">
                                  <a:latin typeface="Cambria Math" panose="02040503050406030204" pitchFamily="18" charset="0"/>
                                </a:rPr>
                                <m:t>−2</m:t>
                              </m:r>
                            </m:e>
                            <m:e>
                              <m:r>
                                <a:rPr lang="en-ZA" b="0" i="1" smtClean="0">
                                  <a:latin typeface="Cambria Math" panose="02040503050406030204" pitchFamily="18" charset="0"/>
                                </a:rPr>
                                <m:t>   8</m:t>
                              </m:r>
                            </m:e>
                          </m:mr>
                        </m:m>
                      </m:e>
                    </m:d>
                  </m:oMath>
                </a14:m>
                <a:r>
                  <a:rPr lang="en-ZA" dirty="0" smtClean="0"/>
                  <a:t>.</a:t>
                </a:r>
              </a:p>
              <a:p>
                <a:pPr algn="ctr"/>
                <a:endParaRPr lang="en-ZA" dirty="0" smtClean="0"/>
              </a:p>
              <a:p>
                <a:r>
                  <a:rPr lang="en-ZA" dirty="0" smtClean="0"/>
                  <a:t>The pooled covariance matrix is then</a:t>
                </a:r>
              </a:p>
              <a:p>
                <a:pPr/>
                <a14:m>
                  <m:oMathPara xmlns:m="http://schemas.openxmlformats.org/officeDocument/2006/math">
                    <m:oMathParaPr>
                      <m:jc m:val="centerGroup"/>
                    </m:oMathParaPr>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𝑆</m:t>
                          </m:r>
                        </m:e>
                        <m:sub>
                          <m:r>
                            <a:rPr lang="en-ZA" b="0" i="1" smtClean="0">
                              <a:latin typeface="Cambria Math" panose="02040503050406030204" pitchFamily="18" charset="0"/>
                            </a:rPr>
                            <m:t>𝑝</m:t>
                          </m:r>
                        </m:sub>
                      </m:sSub>
                      <m:r>
                        <a:rPr lang="en-ZA" b="0" i="1" smtClean="0">
                          <a:latin typeface="Cambria Math" panose="02040503050406030204" pitchFamily="18" charset="0"/>
                        </a:rPr>
                        <m:t>=</m:t>
                      </m:r>
                      <m:f>
                        <m:fPr>
                          <m:ctrlPr>
                            <a:rPr lang="en-ZA" b="0" i="1" smtClean="0">
                              <a:latin typeface="Cambria Math" panose="02040503050406030204" pitchFamily="18" charset="0"/>
                            </a:rPr>
                          </m:ctrlPr>
                        </m:fPr>
                        <m:num>
                          <m:r>
                            <a:rPr lang="en-ZA" b="0" i="1" smtClean="0">
                              <a:latin typeface="Cambria Math" panose="02040503050406030204" pitchFamily="18" charset="0"/>
                            </a:rPr>
                            <m:t>1</m:t>
                          </m:r>
                        </m:num>
                        <m:den>
                          <m:r>
                            <a:rPr lang="en-ZA" b="0" i="1" smtClean="0">
                              <a:latin typeface="Cambria Math" panose="02040503050406030204" pitchFamily="18" charset="0"/>
                            </a:rPr>
                            <m:t>4</m:t>
                          </m:r>
                        </m:den>
                      </m:f>
                      <m:d>
                        <m:dPr>
                          <m:ctrlPr>
                            <a:rPr lang="en-ZA" b="0" i="1" smtClean="0">
                              <a:latin typeface="Cambria Math" panose="02040503050406030204" pitchFamily="18" charset="0"/>
                            </a:rPr>
                          </m:ctrlPr>
                        </m:dPr>
                        <m:e>
                          <m:r>
                            <a:rPr lang="en-ZA" b="0" i="1" smtClean="0">
                              <a:latin typeface="Cambria Math" panose="02040503050406030204" pitchFamily="18" charset="0"/>
                            </a:rPr>
                            <m:t>2</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𝑆</m:t>
                              </m:r>
                            </m:e>
                            <m:sub>
                              <m:r>
                                <a:rPr lang="en-ZA" b="0" i="1" smtClean="0">
                                  <a:latin typeface="Cambria Math" panose="02040503050406030204" pitchFamily="18" charset="0"/>
                                </a:rPr>
                                <m:t>1</m:t>
                              </m:r>
                            </m:sub>
                          </m:sSub>
                          <m:r>
                            <a:rPr lang="en-ZA" b="0" i="1" smtClean="0">
                              <a:latin typeface="Cambria Math" panose="02040503050406030204" pitchFamily="18" charset="0"/>
                            </a:rPr>
                            <m:t>+2</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𝑆</m:t>
                              </m:r>
                            </m:e>
                            <m:sub>
                              <m:r>
                                <a:rPr lang="en-ZA" b="0" i="1" smtClean="0">
                                  <a:latin typeface="Cambria Math" panose="02040503050406030204" pitchFamily="18" charset="0"/>
                                </a:rPr>
                                <m:t>2</m:t>
                              </m:r>
                            </m:sub>
                          </m:sSub>
                        </m:e>
                      </m:d>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2"/>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1</m:t>
                                </m:r>
                              </m:e>
                              <m:e>
                                <m:r>
                                  <a:rPr lang="en-ZA" b="0" i="1" smtClean="0">
                                    <a:latin typeface="Cambria Math" panose="02040503050406030204" pitchFamily="18" charset="0"/>
                                  </a:rPr>
                                  <m:t>−1</m:t>
                                </m:r>
                              </m:e>
                            </m:mr>
                            <m:mr>
                              <m:e>
                                <m:r>
                                  <a:rPr lang="en-ZA" b="0" i="1" smtClean="0">
                                    <a:latin typeface="Cambria Math" panose="02040503050406030204" pitchFamily="18" charset="0"/>
                                  </a:rPr>
                                  <m:t>1</m:t>
                                </m:r>
                              </m:e>
                              <m:e>
                                <m:r>
                                  <a:rPr lang="en-ZA" b="0" i="1" smtClean="0">
                                    <a:latin typeface="Cambria Math" panose="02040503050406030204" pitchFamily="18" charset="0"/>
                                  </a:rPr>
                                  <m:t>   4</m:t>
                                </m:r>
                              </m:e>
                            </m:mr>
                          </m:m>
                        </m:e>
                      </m:d>
                      <m:r>
                        <a:rPr lang="en-ZA" b="0" i="1" smtClean="0">
                          <a:latin typeface="Cambria Math" panose="02040503050406030204" pitchFamily="18" charset="0"/>
                        </a:rPr>
                        <m:t>.</m:t>
                      </m:r>
                    </m:oMath>
                  </m:oMathPara>
                </a14:m>
                <a:endParaRPr lang="en-ZA" dirty="0" smtClean="0"/>
              </a:p>
              <a:p>
                <a:endParaRPr lang="en-ZA" dirty="0" smtClean="0"/>
              </a:p>
              <a:p>
                <a:r>
                  <a:rPr lang="en-ZA" dirty="0" smtClean="0"/>
                  <a:t>Allocate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0</m:t>
                        </m:r>
                      </m:sub>
                    </m:sSub>
                  </m:oMath>
                </a14:m>
                <a:r>
                  <a:rPr lang="en-ZA" dirty="0" smtClean="0"/>
                  <a:t>  to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oMath>
                </a14:m>
                <a:r>
                  <a:rPr lang="en-ZA" dirty="0" smtClean="0"/>
                  <a:t> if </a:t>
                </a:r>
                <a14:m>
                  <m:oMath xmlns:m="http://schemas.openxmlformats.org/officeDocument/2006/math">
                    <m:sSub>
                      <m:sSubPr>
                        <m:ctrlPr>
                          <a:rPr lang="en-ZA" i="1" smtClean="0">
                            <a:latin typeface="Cambria Math" panose="02040503050406030204" pitchFamily="18" charset="0"/>
                          </a:rPr>
                        </m:ctrlPr>
                      </m:sSubPr>
                      <m:e>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𝑦</m:t>
                            </m:r>
                          </m:e>
                        </m:acc>
                      </m:e>
                      <m:sub>
                        <m:r>
                          <a:rPr lang="en-ZA" b="0" i="1" smtClean="0">
                            <a:latin typeface="Cambria Math" panose="02040503050406030204" pitchFamily="18" charset="0"/>
                          </a:rPr>
                          <m:t>0</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1</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2</m:t>
                        </m:r>
                      </m:sub>
                    </m:sSub>
                    <m:r>
                      <a:rPr lang="en-ZA" b="0" i="1" smtClean="0">
                        <a:latin typeface="Cambria Math" panose="02040503050406030204" pitchFamily="18" charset="0"/>
                      </a:rPr>
                      <m:t>)′</m:t>
                    </m:r>
                    <m:sSubSup>
                      <m:sSubSupPr>
                        <m:ctrlPr>
                          <a:rPr lang="en-ZA" b="0" i="1" smtClean="0">
                            <a:latin typeface="Cambria Math" panose="02040503050406030204" pitchFamily="18" charset="0"/>
                          </a:rPr>
                        </m:ctrlPr>
                      </m:sSubSupPr>
                      <m:e>
                        <m:r>
                          <a:rPr lang="en-ZA" b="0" i="1" smtClean="0">
                            <a:latin typeface="Cambria Math" panose="02040503050406030204" pitchFamily="18" charset="0"/>
                          </a:rPr>
                          <m:t>𝑆</m:t>
                        </m:r>
                      </m:e>
                      <m:sub>
                        <m:r>
                          <a:rPr lang="en-ZA" b="0" i="1" smtClean="0">
                            <a:latin typeface="Cambria Math" panose="02040503050406030204" pitchFamily="18" charset="0"/>
                          </a:rPr>
                          <m:t>𝑝</m:t>
                        </m:r>
                      </m:sub>
                      <m:sup>
                        <m:r>
                          <a:rPr lang="en-ZA" b="0" i="1" smtClean="0">
                            <a:latin typeface="Cambria Math" panose="02040503050406030204" pitchFamily="18" charset="0"/>
                          </a:rPr>
                          <m:t>−1</m:t>
                        </m:r>
                      </m:sup>
                    </m:sSubSup>
                    <m:sSub>
                      <m:sSubPr>
                        <m:ctrlPr>
                          <a:rPr lang="en-ZA" b="0"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0</m:t>
                        </m:r>
                      </m:sub>
                    </m:sSub>
                    <m:r>
                      <a:rPr lang="en-ZA" b="0" i="1" smtClean="0">
                        <a:latin typeface="Cambria Math" panose="02040503050406030204" pitchFamily="18" charset="0"/>
                        <a:ea typeface="Cambria Math" panose="02040503050406030204" pitchFamily="18" charset="0"/>
                      </a:rPr>
                      <m:t>≥</m:t>
                    </m:r>
                    <m:f>
                      <m:fPr>
                        <m:ctrlPr>
                          <a:rPr lang="en-ZA" b="0" i="1" smtClean="0">
                            <a:latin typeface="Cambria Math" panose="02040503050406030204" pitchFamily="18" charset="0"/>
                            <a:ea typeface="Cambria Math" panose="02040503050406030204" pitchFamily="18" charset="0"/>
                          </a:rPr>
                        </m:ctrlPr>
                      </m:fPr>
                      <m:num>
                        <m:r>
                          <a:rPr lang="en-ZA" b="0" i="1" smtClean="0">
                            <a:latin typeface="Cambria Math" panose="02040503050406030204" pitchFamily="18" charset="0"/>
                            <a:ea typeface="Cambria Math" panose="02040503050406030204" pitchFamily="18" charset="0"/>
                          </a:rPr>
                          <m:t>1</m:t>
                        </m:r>
                      </m:num>
                      <m:den>
                        <m:r>
                          <a:rPr lang="en-ZA" b="0" i="1" smtClean="0">
                            <a:latin typeface="Cambria Math" panose="02040503050406030204" pitchFamily="18" charset="0"/>
                            <a:ea typeface="Cambria Math" panose="02040503050406030204" pitchFamily="18" charset="0"/>
                          </a:rPr>
                          <m:t>2</m:t>
                        </m:r>
                      </m:den>
                    </m:f>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2</m:t>
                        </m:r>
                      </m:sub>
                    </m:sSub>
                    <m:r>
                      <a:rPr lang="en-ZA" i="1">
                        <a:latin typeface="Cambria Math" panose="02040503050406030204" pitchFamily="18" charset="0"/>
                      </a:rPr>
                      <m:t>)′</m:t>
                    </m:r>
                    <m:sSubSup>
                      <m:sSubSupPr>
                        <m:ctrlPr>
                          <a:rPr lang="en-ZA" i="1">
                            <a:latin typeface="Cambria Math" panose="02040503050406030204" pitchFamily="18" charset="0"/>
                          </a:rPr>
                        </m:ctrlPr>
                      </m:sSubSupPr>
                      <m:e>
                        <m:r>
                          <a:rPr lang="en-ZA" i="1">
                            <a:latin typeface="Cambria Math" panose="02040503050406030204" pitchFamily="18" charset="0"/>
                          </a:rPr>
                          <m:t>𝑆</m:t>
                        </m:r>
                      </m:e>
                      <m:sub>
                        <m:r>
                          <a:rPr lang="en-ZA" i="1">
                            <a:latin typeface="Cambria Math" panose="02040503050406030204" pitchFamily="18" charset="0"/>
                          </a:rPr>
                          <m:t>𝑝</m:t>
                        </m:r>
                      </m:sub>
                      <m:sup>
                        <m:r>
                          <a:rPr lang="en-ZA" i="1">
                            <a:latin typeface="Cambria Math" panose="02040503050406030204" pitchFamily="18" charset="0"/>
                          </a:rPr>
                          <m:t>−1</m:t>
                        </m:r>
                      </m:sup>
                    </m:sSubSup>
                    <m:r>
                      <a:rPr lang="en-ZA" b="0" i="1" smtClean="0">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1</m:t>
                        </m:r>
                      </m:sub>
                    </m:sSub>
                    <m:r>
                      <a:rPr lang="en-ZA" b="0" i="1" smtClean="0">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2</m:t>
                        </m:r>
                      </m:sub>
                    </m:sSub>
                    <m:r>
                      <a:rPr lang="en-ZA" b="0" i="1" smtClean="0">
                        <a:latin typeface="Cambria Math" panose="02040503050406030204" pitchFamily="18" charset="0"/>
                      </a:rPr>
                      <m:t>)</m:t>
                    </m:r>
                  </m:oMath>
                </a14:m>
                <a:endParaRPr lang="en-ZA" dirty="0" smtClean="0"/>
              </a:p>
              <a:p>
                <a:endParaRPr lang="en-ZA" dirty="0" smtClean="0"/>
              </a:p>
              <a:p>
                <a:r>
                  <a:rPr lang="en-ZA" dirty="0" err="1" smtClean="0"/>
                  <a:t>Lachenbruch’s</a:t>
                </a:r>
                <a:r>
                  <a:rPr lang="en-ZA" dirty="0" smtClean="0"/>
                  <a:t> holdout procedure is going to allow us to calculate the expected actual error rate:</a:t>
                </a:r>
              </a:p>
              <a:p>
                <a:pPr/>
                <a14:m>
                  <m:oMathPara xmlns:m="http://schemas.openxmlformats.org/officeDocument/2006/math">
                    <m:oMathParaPr>
                      <m:jc m:val="centerGroup"/>
                    </m:oMathParaPr>
                    <m:oMath xmlns:m="http://schemas.openxmlformats.org/officeDocument/2006/math">
                      <m:acc>
                        <m:accPr>
                          <m:chr m:val="̂"/>
                          <m:ctrlPr>
                            <a:rPr lang="en-ZA" i="1" smtClean="0">
                              <a:latin typeface="Cambria Math" panose="02040503050406030204" pitchFamily="18" charset="0"/>
                            </a:rPr>
                          </m:ctrlPr>
                        </m:accPr>
                        <m:e>
                          <m:r>
                            <a:rPr lang="en-ZA" b="0" i="1" smtClean="0">
                              <a:latin typeface="Cambria Math" panose="02040503050406030204" pitchFamily="18" charset="0"/>
                            </a:rPr>
                            <m:t>𝐸</m:t>
                          </m:r>
                        </m:e>
                      </m:acc>
                      <m:d>
                        <m:dPr>
                          <m:ctrlPr>
                            <a:rPr lang="en-ZA" b="0" i="1" smtClean="0">
                              <a:latin typeface="Cambria Math" panose="02040503050406030204" pitchFamily="18" charset="0"/>
                            </a:rPr>
                          </m:ctrlPr>
                        </m:dPr>
                        <m:e>
                          <m:r>
                            <a:rPr lang="en-ZA" b="0" i="1" smtClean="0">
                              <a:latin typeface="Cambria Math" panose="02040503050406030204" pitchFamily="18" charset="0"/>
                            </a:rPr>
                            <m:t>𝐴𝐸𝑅</m:t>
                          </m:r>
                        </m:e>
                      </m:d>
                      <m:r>
                        <a:rPr lang="en-ZA" b="0" i="1" smtClean="0">
                          <a:latin typeface="Cambria Math" panose="02040503050406030204" pitchFamily="18" charset="0"/>
                        </a:rPr>
                        <m:t>=</m:t>
                      </m:r>
                      <m:f>
                        <m:fPr>
                          <m:ctrlPr>
                            <a:rPr lang="en-ZA" b="0" i="1" smtClean="0">
                              <a:latin typeface="Cambria Math" panose="02040503050406030204" pitchFamily="18" charset="0"/>
                            </a:rPr>
                          </m:ctrlPr>
                        </m:fPr>
                        <m:num>
                          <m:sSubSup>
                            <m:sSubSupPr>
                              <m:ctrlPr>
                                <a:rPr lang="en-ZA" b="0" i="1" smtClean="0">
                                  <a:latin typeface="Cambria Math" panose="02040503050406030204" pitchFamily="18" charset="0"/>
                                </a:rPr>
                              </m:ctrlPr>
                            </m:sSubSupPr>
                            <m:e>
                              <m:r>
                                <a:rPr lang="en-ZA" b="0" i="1" smtClean="0">
                                  <a:latin typeface="Cambria Math" panose="02040503050406030204" pitchFamily="18" charset="0"/>
                                </a:rPr>
                                <m:t>𝑛</m:t>
                              </m:r>
                            </m:e>
                            <m:sub>
                              <m:r>
                                <a:rPr lang="en-ZA" b="0" i="1" smtClean="0">
                                  <a:latin typeface="Cambria Math" panose="02040503050406030204" pitchFamily="18" charset="0"/>
                                </a:rPr>
                                <m:t>1</m:t>
                              </m:r>
                              <m:r>
                                <a:rPr lang="en-ZA" b="0" i="1" smtClean="0">
                                  <a:latin typeface="Cambria Math" panose="02040503050406030204" pitchFamily="18" charset="0"/>
                                </a:rPr>
                                <m:t>𝑀</m:t>
                              </m:r>
                            </m:sub>
                            <m:sup>
                              <m:r>
                                <a:rPr lang="en-ZA" b="0" i="1" smtClean="0">
                                  <a:latin typeface="Cambria Math" panose="02040503050406030204" pitchFamily="18" charset="0"/>
                                </a:rPr>
                                <m:t>(</m:t>
                              </m:r>
                              <m:r>
                                <a:rPr lang="en-ZA" b="0" i="1" smtClean="0">
                                  <a:latin typeface="Cambria Math" panose="02040503050406030204" pitchFamily="18" charset="0"/>
                                </a:rPr>
                                <m:t>𝐻</m:t>
                              </m:r>
                              <m:r>
                                <a:rPr lang="en-ZA" b="0" i="1" smtClean="0">
                                  <a:latin typeface="Cambria Math" panose="02040503050406030204" pitchFamily="18" charset="0"/>
                                </a:rPr>
                                <m:t>)</m:t>
                              </m:r>
                            </m:sup>
                          </m:sSubSup>
                          <m:r>
                            <a:rPr lang="en-ZA" b="0" i="1" smtClean="0">
                              <a:latin typeface="Cambria Math" panose="02040503050406030204" pitchFamily="18" charset="0"/>
                            </a:rPr>
                            <m:t>+</m:t>
                          </m:r>
                          <m:sSubSup>
                            <m:sSubSupPr>
                              <m:ctrlPr>
                                <a:rPr lang="en-ZA" b="0" i="1" smtClean="0">
                                  <a:latin typeface="Cambria Math" panose="02040503050406030204" pitchFamily="18" charset="0"/>
                                </a:rPr>
                              </m:ctrlPr>
                            </m:sSubSupPr>
                            <m:e>
                              <m:r>
                                <a:rPr lang="en-ZA" b="0" i="1" smtClean="0">
                                  <a:latin typeface="Cambria Math" panose="02040503050406030204" pitchFamily="18" charset="0"/>
                                </a:rPr>
                                <m:t>𝑛</m:t>
                              </m:r>
                            </m:e>
                            <m:sub>
                              <m:r>
                                <a:rPr lang="en-ZA" b="0" i="1" smtClean="0">
                                  <a:latin typeface="Cambria Math" panose="02040503050406030204" pitchFamily="18" charset="0"/>
                                </a:rPr>
                                <m:t>2</m:t>
                              </m:r>
                              <m:r>
                                <a:rPr lang="en-ZA" b="0" i="1" smtClean="0">
                                  <a:latin typeface="Cambria Math" panose="02040503050406030204" pitchFamily="18" charset="0"/>
                                </a:rPr>
                                <m:t>𝑀</m:t>
                              </m:r>
                            </m:sub>
                            <m:sup>
                              <m:r>
                                <a:rPr lang="en-ZA" b="0" i="1" smtClean="0">
                                  <a:latin typeface="Cambria Math" panose="02040503050406030204" pitchFamily="18" charset="0"/>
                                </a:rPr>
                                <m:t>(</m:t>
                              </m:r>
                              <m:r>
                                <a:rPr lang="en-ZA" b="0" i="1" smtClean="0">
                                  <a:latin typeface="Cambria Math" panose="02040503050406030204" pitchFamily="18" charset="0"/>
                                </a:rPr>
                                <m:t>𝐻</m:t>
                              </m:r>
                              <m:r>
                                <a:rPr lang="en-ZA" b="0" i="1" smtClean="0">
                                  <a:latin typeface="Cambria Math" panose="02040503050406030204" pitchFamily="18" charset="0"/>
                                </a:rPr>
                                <m:t>)</m:t>
                              </m:r>
                            </m:sup>
                          </m:sSubSup>
                        </m:num>
                        <m:den>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1</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2</m:t>
                              </m:r>
                            </m:sub>
                          </m:sSub>
                        </m:den>
                      </m:f>
                    </m:oMath>
                  </m:oMathPara>
                </a14:m>
                <a:endParaRPr lang="en-ZA" dirty="0" smtClean="0"/>
              </a:p>
              <a:p>
                <a:r>
                  <a:rPr lang="en-ZA" dirty="0"/>
                  <a:t>w</a:t>
                </a:r>
                <a:r>
                  <a:rPr lang="en-ZA" dirty="0" smtClean="0"/>
                  <a:t>here </a:t>
                </a:r>
                <a14:m>
                  <m:oMath xmlns:m="http://schemas.openxmlformats.org/officeDocument/2006/math">
                    <m:sSubSup>
                      <m:sSubSupPr>
                        <m:ctrlPr>
                          <a:rPr lang="en-ZA" i="1" smtClean="0">
                            <a:latin typeface="Cambria Math" panose="02040503050406030204" pitchFamily="18" charset="0"/>
                          </a:rPr>
                        </m:ctrlPr>
                      </m:sSubSupPr>
                      <m:e>
                        <m:r>
                          <a:rPr lang="en-ZA" b="0" i="1" smtClean="0">
                            <a:latin typeface="Cambria Math" panose="02040503050406030204" pitchFamily="18" charset="0"/>
                          </a:rPr>
                          <m:t>𝑛</m:t>
                        </m:r>
                      </m:e>
                      <m:sub>
                        <m:r>
                          <a:rPr lang="en-ZA" b="0" i="1" smtClean="0">
                            <a:latin typeface="Cambria Math" panose="02040503050406030204" pitchFamily="18" charset="0"/>
                          </a:rPr>
                          <m:t>𝑖𝑀</m:t>
                        </m:r>
                      </m:sub>
                      <m:sup>
                        <m:r>
                          <a:rPr lang="en-ZA" b="0" i="1" smtClean="0">
                            <a:latin typeface="Cambria Math" panose="02040503050406030204" pitchFamily="18" charset="0"/>
                          </a:rPr>
                          <m:t>(</m:t>
                        </m:r>
                        <m:r>
                          <a:rPr lang="en-ZA" b="0" i="1" smtClean="0">
                            <a:latin typeface="Cambria Math" panose="02040503050406030204" pitchFamily="18" charset="0"/>
                          </a:rPr>
                          <m:t>𝐻</m:t>
                        </m:r>
                        <m:r>
                          <a:rPr lang="en-ZA" b="0" i="1" smtClean="0">
                            <a:latin typeface="Cambria Math" panose="02040503050406030204" pitchFamily="18" charset="0"/>
                          </a:rPr>
                          <m:t>)</m:t>
                        </m:r>
                      </m:sup>
                    </m:sSubSup>
                    <m:r>
                      <a:rPr lang="en-ZA" b="0" i="1" smtClean="0">
                        <a:latin typeface="Cambria Math" panose="02040503050406030204" pitchFamily="18" charset="0"/>
                      </a:rPr>
                      <m:t>=</m:t>
                    </m:r>
                  </m:oMath>
                </a14:m>
                <a:r>
                  <a:rPr lang="en-ZA" dirty="0" smtClean="0"/>
                  <a:t>the number of hold-out observations misclassified in group </a:t>
                </a:r>
                <a14:m>
                  <m:oMath xmlns:m="http://schemas.openxmlformats.org/officeDocument/2006/math">
                    <m:r>
                      <a:rPr lang="en-ZA" b="0" i="1" smtClean="0">
                        <a:latin typeface="Cambria Math" panose="02040503050406030204" pitchFamily="18" charset="0"/>
                      </a:rPr>
                      <m:t>𝑖</m:t>
                    </m:r>
                  </m:oMath>
                </a14:m>
                <a:r>
                  <a:rPr lang="en-ZA" dirty="0" smtClean="0"/>
                  <a:t>.</a:t>
                </a:r>
              </a:p>
              <a:p>
                <a:endParaRPr lang="en-ZA" dirty="0"/>
              </a:p>
              <a:p>
                <a:endParaRPr lang="en-ZA" dirty="0"/>
              </a:p>
            </p:txBody>
          </p:sp>
        </mc:Choice>
        <mc:Fallback xmlns="">
          <p:sp>
            <p:nvSpPr>
              <p:cNvPr id="2" name="TextBox 1"/>
              <p:cNvSpPr txBox="1">
                <a:spLocks noRot="1" noChangeAspect="1" noMove="1" noResize="1" noEditPoints="1" noAdjustHandles="1" noChangeArrowheads="1" noChangeShapeType="1" noTextEdit="1"/>
              </p:cNvSpPr>
              <p:nvPr/>
            </p:nvSpPr>
            <p:spPr>
              <a:xfrm>
                <a:off x="222250" y="323850"/>
                <a:ext cx="11684000" cy="6294480"/>
              </a:xfrm>
              <a:prstGeom prst="rect">
                <a:avLst/>
              </a:prstGeom>
              <a:blipFill rotWithShape="0">
                <a:blip r:embed="rId2"/>
                <a:stretch>
                  <a:fillRect l="-365" t="-386"/>
                </a:stretch>
              </a:blipFill>
              <a:ln>
                <a:solidFill>
                  <a:schemeClr val="accent6"/>
                </a:solidFill>
              </a:ln>
            </p:spPr>
            <p:txBody>
              <a:bodyPr/>
              <a:lstStyle/>
              <a:p>
                <a:r>
                  <a:rPr lang="en-ZA">
                    <a:noFill/>
                  </a:rPr>
                  <a:t> </a:t>
                </a:r>
              </a:p>
            </p:txBody>
          </p:sp>
        </mc:Fallback>
      </mc:AlternateContent>
    </p:spTree>
    <p:extLst>
      <p:ext uri="{BB962C8B-B14F-4D97-AF65-F5344CB8AC3E}">
        <p14:creationId xmlns:p14="http://schemas.microsoft.com/office/powerpoint/2010/main" val="381348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1450" y="76200"/>
            <a:ext cx="4368800" cy="6709529"/>
          </a:xfrm>
          <a:prstGeom prst="rect">
            <a:avLst/>
          </a:prstGeom>
          <a:noFill/>
          <a:ln>
            <a:solidFill>
              <a:schemeClr val="accent1"/>
            </a:solidFill>
          </a:ln>
        </p:spPr>
        <p:txBody>
          <a:bodyPr wrap="square" rtlCol="0">
            <a:spAutoFit/>
          </a:bodyPr>
          <a:lstStyle/>
          <a:p>
            <a:r>
              <a:rPr lang="en-ZA" sz="1000" dirty="0" smtClean="0">
                <a:latin typeface="Courier New" panose="02070309020205020404" pitchFamily="49" charset="0"/>
                <a:cs typeface="Courier New" panose="02070309020205020404" pitchFamily="49" charset="0"/>
              </a:rPr>
              <a:t>#Read in data matrices and calculate means</a:t>
            </a:r>
          </a:p>
          <a:p>
            <a:r>
              <a:rPr lang="en-ZA" sz="1000" dirty="0" smtClean="0">
                <a:latin typeface="Courier New" panose="02070309020205020404" pitchFamily="49" charset="0"/>
                <a:cs typeface="Courier New" panose="02070309020205020404" pitchFamily="49" charset="0"/>
              </a:rPr>
              <a:t>&gt; </a:t>
            </a:r>
            <a:r>
              <a:rPr lang="en-ZA" sz="1000" dirty="0">
                <a:latin typeface="Courier New" panose="02070309020205020404" pitchFamily="49" charset="0"/>
                <a:cs typeface="Courier New" panose="02070309020205020404" pitchFamily="49" charset="0"/>
              </a:rPr>
              <a:t>X1&lt;-matrix(c(2,12,4,10,3,8),3,2,byrow=TRUE</a:t>
            </a:r>
            <a:r>
              <a:rPr lang="en-ZA" sz="1000" dirty="0" smtClean="0">
                <a:latin typeface="Courier New" panose="02070309020205020404" pitchFamily="49" charset="0"/>
                <a:cs typeface="Courier New" panose="02070309020205020404" pitchFamily="49" charset="0"/>
              </a:rPr>
              <a:t>)</a:t>
            </a:r>
            <a:endParaRPr lang="en-ZA" sz="1000" dirty="0">
              <a:latin typeface="Courier New" panose="02070309020205020404" pitchFamily="49" charset="0"/>
              <a:cs typeface="Courier New" panose="02070309020205020404" pitchFamily="49" charset="0"/>
            </a:endParaRPr>
          </a:p>
          <a:p>
            <a:r>
              <a:rPr lang="en-ZA" sz="1000" dirty="0">
                <a:latin typeface="Courier New" panose="02070309020205020404" pitchFamily="49" charset="0"/>
                <a:cs typeface="Courier New" panose="02070309020205020404" pitchFamily="49" charset="0"/>
              </a:rPr>
              <a:t>&gt; X1</a:t>
            </a:r>
          </a:p>
          <a:p>
            <a:r>
              <a:rPr lang="en-ZA" sz="1000" dirty="0" smtClean="0">
                <a:latin typeface="Courier New" panose="02070309020205020404" pitchFamily="49" charset="0"/>
                <a:cs typeface="Courier New" panose="02070309020205020404" pitchFamily="49" charset="0"/>
              </a:rPr>
              <a:t>      [,</a:t>
            </a:r>
            <a:r>
              <a:rPr lang="en-ZA" sz="1000" dirty="0">
                <a:latin typeface="Courier New" panose="02070309020205020404" pitchFamily="49" charset="0"/>
                <a:cs typeface="Courier New" panose="02070309020205020404" pitchFamily="49" charset="0"/>
              </a:rPr>
              <a:t>1] [,2]</a:t>
            </a:r>
          </a:p>
          <a:p>
            <a:r>
              <a:rPr lang="en-ZA" sz="1000" dirty="0">
                <a:latin typeface="Courier New" panose="02070309020205020404" pitchFamily="49" charset="0"/>
                <a:cs typeface="Courier New" panose="02070309020205020404" pitchFamily="49" charset="0"/>
              </a:rPr>
              <a:t>[1,]    2   12</a:t>
            </a:r>
          </a:p>
          <a:p>
            <a:r>
              <a:rPr lang="en-ZA" sz="1000" dirty="0">
                <a:latin typeface="Courier New" panose="02070309020205020404" pitchFamily="49" charset="0"/>
                <a:cs typeface="Courier New" panose="02070309020205020404" pitchFamily="49" charset="0"/>
              </a:rPr>
              <a:t>[2,]    4   10</a:t>
            </a:r>
          </a:p>
          <a:p>
            <a:r>
              <a:rPr lang="en-ZA" sz="1000" dirty="0">
                <a:latin typeface="Courier New" panose="02070309020205020404" pitchFamily="49" charset="0"/>
                <a:cs typeface="Courier New" panose="02070309020205020404" pitchFamily="49" charset="0"/>
              </a:rPr>
              <a:t>[3,]    3    8</a:t>
            </a:r>
          </a:p>
          <a:p>
            <a:r>
              <a:rPr lang="en-ZA" sz="1000" dirty="0">
                <a:latin typeface="Courier New" panose="02070309020205020404" pitchFamily="49" charset="0"/>
                <a:cs typeface="Courier New" panose="02070309020205020404" pitchFamily="49" charset="0"/>
              </a:rPr>
              <a:t>&gt; X2&lt;-matrix(c(5,7,3,9,4,5),3,2,byrow=TRUE)</a:t>
            </a:r>
          </a:p>
          <a:p>
            <a:r>
              <a:rPr lang="en-ZA" sz="1000" dirty="0">
                <a:latin typeface="Courier New" panose="02070309020205020404" pitchFamily="49" charset="0"/>
                <a:cs typeface="Courier New" panose="02070309020205020404" pitchFamily="49" charset="0"/>
              </a:rPr>
              <a:t>&gt; X2</a:t>
            </a:r>
          </a:p>
          <a:p>
            <a:r>
              <a:rPr lang="en-ZA" sz="1000" dirty="0" smtClean="0">
                <a:latin typeface="Courier New" panose="02070309020205020404" pitchFamily="49" charset="0"/>
                <a:cs typeface="Courier New" panose="02070309020205020404" pitchFamily="49" charset="0"/>
              </a:rPr>
              <a:t>      [,</a:t>
            </a:r>
            <a:r>
              <a:rPr lang="en-ZA" sz="1000" dirty="0">
                <a:latin typeface="Courier New" panose="02070309020205020404" pitchFamily="49" charset="0"/>
                <a:cs typeface="Courier New" panose="02070309020205020404" pitchFamily="49" charset="0"/>
              </a:rPr>
              <a:t>1] [,2]</a:t>
            </a:r>
          </a:p>
          <a:p>
            <a:r>
              <a:rPr lang="en-ZA" sz="1000" dirty="0">
                <a:latin typeface="Courier New" panose="02070309020205020404" pitchFamily="49" charset="0"/>
                <a:cs typeface="Courier New" panose="02070309020205020404" pitchFamily="49" charset="0"/>
              </a:rPr>
              <a:t>[1,]    5    7</a:t>
            </a:r>
          </a:p>
          <a:p>
            <a:r>
              <a:rPr lang="en-ZA" sz="1000" dirty="0">
                <a:latin typeface="Courier New" panose="02070309020205020404" pitchFamily="49" charset="0"/>
                <a:cs typeface="Courier New" panose="02070309020205020404" pitchFamily="49" charset="0"/>
              </a:rPr>
              <a:t>[2,]    3    9</a:t>
            </a:r>
          </a:p>
          <a:p>
            <a:r>
              <a:rPr lang="en-ZA" sz="1000" dirty="0">
                <a:latin typeface="Courier New" panose="02070309020205020404" pitchFamily="49" charset="0"/>
                <a:cs typeface="Courier New" panose="02070309020205020404" pitchFamily="49" charset="0"/>
              </a:rPr>
              <a:t>[3,]    4    5</a:t>
            </a:r>
          </a:p>
          <a:p>
            <a:r>
              <a:rPr lang="en-ZA" sz="1000" dirty="0">
                <a:latin typeface="Courier New" panose="02070309020205020404" pitchFamily="49" charset="0"/>
                <a:cs typeface="Courier New" panose="02070309020205020404" pitchFamily="49" charset="0"/>
              </a:rPr>
              <a:t>&gt; X11mean&lt;-mean(X1[,1])</a:t>
            </a:r>
          </a:p>
          <a:p>
            <a:r>
              <a:rPr lang="en-ZA" sz="1000" dirty="0">
                <a:latin typeface="Courier New" panose="02070309020205020404" pitchFamily="49" charset="0"/>
                <a:cs typeface="Courier New" panose="02070309020205020404" pitchFamily="49" charset="0"/>
              </a:rPr>
              <a:t>&gt; X11mean&lt;-</a:t>
            </a:r>
            <a:r>
              <a:rPr lang="en-ZA" sz="1000" dirty="0" err="1">
                <a:latin typeface="Courier New" panose="02070309020205020404" pitchFamily="49" charset="0"/>
                <a:cs typeface="Courier New" panose="02070309020205020404" pitchFamily="49" charset="0"/>
              </a:rPr>
              <a:t>as.matrix</a:t>
            </a:r>
            <a:r>
              <a:rPr lang="en-ZA" sz="1000" dirty="0">
                <a:latin typeface="Courier New" panose="02070309020205020404" pitchFamily="49" charset="0"/>
                <a:cs typeface="Courier New" panose="02070309020205020404" pitchFamily="49" charset="0"/>
              </a:rPr>
              <a:t>(X11mean)</a:t>
            </a:r>
          </a:p>
          <a:p>
            <a:r>
              <a:rPr lang="en-ZA" sz="1000" dirty="0">
                <a:latin typeface="Courier New" panose="02070309020205020404" pitchFamily="49" charset="0"/>
                <a:cs typeface="Courier New" panose="02070309020205020404" pitchFamily="49" charset="0"/>
              </a:rPr>
              <a:t>&gt; X12mean&lt;-mean(X1[,2])</a:t>
            </a:r>
          </a:p>
          <a:p>
            <a:r>
              <a:rPr lang="en-ZA" sz="1000" dirty="0">
                <a:latin typeface="Courier New" panose="02070309020205020404" pitchFamily="49" charset="0"/>
                <a:cs typeface="Courier New" panose="02070309020205020404" pitchFamily="49" charset="0"/>
              </a:rPr>
              <a:t>&gt; X12mean&lt;-</a:t>
            </a:r>
            <a:r>
              <a:rPr lang="en-ZA" sz="1000" dirty="0" err="1">
                <a:latin typeface="Courier New" panose="02070309020205020404" pitchFamily="49" charset="0"/>
                <a:cs typeface="Courier New" panose="02070309020205020404" pitchFamily="49" charset="0"/>
              </a:rPr>
              <a:t>as.matrix</a:t>
            </a:r>
            <a:r>
              <a:rPr lang="en-ZA" sz="1000" dirty="0">
                <a:latin typeface="Courier New" panose="02070309020205020404" pitchFamily="49" charset="0"/>
                <a:cs typeface="Courier New" panose="02070309020205020404" pitchFamily="49" charset="0"/>
              </a:rPr>
              <a:t>(X12mean)</a:t>
            </a:r>
          </a:p>
          <a:p>
            <a:r>
              <a:rPr lang="en-ZA" sz="1000" dirty="0">
                <a:latin typeface="Courier New" panose="02070309020205020404" pitchFamily="49" charset="0"/>
                <a:cs typeface="Courier New" panose="02070309020205020404" pitchFamily="49" charset="0"/>
              </a:rPr>
              <a:t>&gt; X1bar&lt;-</a:t>
            </a:r>
            <a:r>
              <a:rPr lang="en-ZA" sz="1000" dirty="0" err="1">
                <a:latin typeface="Courier New" panose="02070309020205020404" pitchFamily="49" charset="0"/>
                <a:cs typeface="Courier New" panose="02070309020205020404" pitchFamily="49" charset="0"/>
              </a:rPr>
              <a:t>rbind</a:t>
            </a:r>
            <a:r>
              <a:rPr lang="en-ZA" sz="1000" dirty="0">
                <a:latin typeface="Courier New" panose="02070309020205020404" pitchFamily="49" charset="0"/>
                <a:cs typeface="Courier New" panose="02070309020205020404" pitchFamily="49" charset="0"/>
              </a:rPr>
              <a:t>(X11mean,X12mean)</a:t>
            </a:r>
          </a:p>
          <a:p>
            <a:r>
              <a:rPr lang="en-ZA" sz="1000" dirty="0">
                <a:latin typeface="Courier New" panose="02070309020205020404" pitchFamily="49" charset="0"/>
                <a:cs typeface="Courier New" panose="02070309020205020404" pitchFamily="49" charset="0"/>
              </a:rPr>
              <a:t>&gt; X1bar</a:t>
            </a:r>
          </a:p>
          <a:p>
            <a:r>
              <a:rPr lang="en-ZA" sz="1000" dirty="0" smtClean="0">
                <a:latin typeface="Courier New" panose="02070309020205020404" pitchFamily="49" charset="0"/>
                <a:cs typeface="Courier New" panose="02070309020205020404" pitchFamily="49" charset="0"/>
              </a:rPr>
              <a:t>      [,</a:t>
            </a:r>
            <a:r>
              <a:rPr lang="en-ZA" sz="1000" dirty="0">
                <a:latin typeface="Courier New" panose="02070309020205020404" pitchFamily="49" charset="0"/>
                <a:cs typeface="Courier New" panose="02070309020205020404" pitchFamily="49" charset="0"/>
              </a:rPr>
              <a:t>1]</a:t>
            </a:r>
          </a:p>
          <a:p>
            <a:r>
              <a:rPr lang="en-ZA" sz="1000" dirty="0">
                <a:latin typeface="Courier New" panose="02070309020205020404" pitchFamily="49" charset="0"/>
                <a:cs typeface="Courier New" panose="02070309020205020404" pitchFamily="49" charset="0"/>
              </a:rPr>
              <a:t>[1,]    3</a:t>
            </a:r>
          </a:p>
          <a:p>
            <a:r>
              <a:rPr lang="en-ZA" sz="1000" dirty="0">
                <a:latin typeface="Courier New" panose="02070309020205020404" pitchFamily="49" charset="0"/>
                <a:cs typeface="Courier New" panose="02070309020205020404" pitchFamily="49" charset="0"/>
              </a:rPr>
              <a:t>[2,]   </a:t>
            </a:r>
            <a:r>
              <a:rPr lang="en-ZA" sz="1000" dirty="0" smtClean="0">
                <a:latin typeface="Courier New" panose="02070309020205020404" pitchFamily="49" charset="0"/>
                <a:cs typeface="Courier New" panose="02070309020205020404" pitchFamily="49" charset="0"/>
              </a:rPr>
              <a:t>10</a:t>
            </a:r>
            <a:endParaRPr lang="en-ZA" sz="1000" dirty="0">
              <a:latin typeface="Courier New" panose="02070309020205020404" pitchFamily="49" charset="0"/>
              <a:cs typeface="Courier New" panose="02070309020205020404" pitchFamily="49" charset="0"/>
            </a:endParaRPr>
          </a:p>
          <a:p>
            <a:r>
              <a:rPr lang="en-ZA" sz="1000" dirty="0">
                <a:latin typeface="Courier New" panose="02070309020205020404" pitchFamily="49" charset="0"/>
                <a:cs typeface="Courier New" panose="02070309020205020404" pitchFamily="49" charset="0"/>
              </a:rPr>
              <a:t>&gt; X21mean&lt;-mean(X2[,1])</a:t>
            </a:r>
          </a:p>
          <a:p>
            <a:r>
              <a:rPr lang="en-ZA" sz="1000" dirty="0">
                <a:latin typeface="Courier New" panose="02070309020205020404" pitchFamily="49" charset="0"/>
                <a:cs typeface="Courier New" panose="02070309020205020404" pitchFamily="49" charset="0"/>
              </a:rPr>
              <a:t>&gt; X21mean&lt;-</a:t>
            </a:r>
            <a:r>
              <a:rPr lang="en-ZA" sz="1000" dirty="0" err="1">
                <a:latin typeface="Courier New" panose="02070309020205020404" pitchFamily="49" charset="0"/>
                <a:cs typeface="Courier New" panose="02070309020205020404" pitchFamily="49" charset="0"/>
              </a:rPr>
              <a:t>as.matrix</a:t>
            </a:r>
            <a:r>
              <a:rPr lang="en-ZA" sz="1000" dirty="0">
                <a:latin typeface="Courier New" panose="02070309020205020404" pitchFamily="49" charset="0"/>
                <a:cs typeface="Courier New" panose="02070309020205020404" pitchFamily="49" charset="0"/>
              </a:rPr>
              <a:t>(X21mean)</a:t>
            </a:r>
          </a:p>
          <a:p>
            <a:r>
              <a:rPr lang="en-ZA" sz="1000" dirty="0">
                <a:latin typeface="Courier New" panose="02070309020205020404" pitchFamily="49" charset="0"/>
                <a:cs typeface="Courier New" panose="02070309020205020404" pitchFamily="49" charset="0"/>
              </a:rPr>
              <a:t>&gt; X22mean&lt;-mean(X2[,2])</a:t>
            </a:r>
          </a:p>
          <a:p>
            <a:r>
              <a:rPr lang="en-ZA" sz="1000" dirty="0">
                <a:latin typeface="Courier New" panose="02070309020205020404" pitchFamily="49" charset="0"/>
                <a:cs typeface="Courier New" panose="02070309020205020404" pitchFamily="49" charset="0"/>
              </a:rPr>
              <a:t>&gt; X22mean&lt;-</a:t>
            </a:r>
            <a:r>
              <a:rPr lang="en-ZA" sz="1000" dirty="0" err="1">
                <a:latin typeface="Courier New" panose="02070309020205020404" pitchFamily="49" charset="0"/>
                <a:cs typeface="Courier New" panose="02070309020205020404" pitchFamily="49" charset="0"/>
              </a:rPr>
              <a:t>as.matrix</a:t>
            </a:r>
            <a:r>
              <a:rPr lang="en-ZA" sz="1000" dirty="0">
                <a:latin typeface="Courier New" panose="02070309020205020404" pitchFamily="49" charset="0"/>
                <a:cs typeface="Courier New" panose="02070309020205020404" pitchFamily="49" charset="0"/>
              </a:rPr>
              <a:t>(X22mean)</a:t>
            </a:r>
          </a:p>
          <a:p>
            <a:r>
              <a:rPr lang="en-ZA" sz="1000" dirty="0">
                <a:latin typeface="Courier New" panose="02070309020205020404" pitchFamily="49" charset="0"/>
                <a:cs typeface="Courier New" panose="02070309020205020404" pitchFamily="49" charset="0"/>
              </a:rPr>
              <a:t>&gt; X2bar&lt;-</a:t>
            </a:r>
            <a:r>
              <a:rPr lang="en-ZA" sz="1000" dirty="0" err="1">
                <a:latin typeface="Courier New" panose="02070309020205020404" pitchFamily="49" charset="0"/>
                <a:cs typeface="Courier New" panose="02070309020205020404" pitchFamily="49" charset="0"/>
              </a:rPr>
              <a:t>rbind</a:t>
            </a:r>
            <a:r>
              <a:rPr lang="en-ZA" sz="1000" dirty="0">
                <a:latin typeface="Courier New" panose="02070309020205020404" pitchFamily="49" charset="0"/>
                <a:cs typeface="Courier New" panose="02070309020205020404" pitchFamily="49" charset="0"/>
              </a:rPr>
              <a:t>(X21mean,X22mean)</a:t>
            </a:r>
          </a:p>
          <a:p>
            <a:r>
              <a:rPr lang="en-ZA" sz="1000" dirty="0">
                <a:latin typeface="Courier New" panose="02070309020205020404" pitchFamily="49" charset="0"/>
                <a:cs typeface="Courier New" panose="02070309020205020404" pitchFamily="49" charset="0"/>
              </a:rPr>
              <a:t>&gt; X2bar</a:t>
            </a:r>
          </a:p>
          <a:p>
            <a:r>
              <a:rPr lang="en-ZA" sz="1000" dirty="0" smtClean="0">
                <a:latin typeface="Courier New" panose="02070309020205020404" pitchFamily="49" charset="0"/>
                <a:cs typeface="Courier New" panose="02070309020205020404" pitchFamily="49" charset="0"/>
              </a:rPr>
              <a:t>      [,</a:t>
            </a:r>
            <a:r>
              <a:rPr lang="en-ZA" sz="1000" dirty="0">
                <a:latin typeface="Courier New" panose="02070309020205020404" pitchFamily="49" charset="0"/>
                <a:cs typeface="Courier New" panose="02070309020205020404" pitchFamily="49" charset="0"/>
              </a:rPr>
              <a:t>1]</a:t>
            </a:r>
          </a:p>
          <a:p>
            <a:r>
              <a:rPr lang="en-ZA" sz="1000" dirty="0">
                <a:latin typeface="Courier New" panose="02070309020205020404" pitchFamily="49" charset="0"/>
                <a:cs typeface="Courier New" panose="02070309020205020404" pitchFamily="49" charset="0"/>
              </a:rPr>
              <a:t>[1,]    4</a:t>
            </a:r>
          </a:p>
          <a:p>
            <a:r>
              <a:rPr lang="en-ZA" sz="1000" dirty="0">
                <a:latin typeface="Courier New" panose="02070309020205020404" pitchFamily="49" charset="0"/>
                <a:cs typeface="Courier New" panose="02070309020205020404" pitchFamily="49" charset="0"/>
              </a:rPr>
              <a:t>[2,]    </a:t>
            </a:r>
            <a:r>
              <a:rPr lang="en-ZA" sz="1000" dirty="0" smtClean="0">
                <a:latin typeface="Courier New" panose="02070309020205020404" pitchFamily="49" charset="0"/>
                <a:cs typeface="Courier New" panose="02070309020205020404" pitchFamily="49" charset="0"/>
              </a:rPr>
              <a:t>7</a:t>
            </a:r>
          </a:p>
          <a:p>
            <a:r>
              <a:rPr lang="en-ZA" sz="1000" dirty="0">
                <a:latin typeface="Courier New" panose="02070309020205020404" pitchFamily="49" charset="0"/>
                <a:cs typeface="Courier New" panose="02070309020205020404" pitchFamily="49" charset="0"/>
              </a:rPr>
              <a:t>#read in covariance matrices and calculate inverse</a:t>
            </a:r>
          </a:p>
          <a:p>
            <a:r>
              <a:rPr lang="en-ZA" sz="1000" dirty="0">
                <a:latin typeface="Courier New" panose="02070309020205020404" pitchFamily="49" charset="0"/>
                <a:cs typeface="Courier New" panose="02070309020205020404" pitchFamily="49" charset="0"/>
              </a:rPr>
              <a:t>&gt; </a:t>
            </a:r>
            <a:r>
              <a:rPr lang="en-ZA" sz="1000" dirty="0" err="1">
                <a:latin typeface="Courier New" panose="02070309020205020404" pitchFamily="49" charset="0"/>
                <a:cs typeface="Courier New" panose="02070309020205020404" pitchFamily="49" charset="0"/>
              </a:rPr>
              <a:t>Sp</a:t>
            </a:r>
            <a:r>
              <a:rPr lang="en-ZA" sz="1000" dirty="0">
                <a:latin typeface="Courier New" panose="02070309020205020404" pitchFamily="49" charset="0"/>
                <a:cs typeface="Courier New" panose="02070309020205020404" pitchFamily="49" charset="0"/>
              </a:rPr>
              <a:t>&lt;-matrix(c(1,-1,-1,4),2,2,byrow=TRUE)</a:t>
            </a:r>
          </a:p>
          <a:p>
            <a:r>
              <a:rPr lang="en-ZA" sz="1000" dirty="0">
                <a:latin typeface="Courier New" panose="02070309020205020404" pitchFamily="49" charset="0"/>
                <a:cs typeface="Courier New" panose="02070309020205020404" pitchFamily="49" charset="0"/>
              </a:rPr>
              <a:t>&gt; </a:t>
            </a:r>
            <a:r>
              <a:rPr lang="en-ZA" sz="1000" dirty="0" err="1">
                <a:latin typeface="Courier New" panose="02070309020205020404" pitchFamily="49" charset="0"/>
                <a:cs typeface="Courier New" panose="02070309020205020404" pitchFamily="49" charset="0"/>
              </a:rPr>
              <a:t>Sp</a:t>
            </a:r>
            <a:endParaRPr lang="en-ZA" sz="1000" dirty="0">
              <a:latin typeface="Courier New" panose="02070309020205020404" pitchFamily="49" charset="0"/>
              <a:cs typeface="Courier New" panose="02070309020205020404" pitchFamily="49" charset="0"/>
            </a:endParaRPr>
          </a:p>
          <a:p>
            <a:r>
              <a:rPr lang="en-ZA" sz="1000" dirty="0">
                <a:latin typeface="Courier New" panose="02070309020205020404" pitchFamily="49" charset="0"/>
                <a:cs typeface="Courier New" panose="02070309020205020404" pitchFamily="49" charset="0"/>
              </a:rPr>
              <a:t>     [,1] [,2]</a:t>
            </a:r>
          </a:p>
          <a:p>
            <a:r>
              <a:rPr lang="en-ZA" sz="1000" dirty="0">
                <a:latin typeface="Courier New" panose="02070309020205020404" pitchFamily="49" charset="0"/>
                <a:cs typeface="Courier New" panose="02070309020205020404" pitchFamily="49" charset="0"/>
              </a:rPr>
              <a:t>[1,]    1   -1</a:t>
            </a:r>
          </a:p>
          <a:p>
            <a:r>
              <a:rPr lang="en-ZA" sz="1000" dirty="0">
                <a:latin typeface="Courier New" panose="02070309020205020404" pitchFamily="49" charset="0"/>
                <a:cs typeface="Courier New" panose="02070309020205020404" pitchFamily="49" charset="0"/>
              </a:rPr>
              <a:t>[2,]   -1    </a:t>
            </a:r>
            <a:r>
              <a:rPr lang="en-ZA" sz="1000" dirty="0" smtClean="0">
                <a:latin typeface="Courier New" panose="02070309020205020404" pitchFamily="49" charset="0"/>
                <a:cs typeface="Courier New" panose="02070309020205020404" pitchFamily="49" charset="0"/>
              </a:rPr>
              <a:t>4</a:t>
            </a:r>
            <a:endParaRPr lang="en-ZA" sz="1000" dirty="0">
              <a:latin typeface="Courier New" panose="02070309020205020404" pitchFamily="49" charset="0"/>
              <a:cs typeface="Courier New" panose="02070309020205020404" pitchFamily="49" charset="0"/>
            </a:endParaRPr>
          </a:p>
          <a:p>
            <a:r>
              <a:rPr lang="en-ZA" sz="1000" dirty="0" smtClean="0">
                <a:latin typeface="Courier New" panose="02070309020205020404" pitchFamily="49" charset="0"/>
                <a:cs typeface="Courier New" panose="02070309020205020404" pitchFamily="49" charset="0"/>
              </a:rPr>
              <a:t>&gt; </a:t>
            </a:r>
            <a:r>
              <a:rPr lang="en-ZA" sz="1000" dirty="0" err="1" smtClean="0">
                <a:latin typeface="Courier New" panose="02070309020205020404" pitchFamily="49" charset="0"/>
                <a:cs typeface="Courier New" panose="02070309020205020404" pitchFamily="49" charset="0"/>
              </a:rPr>
              <a:t>SPinverse</a:t>
            </a:r>
            <a:r>
              <a:rPr lang="en-ZA" sz="1000" dirty="0">
                <a:latin typeface="Courier New" panose="02070309020205020404" pitchFamily="49" charset="0"/>
                <a:cs typeface="Courier New" panose="02070309020205020404" pitchFamily="49" charset="0"/>
              </a:rPr>
              <a:t>&lt;-solve(</a:t>
            </a:r>
            <a:r>
              <a:rPr lang="en-ZA" sz="1000" dirty="0" err="1">
                <a:latin typeface="Courier New" panose="02070309020205020404" pitchFamily="49" charset="0"/>
                <a:cs typeface="Courier New" panose="02070309020205020404" pitchFamily="49" charset="0"/>
              </a:rPr>
              <a:t>Sp</a:t>
            </a:r>
            <a:r>
              <a:rPr lang="en-ZA" sz="1000" dirty="0" smtClean="0">
                <a:latin typeface="Courier New" panose="02070309020205020404" pitchFamily="49" charset="0"/>
                <a:cs typeface="Courier New" panose="02070309020205020404" pitchFamily="49" charset="0"/>
              </a:rPr>
              <a:t>)</a:t>
            </a:r>
          </a:p>
          <a:p>
            <a:endParaRPr lang="en-ZA" sz="1000" dirty="0">
              <a:latin typeface="Courier New" panose="02070309020205020404" pitchFamily="49" charset="0"/>
              <a:cs typeface="Courier New" panose="02070309020205020404" pitchFamily="49" charset="0"/>
            </a:endParaRPr>
          </a:p>
          <a:p>
            <a:r>
              <a:rPr lang="en-ZA" sz="1000" dirty="0">
                <a:latin typeface="Courier New" panose="02070309020205020404" pitchFamily="49" charset="0"/>
                <a:cs typeface="Courier New" panose="02070309020205020404" pitchFamily="49" charset="0"/>
              </a:rPr>
              <a:t>&gt; </a:t>
            </a:r>
            <a:r>
              <a:rPr lang="en-ZA" sz="1000" dirty="0" err="1">
                <a:latin typeface="Courier New" panose="02070309020205020404" pitchFamily="49" charset="0"/>
                <a:cs typeface="Courier New" panose="02070309020205020404" pitchFamily="49" charset="0"/>
              </a:rPr>
              <a:t>SPinverse</a:t>
            </a:r>
            <a:endParaRPr lang="en-ZA" sz="1000" dirty="0">
              <a:latin typeface="Courier New" panose="02070309020205020404" pitchFamily="49" charset="0"/>
              <a:cs typeface="Courier New" panose="02070309020205020404" pitchFamily="49" charset="0"/>
            </a:endParaRPr>
          </a:p>
          <a:p>
            <a:r>
              <a:rPr lang="en-ZA" sz="1000" dirty="0">
                <a:latin typeface="Courier New" panose="02070309020205020404" pitchFamily="49" charset="0"/>
                <a:cs typeface="Courier New" panose="02070309020205020404" pitchFamily="49" charset="0"/>
              </a:rPr>
              <a:t>[,1]      [,2]</a:t>
            </a:r>
          </a:p>
          <a:p>
            <a:r>
              <a:rPr lang="en-ZA" sz="1000" dirty="0">
                <a:latin typeface="Courier New" panose="02070309020205020404" pitchFamily="49" charset="0"/>
                <a:cs typeface="Courier New" panose="02070309020205020404" pitchFamily="49" charset="0"/>
              </a:rPr>
              <a:t>[1,] 1.3333333 0.3333333</a:t>
            </a:r>
          </a:p>
          <a:p>
            <a:r>
              <a:rPr lang="en-ZA" sz="1000" dirty="0">
                <a:latin typeface="Courier New" panose="02070309020205020404" pitchFamily="49" charset="0"/>
                <a:cs typeface="Courier New" panose="02070309020205020404" pitchFamily="49" charset="0"/>
              </a:rPr>
              <a:t>[2,] 0.3333333 </a:t>
            </a:r>
            <a:r>
              <a:rPr lang="en-ZA" sz="1000" dirty="0" smtClean="0">
                <a:latin typeface="Courier New" panose="02070309020205020404" pitchFamily="49" charset="0"/>
                <a:cs typeface="Courier New" panose="02070309020205020404" pitchFamily="49" charset="0"/>
              </a:rPr>
              <a:t>0.3333333</a:t>
            </a:r>
            <a:endParaRPr lang="en-ZA" sz="1000" dirty="0">
              <a:latin typeface="Courier New" panose="02070309020205020404" pitchFamily="49" charset="0"/>
              <a:cs typeface="Courier New" panose="02070309020205020404" pitchFamily="49" charset="0"/>
            </a:endParaRPr>
          </a:p>
        </p:txBody>
      </p:sp>
      <p:sp>
        <p:nvSpPr>
          <p:cNvPr id="3" name="TextBox 2"/>
          <p:cNvSpPr txBox="1"/>
          <p:nvPr/>
        </p:nvSpPr>
        <p:spPr>
          <a:xfrm>
            <a:off x="4673600" y="133350"/>
            <a:ext cx="4425950" cy="6555641"/>
          </a:xfrm>
          <a:prstGeom prst="rect">
            <a:avLst/>
          </a:prstGeom>
          <a:noFill/>
          <a:ln>
            <a:solidFill>
              <a:schemeClr val="accent1"/>
            </a:solidFill>
          </a:ln>
        </p:spPr>
        <p:txBody>
          <a:bodyPr wrap="square" rtlCol="0">
            <a:spAutoFit/>
          </a:bodyPr>
          <a:lstStyle/>
          <a:p>
            <a:r>
              <a:rPr lang="en-ZA" sz="1200" dirty="0">
                <a:latin typeface="Courier New" panose="02070309020205020404" pitchFamily="49" charset="0"/>
                <a:cs typeface="Courier New" panose="02070309020205020404" pitchFamily="49" charset="0"/>
              </a:rPr>
              <a:t>&gt; #Calculate LHS = </a:t>
            </a:r>
            <a:r>
              <a:rPr lang="en-ZA" sz="1200" dirty="0" err="1">
                <a:latin typeface="Courier New" panose="02070309020205020404" pitchFamily="49" charset="0"/>
                <a:cs typeface="Courier New" panose="02070309020205020404" pitchFamily="49" charset="0"/>
              </a:rPr>
              <a:t>discrminant</a:t>
            </a:r>
            <a:r>
              <a:rPr lang="en-ZA" sz="1200" dirty="0">
                <a:latin typeface="Courier New" panose="02070309020205020404" pitchFamily="49" charset="0"/>
                <a:cs typeface="Courier New" panose="02070309020205020404" pitchFamily="49" charset="0"/>
              </a:rPr>
              <a:t> function for each of the 3 observations of X1</a:t>
            </a:r>
          </a:p>
          <a:p>
            <a:r>
              <a:rPr lang="en-ZA" sz="1200" dirty="0">
                <a:latin typeface="Courier New" panose="02070309020205020404" pitchFamily="49" charset="0"/>
                <a:cs typeface="Courier New" panose="02070309020205020404" pitchFamily="49" charset="0"/>
              </a:rPr>
              <a:t>&gt; LHS11&lt;-t(X1bar-X2bar)%*%</a:t>
            </a:r>
            <a:r>
              <a:rPr lang="en-ZA" sz="1200" dirty="0" err="1">
                <a:latin typeface="Courier New" panose="02070309020205020404" pitchFamily="49" charset="0"/>
                <a:cs typeface="Courier New" panose="02070309020205020404" pitchFamily="49" charset="0"/>
              </a:rPr>
              <a:t>SPinverse</a:t>
            </a:r>
            <a:r>
              <a:rPr lang="en-ZA" sz="1200" dirty="0">
                <a:latin typeface="Courier New" panose="02070309020205020404" pitchFamily="49" charset="0"/>
                <a:cs typeface="Courier New" panose="02070309020205020404" pitchFamily="49" charset="0"/>
              </a:rPr>
              <a:t>%*%X1[1,]</a:t>
            </a:r>
          </a:p>
          <a:p>
            <a:r>
              <a:rPr lang="en-ZA" sz="1200" dirty="0">
                <a:latin typeface="Courier New" panose="02070309020205020404" pitchFamily="49" charset="0"/>
                <a:cs typeface="Courier New" panose="02070309020205020404" pitchFamily="49" charset="0"/>
              </a:rPr>
              <a:t>&gt; LHS11</a:t>
            </a:r>
          </a:p>
          <a:p>
            <a:r>
              <a:rPr lang="en-ZA" sz="1200" dirty="0">
                <a:latin typeface="Courier New" panose="02070309020205020404" pitchFamily="49" charset="0"/>
                <a:cs typeface="Courier New" panose="02070309020205020404" pitchFamily="49" charset="0"/>
              </a:rPr>
              <a:t>         [,1]</a:t>
            </a:r>
          </a:p>
          <a:p>
            <a:r>
              <a:rPr lang="en-ZA" sz="1200" dirty="0">
                <a:latin typeface="Courier New" panose="02070309020205020404" pitchFamily="49" charset="0"/>
                <a:cs typeface="Courier New" panose="02070309020205020404" pitchFamily="49" charset="0"/>
              </a:rPr>
              <a:t>[1,] 7.333333</a:t>
            </a:r>
          </a:p>
          <a:p>
            <a:r>
              <a:rPr lang="en-ZA" sz="1200" dirty="0">
                <a:latin typeface="Courier New" panose="02070309020205020404" pitchFamily="49" charset="0"/>
                <a:cs typeface="Courier New" panose="02070309020205020404" pitchFamily="49" charset="0"/>
              </a:rPr>
              <a:t>&gt; LHS12&lt;-t(X1bar-X2bar)%*%</a:t>
            </a:r>
            <a:r>
              <a:rPr lang="en-ZA" sz="1200" dirty="0" err="1">
                <a:latin typeface="Courier New" panose="02070309020205020404" pitchFamily="49" charset="0"/>
                <a:cs typeface="Courier New" panose="02070309020205020404" pitchFamily="49" charset="0"/>
              </a:rPr>
              <a:t>SPinverse</a:t>
            </a:r>
            <a:r>
              <a:rPr lang="en-ZA" sz="1200" dirty="0">
                <a:latin typeface="Courier New" panose="02070309020205020404" pitchFamily="49" charset="0"/>
                <a:cs typeface="Courier New" panose="02070309020205020404" pitchFamily="49" charset="0"/>
              </a:rPr>
              <a:t>%*%X1[2,]</a:t>
            </a:r>
          </a:p>
          <a:p>
            <a:r>
              <a:rPr lang="en-ZA" sz="1200" dirty="0">
                <a:latin typeface="Courier New" panose="02070309020205020404" pitchFamily="49" charset="0"/>
                <a:cs typeface="Courier New" panose="02070309020205020404" pitchFamily="49" charset="0"/>
              </a:rPr>
              <a:t>&gt; LHS12</a:t>
            </a:r>
          </a:p>
          <a:p>
            <a:r>
              <a:rPr lang="en-ZA" sz="1200" dirty="0">
                <a:latin typeface="Courier New" panose="02070309020205020404" pitchFamily="49" charset="0"/>
                <a:cs typeface="Courier New" panose="02070309020205020404" pitchFamily="49" charset="0"/>
              </a:rPr>
              <a:t>         [,1]</a:t>
            </a:r>
          </a:p>
          <a:p>
            <a:r>
              <a:rPr lang="en-ZA" sz="1200" dirty="0">
                <a:latin typeface="Courier New" panose="02070309020205020404" pitchFamily="49" charset="0"/>
                <a:cs typeface="Courier New" panose="02070309020205020404" pitchFamily="49" charset="0"/>
              </a:rPr>
              <a:t>[1,] 5.333333</a:t>
            </a:r>
          </a:p>
          <a:p>
            <a:r>
              <a:rPr lang="en-ZA" sz="1200" dirty="0">
                <a:latin typeface="Courier New" panose="02070309020205020404" pitchFamily="49" charset="0"/>
                <a:cs typeface="Courier New" panose="02070309020205020404" pitchFamily="49" charset="0"/>
              </a:rPr>
              <a:t>&gt; LHS13&lt;-t(X1bar-X2bar)%*%</a:t>
            </a:r>
            <a:r>
              <a:rPr lang="en-ZA" sz="1200" dirty="0" err="1">
                <a:latin typeface="Courier New" panose="02070309020205020404" pitchFamily="49" charset="0"/>
                <a:cs typeface="Courier New" panose="02070309020205020404" pitchFamily="49" charset="0"/>
              </a:rPr>
              <a:t>SPinverse</a:t>
            </a:r>
            <a:r>
              <a:rPr lang="en-ZA" sz="1200" dirty="0">
                <a:latin typeface="Courier New" panose="02070309020205020404" pitchFamily="49" charset="0"/>
                <a:cs typeface="Courier New" panose="02070309020205020404" pitchFamily="49" charset="0"/>
              </a:rPr>
              <a:t>%*%X1[3,]</a:t>
            </a:r>
          </a:p>
          <a:p>
            <a:r>
              <a:rPr lang="en-ZA" sz="1200" dirty="0">
                <a:latin typeface="Courier New" panose="02070309020205020404" pitchFamily="49" charset="0"/>
                <a:cs typeface="Courier New" panose="02070309020205020404" pitchFamily="49" charset="0"/>
              </a:rPr>
              <a:t>&gt; LHS13</a:t>
            </a:r>
          </a:p>
          <a:p>
            <a:r>
              <a:rPr lang="en-ZA" sz="1200" dirty="0">
                <a:latin typeface="Courier New" panose="02070309020205020404" pitchFamily="49" charset="0"/>
                <a:cs typeface="Courier New" panose="02070309020205020404" pitchFamily="49" charset="0"/>
              </a:rPr>
              <a:t>         [,1]</a:t>
            </a:r>
          </a:p>
          <a:p>
            <a:r>
              <a:rPr lang="en-ZA" sz="1200" dirty="0">
                <a:latin typeface="Courier New" panose="02070309020205020404" pitchFamily="49" charset="0"/>
                <a:cs typeface="Courier New" panose="02070309020205020404" pitchFamily="49" charset="0"/>
              </a:rPr>
              <a:t>[1,] 4.333333</a:t>
            </a:r>
          </a:p>
          <a:p>
            <a:r>
              <a:rPr lang="en-ZA" sz="1200" dirty="0">
                <a:latin typeface="Courier New" panose="02070309020205020404" pitchFamily="49" charset="0"/>
                <a:cs typeface="Courier New" panose="02070309020205020404" pitchFamily="49" charset="0"/>
              </a:rPr>
              <a:t>&gt; #Calculate RHS </a:t>
            </a:r>
            <a:r>
              <a:rPr lang="en-ZA" sz="1200" dirty="0" err="1">
                <a:latin typeface="Courier New" panose="02070309020205020404" pitchFamily="49" charset="0"/>
                <a:cs typeface="Courier New" panose="02070309020205020404" pitchFamily="49" charset="0"/>
              </a:rPr>
              <a:t>cutoff</a:t>
            </a:r>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&gt; RHS&lt;-t(X1bar-X2bar)%*%</a:t>
            </a:r>
            <a:r>
              <a:rPr lang="en-ZA" sz="1200" dirty="0" err="1">
                <a:latin typeface="Courier New" panose="02070309020205020404" pitchFamily="49" charset="0"/>
                <a:cs typeface="Courier New" panose="02070309020205020404" pitchFamily="49" charset="0"/>
              </a:rPr>
              <a:t>SPinverse</a:t>
            </a:r>
            <a:r>
              <a:rPr lang="en-ZA" sz="1200" dirty="0">
                <a:latin typeface="Courier New" panose="02070309020205020404" pitchFamily="49" charset="0"/>
                <a:cs typeface="Courier New" panose="02070309020205020404" pitchFamily="49" charset="0"/>
              </a:rPr>
              <a:t>%*%(X1bar+X2bar)</a:t>
            </a:r>
          </a:p>
          <a:p>
            <a:r>
              <a:rPr lang="en-ZA" sz="1200" dirty="0">
                <a:latin typeface="Courier New" panose="02070309020205020404" pitchFamily="49" charset="0"/>
                <a:cs typeface="Courier New" panose="02070309020205020404" pitchFamily="49" charset="0"/>
              </a:rPr>
              <a:t>&gt; RHS&lt;-RHS/2</a:t>
            </a:r>
          </a:p>
          <a:p>
            <a:r>
              <a:rPr lang="en-ZA" sz="1200" dirty="0">
                <a:latin typeface="Courier New" panose="02070309020205020404" pitchFamily="49" charset="0"/>
                <a:cs typeface="Courier New" panose="02070309020205020404" pitchFamily="49" charset="0"/>
              </a:rPr>
              <a:t>&gt; RHS</a:t>
            </a:r>
          </a:p>
          <a:p>
            <a:r>
              <a:rPr lang="en-ZA" sz="1200" dirty="0">
                <a:latin typeface="Courier New" panose="02070309020205020404" pitchFamily="49" charset="0"/>
                <a:cs typeface="Courier New" panose="02070309020205020404" pitchFamily="49" charset="0"/>
              </a:rPr>
              <a:t>     [,1]</a:t>
            </a:r>
          </a:p>
          <a:p>
            <a:r>
              <a:rPr lang="en-ZA" sz="1200" dirty="0">
                <a:latin typeface="Courier New" panose="02070309020205020404" pitchFamily="49" charset="0"/>
                <a:cs typeface="Courier New" panose="02070309020205020404" pitchFamily="49" charset="0"/>
              </a:rPr>
              <a:t>[1,]  </a:t>
            </a:r>
            <a:r>
              <a:rPr lang="en-ZA" sz="1200" dirty="0" smtClean="0">
                <a:latin typeface="Courier New" panose="02070309020205020404" pitchFamily="49" charset="0"/>
                <a:cs typeface="Courier New" panose="02070309020205020404" pitchFamily="49" charset="0"/>
              </a:rPr>
              <a:t>4.5</a:t>
            </a:r>
          </a:p>
          <a:p>
            <a:r>
              <a:rPr lang="en-ZA" sz="1200" dirty="0" smtClean="0">
                <a:latin typeface="Courier New" panose="02070309020205020404" pitchFamily="49" charset="0"/>
                <a:cs typeface="Courier New" panose="02070309020205020404" pitchFamily="49" charset="0"/>
              </a:rPr>
              <a:t>#Do the same for observation from X2</a:t>
            </a:r>
          </a:p>
          <a:p>
            <a:r>
              <a:rPr lang="en-ZA" sz="1200" dirty="0">
                <a:latin typeface="Courier New" panose="02070309020205020404" pitchFamily="49" charset="0"/>
                <a:cs typeface="Courier New" panose="02070309020205020404" pitchFamily="49" charset="0"/>
              </a:rPr>
              <a:t>&gt; LHS21&lt;-t(X1bar-X2bar)%*%</a:t>
            </a:r>
            <a:r>
              <a:rPr lang="en-ZA" sz="1200" dirty="0" err="1">
                <a:latin typeface="Courier New" panose="02070309020205020404" pitchFamily="49" charset="0"/>
                <a:cs typeface="Courier New" panose="02070309020205020404" pitchFamily="49" charset="0"/>
              </a:rPr>
              <a:t>SPinverse</a:t>
            </a:r>
            <a:r>
              <a:rPr lang="en-ZA" sz="1200" dirty="0">
                <a:latin typeface="Courier New" panose="02070309020205020404" pitchFamily="49" charset="0"/>
                <a:cs typeface="Courier New" panose="02070309020205020404" pitchFamily="49" charset="0"/>
              </a:rPr>
              <a:t>%*%X2[1,]</a:t>
            </a:r>
          </a:p>
          <a:p>
            <a:r>
              <a:rPr lang="en-ZA" sz="1200" dirty="0">
                <a:latin typeface="Courier New" panose="02070309020205020404" pitchFamily="49" charset="0"/>
                <a:cs typeface="Courier New" panose="02070309020205020404" pitchFamily="49" charset="0"/>
              </a:rPr>
              <a:t>&gt; LHS21</a:t>
            </a:r>
          </a:p>
          <a:p>
            <a:r>
              <a:rPr lang="en-ZA" sz="1200" dirty="0">
                <a:latin typeface="Courier New" panose="02070309020205020404" pitchFamily="49" charset="0"/>
                <a:cs typeface="Courier New" panose="02070309020205020404" pitchFamily="49" charset="0"/>
              </a:rPr>
              <a:t>     [,1]</a:t>
            </a:r>
          </a:p>
          <a:p>
            <a:r>
              <a:rPr lang="en-ZA" sz="1200" dirty="0">
                <a:latin typeface="Courier New" panose="02070309020205020404" pitchFamily="49" charset="0"/>
                <a:cs typeface="Courier New" panose="02070309020205020404" pitchFamily="49" charset="0"/>
              </a:rPr>
              <a:t>[1,]    3</a:t>
            </a:r>
          </a:p>
          <a:p>
            <a:r>
              <a:rPr lang="en-ZA" sz="1200" dirty="0">
                <a:latin typeface="Courier New" panose="02070309020205020404" pitchFamily="49" charset="0"/>
                <a:cs typeface="Courier New" panose="02070309020205020404" pitchFamily="49" charset="0"/>
              </a:rPr>
              <a:t>&gt; LHS22&lt;-t(X1bar-X2bar)%*%</a:t>
            </a:r>
            <a:r>
              <a:rPr lang="en-ZA" sz="1200" dirty="0" err="1">
                <a:latin typeface="Courier New" panose="02070309020205020404" pitchFamily="49" charset="0"/>
                <a:cs typeface="Courier New" panose="02070309020205020404" pitchFamily="49" charset="0"/>
              </a:rPr>
              <a:t>SPinverse</a:t>
            </a:r>
            <a:r>
              <a:rPr lang="en-ZA" sz="1200" dirty="0">
                <a:latin typeface="Courier New" panose="02070309020205020404" pitchFamily="49" charset="0"/>
                <a:cs typeface="Courier New" panose="02070309020205020404" pitchFamily="49" charset="0"/>
              </a:rPr>
              <a:t>%*%X2[2,]</a:t>
            </a:r>
          </a:p>
          <a:p>
            <a:r>
              <a:rPr lang="en-ZA" sz="1200" dirty="0">
                <a:latin typeface="Courier New" panose="02070309020205020404" pitchFamily="49" charset="0"/>
                <a:cs typeface="Courier New" panose="02070309020205020404" pitchFamily="49" charset="0"/>
              </a:rPr>
              <a:t>&gt; LHS22</a:t>
            </a:r>
          </a:p>
          <a:p>
            <a:r>
              <a:rPr lang="en-ZA" sz="1200" dirty="0">
                <a:latin typeface="Courier New" panose="02070309020205020404" pitchFamily="49" charset="0"/>
                <a:cs typeface="Courier New" panose="02070309020205020404" pitchFamily="49" charset="0"/>
              </a:rPr>
              <a:t>     [,1]</a:t>
            </a:r>
          </a:p>
          <a:p>
            <a:r>
              <a:rPr lang="en-ZA" sz="1200" dirty="0">
                <a:latin typeface="Courier New" panose="02070309020205020404" pitchFamily="49" charset="0"/>
                <a:cs typeface="Courier New" panose="02070309020205020404" pitchFamily="49" charset="0"/>
              </a:rPr>
              <a:t>[1,]    5</a:t>
            </a:r>
          </a:p>
          <a:p>
            <a:r>
              <a:rPr lang="en-ZA" sz="1200" dirty="0">
                <a:latin typeface="Courier New" panose="02070309020205020404" pitchFamily="49" charset="0"/>
                <a:cs typeface="Courier New" panose="02070309020205020404" pitchFamily="49" charset="0"/>
              </a:rPr>
              <a:t>&gt; LHS23&lt;-t(X1bar-X2bar)%*%</a:t>
            </a:r>
            <a:r>
              <a:rPr lang="en-ZA" sz="1200" dirty="0" err="1">
                <a:latin typeface="Courier New" panose="02070309020205020404" pitchFamily="49" charset="0"/>
                <a:cs typeface="Courier New" panose="02070309020205020404" pitchFamily="49" charset="0"/>
              </a:rPr>
              <a:t>SPinverse</a:t>
            </a:r>
            <a:r>
              <a:rPr lang="en-ZA" sz="1200" dirty="0">
                <a:latin typeface="Courier New" panose="02070309020205020404" pitchFamily="49" charset="0"/>
                <a:cs typeface="Courier New" panose="02070309020205020404" pitchFamily="49" charset="0"/>
              </a:rPr>
              <a:t>%*%X2[3,]</a:t>
            </a:r>
          </a:p>
          <a:p>
            <a:r>
              <a:rPr lang="en-ZA" sz="1200" dirty="0">
                <a:latin typeface="Courier New" panose="02070309020205020404" pitchFamily="49" charset="0"/>
                <a:cs typeface="Courier New" panose="02070309020205020404" pitchFamily="49" charset="0"/>
              </a:rPr>
              <a:t>&gt; LHS23</a:t>
            </a:r>
          </a:p>
          <a:p>
            <a:r>
              <a:rPr lang="en-ZA" sz="1200" dirty="0">
                <a:latin typeface="Courier New" panose="02070309020205020404" pitchFamily="49" charset="0"/>
                <a:cs typeface="Courier New" panose="02070309020205020404" pitchFamily="49" charset="0"/>
              </a:rPr>
              <a:t>     [,1]</a:t>
            </a:r>
          </a:p>
          <a:p>
            <a:r>
              <a:rPr lang="en-ZA" sz="1200" dirty="0">
                <a:latin typeface="Courier New" panose="02070309020205020404" pitchFamily="49" charset="0"/>
                <a:cs typeface="Courier New" panose="02070309020205020404" pitchFamily="49" charset="0"/>
              </a:rPr>
              <a:t>[1,]    2</a:t>
            </a:r>
          </a:p>
          <a:p>
            <a:endParaRPr lang="en-ZA" sz="1200" dirty="0">
              <a:cs typeface="Courier New" panose="02070309020205020404" pitchFamily="49" charset="0"/>
            </a:endParaRPr>
          </a:p>
        </p:txBody>
      </p:sp>
      <p:sp>
        <p:nvSpPr>
          <p:cNvPr id="5" name="Oval Callout 4"/>
          <p:cNvSpPr/>
          <p:nvPr/>
        </p:nvSpPr>
        <p:spPr>
          <a:xfrm>
            <a:off x="9309100" y="381000"/>
            <a:ext cx="2235200" cy="2095500"/>
          </a:xfrm>
          <a:prstGeom prst="wedgeEllipseCallout">
            <a:avLst>
              <a:gd name="adj1" fmla="val -76293"/>
              <a:gd name="adj2" fmla="val 3867"/>
            </a:avLst>
          </a:prstGeom>
        </p:spPr>
        <p:style>
          <a:lnRef idx="2">
            <a:schemeClr val="accent6"/>
          </a:lnRef>
          <a:fillRef idx="1">
            <a:schemeClr val="lt1"/>
          </a:fillRef>
          <a:effectRef idx="0">
            <a:schemeClr val="accent6"/>
          </a:effectRef>
          <a:fontRef idx="minor">
            <a:schemeClr val="dk1"/>
          </a:fontRef>
        </p:style>
        <p:txBody>
          <a:bodyPr rtlCol="0" anchor="ctr"/>
          <a:lstStyle/>
          <a:p>
            <a:r>
              <a:rPr lang="en-ZA" sz="1200" dirty="0">
                <a:cs typeface="Courier New" panose="02070309020205020404" pitchFamily="49" charset="0"/>
              </a:rPr>
              <a:t>If LHS values &gt; 4.5 then allocate to Population 1, else to Population 2</a:t>
            </a:r>
          </a:p>
          <a:p>
            <a:r>
              <a:rPr lang="en-ZA" sz="1200" dirty="0">
                <a:cs typeface="Courier New" panose="02070309020205020404" pitchFamily="49" charset="0"/>
              </a:rPr>
              <a:t>Thus LHS1 and LHS2 correctly classified as Population 1,</a:t>
            </a:r>
          </a:p>
          <a:p>
            <a:r>
              <a:rPr lang="en-ZA" sz="1200" dirty="0">
                <a:cs typeface="Courier New" panose="02070309020205020404" pitchFamily="49" charset="0"/>
              </a:rPr>
              <a:t>LHS3 misclassified as Population 2.</a:t>
            </a:r>
          </a:p>
        </p:txBody>
      </p:sp>
      <p:sp>
        <p:nvSpPr>
          <p:cNvPr id="7" name="Oval Callout 6"/>
          <p:cNvSpPr/>
          <p:nvPr/>
        </p:nvSpPr>
        <p:spPr>
          <a:xfrm>
            <a:off x="9582150" y="4267200"/>
            <a:ext cx="2171700" cy="1631950"/>
          </a:xfrm>
          <a:prstGeom prst="wedgeEllipseCallout">
            <a:avLst>
              <a:gd name="adj1" fmla="val -83638"/>
              <a:gd name="adj2" fmla="val -320"/>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200" dirty="0" smtClean="0"/>
              <a:t>LHS21 and LHS23 &lt;4.5 and hence allocated to Population 2. LHS22 &gt; 4,5 and hence misclassified as Population 1</a:t>
            </a:r>
            <a:endParaRPr lang="en-ZA" sz="1200" dirty="0"/>
          </a:p>
        </p:txBody>
      </p:sp>
      <p:sp>
        <p:nvSpPr>
          <p:cNvPr id="8" name="Rounded Rectangle 7"/>
          <p:cNvSpPr/>
          <p:nvPr/>
        </p:nvSpPr>
        <p:spPr>
          <a:xfrm>
            <a:off x="9404350" y="2660650"/>
            <a:ext cx="2393950" cy="136525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400" dirty="0" smtClean="0"/>
              <a:t>Thus APER=2/6=0.33</a:t>
            </a:r>
            <a:endParaRPr lang="en-ZA" sz="1400" dirty="0"/>
          </a:p>
        </p:txBody>
      </p:sp>
    </p:spTree>
    <p:extLst>
      <p:ext uri="{BB962C8B-B14F-4D97-AF65-F5344CB8AC3E}">
        <p14:creationId xmlns:p14="http://schemas.microsoft.com/office/powerpoint/2010/main" val="200345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950" y="114300"/>
            <a:ext cx="4076700" cy="6555641"/>
          </a:xfrm>
          <a:prstGeom prst="rect">
            <a:avLst/>
          </a:prstGeom>
          <a:noFill/>
          <a:ln>
            <a:solidFill>
              <a:schemeClr val="accent6"/>
            </a:solidFill>
          </a:ln>
        </p:spPr>
        <p:txBody>
          <a:bodyPr wrap="square" rtlCol="0">
            <a:spAutoFit/>
          </a:bodyPr>
          <a:lstStyle/>
          <a:p>
            <a:r>
              <a:rPr lang="en-ZA" sz="1000" dirty="0">
                <a:latin typeface="Courier New" panose="02070309020205020404" pitchFamily="49" charset="0"/>
                <a:cs typeface="Courier New" panose="02070309020205020404" pitchFamily="49" charset="0"/>
              </a:rPr>
              <a:t>&gt; #Implement </a:t>
            </a:r>
            <a:r>
              <a:rPr lang="en-ZA" sz="1000" dirty="0" err="1">
                <a:latin typeface="Courier New" panose="02070309020205020404" pitchFamily="49" charset="0"/>
                <a:cs typeface="Courier New" panose="02070309020205020404" pitchFamily="49" charset="0"/>
              </a:rPr>
              <a:t>Lachenbruch</a:t>
            </a:r>
            <a:r>
              <a:rPr lang="en-ZA" sz="1000" dirty="0">
                <a:latin typeface="Courier New" panose="02070309020205020404" pitchFamily="49" charset="0"/>
                <a:cs typeface="Courier New" panose="02070309020205020404" pitchFamily="49" charset="0"/>
              </a:rPr>
              <a:t>' holdout procedure to </a:t>
            </a:r>
            <a:r>
              <a:rPr lang="en-ZA" sz="1000" dirty="0" smtClean="0">
                <a:latin typeface="Courier New" panose="02070309020205020404" pitchFamily="49" charset="0"/>
                <a:cs typeface="Courier New" panose="02070309020205020404" pitchFamily="49" charset="0"/>
              </a:rPr>
              <a:t>calculate </a:t>
            </a:r>
            <a:r>
              <a:rPr lang="en-ZA" sz="1000" dirty="0">
                <a:latin typeface="Courier New" panose="02070309020205020404" pitchFamily="49" charset="0"/>
                <a:cs typeface="Courier New" panose="02070309020205020404" pitchFamily="49" charset="0"/>
              </a:rPr>
              <a:t>E(AER)</a:t>
            </a:r>
          </a:p>
          <a:p>
            <a:r>
              <a:rPr lang="en-ZA" sz="1000" dirty="0">
                <a:latin typeface="Courier New" panose="02070309020205020404" pitchFamily="49" charset="0"/>
                <a:cs typeface="Courier New" panose="02070309020205020404" pitchFamily="49" charset="0"/>
              </a:rPr>
              <a:t>&gt; #Leave out first observation from X1:</a:t>
            </a:r>
          </a:p>
          <a:p>
            <a:r>
              <a:rPr lang="en-ZA" sz="1000" dirty="0">
                <a:latin typeface="Courier New" panose="02070309020205020404" pitchFamily="49" charset="0"/>
                <a:cs typeface="Courier New" panose="02070309020205020404" pitchFamily="49" charset="0"/>
              </a:rPr>
              <a:t>&gt; X1h&lt;-X1[2:3,]</a:t>
            </a:r>
          </a:p>
          <a:p>
            <a:r>
              <a:rPr lang="en-ZA" sz="1000" dirty="0">
                <a:latin typeface="Courier New" panose="02070309020205020404" pitchFamily="49" charset="0"/>
                <a:cs typeface="Courier New" panose="02070309020205020404" pitchFamily="49" charset="0"/>
              </a:rPr>
              <a:t>&gt; X1h</a:t>
            </a:r>
          </a:p>
          <a:p>
            <a:r>
              <a:rPr lang="en-ZA" sz="1000" dirty="0">
                <a:latin typeface="Courier New" panose="02070309020205020404" pitchFamily="49" charset="0"/>
                <a:cs typeface="Courier New" panose="02070309020205020404" pitchFamily="49" charset="0"/>
              </a:rPr>
              <a:t>     [,1] [,2]</a:t>
            </a:r>
          </a:p>
          <a:p>
            <a:r>
              <a:rPr lang="en-ZA" sz="1000" dirty="0">
                <a:latin typeface="Courier New" panose="02070309020205020404" pitchFamily="49" charset="0"/>
                <a:cs typeface="Courier New" panose="02070309020205020404" pitchFamily="49" charset="0"/>
              </a:rPr>
              <a:t>[1,]    4   10</a:t>
            </a:r>
          </a:p>
          <a:p>
            <a:r>
              <a:rPr lang="en-ZA" sz="1000" dirty="0">
                <a:latin typeface="Courier New" panose="02070309020205020404" pitchFamily="49" charset="0"/>
                <a:cs typeface="Courier New" panose="02070309020205020404" pitchFamily="49" charset="0"/>
              </a:rPr>
              <a:t>[2,]    3    8</a:t>
            </a:r>
          </a:p>
          <a:p>
            <a:r>
              <a:rPr lang="en-ZA" sz="1000" dirty="0">
                <a:latin typeface="Courier New" panose="02070309020205020404" pitchFamily="49" charset="0"/>
                <a:cs typeface="Courier New" panose="02070309020205020404" pitchFamily="49" charset="0"/>
              </a:rPr>
              <a:t>&gt; X1h1mean&lt;-mean(X1h[,1])</a:t>
            </a:r>
          </a:p>
          <a:p>
            <a:r>
              <a:rPr lang="en-ZA" sz="1000" dirty="0">
                <a:latin typeface="Courier New" panose="02070309020205020404" pitchFamily="49" charset="0"/>
                <a:cs typeface="Courier New" panose="02070309020205020404" pitchFamily="49" charset="0"/>
              </a:rPr>
              <a:t>&gt; X1h1mean&lt;-</a:t>
            </a:r>
            <a:r>
              <a:rPr lang="en-ZA" sz="1000" dirty="0" err="1">
                <a:latin typeface="Courier New" panose="02070309020205020404" pitchFamily="49" charset="0"/>
                <a:cs typeface="Courier New" panose="02070309020205020404" pitchFamily="49" charset="0"/>
              </a:rPr>
              <a:t>as.matrix</a:t>
            </a:r>
            <a:r>
              <a:rPr lang="en-ZA" sz="1000" dirty="0">
                <a:latin typeface="Courier New" panose="02070309020205020404" pitchFamily="49" charset="0"/>
                <a:cs typeface="Courier New" panose="02070309020205020404" pitchFamily="49" charset="0"/>
              </a:rPr>
              <a:t>(X1h1mean)</a:t>
            </a:r>
          </a:p>
          <a:p>
            <a:r>
              <a:rPr lang="en-ZA" sz="1000" dirty="0">
                <a:latin typeface="Courier New" panose="02070309020205020404" pitchFamily="49" charset="0"/>
                <a:cs typeface="Courier New" panose="02070309020205020404" pitchFamily="49" charset="0"/>
              </a:rPr>
              <a:t>&gt; X1h2mean&lt;-mean(X1h[,2])</a:t>
            </a:r>
          </a:p>
          <a:p>
            <a:r>
              <a:rPr lang="en-ZA" sz="1000" dirty="0">
                <a:latin typeface="Courier New" panose="02070309020205020404" pitchFamily="49" charset="0"/>
                <a:cs typeface="Courier New" panose="02070309020205020404" pitchFamily="49" charset="0"/>
              </a:rPr>
              <a:t>&gt; X1h2mean&lt;-</a:t>
            </a:r>
            <a:r>
              <a:rPr lang="en-ZA" sz="1000" dirty="0" err="1">
                <a:latin typeface="Courier New" panose="02070309020205020404" pitchFamily="49" charset="0"/>
                <a:cs typeface="Courier New" panose="02070309020205020404" pitchFamily="49" charset="0"/>
              </a:rPr>
              <a:t>as.matrix</a:t>
            </a:r>
            <a:r>
              <a:rPr lang="en-ZA" sz="1000" dirty="0">
                <a:latin typeface="Courier New" panose="02070309020205020404" pitchFamily="49" charset="0"/>
                <a:cs typeface="Courier New" panose="02070309020205020404" pitchFamily="49" charset="0"/>
              </a:rPr>
              <a:t>(X1h2mean)</a:t>
            </a:r>
          </a:p>
          <a:p>
            <a:r>
              <a:rPr lang="en-ZA" sz="1000" dirty="0">
                <a:latin typeface="Courier New" panose="02070309020205020404" pitchFamily="49" charset="0"/>
                <a:cs typeface="Courier New" panose="02070309020205020404" pitchFamily="49" charset="0"/>
              </a:rPr>
              <a:t>&gt; X1hbar&lt;-</a:t>
            </a:r>
            <a:r>
              <a:rPr lang="en-ZA" sz="1000" dirty="0" err="1">
                <a:latin typeface="Courier New" panose="02070309020205020404" pitchFamily="49" charset="0"/>
                <a:cs typeface="Courier New" panose="02070309020205020404" pitchFamily="49" charset="0"/>
              </a:rPr>
              <a:t>rbind</a:t>
            </a:r>
            <a:r>
              <a:rPr lang="en-ZA" sz="1000" dirty="0">
                <a:latin typeface="Courier New" panose="02070309020205020404" pitchFamily="49" charset="0"/>
                <a:cs typeface="Courier New" panose="02070309020205020404" pitchFamily="49" charset="0"/>
              </a:rPr>
              <a:t>(X1h1mean,X1h2mean)</a:t>
            </a:r>
          </a:p>
          <a:p>
            <a:r>
              <a:rPr lang="en-ZA" sz="1000" dirty="0">
                <a:latin typeface="Courier New" panose="02070309020205020404" pitchFamily="49" charset="0"/>
                <a:cs typeface="Courier New" panose="02070309020205020404" pitchFamily="49" charset="0"/>
              </a:rPr>
              <a:t>&gt; X1hbar</a:t>
            </a:r>
          </a:p>
          <a:p>
            <a:r>
              <a:rPr lang="en-ZA" sz="1000" dirty="0">
                <a:latin typeface="Courier New" panose="02070309020205020404" pitchFamily="49" charset="0"/>
                <a:cs typeface="Courier New" panose="02070309020205020404" pitchFamily="49" charset="0"/>
              </a:rPr>
              <a:t>     [,1]</a:t>
            </a:r>
          </a:p>
          <a:p>
            <a:r>
              <a:rPr lang="en-ZA" sz="1000" dirty="0">
                <a:latin typeface="Courier New" panose="02070309020205020404" pitchFamily="49" charset="0"/>
                <a:cs typeface="Courier New" panose="02070309020205020404" pitchFamily="49" charset="0"/>
              </a:rPr>
              <a:t>[1,]  3.5</a:t>
            </a:r>
          </a:p>
          <a:p>
            <a:r>
              <a:rPr lang="en-ZA" sz="1000" dirty="0">
                <a:latin typeface="Courier New" panose="02070309020205020404" pitchFamily="49" charset="0"/>
                <a:cs typeface="Courier New" panose="02070309020205020404" pitchFamily="49" charset="0"/>
              </a:rPr>
              <a:t>[2,]  </a:t>
            </a:r>
            <a:r>
              <a:rPr lang="en-ZA" sz="1000" dirty="0" smtClean="0">
                <a:latin typeface="Courier New" panose="02070309020205020404" pitchFamily="49" charset="0"/>
                <a:cs typeface="Courier New" panose="02070309020205020404" pitchFamily="49" charset="0"/>
              </a:rPr>
              <a:t>9.0</a:t>
            </a:r>
            <a:endParaRPr lang="en-ZA" sz="1000" dirty="0">
              <a:latin typeface="Courier New" panose="02070309020205020404" pitchFamily="49" charset="0"/>
              <a:cs typeface="Courier New" panose="02070309020205020404" pitchFamily="49" charset="0"/>
            </a:endParaRPr>
          </a:p>
          <a:p>
            <a:r>
              <a:rPr lang="en-ZA" sz="1000" dirty="0">
                <a:latin typeface="Courier New" panose="02070309020205020404" pitchFamily="49" charset="0"/>
                <a:cs typeface="Courier New" panose="02070309020205020404" pitchFamily="49" charset="0"/>
              </a:rPr>
              <a:t>&gt; S1h&lt;-</a:t>
            </a:r>
            <a:r>
              <a:rPr lang="en-ZA" sz="1000" dirty="0" err="1">
                <a:latin typeface="Courier New" panose="02070309020205020404" pitchFamily="49" charset="0"/>
                <a:cs typeface="Courier New" panose="02070309020205020404" pitchFamily="49" charset="0"/>
              </a:rPr>
              <a:t>cov</a:t>
            </a:r>
            <a:r>
              <a:rPr lang="en-ZA" sz="1000" dirty="0">
                <a:latin typeface="Courier New" panose="02070309020205020404" pitchFamily="49" charset="0"/>
                <a:cs typeface="Courier New" panose="02070309020205020404" pitchFamily="49" charset="0"/>
              </a:rPr>
              <a:t>(X1h)</a:t>
            </a:r>
          </a:p>
          <a:p>
            <a:r>
              <a:rPr lang="en-ZA" sz="1000" dirty="0">
                <a:latin typeface="Courier New" panose="02070309020205020404" pitchFamily="49" charset="0"/>
                <a:cs typeface="Courier New" panose="02070309020205020404" pitchFamily="49" charset="0"/>
              </a:rPr>
              <a:t>&gt; S1h</a:t>
            </a:r>
          </a:p>
          <a:p>
            <a:r>
              <a:rPr lang="en-ZA" sz="1000" dirty="0">
                <a:latin typeface="Courier New" panose="02070309020205020404" pitchFamily="49" charset="0"/>
                <a:cs typeface="Courier New" panose="02070309020205020404" pitchFamily="49" charset="0"/>
              </a:rPr>
              <a:t>     [,1] [,2]</a:t>
            </a:r>
          </a:p>
          <a:p>
            <a:r>
              <a:rPr lang="en-ZA" sz="1000" dirty="0">
                <a:latin typeface="Courier New" panose="02070309020205020404" pitchFamily="49" charset="0"/>
                <a:cs typeface="Courier New" panose="02070309020205020404" pitchFamily="49" charset="0"/>
              </a:rPr>
              <a:t>[1,]  0.5    1</a:t>
            </a:r>
          </a:p>
          <a:p>
            <a:r>
              <a:rPr lang="en-ZA" sz="1000" dirty="0">
                <a:latin typeface="Courier New" panose="02070309020205020404" pitchFamily="49" charset="0"/>
                <a:cs typeface="Courier New" panose="02070309020205020404" pitchFamily="49" charset="0"/>
              </a:rPr>
              <a:t>[2,]  1.0    2</a:t>
            </a:r>
          </a:p>
          <a:p>
            <a:r>
              <a:rPr lang="en-ZA" sz="1000" dirty="0">
                <a:latin typeface="Courier New" panose="02070309020205020404" pitchFamily="49" charset="0"/>
                <a:cs typeface="Courier New" panose="02070309020205020404" pitchFamily="49" charset="0"/>
              </a:rPr>
              <a:t>&gt; S1hp&lt;-1/3*(S1h+2*S2)</a:t>
            </a:r>
          </a:p>
          <a:p>
            <a:r>
              <a:rPr lang="en-ZA" sz="1000" dirty="0">
                <a:latin typeface="Courier New" panose="02070309020205020404" pitchFamily="49" charset="0"/>
                <a:cs typeface="Courier New" panose="02070309020205020404" pitchFamily="49" charset="0"/>
              </a:rPr>
              <a:t>&gt; S1hp</a:t>
            </a:r>
          </a:p>
          <a:p>
            <a:r>
              <a:rPr lang="en-ZA" sz="1000" dirty="0">
                <a:latin typeface="Courier New" panose="02070309020205020404" pitchFamily="49" charset="0"/>
                <a:cs typeface="Courier New" panose="02070309020205020404" pitchFamily="49" charset="0"/>
              </a:rPr>
              <a:t>           [,1]       [,2]</a:t>
            </a:r>
          </a:p>
          <a:p>
            <a:r>
              <a:rPr lang="en-ZA" sz="1000" dirty="0">
                <a:latin typeface="Courier New" panose="02070309020205020404" pitchFamily="49" charset="0"/>
                <a:cs typeface="Courier New" panose="02070309020205020404" pitchFamily="49" charset="0"/>
              </a:rPr>
              <a:t>[1,]  0.8333333 -0.3333333</a:t>
            </a:r>
          </a:p>
          <a:p>
            <a:r>
              <a:rPr lang="en-ZA" sz="1000" dirty="0">
                <a:latin typeface="Courier New" panose="02070309020205020404" pitchFamily="49" charset="0"/>
                <a:cs typeface="Courier New" panose="02070309020205020404" pitchFamily="49" charset="0"/>
              </a:rPr>
              <a:t>[2,] -0.3333333  3.3333333</a:t>
            </a:r>
          </a:p>
          <a:p>
            <a:r>
              <a:rPr lang="en-ZA" sz="1000" dirty="0">
                <a:latin typeface="Courier New" panose="02070309020205020404" pitchFamily="49" charset="0"/>
                <a:cs typeface="Courier New" panose="02070309020205020404" pitchFamily="49" charset="0"/>
              </a:rPr>
              <a:t>&gt; S1hpInverse&lt;-solve(S1hp)</a:t>
            </a:r>
          </a:p>
          <a:p>
            <a:r>
              <a:rPr lang="en-ZA" sz="1000" dirty="0">
                <a:latin typeface="Courier New" panose="02070309020205020404" pitchFamily="49" charset="0"/>
                <a:cs typeface="Courier New" panose="02070309020205020404" pitchFamily="49" charset="0"/>
              </a:rPr>
              <a:t>&gt; S1hpInverse</a:t>
            </a:r>
          </a:p>
          <a:p>
            <a:r>
              <a:rPr lang="en-ZA" sz="1000" dirty="0">
                <a:latin typeface="Courier New" panose="02070309020205020404" pitchFamily="49" charset="0"/>
                <a:cs typeface="Courier New" panose="02070309020205020404" pitchFamily="49" charset="0"/>
              </a:rPr>
              <a:t>      [,1]   [,2]</a:t>
            </a:r>
          </a:p>
          <a:p>
            <a:r>
              <a:rPr lang="en-ZA" sz="1000" dirty="0">
                <a:latin typeface="Courier New" panose="02070309020205020404" pitchFamily="49" charset="0"/>
                <a:cs typeface="Courier New" panose="02070309020205020404" pitchFamily="49" charset="0"/>
              </a:rPr>
              <a:t>[1,] 1.250 0.1250</a:t>
            </a:r>
          </a:p>
          <a:p>
            <a:r>
              <a:rPr lang="en-ZA" sz="1000" dirty="0">
                <a:latin typeface="Courier New" panose="02070309020205020404" pitchFamily="49" charset="0"/>
                <a:cs typeface="Courier New" panose="02070309020205020404" pitchFamily="49" charset="0"/>
              </a:rPr>
              <a:t>[2,] 0.125 0.3125</a:t>
            </a:r>
          </a:p>
          <a:p>
            <a:r>
              <a:rPr lang="en-ZA" sz="1000" dirty="0" smtClean="0">
                <a:latin typeface="Courier New" panose="02070309020205020404" pitchFamily="49" charset="0"/>
                <a:cs typeface="Courier New" panose="02070309020205020404" pitchFamily="49" charset="0"/>
              </a:rPr>
              <a:t>#</a:t>
            </a:r>
            <a:r>
              <a:rPr lang="en-ZA" sz="1000" dirty="0">
                <a:latin typeface="Courier New" panose="02070309020205020404" pitchFamily="49" charset="0"/>
                <a:cs typeface="Courier New" panose="02070309020205020404" pitchFamily="49" charset="0"/>
              </a:rPr>
              <a:t>Calculate distances from X1 observation left out to two group means, X1hbar and X2bar</a:t>
            </a:r>
          </a:p>
          <a:p>
            <a:r>
              <a:rPr lang="en-ZA" sz="1000" dirty="0">
                <a:latin typeface="Courier New" panose="02070309020205020404" pitchFamily="49" charset="0"/>
                <a:cs typeface="Courier New" panose="02070309020205020404" pitchFamily="49" charset="0"/>
              </a:rPr>
              <a:t>&gt; t(X1[1,]-X1hbar)%*%S1hpInverse%*%(X1[1,]-X1hbar)</a:t>
            </a:r>
          </a:p>
          <a:p>
            <a:r>
              <a:rPr lang="en-ZA" sz="1000" dirty="0">
                <a:latin typeface="Courier New" panose="02070309020205020404" pitchFamily="49" charset="0"/>
                <a:cs typeface="Courier New" panose="02070309020205020404" pitchFamily="49" charset="0"/>
              </a:rPr>
              <a:t>     [,1]</a:t>
            </a:r>
          </a:p>
          <a:p>
            <a:r>
              <a:rPr lang="en-ZA" sz="1000" dirty="0">
                <a:latin typeface="Courier New" panose="02070309020205020404" pitchFamily="49" charset="0"/>
                <a:cs typeface="Courier New" panose="02070309020205020404" pitchFamily="49" charset="0"/>
              </a:rPr>
              <a:t>[1,]  4.5</a:t>
            </a:r>
          </a:p>
          <a:p>
            <a:r>
              <a:rPr lang="en-ZA" sz="1000" dirty="0">
                <a:latin typeface="Courier New" panose="02070309020205020404" pitchFamily="49" charset="0"/>
                <a:cs typeface="Courier New" panose="02070309020205020404" pitchFamily="49" charset="0"/>
              </a:rPr>
              <a:t>&gt; t(X1[1,]-X2bar)%*%S1hpInverse%*%(X1[1,]-X2bar)</a:t>
            </a:r>
          </a:p>
          <a:p>
            <a:r>
              <a:rPr lang="en-ZA" sz="1000" dirty="0">
                <a:latin typeface="Courier New" panose="02070309020205020404" pitchFamily="49" charset="0"/>
                <a:cs typeface="Courier New" panose="02070309020205020404" pitchFamily="49" charset="0"/>
              </a:rPr>
              <a:t>        [,1]</a:t>
            </a:r>
          </a:p>
          <a:p>
            <a:r>
              <a:rPr lang="en-ZA" sz="1000" dirty="0">
                <a:latin typeface="Courier New" panose="02070309020205020404" pitchFamily="49" charset="0"/>
                <a:cs typeface="Courier New" panose="02070309020205020404" pitchFamily="49" charset="0"/>
              </a:rPr>
              <a:t>[1,] 10.3125</a:t>
            </a:r>
          </a:p>
          <a:p>
            <a:r>
              <a:rPr lang="en-ZA" sz="1000" dirty="0">
                <a:latin typeface="Courier New" panose="02070309020205020404" pitchFamily="49" charset="0"/>
                <a:cs typeface="Courier New" panose="02070309020205020404" pitchFamily="49" charset="0"/>
              </a:rPr>
              <a:t>&gt; #and classify to population corresponding to shortest distance, in this case population </a:t>
            </a:r>
            <a:r>
              <a:rPr lang="en-ZA" sz="1000" dirty="0" smtClean="0">
                <a:latin typeface="Courier New" panose="02070309020205020404" pitchFamily="49" charset="0"/>
                <a:cs typeface="Courier New" panose="02070309020205020404" pitchFamily="49" charset="0"/>
              </a:rPr>
              <a:t>1</a:t>
            </a:r>
            <a:endParaRPr lang="en-ZA" sz="1000" dirty="0">
              <a:latin typeface="Courier New" panose="02070309020205020404" pitchFamily="49" charset="0"/>
              <a:cs typeface="Courier New" panose="02070309020205020404" pitchFamily="49" charset="0"/>
            </a:endParaRPr>
          </a:p>
        </p:txBody>
      </p:sp>
      <p:sp>
        <p:nvSpPr>
          <p:cNvPr id="3" name="TextBox 2"/>
          <p:cNvSpPr txBox="1"/>
          <p:nvPr/>
        </p:nvSpPr>
        <p:spPr>
          <a:xfrm>
            <a:off x="4292600" y="114300"/>
            <a:ext cx="3937000" cy="6555641"/>
          </a:xfrm>
          <a:prstGeom prst="rect">
            <a:avLst/>
          </a:prstGeom>
          <a:noFill/>
          <a:ln>
            <a:solidFill>
              <a:schemeClr val="accent6"/>
            </a:solidFill>
          </a:ln>
        </p:spPr>
        <p:txBody>
          <a:bodyPr wrap="square" rtlCol="0">
            <a:spAutoFit/>
          </a:bodyPr>
          <a:lstStyle/>
          <a:p>
            <a:r>
              <a:rPr lang="en-ZA" sz="1000" dirty="0">
                <a:latin typeface="Courier New" panose="02070309020205020404" pitchFamily="49" charset="0"/>
                <a:cs typeface="Courier New" panose="02070309020205020404" pitchFamily="49" charset="0"/>
              </a:rPr>
              <a:t>&gt; #Leave out second observation from X1:</a:t>
            </a:r>
          </a:p>
          <a:p>
            <a:r>
              <a:rPr lang="en-ZA" sz="1000" dirty="0">
                <a:latin typeface="Courier New" panose="02070309020205020404" pitchFamily="49" charset="0"/>
                <a:cs typeface="Courier New" panose="02070309020205020404" pitchFamily="49" charset="0"/>
              </a:rPr>
              <a:t>&gt; X1h&lt;-X1[-2,]</a:t>
            </a:r>
          </a:p>
          <a:p>
            <a:r>
              <a:rPr lang="en-ZA" sz="1000" dirty="0">
                <a:latin typeface="Courier New" panose="02070309020205020404" pitchFamily="49" charset="0"/>
                <a:cs typeface="Courier New" panose="02070309020205020404" pitchFamily="49" charset="0"/>
              </a:rPr>
              <a:t>&gt; X1h</a:t>
            </a:r>
          </a:p>
          <a:p>
            <a:r>
              <a:rPr lang="en-ZA" sz="1000" dirty="0">
                <a:latin typeface="Courier New" panose="02070309020205020404" pitchFamily="49" charset="0"/>
                <a:cs typeface="Courier New" panose="02070309020205020404" pitchFamily="49" charset="0"/>
              </a:rPr>
              <a:t>     [,1] [,2]</a:t>
            </a:r>
          </a:p>
          <a:p>
            <a:r>
              <a:rPr lang="en-ZA" sz="1000" dirty="0">
                <a:latin typeface="Courier New" panose="02070309020205020404" pitchFamily="49" charset="0"/>
                <a:cs typeface="Courier New" panose="02070309020205020404" pitchFamily="49" charset="0"/>
              </a:rPr>
              <a:t>[1,]    2   12</a:t>
            </a:r>
          </a:p>
          <a:p>
            <a:r>
              <a:rPr lang="en-ZA" sz="1000" dirty="0">
                <a:latin typeface="Courier New" panose="02070309020205020404" pitchFamily="49" charset="0"/>
                <a:cs typeface="Courier New" panose="02070309020205020404" pitchFamily="49" charset="0"/>
              </a:rPr>
              <a:t>[2,]    3    8</a:t>
            </a:r>
          </a:p>
          <a:p>
            <a:r>
              <a:rPr lang="en-ZA" sz="1000" dirty="0">
                <a:latin typeface="Courier New" panose="02070309020205020404" pitchFamily="49" charset="0"/>
                <a:cs typeface="Courier New" panose="02070309020205020404" pitchFamily="49" charset="0"/>
              </a:rPr>
              <a:t>&gt; X1h1mean&lt;-mean(X1h[,1])</a:t>
            </a:r>
          </a:p>
          <a:p>
            <a:r>
              <a:rPr lang="en-ZA" sz="1000" dirty="0">
                <a:latin typeface="Courier New" panose="02070309020205020404" pitchFamily="49" charset="0"/>
                <a:cs typeface="Courier New" panose="02070309020205020404" pitchFamily="49" charset="0"/>
              </a:rPr>
              <a:t>&gt; X1h1mean&lt;-</a:t>
            </a:r>
            <a:r>
              <a:rPr lang="en-ZA" sz="1000" dirty="0" err="1">
                <a:latin typeface="Courier New" panose="02070309020205020404" pitchFamily="49" charset="0"/>
                <a:cs typeface="Courier New" panose="02070309020205020404" pitchFamily="49" charset="0"/>
              </a:rPr>
              <a:t>as.matrix</a:t>
            </a:r>
            <a:r>
              <a:rPr lang="en-ZA" sz="1000" dirty="0">
                <a:latin typeface="Courier New" panose="02070309020205020404" pitchFamily="49" charset="0"/>
                <a:cs typeface="Courier New" panose="02070309020205020404" pitchFamily="49" charset="0"/>
              </a:rPr>
              <a:t>(X1h1mean)</a:t>
            </a:r>
          </a:p>
          <a:p>
            <a:r>
              <a:rPr lang="en-ZA" sz="1000" dirty="0">
                <a:latin typeface="Courier New" panose="02070309020205020404" pitchFamily="49" charset="0"/>
                <a:cs typeface="Courier New" panose="02070309020205020404" pitchFamily="49" charset="0"/>
              </a:rPr>
              <a:t>&gt; X1h2mean&lt;-mean(X1h[,2])</a:t>
            </a:r>
          </a:p>
          <a:p>
            <a:r>
              <a:rPr lang="en-ZA" sz="1000" dirty="0">
                <a:latin typeface="Courier New" panose="02070309020205020404" pitchFamily="49" charset="0"/>
                <a:cs typeface="Courier New" panose="02070309020205020404" pitchFamily="49" charset="0"/>
              </a:rPr>
              <a:t>&gt; X1h2mean&lt;-</a:t>
            </a:r>
            <a:r>
              <a:rPr lang="en-ZA" sz="1000" dirty="0" err="1">
                <a:latin typeface="Courier New" panose="02070309020205020404" pitchFamily="49" charset="0"/>
                <a:cs typeface="Courier New" panose="02070309020205020404" pitchFamily="49" charset="0"/>
              </a:rPr>
              <a:t>as.matrix</a:t>
            </a:r>
            <a:r>
              <a:rPr lang="en-ZA" sz="1000" dirty="0">
                <a:latin typeface="Courier New" panose="02070309020205020404" pitchFamily="49" charset="0"/>
                <a:cs typeface="Courier New" panose="02070309020205020404" pitchFamily="49" charset="0"/>
              </a:rPr>
              <a:t>(X1h2mean)</a:t>
            </a:r>
          </a:p>
          <a:p>
            <a:r>
              <a:rPr lang="en-ZA" sz="1000" dirty="0">
                <a:latin typeface="Courier New" panose="02070309020205020404" pitchFamily="49" charset="0"/>
                <a:cs typeface="Courier New" panose="02070309020205020404" pitchFamily="49" charset="0"/>
              </a:rPr>
              <a:t>&gt; X1hbar&lt;-</a:t>
            </a:r>
            <a:r>
              <a:rPr lang="en-ZA" sz="1000" dirty="0" err="1">
                <a:latin typeface="Courier New" panose="02070309020205020404" pitchFamily="49" charset="0"/>
                <a:cs typeface="Courier New" panose="02070309020205020404" pitchFamily="49" charset="0"/>
              </a:rPr>
              <a:t>rbind</a:t>
            </a:r>
            <a:r>
              <a:rPr lang="en-ZA" sz="1000" dirty="0">
                <a:latin typeface="Courier New" panose="02070309020205020404" pitchFamily="49" charset="0"/>
                <a:cs typeface="Courier New" panose="02070309020205020404" pitchFamily="49" charset="0"/>
              </a:rPr>
              <a:t>(X1h1mean,X1h2mean)</a:t>
            </a:r>
          </a:p>
          <a:p>
            <a:r>
              <a:rPr lang="en-ZA" sz="1000" dirty="0">
                <a:latin typeface="Courier New" panose="02070309020205020404" pitchFamily="49" charset="0"/>
                <a:cs typeface="Courier New" panose="02070309020205020404" pitchFamily="49" charset="0"/>
              </a:rPr>
              <a:t>&gt; X1hbar</a:t>
            </a:r>
          </a:p>
          <a:p>
            <a:r>
              <a:rPr lang="en-ZA" sz="1000" dirty="0">
                <a:latin typeface="Courier New" panose="02070309020205020404" pitchFamily="49" charset="0"/>
                <a:cs typeface="Courier New" panose="02070309020205020404" pitchFamily="49" charset="0"/>
              </a:rPr>
              <a:t>     [,1]</a:t>
            </a:r>
          </a:p>
          <a:p>
            <a:r>
              <a:rPr lang="en-ZA" sz="1000" dirty="0">
                <a:latin typeface="Courier New" panose="02070309020205020404" pitchFamily="49" charset="0"/>
                <a:cs typeface="Courier New" panose="02070309020205020404" pitchFamily="49" charset="0"/>
              </a:rPr>
              <a:t>[1,]  2.5</a:t>
            </a:r>
          </a:p>
          <a:p>
            <a:r>
              <a:rPr lang="en-ZA" sz="1000" dirty="0">
                <a:latin typeface="Courier New" panose="02070309020205020404" pitchFamily="49" charset="0"/>
                <a:cs typeface="Courier New" panose="02070309020205020404" pitchFamily="49" charset="0"/>
              </a:rPr>
              <a:t>[2,] 10.0</a:t>
            </a:r>
          </a:p>
          <a:p>
            <a:r>
              <a:rPr lang="en-ZA" sz="1000" dirty="0">
                <a:latin typeface="Courier New" panose="02070309020205020404" pitchFamily="49" charset="0"/>
                <a:cs typeface="Courier New" panose="02070309020205020404" pitchFamily="49" charset="0"/>
              </a:rPr>
              <a:t>&gt; </a:t>
            </a:r>
          </a:p>
          <a:p>
            <a:r>
              <a:rPr lang="en-ZA" sz="1000" dirty="0">
                <a:latin typeface="Courier New" panose="02070309020205020404" pitchFamily="49" charset="0"/>
                <a:cs typeface="Courier New" panose="02070309020205020404" pitchFamily="49" charset="0"/>
              </a:rPr>
              <a:t>&gt; S1h&lt;-</a:t>
            </a:r>
            <a:r>
              <a:rPr lang="en-ZA" sz="1000" dirty="0" err="1">
                <a:latin typeface="Courier New" panose="02070309020205020404" pitchFamily="49" charset="0"/>
                <a:cs typeface="Courier New" panose="02070309020205020404" pitchFamily="49" charset="0"/>
              </a:rPr>
              <a:t>cov</a:t>
            </a:r>
            <a:r>
              <a:rPr lang="en-ZA" sz="1000" dirty="0">
                <a:latin typeface="Courier New" panose="02070309020205020404" pitchFamily="49" charset="0"/>
                <a:cs typeface="Courier New" panose="02070309020205020404" pitchFamily="49" charset="0"/>
              </a:rPr>
              <a:t>(X1h)</a:t>
            </a:r>
          </a:p>
          <a:p>
            <a:r>
              <a:rPr lang="en-ZA" sz="1000" dirty="0">
                <a:latin typeface="Courier New" panose="02070309020205020404" pitchFamily="49" charset="0"/>
                <a:cs typeface="Courier New" panose="02070309020205020404" pitchFamily="49" charset="0"/>
              </a:rPr>
              <a:t>&gt; S1h</a:t>
            </a:r>
          </a:p>
          <a:p>
            <a:r>
              <a:rPr lang="en-ZA" sz="1000" dirty="0">
                <a:latin typeface="Courier New" panose="02070309020205020404" pitchFamily="49" charset="0"/>
                <a:cs typeface="Courier New" panose="02070309020205020404" pitchFamily="49" charset="0"/>
              </a:rPr>
              <a:t>     [,1] [,2]</a:t>
            </a:r>
          </a:p>
          <a:p>
            <a:r>
              <a:rPr lang="en-ZA" sz="1000" dirty="0">
                <a:latin typeface="Courier New" panose="02070309020205020404" pitchFamily="49" charset="0"/>
                <a:cs typeface="Courier New" panose="02070309020205020404" pitchFamily="49" charset="0"/>
              </a:rPr>
              <a:t>[1,]  0.5   -2</a:t>
            </a:r>
          </a:p>
          <a:p>
            <a:r>
              <a:rPr lang="en-ZA" sz="1000" dirty="0">
                <a:latin typeface="Courier New" panose="02070309020205020404" pitchFamily="49" charset="0"/>
                <a:cs typeface="Courier New" panose="02070309020205020404" pitchFamily="49" charset="0"/>
              </a:rPr>
              <a:t>[2,] -2.0    8</a:t>
            </a:r>
          </a:p>
          <a:p>
            <a:r>
              <a:rPr lang="en-ZA" sz="1000" dirty="0">
                <a:latin typeface="Courier New" panose="02070309020205020404" pitchFamily="49" charset="0"/>
                <a:cs typeface="Courier New" panose="02070309020205020404" pitchFamily="49" charset="0"/>
              </a:rPr>
              <a:t>&gt; S1hp&lt;-1/3*(S1h+2*S2)</a:t>
            </a:r>
          </a:p>
          <a:p>
            <a:r>
              <a:rPr lang="en-ZA" sz="1000" dirty="0">
                <a:latin typeface="Courier New" panose="02070309020205020404" pitchFamily="49" charset="0"/>
                <a:cs typeface="Courier New" panose="02070309020205020404" pitchFamily="49" charset="0"/>
              </a:rPr>
              <a:t>&gt; S1hp</a:t>
            </a:r>
          </a:p>
          <a:p>
            <a:r>
              <a:rPr lang="en-ZA" sz="1000" dirty="0">
                <a:latin typeface="Courier New" panose="02070309020205020404" pitchFamily="49" charset="0"/>
                <a:cs typeface="Courier New" panose="02070309020205020404" pitchFamily="49" charset="0"/>
              </a:rPr>
              <a:t>           [,1]      [,2]</a:t>
            </a:r>
          </a:p>
          <a:p>
            <a:r>
              <a:rPr lang="en-ZA" sz="1000" dirty="0">
                <a:latin typeface="Courier New" panose="02070309020205020404" pitchFamily="49" charset="0"/>
                <a:cs typeface="Courier New" panose="02070309020205020404" pitchFamily="49" charset="0"/>
              </a:rPr>
              <a:t>[1,]  0.8333333 -1.333333</a:t>
            </a:r>
          </a:p>
          <a:p>
            <a:r>
              <a:rPr lang="en-ZA" sz="1000" dirty="0">
                <a:latin typeface="Courier New" panose="02070309020205020404" pitchFamily="49" charset="0"/>
                <a:cs typeface="Courier New" panose="02070309020205020404" pitchFamily="49" charset="0"/>
              </a:rPr>
              <a:t>[2,] -1.3333333  5.333333</a:t>
            </a:r>
          </a:p>
          <a:p>
            <a:r>
              <a:rPr lang="en-ZA" sz="1000" dirty="0">
                <a:latin typeface="Courier New" panose="02070309020205020404" pitchFamily="49" charset="0"/>
                <a:cs typeface="Courier New" panose="02070309020205020404" pitchFamily="49" charset="0"/>
              </a:rPr>
              <a:t>&gt; S1hpInverse&lt;-solve(S1hp)</a:t>
            </a:r>
          </a:p>
          <a:p>
            <a:r>
              <a:rPr lang="en-ZA" sz="1000" dirty="0">
                <a:latin typeface="Courier New" panose="02070309020205020404" pitchFamily="49" charset="0"/>
                <a:cs typeface="Courier New" panose="02070309020205020404" pitchFamily="49" charset="0"/>
              </a:rPr>
              <a:t>&gt; S1hpInverse</a:t>
            </a:r>
          </a:p>
          <a:p>
            <a:r>
              <a:rPr lang="en-ZA" sz="1000" dirty="0">
                <a:latin typeface="Courier New" panose="02070309020205020404" pitchFamily="49" charset="0"/>
                <a:cs typeface="Courier New" panose="02070309020205020404" pitchFamily="49" charset="0"/>
              </a:rPr>
              <a:t>     [,1]   [,2]</a:t>
            </a:r>
          </a:p>
          <a:p>
            <a:r>
              <a:rPr lang="en-ZA" sz="1000" dirty="0">
                <a:latin typeface="Courier New" panose="02070309020205020404" pitchFamily="49" charset="0"/>
                <a:cs typeface="Courier New" panose="02070309020205020404" pitchFamily="49" charset="0"/>
              </a:rPr>
              <a:t>[1,]  2.0 0.5000</a:t>
            </a:r>
          </a:p>
          <a:p>
            <a:r>
              <a:rPr lang="en-ZA" sz="1000" dirty="0">
                <a:latin typeface="Courier New" panose="02070309020205020404" pitchFamily="49" charset="0"/>
                <a:cs typeface="Courier New" panose="02070309020205020404" pitchFamily="49" charset="0"/>
              </a:rPr>
              <a:t>[2,]  0.5 0.3125</a:t>
            </a:r>
          </a:p>
          <a:p>
            <a:r>
              <a:rPr lang="en-ZA" sz="1000" dirty="0">
                <a:latin typeface="Courier New" panose="02070309020205020404" pitchFamily="49" charset="0"/>
                <a:cs typeface="Courier New" panose="02070309020205020404" pitchFamily="49" charset="0"/>
              </a:rPr>
              <a:t>&gt; #Calculate distances from X1 observation left out to two group means, X1hbar and X2bar</a:t>
            </a:r>
          </a:p>
          <a:p>
            <a:r>
              <a:rPr lang="en-ZA" sz="1000" dirty="0">
                <a:latin typeface="Courier New" panose="02070309020205020404" pitchFamily="49" charset="0"/>
                <a:cs typeface="Courier New" panose="02070309020205020404" pitchFamily="49" charset="0"/>
              </a:rPr>
              <a:t>&gt; t(X1[2,]-X1hbar)%*%S1hpInverse%*%(X1[2,]-X1hbar)</a:t>
            </a:r>
          </a:p>
          <a:p>
            <a:r>
              <a:rPr lang="en-ZA" sz="1000" dirty="0">
                <a:latin typeface="Courier New" panose="02070309020205020404" pitchFamily="49" charset="0"/>
                <a:cs typeface="Courier New" panose="02070309020205020404" pitchFamily="49" charset="0"/>
              </a:rPr>
              <a:t>     [,1]</a:t>
            </a:r>
          </a:p>
          <a:p>
            <a:r>
              <a:rPr lang="en-ZA" sz="1000" dirty="0">
                <a:latin typeface="Courier New" panose="02070309020205020404" pitchFamily="49" charset="0"/>
                <a:cs typeface="Courier New" panose="02070309020205020404" pitchFamily="49" charset="0"/>
              </a:rPr>
              <a:t>[1,]  4.5</a:t>
            </a:r>
          </a:p>
          <a:p>
            <a:r>
              <a:rPr lang="en-ZA" sz="1000" dirty="0">
                <a:latin typeface="Courier New" panose="02070309020205020404" pitchFamily="49" charset="0"/>
                <a:cs typeface="Courier New" panose="02070309020205020404" pitchFamily="49" charset="0"/>
              </a:rPr>
              <a:t>&gt; t(X1[2,]-X2bar)%*%S1hpInverse%*%(X1[2,]-X2bar)</a:t>
            </a:r>
          </a:p>
          <a:p>
            <a:r>
              <a:rPr lang="en-ZA" sz="1000" dirty="0">
                <a:latin typeface="Courier New" panose="02070309020205020404" pitchFamily="49" charset="0"/>
                <a:cs typeface="Courier New" panose="02070309020205020404" pitchFamily="49" charset="0"/>
              </a:rPr>
              <a:t>       [,1]</a:t>
            </a:r>
          </a:p>
          <a:p>
            <a:r>
              <a:rPr lang="en-ZA" sz="1000" dirty="0">
                <a:latin typeface="Courier New" panose="02070309020205020404" pitchFamily="49" charset="0"/>
                <a:cs typeface="Courier New" panose="02070309020205020404" pitchFamily="49" charset="0"/>
              </a:rPr>
              <a:t>[1,] 2.8125</a:t>
            </a:r>
          </a:p>
          <a:p>
            <a:r>
              <a:rPr lang="en-ZA" sz="1000" dirty="0">
                <a:latin typeface="Courier New" panose="02070309020205020404" pitchFamily="49" charset="0"/>
                <a:cs typeface="Courier New" panose="02070309020205020404" pitchFamily="49" charset="0"/>
              </a:rPr>
              <a:t>&gt; #and classify to population corresponding to shortest distance, in this case population </a:t>
            </a:r>
            <a:r>
              <a:rPr lang="en-ZA" sz="1000" dirty="0" smtClean="0">
                <a:latin typeface="Courier New" panose="02070309020205020404" pitchFamily="49" charset="0"/>
                <a:cs typeface="Courier New" panose="02070309020205020404" pitchFamily="49" charset="0"/>
              </a:rPr>
              <a:t>2</a:t>
            </a:r>
            <a:endParaRPr lang="en-ZA" sz="1000" dirty="0">
              <a:latin typeface="Courier New" panose="02070309020205020404" pitchFamily="49" charset="0"/>
              <a:cs typeface="Courier New" panose="02070309020205020404" pitchFamily="49" charset="0"/>
            </a:endParaRPr>
          </a:p>
        </p:txBody>
      </p:sp>
      <p:sp>
        <p:nvSpPr>
          <p:cNvPr id="4" name="TextBox 3"/>
          <p:cNvSpPr txBox="1"/>
          <p:nvPr/>
        </p:nvSpPr>
        <p:spPr>
          <a:xfrm>
            <a:off x="8337550" y="114299"/>
            <a:ext cx="3759200" cy="6709529"/>
          </a:xfrm>
          <a:prstGeom prst="rect">
            <a:avLst/>
          </a:prstGeom>
          <a:noFill/>
          <a:ln>
            <a:solidFill>
              <a:schemeClr val="accent6"/>
            </a:solidFill>
          </a:ln>
        </p:spPr>
        <p:txBody>
          <a:bodyPr wrap="square" rtlCol="0">
            <a:spAutoFit/>
          </a:bodyPr>
          <a:lstStyle/>
          <a:p>
            <a:r>
              <a:rPr lang="en-ZA" sz="1000" dirty="0">
                <a:latin typeface="Courier New" panose="02070309020205020404" pitchFamily="49" charset="0"/>
                <a:cs typeface="Courier New" panose="02070309020205020404" pitchFamily="49" charset="0"/>
              </a:rPr>
              <a:t>&gt; #Leave out third observation from X1:</a:t>
            </a:r>
          </a:p>
          <a:p>
            <a:r>
              <a:rPr lang="en-ZA" sz="1000" dirty="0">
                <a:latin typeface="Courier New" panose="02070309020205020404" pitchFamily="49" charset="0"/>
                <a:cs typeface="Courier New" panose="02070309020205020404" pitchFamily="49" charset="0"/>
              </a:rPr>
              <a:t>&gt; X1h&lt;-X1[-3,]</a:t>
            </a:r>
          </a:p>
          <a:p>
            <a:r>
              <a:rPr lang="en-ZA" sz="1000" dirty="0">
                <a:latin typeface="Courier New" panose="02070309020205020404" pitchFamily="49" charset="0"/>
                <a:cs typeface="Courier New" panose="02070309020205020404" pitchFamily="49" charset="0"/>
              </a:rPr>
              <a:t>&gt; X1h</a:t>
            </a:r>
          </a:p>
          <a:p>
            <a:r>
              <a:rPr lang="en-ZA" sz="1000" dirty="0">
                <a:latin typeface="Courier New" panose="02070309020205020404" pitchFamily="49" charset="0"/>
                <a:cs typeface="Courier New" panose="02070309020205020404" pitchFamily="49" charset="0"/>
              </a:rPr>
              <a:t>     [,1] [,2]</a:t>
            </a:r>
          </a:p>
          <a:p>
            <a:r>
              <a:rPr lang="en-ZA" sz="1000" dirty="0">
                <a:latin typeface="Courier New" panose="02070309020205020404" pitchFamily="49" charset="0"/>
                <a:cs typeface="Courier New" panose="02070309020205020404" pitchFamily="49" charset="0"/>
              </a:rPr>
              <a:t>[1,]    2   12</a:t>
            </a:r>
          </a:p>
          <a:p>
            <a:r>
              <a:rPr lang="en-ZA" sz="1000" dirty="0">
                <a:latin typeface="Courier New" panose="02070309020205020404" pitchFamily="49" charset="0"/>
                <a:cs typeface="Courier New" panose="02070309020205020404" pitchFamily="49" charset="0"/>
              </a:rPr>
              <a:t>[2,]    4   10</a:t>
            </a:r>
          </a:p>
          <a:p>
            <a:r>
              <a:rPr lang="en-ZA" sz="1000" dirty="0">
                <a:latin typeface="Courier New" panose="02070309020205020404" pitchFamily="49" charset="0"/>
                <a:cs typeface="Courier New" panose="02070309020205020404" pitchFamily="49" charset="0"/>
              </a:rPr>
              <a:t>&gt; X1h1mean&lt;-mean(X1h[,1])</a:t>
            </a:r>
          </a:p>
          <a:p>
            <a:r>
              <a:rPr lang="en-ZA" sz="1000" dirty="0">
                <a:latin typeface="Courier New" panose="02070309020205020404" pitchFamily="49" charset="0"/>
                <a:cs typeface="Courier New" panose="02070309020205020404" pitchFamily="49" charset="0"/>
              </a:rPr>
              <a:t>&gt; X1h1mean&lt;-</a:t>
            </a:r>
            <a:r>
              <a:rPr lang="en-ZA" sz="1000" dirty="0" err="1">
                <a:latin typeface="Courier New" panose="02070309020205020404" pitchFamily="49" charset="0"/>
                <a:cs typeface="Courier New" panose="02070309020205020404" pitchFamily="49" charset="0"/>
              </a:rPr>
              <a:t>as.matrix</a:t>
            </a:r>
            <a:r>
              <a:rPr lang="en-ZA" sz="1000" dirty="0">
                <a:latin typeface="Courier New" panose="02070309020205020404" pitchFamily="49" charset="0"/>
                <a:cs typeface="Courier New" panose="02070309020205020404" pitchFamily="49" charset="0"/>
              </a:rPr>
              <a:t>(X1h1mean)</a:t>
            </a:r>
          </a:p>
          <a:p>
            <a:r>
              <a:rPr lang="en-ZA" sz="1000" dirty="0">
                <a:latin typeface="Courier New" panose="02070309020205020404" pitchFamily="49" charset="0"/>
                <a:cs typeface="Courier New" panose="02070309020205020404" pitchFamily="49" charset="0"/>
              </a:rPr>
              <a:t>&gt; X1h2mean&lt;-mean(X1h[,2])</a:t>
            </a:r>
          </a:p>
          <a:p>
            <a:r>
              <a:rPr lang="en-ZA" sz="1000" dirty="0">
                <a:latin typeface="Courier New" panose="02070309020205020404" pitchFamily="49" charset="0"/>
                <a:cs typeface="Courier New" panose="02070309020205020404" pitchFamily="49" charset="0"/>
              </a:rPr>
              <a:t>&gt; X1h2mean&lt;-</a:t>
            </a:r>
            <a:r>
              <a:rPr lang="en-ZA" sz="1000" dirty="0" err="1">
                <a:latin typeface="Courier New" panose="02070309020205020404" pitchFamily="49" charset="0"/>
                <a:cs typeface="Courier New" panose="02070309020205020404" pitchFamily="49" charset="0"/>
              </a:rPr>
              <a:t>as.matrix</a:t>
            </a:r>
            <a:r>
              <a:rPr lang="en-ZA" sz="1000" dirty="0">
                <a:latin typeface="Courier New" panose="02070309020205020404" pitchFamily="49" charset="0"/>
                <a:cs typeface="Courier New" panose="02070309020205020404" pitchFamily="49" charset="0"/>
              </a:rPr>
              <a:t>(X1h2mean)</a:t>
            </a:r>
          </a:p>
          <a:p>
            <a:r>
              <a:rPr lang="en-ZA" sz="1000" dirty="0">
                <a:latin typeface="Courier New" panose="02070309020205020404" pitchFamily="49" charset="0"/>
                <a:cs typeface="Courier New" panose="02070309020205020404" pitchFamily="49" charset="0"/>
              </a:rPr>
              <a:t>&gt; X1hbar&lt;-</a:t>
            </a:r>
            <a:r>
              <a:rPr lang="en-ZA" sz="1000" dirty="0" err="1">
                <a:latin typeface="Courier New" panose="02070309020205020404" pitchFamily="49" charset="0"/>
                <a:cs typeface="Courier New" panose="02070309020205020404" pitchFamily="49" charset="0"/>
              </a:rPr>
              <a:t>rbind</a:t>
            </a:r>
            <a:r>
              <a:rPr lang="en-ZA" sz="1000" dirty="0">
                <a:latin typeface="Courier New" panose="02070309020205020404" pitchFamily="49" charset="0"/>
                <a:cs typeface="Courier New" panose="02070309020205020404" pitchFamily="49" charset="0"/>
              </a:rPr>
              <a:t>(X1h1mean,X1h2mean)</a:t>
            </a:r>
          </a:p>
          <a:p>
            <a:r>
              <a:rPr lang="en-ZA" sz="1000" dirty="0">
                <a:latin typeface="Courier New" panose="02070309020205020404" pitchFamily="49" charset="0"/>
                <a:cs typeface="Courier New" panose="02070309020205020404" pitchFamily="49" charset="0"/>
              </a:rPr>
              <a:t>&gt; X1hbar</a:t>
            </a:r>
          </a:p>
          <a:p>
            <a:r>
              <a:rPr lang="en-ZA" sz="1000" dirty="0">
                <a:latin typeface="Courier New" panose="02070309020205020404" pitchFamily="49" charset="0"/>
                <a:cs typeface="Courier New" panose="02070309020205020404" pitchFamily="49" charset="0"/>
              </a:rPr>
              <a:t>     [,1]</a:t>
            </a:r>
          </a:p>
          <a:p>
            <a:r>
              <a:rPr lang="en-ZA" sz="1000" dirty="0">
                <a:latin typeface="Courier New" panose="02070309020205020404" pitchFamily="49" charset="0"/>
                <a:cs typeface="Courier New" panose="02070309020205020404" pitchFamily="49" charset="0"/>
              </a:rPr>
              <a:t>[1,]    3</a:t>
            </a:r>
          </a:p>
          <a:p>
            <a:r>
              <a:rPr lang="en-ZA" sz="1000" dirty="0">
                <a:latin typeface="Courier New" panose="02070309020205020404" pitchFamily="49" charset="0"/>
                <a:cs typeface="Courier New" panose="02070309020205020404" pitchFamily="49" charset="0"/>
              </a:rPr>
              <a:t>[2,]   </a:t>
            </a:r>
            <a:r>
              <a:rPr lang="en-ZA" sz="1000" dirty="0" smtClean="0">
                <a:latin typeface="Courier New" panose="02070309020205020404" pitchFamily="49" charset="0"/>
                <a:cs typeface="Courier New" panose="02070309020205020404" pitchFamily="49" charset="0"/>
              </a:rPr>
              <a:t>11</a:t>
            </a:r>
          </a:p>
          <a:p>
            <a:r>
              <a:rPr lang="en-ZA" sz="1000" dirty="0">
                <a:latin typeface="Courier New" panose="02070309020205020404" pitchFamily="49" charset="0"/>
                <a:cs typeface="Courier New" panose="02070309020205020404" pitchFamily="49" charset="0"/>
              </a:rPr>
              <a:t>&gt;</a:t>
            </a:r>
          </a:p>
          <a:p>
            <a:r>
              <a:rPr lang="en-ZA" sz="1000" dirty="0">
                <a:latin typeface="Courier New" panose="02070309020205020404" pitchFamily="49" charset="0"/>
                <a:cs typeface="Courier New" panose="02070309020205020404" pitchFamily="49" charset="0"/>
              </a:rPr>
              <a:t>&gt; S1h&lt;-</a:t>
            </a:r>
            <a:r>
              <a:rPr lang="en-ZA" sz="1000" dirty="0" err="1">
                <a:latin typeface="Courier New" panose="02070309020205020404" pitchFamily="49" charset="0"/>
                <a:cs typeface="Courier New" panose="02070309020205020404" pitchFamily="49" charset="0"/>
              </a:rPr>
              <a:t>cov</a:t>
            </a:r>
            <a:r>
              <a:rPr lang="en-ZA" sz="1000" dirty="0">
                <a:latin typeface="Courier New" panose="02070309020205020404" pitchFamily="49" charset="0"/>
                <a:cs typeface="Courier New" panose="02070309020205020404" pitchFamily="49" charset="0"/>
              </a:rPr>
              <a:t>(X1h)</a:t>
            </a:r>
          </a:p>
          <a:p>
            <a:r>
              <a:rPr lang="en-ZA" sz="1000" dirty="0">
                <a:latin typeface="Courier New" panose="02070309020205020404" pitchFamily="49" charset="0"/>
                <a:cs typeface="Courier New" panose="02070309020205020404" pitchFamily="49" charset="0"/>
              </a:rPr>
              <a:t>&gt; S1h</a:t>
            </a:r>
          </a:p>
          <a:p>
            <a:r>
              <a:rPr lang="en-ZA" sz="1000" dirty="0">
                <a:latin typeface="Courier New" panose="02070309020205020404" pitchFamily="49" charset="0"/>
                <a:cs typeface="Courier New" panose="02070309020205020404" pitchFamily="49" charset="0"/>
              </a:rPr>
              <a:t>     [,1] [,2]</a:t>
            </a:r>
          </a:p>
          <a:p>
            <a:r>
              <a:rPr lang="en-ZA" sz="1000" dirty="0">
                <a:latin typeface="Courier New" panose="02070309020205020404" pitchFamily="49" charset="0"/>
                <a:cs typeface="Courier New" panose="02070309020205020404" pitchFamily="49" charset="0"/>
              </a:rPr>
              <a:t>[1,]    2   -2</a:t>
            </a:r>
          </a:p>
          <a:p>
            <a:r>
              <a:rPr lang="en-ZA" sz="1000" dirty="0">
                <a:latin typeface="Courier New" panose="02070309020205020404" pitchFamily="49" charset="0"/>
                <a:cs typeface="Courier New" panose="02070309020205020404" pitchFamily="49" charset="0"/>
              </a:rPr>
              <a:t>[2,]   -2    2</a:t>
            </a:r>
          </a:p>
          <a:p>
            <a:r>
              <a:rPr lang="en-ZA" sz="1000" dirty="0">
                <a:latin typeface="Courier New" panose="02070309020205020404" pitchFamily="49" charset="0"/>
                <a:cs typeface="Courier New" panose="02070309020205020404" pitchFamily="49" charset="0"/>
              </a:rPr>
              <a:t>&gt; S1hp&lt;-1/3*(S1h+2*S2)</a:t>
            </a:r>
          </a:p>
          <a:p>
            <a:r>
              <a:rPr lang="en-ZA" sz="1000" dirty="0">
                <a:latin typeface="Courier New" panose="02070309020205020404" pitchFamily="49" charset="0"/>
                <a:cs typeface="Courier New" panose="02070309020205020404" pitchFamily="49" charset="0"/>
              </a:rPr>
              <a:t>&gt; S1hp</a:t>
            </a:r>
          </a:p>
          <a:p>
            <a:r>
              <a:rPr lang="en-ZA" sz="1000" dirty="0">
                <a:latin typeface="Courier New" panose="02070309020205020404" pitchFamily="49" charset="0"/>
                <a:cs typeface="Courier New" panose="02070309020205020404" pitchFamily="49" charset="0"/>
              </a:rPr>
              <a:t>          [,1]      [,2]</a:t>
            </a:r>
          </a:p>
          <a:p>
            <a:r>
              <a:rPr lang="en-ZA" sz="1000" dirty="0">
                <a:latin typeface="Courier New" panose="02070309020205020404" pitchFamily="49" charset="0"/>
                <a:cs typeface="Courier New" panose="02070309020205020404" pitchFamily="49" charset="0"/>
              </a:rPr>
              <a:t>[1,]  1.333333 -1.333333</a:t>
            </a:r>
          </a:p>
          <a:p>
            <a:r>
              <a:rPr lang="en-ZA" sz="1000" dirty="0">
                <a:latin typeface="Courier New" panose="02070309020205020404" pitchFamily="49" charset="0"/>
                <a:cs typeface="Courier New" panose="02070309020205020404" pitchFamily="49" charset="0"/>
              </a:rPr>
              <a:t>[2,] -1.333333  3.333333</a:t>
            </a:r>
          </a:p>
          <a:p>
            <a:r>
              <a:rPr lang="en-ZA" sz="1000" dirty="0">
                <a:latin typeface="Courier New" panose="02070309020205020404" pitchFamily="49" charset="0"/>
                <a:cs typeface="Courier New" panose="02070309020205020404" pitchFamily="49" charset="0"/>
              </a:rPr>
              <a:t>&gt; S1hpInverse&lt;-solve(S1hp)</a:t>
            </a:r>
          </a:p>
          <a:p>
            <a:r>
              <a:rPr lang="en-ZA" sz="1000" dirty="0">
                <a:latin typeface="Courier New" panose="02070309020205020404" pitchFamily="49" charset="0"/>
                <a:cs typeface="Courier New" panose="02070309020205020404" pitchFamily="49" charset="0"/>
              </a:rPr>
              <a:t>&gt; S1hpInverse</a:t>
            </a:r>
          </a:p>
          <a:p>
            <a:r>
              <a:rPr lang="en-ZA" sz="1000" dirty="0">
                <a:latin typeface="Courier New" panose="02070309020205020404" pitchFamily="49" charset="0"/>
                <a:cs typeface="Courier New" panose="02070309020205020404" pitchFamily="49" charset="0"/>
              </a:rPr>
              <a:t>     [,1] [,2]</a:t>
            </a:r>
          </a:p>
          <a:p>
            <a:r>
              <a:rPr lang="en-ZA" sz="1000" dirty="0">
                <a:latin typeface="Courier New" panose="02070309020205020404" pitchFamily="49" charset="0"/>
                <a:cs typeface="Courier New" panose="02070309020205020404" pitchFamily="49" charset="0"/>
              </a:rPr>
              <a:t>[1,] 1.25  0.5</a:t>
            </a:r>
          </a:p>
          <a:p>
            <a:r>
              <a:rPr lang="en-ZA" sz="1000" dirty="0">
                <a:latin typeface="Courier New" panose="02070309020205020404" pitchFamily="49" charset="0"/>
                <a:cs typeface="Courier New" panose="02070309020205020404" pitchFamily="49" charset="0"/>
              </a:rPr>
              <a:t>[2,] 0.50  0.5</a:t>
            </a:r>
          </a:p>
          <a:p>
            <a:r>
              <a:rPr lang="en-ZA" sz="1000" dirty="0">
                <a:latin typeface="Courier New" panose="02070309020205020404" pitchFamily="49" charset="0"/>
                <a:cs typeface="Courier New" panose="02070309020205020404" pitchFamily="49" charset="0"/>
              </a:rPr>
              <a:t>&gt; #Calculate distances from X1 observation left out to two group means, X1hbar and X2bar</a:t>
            </a:r>
          </a:p>
          <a:p>
            <a:r>
              <a:rPr lang="en-ZA" sz="1000" dirty="0">
                <a:latin typeface="Courier New" panose="02070309020205020404" pitchFamily="49" charset="0"/>
                <a:cs typeface="Courier New" panose="02070309020205020404" pitchFamily="49" charset="0"/>
              </a:rPr>
              <a:t>&gt; t(X1[3,]-X1hbar)%*%S1hpInverse%*%(X1[3,]-X1hbar)</a:t>
            </a:r>
          </a:p>
          <a:p>
            <a:r>
              <a:rPr lang="en-ZA" sz="1000" dirty="0">
                <a:latin typeface="Courier New" panose="02070309020205020404" pitchFamily="49" charset="0"/>
                <a:cs typeface="Courier New" panose="02070309020205020404" pitchFamily="49" charset="0"/>
              </a:rPr>
              <a:t>     [,1]</a:t>
            </a:r>
          </a:p>
          <a:p>
            <a:r>
              <a:rPr lang="en-ZA" sz="1000" dirty="0">
                <a:latin typeface="Courier New" panose="02070309020205020404" pitchFamily="49" charset="0"/>
                <a:cs typeface="Courier New" panose="02070309020205020404" pitchFamily="49" charset="0"/>
              </a:rPr>
              <a:t>[1,]  4.5</a:t>
            </a:r>
          </a:p>
          <a:p>
            <a:r>
              <a:rPr lang="en-ZA" sz="1000" dirty="0">
                <a:latin typeface="Courier New" panose="02070309020205020404" pitchFamily="49" charset="0"/>
                <a:cs typeface="Courier New" panose="02070309020205020404" pitchFamily="49" charset="0"/>
              </a:rPr>
              <a:t>&gt; t(X1[3,]-X2bar)%*%S1hpInverse%*%(X1[3,]-X2bar)</a:t>
            </a:r>
          </a:p>
          <a:p>
            <a:r>
              <a:rPr lang="en-ZA" sz="1000" dirty="0">
                <a:latin typeface="Courier New" panose="02070309020205020404" pitchFamily="49" charset="0"/>
                <a:cs typeface="Courier New" panose="02070309020205020404" pitchFamily="49" charset="0"/>
              </a:rPr>
              <a:t>     [,1]</a:t>
            </a:r>
          </a:p>
          <a:p>
            <a:r>
              <a:rPr lang="en-ZA" sz="1000" dirty="0">
                <a:latin typeface="Courier New" panose="02070309020205020404" pitchFamily="49" charset="0"/>
                <a:cs typeface="Courier New" panose="02070309020205020404" pitchFamily="49" charset="0"/>
              </a:rPr>
              <a:t>[1,] 0.75</a:t>
            </a:r>
          </a:p>
          <a:p>
            <a:r>
              <a:rPr lang="en-ZA" sz="1000" dirty="0">
                <a:latin typeface="Courier New" panose="02070309020205020404" pitchFamily="49" charset="0"/>
                <a:cs typeface="Courier New" panose="02070309020205020404" pitchFamily="49" charset="0"/>
              </a:rPr>
              <a:t>&gt; #and classify to population corresponding to shortest distance, in this case population </a:t>
            </a:r>
            <a:r>
              <a:rPr lang="en-ZA" sz="1000" dirty="0" smtClean="0">
                <a:latin typeface="Courier New" panose="02070309020205020404" pitchFamily="49" charset="0"/>
                <a:cs typeface="Courier New" panose="02070309020205020404" pitchFamily="49" charset="0"/>
              </a:rPr>
              <a:t>2.</a:t>
            </a:r>
            <a:endParaRPr lang="en-ZA" sz="1000" dirty="0">
              <a:latin typeface="Courier New" panose="02070309020205020404" pitchFamily="49" charset="0"/>
              <a:cs typeface="Courier New" panose="02070309020205020404" pitchFamily="49" charset="0"/>
            </a:endParaRPr>
          </a:p>
        </p:txBody>
      </p:sp>
      <p:sp>
        <p:nvSpPr>
          <p:cNvPr id="6" name="Rounded Rectangle 5"/>
          <p:cNvSpPr/>
          <p:nvPr/>
        </p:nvSpPr>
        <p:spPr>
          <a:xfrm>
            <a:off x="6210300" y="1841500"/>
            <a:ext cx="1962150" cy="196215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ZA" sz="1100" dirty="0" smtClean="0">
                <a:cs typeface="Courier New" panose="02070309020205020404" pitchFamily="49" charset="0"/>
              </a:rPr>
              <a:t>So </a:t>
            </a:r>
            <a:r>
              <a:rPr lang="en-ZA" sz="1100" dirty="0">
                <a:cs typeface="Courier New" panose="02070309020205020404" pitchFamily="49" charset="0"/>
              </a:rPr>
              <a:t>this leaves to 2 misclassification and one correct classification</a:t>
            </a:r>
          </a:p>
          <a:p>
            <a:r>
              <a:rPr lang="en-ZA" sz="1100" dirty="0">
                <a:cs typeface="Courier New" panose="02070309020205020404" pitchFamily="49" charset="0"/>
              </a:rPr>
              <a:t>&gt; #We can do the same for the second group of variables and it will lead to  1 misclassification </a:t>
            </a:r>
          </a:p>
          <a:p>
            <a:r>
              <a:rPr lang="en-ZA" sz="1100" dirty="0" smtClean="0">
                <a:cs typeface="Courier New" panose="02070309020205020404" pitchFamily="49" charset="0"/>
              </a:rPr>
              <a:t>&gt; #</a:t>
            </a:r>
            <a:r>
              <a:rPr lang="en-ZA" sz="1100" dirty="0">
                <a:cs typeface="Courier New" panose="02070309020205020404" pitchFamily="49" charset="0"/>
              </a:rPr>
              <a:t>and 2 correct classifications. Thus </a:t>
            </a:r>
            <a:r>
              <a:rPr lang="en-ZA" sz="1400" dirty="0">
                <a:cs typeface="Courier New" panose="02070309020205020404" pitchFamily="49" charset="0"/>
              </a:rPr>
              <a:t>E(AER)=</a:t>
            </a:r>
            <a:r>
              <a:rPr lang="en-ZA" sz="1400" dirty="0" smtClean="0">
                <a:cs typeface="Courier New" panose="02070309020205020404" pitchFamily="49" charset="0"/>
              </a:rPr>
              <a:t>3/6=0.5</a:t>
            </a:r>
          </a:p>
          <a:p>
            <a:r>
              <a:rPr lang="en-ZA" sz="1100" dirty="0">
                <a:cs typeface="Courier New" panose="02070309020205020404" pitchFamily="49" charset="0"/>
              </a:rPr>
              <a:t>c</a:t>
            </a:r>
            <a:r>
              <a:rPr lang="en-ZA" sz="1100" dirty="0" smtClean="0">
                <a:cs typeface="Courier New" panose="02070309020205020404" pitchFamily="49" charset="0"/>
              </a:rPr>
              <a:t>ompared to APER of 0.33</a:t>
            </a:r>
            <a:endParaRPr lang="en-ZA" sz="1100" dirty="0">
              <a:cs typeface="Courier New" panose="02070309020205020404" pitchFamily="49" charset="0"/>
            </a:endParaRPr>
          </a:p>
        </p:txBody>
      </p:sp>
      <p:sp>
        <p:nvSpPr>
          <p:cNvPr id="7" name="Oval Callout 6"/>
          <p:cNvSpPr/>
          <p:nvPr/>
        </p:nvSpPr>
        <p:spPr>
          <a:xfrm>
            <a:off x="2235200" y="2343150"/>
            <a:ext cx="1625600" cy="1320800"/>
          </a:xfrm>
          <a:prstGeom prst="wedgeEllipseCallout">
            <a:avLst>
              <a:gd name="adj1" fmla="val -71223"/>
              <a:gd name="adj2" fmla="val 3946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Note calculation of </a:t>
            </a:r>
            <a:r>
              <a:rPr lang="en-ZA" sz="1100" dirty="0" err="1" smtClean="0"/>
              <a:t>S_p</a:t>
            </a:r>
            <a:r>
              <a:rPr lang="en-ZA" sz="1100" dirty="0" smtClean="0"/>
              <a:t> takes into account different n in the 2 X matrices due to holding out 1 </a:t>
            </a:r>
            <a:r>
              <a:rPr lang="en-ZA" sz="1100" dirty="0" err="1" smtClean="0"/>
              <a:t>obs</a:t>
            </a:r>
            <a:r>
              <a:rPr lang="en-ZA" sz="1100" dirty="0" smtClean="0"/>
              <a:t> from X1</a:t>
            </a:r>
            <a:endParaRPr lang="en-ZA" sz="1100" dirty="0"/>
          </a:p>
        </p:txBody>
      </p:sp>
    </p:spTree>
    <p:extLst>
      <p:ext uri="{BB962C8B-B14F-4D97-AF65-F5344CB8AC3E}">
        <p14:creationId xmlns:p14="http://schemas.microsoft.com/office/powerpoint/2010/main" val="3788371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5900" y="254000"/>
            <a:ext cx="11785600" cy="6524863"/>
          </a:xfrm>
          <a:prstGeom prst="rect">
            <a:avLst/>
          </a:prstGeom>
          <a:noFill/>
          <a:ln>
            <a:solidFill>
              <a:schemeClr val="accent6"/>
            </a:solidFill>
          </a:ln>
        </p:spPr>
        <p:txBody>
          <a:bodyPr wrap="square" rtlCol="0">
            <a:spAutoFit/>
          </a:bodyPr>
          <a:lstStyle/>
          <a:p>
            <a:r>
              <a:rPr lang="en-ZA" dirty="0" smtClean="0"/>
              <a:t>Example (From Johnson &amp; Wichern 11.8, page 603)</a:t>
            </a:r>
          </a:p>
          <a:p>
            <a:endParaRPr lang="en-ZA" dirty="0"/>
          </a:p>
          <a:p>
            <a:r>
              <a:rPr lang="en-ZA" dirty="0"/>
              <a:t>Salmon </a:t>
            </a:r>
            <a:r>
              <a:rPr lang="en-ZA" dirty="0" smtClean="0"/>
              <a:t>fish </a:t>
            </a:r>
            <a:r>
              <a:rPr lang="en-ZA" dirty="0"/>
              <a:t>are born in freshwater streams and after a year or two they swim into the ocean. The growth rings on their scales are predictive of their birthplace in that the rings associated with fish from Alaska are smaller than those born in Canadian waters.</a:t>
            </a:r>
          </a:p>
          <a:p>
            <a:r>
              <a:rPr lang="en-ZA" dirty="0"/>
              <a:t>We wish to predict whether Salmon comes from Canada or Alaska based on the diameter of rings for the first-year freshwater growth and the diameter of rings for the first-year marine growth</a:t>
            </a:r>
            <a:r>
              <a:rPr lang="en-ZA" dirty="0" smtClean="0"/>
              <a:t>.</a:t>
            </a:r>
          </a:p>
          <a:p>
            <a:endParaRPr lang="en-ZA" dirty="0"/>
          </a:p>
          <a:p>
            <a:r>
              <a:rPr lang="en-ZA" sz="1400" dirty="0">
                <a:latin typeface="Courier New" panose="02070309020205020404" pitchFamily="49" charset="0"/>
                <a:cs typeface="Courier New" panose="02070309020205020404" pitchFamily="49" charset="0"/>
              </a:rPr>
              <a:t>&gt; library(MASS)</a:t>
            </a:r>
          </a:p>
          <a:p>
            <a:r>
              <a:rPr lang="en-ZA" sz="1400" dirty="0">
                <a:latin typeface="Courier New" panose="02070309020205020404" pitchFamily="49" charset="0"/>
                <a:cs typeface="Courier New" panose="02070309020205020404" pitchFamily="49" charset="0"/>
              </a:rPr>
              <a:t>&gt; T11_2&lt;-</a:t>
            </a:r>
            <a:r>
              <a:rPr lang="en-ZA" sz="1400" dirty="0" err="1">
                <a:latin typeface="Courier New" panose="02070309020205020404" pitchFamily="49" charset="0"/>
                <a:cs typeface="Courier New" panose="02070309020205020404" pitchFamily="49" charset="0"/>
              </a:rPr>
              <a:t>read.table</a:t>
            </a:r>
            <a:r>
              <a:rPr lang="en-ZA" sz="1400" dirty="0">
                <a:latin typeface="Courier New" panose="02070309020205020404" pitchFamily="49" charset="0"/>
                <a:cs typeface="Courier New" panose="02070309020205020404" pitchFamily="49" charset="0"/>
              </a:rPr>
              <a:t>(</a:t>
            </a:r>
            <a:r>
              <a:rPr lang="en-ZA" sz="1400" dirty="0" err="1">
                <a:latin typeface="Courier New" panose="02070309020205020404" pitchFamily="49" charset="0"/>
                <a:cs typeface="Courier New" panose="02070309020205020404" pitchFamily="49" charset="0"/>
              </a:rPr>
              <a:t>file.choose</a:t>
            </a:r>
            <a:r>
              <a:rPr lang="en-ZA" sz="1400" dirty="0">
                <a:latin typeface="Courier New" panose="02070309020205020404" pitchFamily="49" charset="0"/>
                <a:cs typeface="Courier New" panose="02070309020205020404" pitchFamily="49" charset="0"/>
              </a:rPr>
              <a:t>())</a:t>
            </a:r>
          </a:p>
          <a:p>
            <a:r>
              <a:rPr lang="en-ZA" sz="1400" dirty="0" smtClean="0">
                <a:latin typeface="Courier New" panose="02070309020205020404" pitchFamily="49" charset="0"/>
                <a:cs typeface="Courier New" panose="02070309020205020404" pitchFamily="49" charset="0"/>
              </a:rPr>
              <a:t>&gt; </a:t>
            </a:r>
            <a:r>
              <a:rPr lang="en-ZA" sz="1400" dirty="0" err="1" smtClean="0">
                <a:latin typeface="Courier New" panose="02070309020205020404" pitchFamily="49" charset="0"/>
                <a:cs typeface="Courier New" panose="02070309020205020404" pitchFamily="49" charset="0"/>
              </a:rPr>
              <a:t>dimnames</a:t>
            </a:r>
            <a:r>
              <a:rPr lang="en-ZA" sz="1400" dirty="0" smtClean="0">
                <a:latin typeface="Courier New" panose="02070309020205020404" pitchFamily="49" charset="0"/>
                <a:cs typeface="Courier New" panose="02070309020205020404" pitchFamily="49" charset="0"/>
              </a:rPr>
              <a:t>(T11_2</a:t>
            </a:r>
            <a:r>
              <a:rPr lang="en-ZA" sz="1400" dirty="0">
                <a:latin typeface="Courier New" panose="02070309020205020404" pitchFamily="49" charset="0"/>
                <a:cs typeface="Courier New" panose="02070309020205020404" pitchFamily="49" charset="0"/>
              </a:rPr>
              <a:t>) &lt;- list (1:nrow(T11_2), </a:t>
            </a:r>
            <a:r>
              <a:rPr lang="en-ZA" sz="1400" dirty="0" smtClean="0">
                <a:latin typeface="Courier New" panose="02070309020205020404" pitchFamily="49" charset="0"/>
                <a:cs typeface="Courier New" panose="02070309020205020404" pitchFamily="49" charset="0"/>
              </a:rPr>
              <a:t>c</a:t>
            </a:r>
            <a:r>
              <a:rPr lang="en-ZA" sz="1400" dirty="0">
                <a:latin typeface="Courier New" panose="02070309020205020404" pitchFamily="49" charset="0"/>
                <a:cs typeface="Courier New" panose="02070309020205020404" pitchFamily="49" charset="0"/>
              </a:rPr>
              <a:t>("</a:t>
            </a:r>
            <a:r>
              <a:rPr lang="en-ZA" sz="1400" dirty="0" err="1">
                <a:latin typeface="Courier New" panose="02070309020205020404" pitchFamily="49" charset="0"/>
                <a:cs typeface="Courier New" panose="02070309020205020404" pitchFamily="49" charset="0"/>
              </a:rPr>
              <a:t>Country","Gender","Freshwater","Marine</a:t>
            </a:r>
            <a:r>
              <a:rPr lang="en-ZA" sz="1400" dirty="0">
                <a:latin typeface="Courier New" panose="02070309020205020404" pitchFamily="49" charset="0"/>
                <a:cs typeface="Courier New" panose="02070309020205020404" pitchFamily="49" charset="0"/>
              </a:rPr>
              <a:t>"))</a:t>
            </a:r>
          </a:p>
          <a:p>
            <a:r>
              <a:rPr lang="en-ZA" sz="1400" dirty="0">
                <a:latin typeface="Courier New" panose="02070309020205020404" pitchFamily="49" charset="0"/>
                <a:cs typeface="Courier New" panose="02070309020205020404" pitchFamily="49" charset="0"/>
              </a:rPr>
              <a:t>&gt; head(T11_2)</a:t>
            </a:r>
          </a:p>
          <a:p>
            <a:r>
              <a:rPr lang="en-ZA" sz="1400" dirty="0">
                <a:latin typeface="Courier New" panose="02070309020205020404" pitchFamily="49" charset="0"/>
                <a:cs typeface="Courier New" panose="02070309020205020404" pitchFamily="49" charset="0"/>
              </a:rPr>
              <a:t>  Country Gender Freshwater Marine</a:t>
            </a:r>
          </a:p>
          <a:p>
            <a:r>
              <a:rPr lang="en-ZA" sz="1400" dirty="0">
                <a:latin typeface="Courier New" panose="02070309020205020404" pitchFamily="49" charset="0"/>
                <a:cs typeface="Courier New" panose="02070309020205020404" pitchFamily="49" charset="0"/>
              </a:rPr>
              <a:t>1       1      2        108    368</a:t>
            </a:r>
          </a:p>
          <a:p>
            <a:r>
              <a:rPr lang="en-ZA" sz="1400" dirty="0">
                <a:latin typeface="Courier New" panose="02070309020205020404" pitchFamily="49" charset="0"/>
                <a:cs typeface="Courier New" panose="02070309020205020404" pitchFamily="49" charset="0"/>
              </a:rPr>
              <a:t>2       1      1        131    355</a:t>
            </a:r>
          </a:p>
          <a:p>
            <a:r>
              <a:rPr lang="en-ZA" sz="1400" dirty="0">
                <a:latin typeface="Courier New" panose="02070309020205020404" pitchFamily="49" charset="0"/>
                <a:cs typeface="Courier New" panose="02070309020205020404" pitchFamily="49" charset="0"/>
              </a:rPr>
              <a:t>3       1      1        105    469</a:t>
            </a:r>
          </a:p>
          <a:p>
            <a:r>
              <a:rPr lang="en-ZA" sz="1400" dirty="0">
                <a:latin typeface="Courier New" panose="02070309020205020404" pitchFamily="49" charset="0"/>
                <a:cs typeface="Courier New" panose="02070309020205020404" pitchFamily="49" charset="0"/>
              </a:rPr>
              <a:t>4       1      2         86    506</a:t>
            </a:r>
          </a:p>
          <a:p>
            <a:r>
              <a:rPr lang="en-ZA" sz="1400" dirty="0">
                <a:latin typeface="Courier New" panose="02070309020205020404" pitchFamily="49" charset="0"/>
                <a:cs typeface="Courier New" panose="02070309020205020404" pitchFamily="49" charset="0"/>
              </a:rPr>
              <a:t>5       1      1         99    402</a:t>
            </a:r>
          </a:p>
          <a:p>
            <a:r>
              <a:rPr lang="en-ZA" sz="1400" dirty="0" smtClean="0">
                <a:latin typeface="Courier New" panose="02070309020205020404" pitchFamily="49" charset="0"/>
                <a:cs typeface="Courier New" panose="02070309020205020404" pitchFamily="49" charset="0"/>
              </a:rPr>
              <a:t>6       1      </a:t>
            </a:r>
            <a:r>
              <a:rPr lang="en-ZA" sz="1400" dirty="0">
                <a:latin typeface="Courier New" panose="02070309020205020404" pitchFamily="49" charset="0"/>
                <a:cs typeface="Courier New" panose="02070309020205020404" pitchFamily="49" charset="0"/>
              </a:rPr>
              <a:t>2         87    </a:t>
            </a:r>
            <a:r>
              <a:rPr lang="en-ZA" sz="1400" dirty="0" smtClean="0">
                <a:latin typeface="Courier New" panose="02070309020205020404" pitchFamily="49" charset="0"/>
                <a:cs typeface="Courier New" panose="02070309020205020404" pitchFamily="49" charset="0"/>
              </a:rPr>
              <a:t>423</a:t>
            </a:r>
          </a:p>
          <a:p>
            <a:r>
              <a:rPr lang="en-ZA" sz="1200" dirty="0">
                <a:latin typeface="Courier New" panose="02070309020205020404" pitchFamily="49" charset="0"/>
                <a:cs typeface="Courier New" panose="02070309020205020404" pitchFamily="49" charset="0"/>
              </a:rPr>
              <a:t>&gt; table(T11_2$Country)</a:t>
            </a:r>
          </a:p>
          <a:p>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 1  2 </a:t>
            </a:r>
          </a:p>
          <a:p>
            <a:r>
              <a:rPr lang="en-ZA" sz="1200" dirty="0">
                <a:latin typeface="Courier New" panose="02070309020205020404" pitchFamily="49" charset="0"/>
                <a:cs typeface="Courier New" panose="02070309020205020404" pitchFamily="49" charset="0"/>
              </a:rPr>
              <a:t>50 50 </a:t>
            </a:r>
          </a:p>
          <a:p>
            <a:r>
              <a:rPr lang="en-ZA" sz="1200" dirty="0">
                <a:latin typeface="Courier New" panose="02070309020205020404" pitchFamily="49" charset="0"/>
                <a:cs typeface="Courier New" panose="02070309020205020404" pitchFamily="49" charset="0"/>
              </a:rPr>
              <a:t>&gt; attach(T11_2)</a:t>
            </a:r>
          </a:p>
          <a:p>
            <a:endParaRPr lang="en-ZA" sz="1200" dirty="0" smtClean="0">
              <a:latin typeface="Courier New" panose="02070309020205020404" pitchFamily="49" charset="0"/>
              <a:cs typeface="Courier New" panose="02070309020205020404" pitchFamily="49" charset="0"/>
            </a:endParaRPr>
          </a:p>
          <a:p>
            <a:endParaRPr lang="en-ZA" sz="1200" dirty="0">
              <a:latin typeface="Courier New" panose="02070309020205020404" pitchFamily="49" charset="0"/>
              <a:cs typeface="Courier New" panose="02070309020205020404" pitchFamily="49" charset="0"/>
            </a:endParaRPr>
          </a:p>
          <a:p>
            <a:endParaRPr lang="en-ZA" sz="1200" dirty="0" smtClean="0">
              <a:latin typeface="Courier New" panose="02070309020205020404" pitchFamily="49" charset="0"/>
              <a:cs typeface="Courier New" panose="02070309020205020404" pitchFamily="49" charset="0"/>
            </a:endParaRPr>
          </a:p>
          <a:p>
            <a:endParaRPr lang="en-ZA" sz="1200" dirty="0">
              <a:latin typeface="Courier New" panose="02070309020205020404" pitchFamily="49" charset="0"/>
              <a:cs typeface="Courier New" panose="02070309020205020404" pitchFamily="49" charset="0"/>
            </a:endParaRPr>
          </a:p>
          <a:p>
            <a:endParaRPr lang="en-ZA" sz="1200" dirty="0">
              <a:latin typeface="Courier New" panose="02070309020205020404" pitchFamily="49" charset="0"/>
              <a:cs typeface="Courier New" panose="02070309020205020404" pitchFamily="49"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3050" y="3480316"/>
            <a:ext cx="4167187" cy="2860006"/>
          </a:xfrm>
          <a:prstGeom prst="rect">
            <a:avLst/>
          </a:prstGeom>
        </p:spPr>
      </p:pic>
    </p:spTree>
    <p:extLst>
      <p:ext uri="{BB962C8B-B14F-4D97-AF65-F5344CB8AC3E}">
        <p14:creationId xmlns:p14="http://schemas.microsoft.com/office/powerpoint/2010/main" val="1347997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58045"/>
            <a:ext cx="11855450" cy="6740307"/>
          </a:xfrm>
          <a:prstGeom prst="rect">
            <a:avLst/>
          </a:prstGeom>
          <a:noFill/>
          <a:ln>
            <a:solidFill>
              <a:schemeClr val="accent6"/>
            </a:solidFill>
          </a:ln>
        </p:spPr>
        <p:txBody>
          <a:bodyPr wrap="square" rtlCol="0">
            <a:spAutoFit/>
          </a:bodyPr>
          <a:lstStyle/>
          <a:p>
            <a:r>
              <a:rPr lang="en-ZA" sz="1200" dirty="0" smtClean="0">
                <a:latin typeface="Courier New" panose="02070309020205020404" pitchFamily="49" charset="0"/>
                <a:cs typeface="Courier New" panose="02070309020205020404" pitchFamily="49" charset="0"/>
              </a:rPr>
              <a:t>&gt; fit2&lt;-</a:t>
            </a:r>
            <a:r>
              <a:rPr lang="en-ZA" sz="1200" dirty="0" err="1" smtClean="0">
                <a:latin typeface="Courier New" panose="02070309020205020404" pitchFamily="49" charset="0"/>
                <a:cs typeface="Courier New" panose="02070309020205020404" pitchFamily="49" charset="0"/>
              </a:rPr>
              <a:t>lda</a:t>
            </a:r>
            <a:r>
              <a:rPr lang="en-ZA" sz="1200" dirty="0" smtClean="0">
                <a:latin typeface="Courier New" panose="02070309020205020404" pitchFamily="49" charset="0"/>
                <a:cs typeface="Courier New" panose="02070309020205020404" pitchFamily="49" charset="0"/>
              </a:rPr>
              <a:t>(</a:t>
            </a:r>
            <a:r>
              <a:rPr lang="en-ZA" sz="1200" dirty="0" err="1" smtClean="0">
                <a:latin typeface="Courier New" panose="02070309020205020404" pitchFamily="49" charset="0"/>
                <a:cs typeface="Courier New" panose="02070309020205020404" pitchFamily="49" charset="0"/>
              </a:rPr>
              <a:t>Country~Freshwater+Marine,data</a:t>
            </a:r>
            <a:r>
              <a:rPr lang="en-ZA" sz="1200" dirty="0" smtClean="0">
                <a:latin typeface="Courier New" panose="02070309020205020404" pitchFamily="49" charset="0"/>
                <a:cs typeface="Courier New" panose="02070309020205020404" pitchFamily="49" charset="0"/>
              </a:rPr>
              <a:t>=T11_2)</a:t>
            </a:r>
          </a:p>
          <a:p>
            <a:r>
              <a:rPr lang="en-ZA" sz="1200" dirty="0" smtClean="0">
                <a:latin typeface="Courier New" panose="02070309020205020404" pitchFamily="49" charset="0"/>
                <a:cs typeface="Courier New" panose="02070309020205020404" pitchFamily="49" charset="0"/>
              </a:rPr>
              <a:t>&gt; fit2</a:t>
            </a:r>
          </a:p>
          <a:p>
            <a:r>
              <a:rPr lang="en-ZA" sz="1200" dirty="0" smtClean="0">
                <a:latin typeface="Courier New" panose="02070309020205020404" pitchFamily="49" charset="0"/>
                <a:cs typeface="Courier New" panose="02070309020205020404" pitchFamily="49" charset="0"/>
              </a:rPr>
              <a:t>Call:</a:t>
            </a:r>
          </a:p>
          <a:p>
            <a:r>
              <a:rPr lang="en-ZA" sz="1200" dirty="0" err="1" smtClean="0">
                <a:latin typeface="Courier New" panose="02070309020205020404" pitchFamily="49" charset="0"/>
                <a:cs typeface="Courier New" panose="02070309020205020404" pitchFamily="49" charset="0"/>
              </a:rPr>
              <a:t>lda</a:t>
            </a:r>
            <a:r>
              <a:rPr lang="en-ZA" sz="1200" dirty="0" smtClean="0">
                <a:latin typeface="Courier New" panose="02070309020205020404" pitchFamily="49" charset="0"/>
                <a:cs typeface="Courier New" panose="02070309020205020404" pitchFamily="49" charset="0"/>
              </a:rPr>
              <a:t>(Country ~ Freshwater + Marine, data = T11_2)</a:t>
            </a:r>
          </a:p>
          <a:p>
            <a:r>
              <a:rPr lang="en-ZA" sz="1200" dirty="0" smtClean="0">
                <a:latin typeface="Courier New" panose="02070309020205020404" pitchFamily="49" charset="0"/>
                <a:cs typeface="Courier New" panose="02070309020205020404" pitchFamily="49" charset="0"/>
              </a:rPr>
              <a:t>Prior probabilities of groups:</a:t>
            </a:r>
          </a:p>
          <a:p>
            <a:r>
              <a:rPr lang="en-ZA" sz="1200" dirty="0" smtClean="0">
                <a:latin typeface="Courier New" panose="02070309020205020404" pitchFamily="49" charset="0"/>
                <a:cs typeface="Courier New" panose="02070309020205020404" pitchFamily="49" charset="0"/>
              </a:rPr>
              <a:t>  1   2 </a:t>
            </a:r>
          </a:p>
          <a:p>
            <a:r>
              <a:rPr lang="en-ZA" sz="1200" dirty="0" smtClean="0">
                <a:latin typeface="Courier New" panose="02070309020205020404" pitchFamily="49" charset="0"/>
                <a:cs typeface="Courier New" panose="02070309020205020404" pitchFamily="49" charset="0"/>
              </a:rPr>
              <a:t>0.5 0.5 </a:t>
            </a:r>
          </a:p>
          <a:p>
            <a:r>
              <a:rPr lang="en-ZA" sz="1200" dirty="0" smtClean="0">
                <a:latin typeface="Courier New" panose="02070309020205020404" pitchFamily="49" charset="0"/>
                <a:cs typeface="Courier New" panose="02070309020205020404" pitchFamily="49" charset="0"/>
              </a:rPr>
              <a:t>Group means:</a:t>
            </a:r>
          </a:p>
          <a:p>
            <a:r>
              <a:rPr lang="en-ZA" sz="1200" dirty="0" smtClean="0">
                <a:latin typeface="Courier New" panose="02070309020205020404" pitchFamily="49" charset="0"/>
                <a:cs typeface="Courier New" panose="02070309020205020404" pitchFamily="49" charset="0"/>
              </a:rPr>
              <a:t>  Freshwater Marine</a:t>
            </a:r>
          </a:p>
          <a:p>
            <a:r>
              <a:rPr lang="en-ZA" sz="1200" dirty="0" smtClean="0">
                <a:latin typeface="Courier New" panose="02070309020205020404" pitchFamily="49" charset="0"/>
                <a:cs typeface="Courier New" panose="02070309020205020404" pitchFamily="49" charset="0"/>
              </a:rPr>
              <a:t>1      98.38 429.66</a:t>
            </a:r>
          </a:p>
          <a:p>
            <a:r>
              <a:rPr lang="en-ZA" sz="1200" dirty="0" smtClean="0">
                <a:latin typeface="Courier New" panose="02070309020205020404" pitchFamily="49" charset="0"/>
                <a:cs typeface="Courier New" panose="02070309020205020404" pitchFamily="49" charset="0"/>
              </a:rPr>
              <a:t>2     137.46 366.62</a:t>
            </a:r>
          </a:p>
          <a:p>
            <a:r>
              <a:rPr lang="en-ZA" sz="1200" dirty="0" smtClean="0">
                <a:latin typeface="Courier New" panose="02070309020205020404" pitchFamily="49" charset="0"/>
                <a:cs typeface="Courier New" panose="02070309020205020404" pitchFamily="49" charset="0"/>
              </a:rPr>
              <a:t>Coefficients of linear discriminants:</a:t>
            </a:r>
          </a:p>
          <a:p>
            <a:r>
              <a:rPr lang="en-ZA" sz="1200" dirty="0" smtClean="0">
                <a:latin typeface="Courier New" panose="02070309020205020404" pitchFamily="49" charset="0"/>
                <a:cs typeface="Courier New" panose="02070309020205020404" pitchFamily="49" charset="0"/>
              </a:rPr>
              <a:t>                   LD1</a:t>
            </a:r>
          </a:p>
          <a:p>
            <a:r>
              <a:rPr lang="en-ZA" sz="1200" dirty="0" smtClean="0">
                <a:latin typeface="Courier New" panose="02070309020205020404" pitchFamily="49" charset="0"/>
                <a:cs typeface="Courier New" panose="02070309020205020404" pitchFamily="49" charset="0"/>
              </a:rPr>
              <a:t>Freshwater  0.04458572</a:t>
            </a:r>
          </a:p>
          <a:p>
            <a:r>
              <a:rPr lang="en-ZA" sz="1200" dirty="0" smtClean="0">
                <a:latin typeface="Courier New" panose="02070309020205020404" pitchFamily="49" charset="0"/>
                <a:cs typeface="Courier New" panose="02070309020205020404" pitchFamily="49" charset="0"/>
              </a:rPr>
              <a:t>Marine     -0.01803856</a:t>
            </a:r>
          </a:p>
          <a:p>
            <a:endParaRPr lang="en-ZA" sz="1200" dirty="0" smtClean="0">
              <a:latin typeface="Courier New" panose="02070309020205020404" pitchFamily="49" charset="0"/>
              <a:cs typeface="Courier New" panose="02070309020205020404" pitchFamily="49" charset="0"/>
            </a:endParaRPr>
          </a:p>
          <a:p>
            <a:r>
              <a:rPr lang="en-ZA" sz="1200" dirty="0" smtClean="0">
                <a:latin typeface="Courier New" panose="02070309020205020404" pitchFamily="49" charset="0"/>
                <a:cs typeface="Courier New" panose="02070309020205020404" pitchFamily="49" charset="0"/>
              </a:rPr>
              <a:t>&gt; </a:t>
            </a:r>
            <a:r>
              <a:rPr lang="en-ZA" sz="1200" dirty="0" err="1" smtClean="0">
                <a:latin typeface="Courier New" panose="02070309020205020404" pitchFamily="49" charset="0"/>
                <a:cs typeface="Courier New" panose="02070309020205020404" pitchFamily="49" charset="0"/>
              </a:rPr>
              <a:t>fit.hat</a:t>
            </a:r>
            <a:r>
              <a:rPr lang="en-ZA" sz="1200" dirty="0" smtClean="0">
                <a:latin typeface="Courier New" panose="02070309020205020404" pitchFamily="49" charset="0"/>
                <a:cs typeface="Courier New" panose="02070309020205020404" pitchFamily="49" charset="0"/>
              </a:rPr>
              <a:t>&lt;-predict(fit2)</a:t>
            </a:r>
          </a:p>
          <a:p>
            <a:r>
              <a:rPr lang="en-ZA" sz="1200" dirty="0">
                <a:latin typeface="Courier New" panose="02070309020205020404" pitchFamily="49" charset="0"/>
                <a:cs typeface="Courier New" panose="02070309020205020404" pitchFamily="49" charset="0"/>
              </a:rPr>
              <a:t>&gt; </a:t>
            </a:r>
            <a:r>
              <a:rPr lang="en-ZA" sz="1200" dirty="0" err="1">
                <a:latin typeface="Courier New" panose="02070309020205020404" pitchFamily="49" charset="0"/>
                <a:cs typeface="Courier New" panose="02070309020205020404" pitchFamily="49" charset="0"/>
              </a:rPr>
              <a:t>fit.hat$class</a:t>
            </a:r>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  [1] 2 2 1 1 1 1 1 1 1 1 1 2 2 1 1 1 1 1 1 1 1 1 1 1 1 1 1 1 1 2 1 2 1 1 1 1 1 1 1 1 1 1 1 1 1 1 1 1 1 1 2 2 2 2 2</a:t>
            </a:r>
          </a:p>
          <a:p>
            <a:r>
              <a:rPr lang="en-ZA" sz="1200" dirty="0">
                <a:latin typeface="Courier New" panose="02070309020205020404" pitchFamily="49" charset="0"/>
                <a:cs typeface="Courier New" panose="02070309020205020404" pitchFamily="49" charset="0"/>
              </a:rPr>
              <a:t> [56] 2 2 2 2 2 2 2 2 2 2 2 2 2 2 2 1 2 2 2 2 2 2 2 2 2 2 2 2 2 2 2 2 2 2 2 2 2 2 2 2 2 2 2 2 2</a:t>
            </a:r>
          </a:p>
          <a:p>
            <a:r>
              <a:rPr lang="en-ZA" sz="1200" dirty="0">
                <a:latin typeface="Courier New" panose="02070309020205020404" pitchFamily="49" charset="0"/>
                <a:cs typeface="Courier New" panose="02070309020205020404" pitchFamily="49" charset="0"/>
              </a:rPr>
              <a:t>Levels: 1 2</a:t>
            </a:r>
            <a:endParaRPr lang="en-ZA" sz="1200" dirty="0" smtClean="0">
              <a:latin typeface="Courier New" panose="02070309020205020404" pitchFamily="49" charset="0"/>
              <a:cs typeface="Courier New" panose="02070309020205020404" pitchFamily="49" charset="0"/>
            </a:endParaRPr>
          </a:p>
          <a:p>
            <a:r>
              <a:rPr lang="en-ZA" sz="1200" dirty="0" smtClean="0">
                <a:latin typeface="Courier New" panose="02070309020205020404" pitchFamily="49" charset="0"/>
                <a:cs typeface="Courier New" panose="02070309020205020404" pitchFamily="49" charset="0"/>
              </a:rPr>
              <a:t>&gt; tab2 &lt;- table(T11_2$Country, </a:t>
            </a:r>
            <a:r>
              <a:rPr lang="en-ZA" sz="1200" dirty="0" err="1" smtClean="0">
                <a:latin typeface="Courier New" panose="02070309020205020404" pitchFamily="49" charset="0"/>
                <a:cs typeface="Courier New" panose="02070309020205020404" pitchFamily="49" charset="0"/>
              </a:rPr>
              <a:t>fit.hat$class</a:t>
            </a:r>
            <a:r>
              <a:rPr lang="en-ZA" sz="1200" dirty="0" smtClean="0">
                <a:latin typeface="Courier New" panose="02070309020205020404" pitchFamily="49" charset="0"/>
                <a:cs typeface="Courier New" panose="02070309020205020404" pitchFamily="49" charset="0"/>
              </a:rPr>
              <a:t>) </a:t>
            </a:r>
          </a:p>
          <a:p>
            <a:r>
              <a:rPr lang="en-ZA" sz="1200" dirty="0" smtClean="0">
                <a:latin typeface="Courier New" panose="02070309020205020404" pitchFamily="49" charset="0"/>
                <a:cs typeface="Courier New" panose="02070309020205020404" pitchFamily="49" charset="0"/>
              </a:rPr>
              <a:t>&gt; tab2 </a:t>
            </a:r>
          </a:p>
          <a:p>
            <a:r>
              <a:rPr lang="en-ZA" sz="1200" dirty="0" smtClean="0">
                <a:latin typeface="Courier New" panose="02070309020205020404" pitchFamily="49" charset="0"/>
                <a:cs typeface="Courier New" panose="02070309020205020404" pitchFamily="49" charset="0"/>
              </a:rPr>
              <a:t>     1  2</a:t>
            </a:r>
          </a:p>
          <a:p>
            <a:r>
              <a:rPr lang="en-ZA" sz="1200" dirty="0" smtClean="0">
                <a:latin typeface="Courier New" panose="02070309020205020404" pitchFamily="49" charset="0"/>
                <a:cs typeface="Courier New" panose="02070309020205020404" pitchFamily="49" charset="0"/>
              </a:rPr>
              <a:t>  1 44  6</a:t>
            </a:r>
          </a:p>
          <a:p>
            <a:r>
              <a:rPr lang="en-ZA" sz="1200" dirty="0" smtClean="0">
                <a:latin typeface="Courier New" panose="02070309020205020404" pitchFamily="49" charset="0"/>
                <a:cs typeface="Courier New" panose="02070309020205020404" pitchFamily="49" charset="0"/>
              </a:rPr>
              <a:t>  2  1 49</a:t>
            </a:r>
          </a:p>
          <a:p>
            <a:r>
              <a:rPr lang="en-ZA" sz="1200" dirty="0" smtClean="0">
                <a:latin typeface="Courier New" panose="02070309020205020404" pitchFamily="49" charset="0"/>
                <a:cs typeface="Courier New" panose="02070309020205020404" pitchFamily="49" charset="0"/>
              </a:rPr>
              <a:t>&gt; conCV12 &lt;- </a:t>
            </a:r>
            <a:r>
              <a:rPr lang="en-ZA" sz="1200" dirty="0" err="1" smtClean="0">
                <a:latin typeface="Courier New" panose="02070309020205020404" pitchFamily="49" charset="0"/>
                <a:cs typeface="Courier New" panose="02070309020205020404" pitchFamily="49" charset="0"/>
              </a:rPr>
              <a:t>rbind</a:t>
            </a:r>
            <a:r>
              <a:rPr lang="en-ZA" sz="1200" dirty="0" smtClean="0">
                <a:latin typeface="Courier New" panose="02070309020205020404" pitchFamily="49" charset="0"/>
                <a:cs typeface="Courier New" panose="02070309020205020404" pitchFamily="49" charset="0"/>
              </a:rPr>
              <a:t>(tab2[1, ]/sum(tab2[1, ]), tab2[2, ]/sum(tab2[2, ]))</a:t>
            </a:r>
          </a:p>
          <a:p>
            <a:r>
              <a:rPr lang="en-ZA" sz="1200" dirty="0" smtClean="0">
                <a:latin typeface="Courier New" panose="02070309020205020404" pitchFamily="49" charset="0"/>
                <a:cs typeface="Courier New" panose="02070309020205020404" pitchFamily="49" charset="0"/>
              </a:rPr>
              <a:t>&gt; </a:t>
            </a:r>
            <a:r>
              <a:rPr lang="en-ZA" sz="1200" dirty="0" err="1" smtClean="0">
                <a:latin typeface="Courier New" panose="02070309020205020404" pitchFamily="49" charset="0"/>
                <a:cs typeface="Courier New" panose="02070309020205020404" pitchFamily="49" charset="0"/>
              </a:rPr>
              <a:t>dimnames</a:t>
            </a:r>
            <a:r>
              <a:rPr lang="en-ZA" sz="1200" dirty="0" smtClean="0">
                <a:latin typeface="Courier New" panose="02070309020205020404" pitchFamily="49" charset="0"/>
                <a:cs typeface="Courier New" panose="02070309020205020404" pitchFamily="49" charset="0"/>
              </a:rPr>
              <a:t>(conCV12) &lt;- list(Actual = c("1", "2"), "Predicted (cv)" = c("1","2")) </a:t>
            </a:r>
          </a:p>
          <a:p>
            <a:endParaRPr lang="en-ZA" sz="1200" dirty="0" smtClean="0">
              <a:latin typeface="Courier New" panose="02070309020205020404" pitchFamily="49" charset="0"/>
              <a:cs typeface="Courier New" panose="02070309020205020404" pitchFamily="49" charset="0"/>
            </a:endParaRPr>
          </a:p>
          <a:p>
            <a:endParaRPr lang="en-ZA" sz="1200" dirty="0" smtClean="0">
              <a:latin typeface="Courier New" panose="02070309020205020404" pitchFamily="49" charset="0"/>
              <a:cs typeface="Courier New" panose="02070309020205020404" pitchFamily="49" charset="0"/>
            </a:endParaRPr>
          </a:p>
          <a:p>
            <a:r>
              <a:rPr lang="en-ZA" sz="1200" dirty="0" smtClean="0">
                <a:latin typeface="Courier New" panose="02070309020205020404" pitchFamily="49" charset="0"/>
                <a:cs typeface="Courier New" panose="02070309020205020404" pitchFamily="49" charset="0"/>
              </a:rPr>
              <a:t>&gt; print(round(conCV12, 3))</a:t>
            </a:r>
          </a:p>
          <a:p>
            <a:r>
              <a:rPr lang="en-ZA" sz="1200" dirty="0" smtClean="0">
                <a:latin typeface="Courier New" panose="02070309020205020404" pitchFamily="49" charset="0"/>
                <a:cs typeface="Courier New" panose="02070309020205020404" pitchFamily="49" charset="0"/>
              </a:rPr>
              <a:t>      Predicted (cv)</a:t>
            </a:r>
          </a:p>
          <a:p>
            <a:r>
              <a:rPr lang="en-ZA" sz="1200" dirty="0" smtClean="0">
                <a:latin typeface="Courier New" panose="02070309020205020404" pitchFamily="49" charset="0"/>
                <a:cs typeface="Courier New" panose="02070309020205020404" pitchFamily="49" charset="0"/>
              </a:rPr>
              <a:t>Actual    1    2</a:t>
            </a:r>
          </a:p>
          <a:p>
            <a:r>
              <a:rPr lang="en-ZA" sz="1200" dirty="0" smtClean="0">
                <a:latin typeface="Courier New" panose="02070309020205020404" pitchFamily="49" charset="0"/>
                <a:cs typeface="Courier New" panose="02070309020205020404" pitchFamily="49" charset="0"/>
              </a:rPr>
              <a:t>     1 0.88 0.12</a:t>
            </a:r>
          </a:p>
          <a:p>
            <a:r>
              <a:rPr lang="en-ZA" sz="1200" dirty="0" smtClean="0">
                <a:latin typeface="Courier New" panose="02070309020205020404" pitchFamily="49" charset="0"/>
                <a:cs typeface="Courier New" panose="02070309020205020404" pitchFamily="49" charset="0"/>
              </a:rPr>
              <a:t>     2 0.02 0.98</a:t>
            </a:r>
            <a:endParaRPr lang="en-ZA" sz="1200" dirty="0">
              <a:latin typeface="Courier New" panose="02070309020205020404" pitchFamily="49" charset="0"/>
              <a:cs typeface="Courier New" panose="02070309020205020404" pitchFamily="49" charset="0"/>
            </a:endParaRPr>
          </a:p>
        </p:txBody>
      </p:sp>
      <p:sp>
        <p:nvSpPr>
          <p:cNvPr id="5" name="Oval Callout 4"/>
          <p:cNvSpPr/>
          <p:nvPr/>
        </p:nvSpPr>
        <p:spPr>
          <a:xfrm>
            <a:off x="5848350" y="384200"/>
            <a:ext cx="2901950" cy="1016000"/>
          </a:xfrm>
          <a:prstGeom prst="wedgeEllipseCallout">
            <a:avLst>
              <a:gd name="adj1" fmla="val -89104"/>
              <a:gd name="adj2" fmla="val -45625"/>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The </a:t>
            </a:r>
            <a:r>
              <a:rPr lang="en-ZA" sz="1100" dirty="0" err="1" smtClean="0"/>
              <a:t>lda</a:t>
            </a:r>
            <a:r>
              <a:rPr lang="en-ZA" sz="1100" dirty="0" smtClean="0"/>
              <a:t> function in the MASS library performs a linear discriminant analysis</a:t>
            </a:r>
            <a:endParaRPr lang="en-ZA" sz="1100" dirty="0"/>
          </a:p>
        </p:txBody>
      </p:sp>
      <p:sp>
        <p:nvSpPr>
          <p:cNvPr id="6" name="Oval Callout 5"/>
          <p:cNvSpPr/>
          <p:nvPr/>
        </p:nvSpPr>
        <p:spPr>
          <a:xfrm>
            <a:off x="3905250" y="2180873"/>
            <a:ext cx="2794000" cy="1193800"/>
          </a:xfrm>
          <a:prstGeom prst="wedgeEllipseCallout">
            <a:avLst>
              <a:gd name="adj1" fmla="val -96742"/>
              <a:gd name="adj2" fmla="val -266"/>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This is the estimated linear discriminant function . You will substitute the values for Freshwater and Marine into this function and compare the outcome with a cut-off of 0.</a:t>
            </a:r>
            <a:endParaRPr lang="en-ZA" sz="1100" dirty="0"/>
          </a:p>
        </p:txBody>
      </p:sp>
      <p:sp>
        <p:nvSpPr>
          <p:cNvPr id="7" name="Oval Callout 6"/>
          <p:cNvSpPr/>
          <p:nvPr/>
        </p:nvSpPr>
        <p:spPr>
          <a:xfrm>
            <a:off x="8426450" y="3623027"/>
            <a:ext cx="2368550" cy="1377950"/>
          </a:xfrm>
          <a:prstGeom prst="wedgeEllipseCallout">
            <a:avLst>
              <a:gd name="adj1" fmla="val -116007"/>
              <a:gd name="adj2" fmla="val 50518"/>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We calculate row percentages to tell us what percentage of observations in each observed group(country) were correctly and incorrectly classified by model.</a:t>
            </a:r>
            <a:endParaRPr lang="en-ZA" sz="1100" dirty="0"/>
          </a:p>
        </p:txBody>
      </p:sp>
      <p:sp>
        <p:nvSpPr>
          <p:cNvPr id="8" name="Oval Callout 7"/>
          <p:cNvSpPr/>
          <p:nvPr/>
        </p:nvSpPr>
        <p:spPr>
          <a:xfrm>
            <a:off x="4197350" y="5689600"/>
            <a:ext cx="2749550" cy="1016000"/>
          </a:xfrm>
          <a:prstGeom prst="wedgeEllipseCallout">
            <a:avLst>
              <a:gd name="adj1" fmla="val -96815"/>
              <a:gd name="adj2" fmla="val -4375"/>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A much more useful and labelled table, showing us that 88% of salmon in country 1 and 98% of salmon in country 2 were correctly classified.</a:t>
            </a:r>
            <a:endParaRPr lang="en-ZA" sz="1100" dirty="0"/>
          </a:p>
        </p:txBody>
      </p:sp>
      <mc:AlternateContent xmlns:mc="http://schemas.openxmlformats.org/markup-compatibility/2006" xmlns:a14="http://schemas.microsoft.com/office/drawing/2010/main">
        <mc:Choice Requires="a14">
          <p:sp>
            <p:nvSpPr>
              <p:cNvPr id="10" name="Rectangle 9"/>
              <p:cNvSpPr/>
              <p:nvPr/>
            </p:nvSpPr>
            <p:spPr>
              <a:xfrm>
                <a:off x="5378450" y="1714173"/>
                <a:ext cx="6096000" cy="426079"/>
              </a:xfrm>
              <a:prstGeom prst="rect">
                <a:avLst/>
              </a:prstGeom>
              <a:ln>
                <a:solidFill>
                  <a:schemeClr val="accent6"/>
                </a:solidFill>
              </a:ln>
            </p:spPr>
            <p:txBody>
              <a:bodyPr>
                <a:spAutoFit/>
              </a:bodyPr>
              <a:lstStyle/>
              <a:p>
                <a:pPr/>
                <a14:m>
                  <m:oMathPara xmlns:m="http://schemas.openxmlformats.org/officeDocument/2006/math">
                    <m:oMathParaPr>
                      <m:jc m:val="centerGroup"/>
                    </m:oMathParaPr>
                    <m:oMath xmlns:m="http://schemas.openxmlformats.org/officeDocument/2006/math">
                      <m:r>
                        <a:rPr lang="en-ZA" i="1" smtClean="0">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2</m:t>
                          </m:r>
                        </m:sub>
                      </m:sSub>
                      <m:sSup>
                        <m:sSupPr>
                          <m:ctrlPr>
                            <a:rPr lang="en-ZA" b="1" i="1">
                              <a:latin typeface="Cambria Math" panose="02040503050406030204" pitchFamily="18" charset="0"/>
                            </a:rPr>
                          </m:ctrlPr>
                        </m:sSupPr>
                        <m:e>
                          <m:r>
                            <a:rPr lang="en-ZA" b="1" i="1">
                              <a:latin typeface="Cambria Math" panose="02040503050406030204" pitchFamily="18" charset="0"/>
                            </a:rPr>
                            <m:t>)</m:t>
                          </m:r>
                        </m:e>
                        <m:sup>
                          <m:r>
                            <a:rPr lang="en-ZA" b="1" i="1">
                              <a:latin typeface="Cambria Math" panose="02040503050406030204" pitchFamily="18" charset="0"/>
                            </a:rPr>
                            <m:t>′</m:t>
                          </m:r>
                        </m:sup>
                      </m:sSup>
                      <m:sSup>
                        <m:sSupPr>
                          <m:ctrlPr>
                            <a:rPr lang="en-ZA" b="1" i="1">
                              <a:latin typeface="Cambria Math" panose="02040503050406030204" pitchFamily="18" charset="0"/>
                            </a:rPr>
                          </m:ctrlPr>
                        </m:sSupPr>
                        <m:e>
                          <m:sSub>
                            <m:sSubPr>
                              <m:ctrlPr>
                                <a:rPr lang="en-ZA" b="1" i="1">
                                  <a:latin typeface="Cambria Math" panose="02040503050406030204" pitchFamily="18" charset="0"/>
                                </a:rPr>
                              </m:ctrlPr>
                            </m:sSubPr>
                            <m:e>
                              <m:r>
                                <a:rPr lang="en-ZA" b="1" i="1">
                                  <a:latin typeface="Cambria Math" panose="02040503050406030204" pitchFamily="18" charset="0"/>
                                </a:rPr>
                                <m:t>𝑺</m:t>
                              </m:r>
                            </m:e>
                            <m:sub>
                              <m:r>
                                <a:rPr lang="en-ZA" b="1" i="1">
                                  <a:latin typeface="Cambria Math" panose="02040503050406030204" pitchFamily="18" charset="0"/>
                                </a:rPr>
                                <m:t>𝒑</m:t>
                              </m:r>
                            </m:sub>
                          </m:sSub>
                        </m:e>
                        <m:sup>
                          <m:r>
                            <a:rPr lang="en-ZA" b="1" i="1">
                              <a:latin typeface="Cambria Math" panose="02040503050406030204" pitchFamily="18" charset="0"/>
                            </a:rPr>
                            <m:t>−</m:t>
                          </m:r>
                          <m:r>
                            <a:rPr lang="en-ZA" b="1" i="1">
                              <a:latin typeface="Cambria Math" panose="02040503050406030204" pitchFamily="18" charset="0"/>
                            </a:rPr>
                            <m:t>𝟏</m:t>
                          </m:r>
                        </m:sup>
                      </m:sSup>
                      <m:r>
                        <a:rPr lang="en-ZA" b="1" i="1">
                          <a:latin typeface="Cambria Math" panose="02040503050406030204" pitchFamily="18" charset="0"/>
                        </a:rPr>
                        <m:t>𝒙</m:t>
                      </m:r>
                      <m:r>
                        <a:rPr lang="en-ZA" i="1">
                          <a:latin typeface="Cambria Math" panose="02040503050406030204" pitchFamily="18" charset="0"/>
                        </a:rPr>
                        <m:t>−1/2(</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b="1"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2</m:t>
                          </m:r>
                        </m:sub>
                      </m:sSub>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m:t>
                          </m:r>
                        </m:sup>
                      </m:sSup>
                      <m:sSup>
                        <m:sSupPr>
                          <m:ctrlPr>
                            <a:rPr lang="en-ZA" i="1">
                              <a:latin typeface="Cambria Math" panose="02040503050406030204" pitchFamily="18" charset="0"/>
                            </a:rPr>
                          </m:ctrlPr>
                        </m:sSupPr>
                        <m:e>
                          <m:sSub>
                            <m:sSubPr>
                              <m:ctrlPr>
                                <a:rPr lang="en-ZA" i="1">
                                  <a:latin typeface="Cambria Math" panose="02040503050406030204" pitchFamily="18" charset="0"/>
                                </a:rPr>
                              </m:ctrlPr>
                            </m:sSubPr>
                            <m:e>
                              <m:r>
                                <a:rPr lang="en-ZA" b="1" i="1">
                                  <a:latin typeface="Cambria Math" panose="02040503050406030204" pitchFamily="18" charset="0"/>
                                </a:rPr>
                                <m:t>𝑺</m:t>
                              </m:r>
                            </m:e>
                            <m:sub>
                              <m:r>
                                <a:rPr lang="en-ZA" i="1">
                                  <a:latin typeface="Cambria Math" panose="02040503050406030204" pitchFamily="18" charset="0"/>
                                </a:rPr>
                                <m:t>𝑝</m:t>
                              </m:r>
                            </m:sub>
                          </m:sSub>
                        </m:e>
                        <m:sup>
                          <m:r>
                            <a:rPr lang="en-ZA" i="1">
                              <a:latin typeface="Cambria Math" panose="02040503050406030204" pitchFamily="18" charset="0"/>
                            </a:rPr>
                            <m:t>−1</m:t>
                          </m:r>
                        </m:sup>
                      </m:sSup>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b="1" i="1">
                                  <a:latin typeface="Cambria Math" panose="02040503050406030204" pitchFamily="18" charset="0"/>
                                </a:rPr>
                                <m:t>𝒙</m:t>
                              </m:r>
                            </m:e>
                          </m:acc>
                        </m:e>
                        <m:sub>
                          <m:r>
                            <a:rPr lang="en-ZA" i="1">
                              <a:latin typeface="Cambria Math" panose="02040503050406030204" pitchFamily="18" charset="0"/>
                            </a:rPr>
                            <m:t>2</m:t>
                          </m:r>
                        </m:sub>
                      </m:sSub>
                      <m:r>
                        <a:rPr lang="en-ZA" i="1">
                          <a:latin typeface="Cambria Math" panose="02040503050406030204" pitchFamily="18" charset="0"/>
                        </a:rPr>
                        <m:t>)</m:t>
                      </m:r>
                      <m:r>
                        <a:rPr lang="en-ZA" i="1">
                          <a:latin typeface="Cambria Math" panose="02040503050406030204" pitchFamily="18" charset="0"/>
                          <a:ea typeface="Cambria Math" panose="02040503050406030204" pitchFamily="18" charset="0"/>
                        </a:rPr>
                        <m:t>≥</m:t>
                      </m:r>
                      <m:r>
                        <a:rPr lang="en-ZA" b="0" i="1" smtClean="0">
                          <a:latin typeface="Cambria Math" panose="02040503050406030204" pitchFamily="18" charset="0"/>
                          <a:ea typeface="Cambria Math" panose="02040503050406030204" pitchFamily="18" charset="0"/>
                        </a:rPr>
                        <m:t>0</m:t>
                      </m:r>
                    </m:oMath>
                  </m:oMathPara>
                </a14:m>
                <a:endParaRPr lang="en-ZA" dirty="0"/>
              </a:p>
            </p:txBody>
          </p:sp>
        </mc:Choice>
        <mc:Fallback xmlns="">
          <p:sp>
            <p:nvSpPr>
              <p:cNvPr id="10" name="Rectangle 9"/>
              <p:cNvSpPr>
                <a:spLocks noRot="1" noChangeAspect="1" noMove="1" noResize="1" noEditPoints="1" noAdjustHandles="1" noChangeArrowheads="1" noChangeShapeType="1" noTextEdit="1"/>
              </p:cNvSpPr>
              <p:nvPr/>
            </p:nvSpPr>
            <p:spPr>
              <a:xfrm>
                <a:off x="5378450" y="1714173"/>
                <a:ext cx="6096000" cy="426079"/>
              </a:xfrm>
              <a:prstGeom prst="rect">
                <a:avLst/>
              </a:prstGeom>
              <a:blipFill rotWithShape="0">
                <a:blip r:embed="rId2"/>
                <a:stretch>
                  <a:fillRect b="-5556"/>
                </a:stretch>
              </a:blipFill>
              <a:ln>
                <a:solidFill>
                  <a:schemeClr val="accent6"/>
                </a:solidFill>
              </a:ln>
            </p:spPr>
            <p:txBody>
              <a:bodyPr/>
              <a:lstStyle/>
              <a:p>
                <a:r>
                  <a:rPr lang="en-ZA">
                    <a:noFill/>
                  </a:rPr>
                  <a:t> </a:t>
                </a:r>
              </a:p>
            </p:txBody>
          </p:sp>
        </mc:Fallback>
      </mc:AlternateContent>
      <p:sp>
        <p:nvSpPr>
          <p:cNvPr id="13" name="Oval Callout 12"/>
          <p:cNvSpPr/>
          <p:nvPr/>
        </p:nvSpPr>
        <p:spPr>
          <a:xfrm>
            <a:off x="7689850" y="2533650"/>
            <a:ext cx="1454150" cy="704850"/>
          </a:xfrm>
          <a:prstGeom prst="wedgeEllipseCallout">
            <a:avLst>
              <a:gd name="adj1" fmla="val -61444"/>
              <a:gd name="adj2" fmla="val 90428"/>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The outcome of the classification</a:t>
            </a:r>
            <a:endParaRPr lang="en-ZA" sz="1100" dirty="0"/>
          </a:p>
        </p:txBody>
      </p:sp>
    </p:spTree>
    <p:extLst>
      <p:ext uri="{BB962C8B-B14F-4D97-AF65-F5344CB8AC3E}">
        <p14:creationId xmlns:p14="http://schemas.microsoft.com/office/powerpoint/2010/main" val="40511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9366" y="106605"/>
            <a:ext cx="4921250" cy="3877985"/>
          </a:xfrm>
          <a:prstGeom prst="rect">
            <a:avLst/>
          </a:prstGeom>
          <a:noFill/>
          <a:ln>
            <a:solidFill>
              <a:schemeClr val="accent6"/>
            </a:solidFill>
          </a:ln>
        </p:spPr>
        <p:txBody>
          <a:bodyPr wrap="square" rtlCol="0">
            <a:spAutoFit/>
          </a:bodyPr>
          <a:lstStyle/>
          <a:p>
            <a:r>
              <a:rPr lang="en-ZA" sz="1200" dirty="0" smtClean="0">
                <a:latin typeface="Courier New" panose="02070309020205020404" pitchFamily="49" charset="0"/>
                <a:cs typeface="Courier New" panose="02070309020205020404" pitchFamily="49" charset="0"/>
              </a:rPr>
              <a:t>&gt; plot(fit2)</a:t>
            </a:r>
            <a:endParaRPr lang="en-ZA" dirty="0"/>
          </a:p>
          <a:p>
            <a:endParaRPr lang="en-ZA" dirty="0" smtClean="0"/>
          </a:p>
          <a:p>
            <a:endParaRPr lang="en-ZA" dirty="0"/>
          </a:p>
          <a:p>
            <a:endParaRPr lang="en-ZA" dirty="0" smtClean="0"/>
          </a:p>
          <a:p>
            <a:endParaRPr lang="en-ZA" dirty="0"/>
          </a:p>
          <a:p>
            <a:endParaRPr lang="en-ZA" dirty="0" smtClean="0"/>
          </a:p>
          <a:p>
            <a:endParaRPr lang="en-ZA" dirty="0"/>
          </a:p>
          <a:p>
            <a:endParaRPr lang="en-ZA" dirty="0" smtClean="0"/>
          </a:p>
          <a:p>
            <a:endParaRPr lang="en-ZA" dirty="0"/>
          </a:p>
          <a:p>
            <a:endParaRPr lang="en-ZA" dirty="0" smtClean="0"/>
          </a:p>
          <a:p>
            <a:endParaRPr lang="en-ZA" dirty="0"/>
          </a:p>
          <a:p>
            <a:endParaRPr lang="en-ZA" dirty="0" smtClean="0"/>
          </a:p>
          <a:p>
            <a:endParaRPr lang="en-ZA" dirty="0" smtClean="0"/>
          </a:p>
          <a:p>
            <a:endParaRPr lang="en-ZA" dirty="0"/>
          </a:p>
        </p:txBody>
      </p:sp>
      <p:pic>
        <p:nvPicPr>
          <p:cNvPr id="3" name="Picture 2"/>
          <p:cNvPicPr>
            <a:picLocks noChangeAspect="1"/>
          </p:cNvPicPr>
          <p:nvPr/>
        </p:nvPicPr>
        <p:blipFill>
          <a:blip r:embed="rId2"/>
          <a:stretch>
            <a:fillRect/>
          </a:stretch>
        </p:blipFill>
        <p:spPr>
          <a:xfrm>
            <a:off x="717551" y="933479"/>
            <a:ext cx="3886200" cy="2623185"/>
          </a:xfrm>
          <a:prstGeom prst="rect">
            <a:avLst/>
          </a:prstGeom>
          <a:ln>
            <a:solidFill>
              <a:schemeClr val="accent6"/>
            </a:solidFill>
          </a:ln>
        </p:spPr>
      </p:pic>
      <p:sp>
        <p:nvSpPr>
          <p:cNvPr id="4" name="TextBox 3"/>
          <p:cNvSpPr txBox="1"/>
          <p:nvPr/>
        </p:nvSpPr>
        <p:spPr>
          <a:xfrm>
            <a:off x="5321300" y="177800"/>
            <a:ext cx="4762500" cy="3816429"/>
          </a:xfrm>
          <a:prstGeom prst="rect">
            <a:avLst/>
          </a:prstGeom>
          <a:noFill/>
          <a:ln>
            <a:solidFill>
              <a:schemeClr val="accent6"/>
            </a:solidFill>
          </a:ln>
        </p:spPr>
        <p:txBody>
          <a:bodyPr wrap="square" rtlCol="0">
            <a:spAutoFit/>
          </a:bodyPr>
          <a:lstStyle/>
          <a:p>
            <a:r>
              <a:rPr lang="en-ZA" sz="1100" dirty="0" smtClean="0">
                <a:latin typeface="Courier New" panose="02070309020205020404" pitchFamily="49" charset="0"/>
                <a:cs typeface="Courier New" panose="02070309020205020404" pitchFamily="49" charset="0"/>
              </a:rPr>
              <a:t>&gt; library(lattice)</a:t>
            </a:r>
          </a:p>
          <a:p>
            <a:r>
              <a:rPr lang="en-ZA" sz="1100" dirty="0" smtClean="0">
                <a:latin typeface="Courier New" panose="02070309020205020404" pitchFamily="49" charset="0"/>
                <a:cs typeface="Courier New" panose="02070309020205020404" pitchFamily="49" charset="0"/>
              </a:rPr>
              <a:t>&gt; </a:t>
            </a:r>
            <a:r>
              <a:rPr lang="en-ZA" sz="1100" dirty="0" err="1" smtClean="0">
                <a:latin typeface="Courier New" panose="02070309020205020404" pitchFamily="49" charset="0"/>
                <a:cs typeface="Courier New" panose="02070309020205020404" pitchFamily="49" charset="0"/>
              </a:rPr>
              <a:t>densityplot</a:t>
            </a:r>
            <a:r>
              <a:rPr lang="en-ZA" sz="1100" dirty="0" smtClean="0">
                <a:latin typeface="Courier New" panose="02070309020205020404" pitchFamily="49" charset="0"/>
                <a:cs typeface="Courier New" panose="02070309020205020404" pitchFamily="49" charset="0"/>
              </a:rPr>
              <a:t>(~</a:t>
            </a:r>
            <a:r>
              <a:rPr lang="en-ZA" sz="1100" dirty="0" err="1" smtClean="0">
                <a:latin typeface="Courier New" panose="02070309020205020404" pitchFamily="49" charset="0"/>
                <a:cs typeface="Courier New" panose="02070309020205020404" pitchFamily="49" charset="0"/>
              </a:rPr>
              <a:t>fit.hat$x</a:t>
            </a:r>
            <a:r>
              <a:rPr lang="en-ZA" sz="1100" dirty="0" smtClean="0">
                <a:latin typeface="Courier New" panose="02070309020205020404" pitchFamily="49" charset="0"/>
                <a:cs typeface="Courier New" panose="02070309020205020404" pitchFamily="49" charset="0"/>
              </a:rPr>
              <a:t>, groups = T11_2$Country)</a:t>
            </a:r>
          </a:p>
          <a:p>
            <a:endParaRPr lang="en-ZA" sz="1100" dirty="0" smtClean="0">
              <a:latin typeface="Courier New" panose="02070309020205020404" pitchFamily="49" charset="0"/>
              <a:cs typeface="Courier New" panose="02070309020205020404" pitchFamily="49" charset="0"/>
            </a:endParaRPr>
          </a:p>
          <a:p>
            <a:endParaRPr lang="en-ZA" sz="1100" dirty="0">
              <a:latin typeface="Courier New" panose="02070309020205020404" pitchFamily="49" charset="0"/>
              <a:cs typeface="Courier New" panose="02070309020205020404" pitchFamily="49" charset="0"/>
            </a:endParaRPr>
          </a:p>
          <a:p>
            <a:endParaRPr lang="en-ZA" sz="1100" dirty="0" smtClean="0">
              <a:latin typeface="Courier New" panose="02070309020205020404" pitchFamily="49" charset="0"/>
              <a:cs typeface="Courier New" panose="02070309020205020404" pitchFamily="49" charset="0"/>
            </a:endParaRPr>
          </a:p>
          <a:p>
            <a:endParaRPr lang="en-ZA" sz="1100" dirty="0">
              <a:latin typeface="Courier New" panose="02070309020205020404" pitchFamily="49" charset="0"/>
              <a:cs typeface="Courier New" panose="02070309020205020404" pitchFamily="49" charset="0"/>
            </a:endParaRPr>
          </a:p>
          <a:p>
            <a:endParaRPr lang="en-ZA" sz="1100" dirty="0" smtClean="0">
              <a:latin typeface="Courier New" panose="02070309020205020404" pitchFamily="49" charset="0"/>
              <a:cs typeface="Courier New" panose="02070309020205020404" pitchFamily="49" charset="0"/>
            </a:endParaRPr>
          </a:p>
          <a:p>
            <a:endParaRPr lang="en-ZA" sz="1100" dirty="0">
              <a:latin typeface="Courier New" panose="02070309020205020404" pitchFamily="49" charset="0"/>
              <a:cs typeface="Courier New" panose="02070309020205020404" pitchFamily="49" charset="0"/>
            </a:endParaRPr>
          </a:p>
          <a:p>
            <a:endParaRPr lang="en-ZA" sz="1100" dirty="0" smtClean="0">
              <a:latin typeface="Courier New" panose="02070309020205020404" pitchFamily="49" charset="0"/>
              <a:cs typeface="Courier New" panose="02070309020205020404" pitchFamily="49" charset="0"/>
            </a:endParaRPr>
          </a:p>
          <a:p>
            <a:endParaRPr lang="en-ZA" sz="1100" dirty="0">
              <a:latin typeface="Courier New" panose="02070309020205020404" pitchFamily="49" charset="0"/>
              <a:cs typeface="Courier New" panose="02070309020205020404" pitchFamily="49" charset="0"/>
            </a:endParaRPr>
          </a:p>
          <a:p>
            <a:endParaRPr lang="en-ZA" sz="1100" dirty="0" smtClean="0">
              <a:latin typeface="Courier New" panose="02070309020205020404" pitchFamily="49" charset="0"/>
              <a:cs typeface="Courier New" panose="02070309020205020404" pitchFamily="49" charset="0"/>
            </a:endParaRPr>
          </a:p>
          <a:p>
            <a:endParaRPr lang="en-ZA" sz="1100" dirty="0">
              <a:latin typeface="Courier New" panose="02070309020205020404" pitchFamily="49" charset="0"/>
              <a:cs typeface="Courier New" panose="02070309020205020404" pitchFamily="49" charset="0"/>
            </a:endParaRPr>
          </a:p>
          <a:p>
            <a:endParaRPr lang="en-ZA" sz="1100" dirty="0" smtClean="0">
              <a:latin typeface="Courier New" panose="02070309020205020404" pitchFamily="49" charset="0"/>
              <a:cs typeface="Courier New" panose="02070309020205020404" pitchFamily="49" charset="0"/>
            </a:endParaRPr>
          </a:p>
          <a:p>
            <a:endParaRPr lang="en-ZA" sz="1100" dirty="0">
              <a:latin typeface="Courier New" panose="02070309020205020404" pitchFamily="49" charset="0"/>
              <a:cs typeface="Courier New" panose="02070309020205020404" pitchFamily="49" charset="0"/>
            </a:endParaRPr>
          </a:p>
          <a:p>
            <a:endParaRPr lang="en-ZA" sz="1100" dirty="0" smtClean="0">
              <a:latin typeface="Courier New" panose="02070309020205020404" pitchFamily="49" charset="0"/>
              <a:cs typeface="Courier New" panose="02070309020205020404" pitchFamily="49" charset="0"/>
            </a:endParaRPr>
          </a:p>
          <a:p>
            <a:endParaRPr lang="en-ZA" sz="1100" dirty="0">
              <a:latin typeface="Courier New" panose="02070309020205020404" pitchFamily="49" charset="0"/>
              <a:cs typeface="Courier New" panose="02070309020205020404" pitchFamily="49" charset="0"/>
            </a:endParaRPr>
          </a:p>
          <a:p>
            <a:endParaRPr lang="en-ZA" sz="1100" dirty="0" smtClean="0">
              <a:latin typeface="Courier New" panose="02070309020205020404" pitchFamily="49" charset="0"/>
              <a:cs typeface="Courier New" panose="02070309020205020404" pitchFamily="49" charset="0"/>
            </a:endParaRPr>
          </a:p>
          <a:p>
            <a:endParaRPr lang="en-ZA" sz="1100" dirty="0">
              <a:latin typeface="Courier New" panose="02070309020205020404" pitchFamily="49" charset="0"/>
              <a:cs typeface="Courier New" panose="02070309020205020404" pitchFamily="49" charset="0"/>
            </a:endParaRPr>
          </a:p>
          <a:p>
            <a:endParaRPr lang="en-ZA" sz="1100" dirty="0" smtClean="0">
              <a:latin typeface="Courier New" panose="02070309020205020404" pitchFamily="49" charset="0"/>
              <a:cs typeface="Courier New" panose="02070309020205020404" pitchFamily="49" charset="0"/>
            </a:endParaRPr>
          </a:p>
          <a:p>
            <a:endParaRPr lang="en-ZA" sz="1100" dirty="0">
              <a:latin typeface="Courier New" panose="02070309020205020404" pitchFamily="49" charset="0"/>
              <a:cs typeface="Courier New" panose="02070309020205020404" pitchFamily="49" charset="0"/>
            </a:endParaRPr>
          </a:p>
          <a:p>
            <a:endParaRPr lang="en-ZA" sz="1100" dirty="0" smtClean="0">
              <a:latin typeface="Courier New" panose="02070309020205020404" pitchFamily="49" charset="0"/>
              <a:cs typeface="Courier New" panose="02070309020205020404" pitchFamily="49" charset="0"/>
            </a:endParaRPr>
          </a:p>
          <a:p>
            <a:endParaRPr lang="en-ZA" sz="1100"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3"/>
          <a:stretch>
            <a:fillRect/>
          </a:stretch>
        </p:blipFill>
        <p:spPr>
          <a:xfrm>
            <a:off x="5397544" y="679450"/>
            <a:ext cx="4499328" cy="3037046"/>
          </a:xfrm>
          <a:prstGeom prst="rect">
            <a:avLst/>
          </a:prstGeom>
        </p:spPr>
      </p:pic>
      <p:pic>
        <p:nvPicPr>
          <p:cNvPr id="6" name="Picture 5"/>
          <p:cNvPicPr>
            <a:picLocks noChangeAspect="1"/>
          </p:cNvPicPr>
          <p:nvPr/>
        </p:nvPicPr>
        <p:blipFill>
          <a:blip r:embed="rId4"/>
          <a:stretch>
            <a:fillRect/>
          </a:stretch>
        </p:blipFill>
        <p:spPr>
          <a:xfrm>
            <a:off x="9078340" y="933479"/>
            <a:ext cx="3058915" cy="1531710"/>
          </a:xfrm>
          <a:prstGeom prst="rect">
            <a:avLst/>
          </a:prstGeom>
        </p:spPr>
      </p:pic>
      <p:sp>
        <p:nvSpPr>
          <p:cNvPr id="7" name="TextBox 6"/>
          <p:cNvSpPr txBox="1"/>
          <p:nvPr/>
        </p:nvSpPr>
        <p:spPr>
          <a:xfrm>
            <a:off x="289366" y="4102100"/>
            <a:ext cx="4968434" cy="2631490"/>
          </a:xfrm>
          <a:prstGeom prst="rect">
            <a:avLst/>
          </a:prstGeom>
          <a:noFill/>
          <a:ln>
            <a:solidFill>
              <a:schemeClr val="accent6"/>
            </a:solidFill>
          </a:ln>
        </p:spPr>
        <p:txBody>
          <a:bodyPr wrap="square" rtlCol="0">
            <a:spAutoFit/>
          </a:bodyPr>
          <a:lstStyle/>
          <a:p>
            <a:r>
              <a:rPr lang="en-ZA" sz="1100" dirty="0">
                <a:latin typeface="Courier New" panose="02070309020205020404" pitchFamily="49" charset="0"/>
                <a:cs typeface="Courier New" panose="02070309020205020404" pitchFamily="49" charset="0"/>
              </a:rPr>
              <a:t>&gt; </a:t>
            </a:r>
            <a:r>
              <a:rPr lang="en-ZA" sz="1100" dirty="0" err="1">
                <a:latin typeface="Courier New" panose="02070309020205020404" pitchFamily="49" charset="0"/>
                <a:cs typeface="Courier New" panose="02070309020205020404" pitchFamily="49" charset="0"/>
              </a:rPr>
              <a:t>fit$posterior</a:t>
            </a:r>
            <a:endParaRPr lang="en-ZA" sz="1100" dirty="0">
              <a:latin typeface="Courier New" panose="02070309020205020404" pitchFamily="49" charset="0"/>
              <a:cs typeface="Courier New" panose="02070309020205020404" pitchFamily="49" charset="0"/>
            </a:endParaRPr>
          </a:p>
          <a:p>
            <a:r>
              <a:rPr lang="en-ZA" sz="1100" dirty="0">
                <a:latin typeface="Courier New" panose="02070309020205020404" pitchFamily="49" charset="0"/>
                <a:cs typeface="Courier New" panose="02070309020205020404" pitchFamily="49" charset="0"/>
              </a:rPr>
              <a:t>               1            2</a:t>
            </a:r>
          </a:p>
          <a:p>
            <a:r>
              <a:rPr lang="en-ZA" sz="1100" dirty="0">
                <a:latin typeface="Courier New" panose="02070309020205020404" pitchFamily="49" charset="0"/>
                <a:cs typeface="Courier New" panose="02070309020205020404" pitchFamily="49" charset="0"/>
              </a:rPr>
              <a:t>1   3.948409e-01 6.051591e-01</a:t>
            </a:r>
          </a:p>
          <a:p>
            <a:r>
              <a:rPr lang="en-ZA" sz="1100" dirty="0">
                <a:latin typeface="Courier New" panose="02070309020205020404" pitchFamily="49" charset="0"/>
                <a:cs typeface="Courier New" panose="02070309020205020404" pitchFamily="49" charset="0"/>
              </a:rPr>
              <a:t>2   1.175753e-02 9.882425e-01</a:t>
            </a:r>
          </a:p>
          <a:p>
            <a:r>
              <a:rPr lang="en-ZA" sz="1100" dirty="0">
                <a:latin typeface="Courier New" panose="02070309020205020404" pitchFamily="49" charset="0"/>
                <a:cs typeface="Courier New" panose="02070309020205020404" pitchFamily="49" charset="0"/>
              </a:rPr>
              <a:t>3   9.949318e-01 5.068154e-03</a:t>
            </a:r>
          </a:p>
          <a:p>
            <a:r>
              <a:rPr lang="en-ZA" sz="1100" dirty="0">
                <a:latin typeface="Courier New" panose="02070309020205020404" pitchFamily="49" charset="0"/>
                <a:cs typeface="Courier New" panose="02070309020205020404" pitchFamily="49" charset="0"/>
              </a:rPr>
              <a:t>4   9.999539e-01 4.613785e-05</a:t>
            </a:r>
          </a:p>
          <a:p>
            <a:r>
              <a:rPr lang="en-ZA" sz="1100" dirty="0">
                <a:latin typeface="Courier New" panose="02070309020205020404" pitchFamily="49" charset="0"/>
                <a:cs typeface="Courier New" panose="02070309020205020404" pitchFamily="49" charset="0"/>
              </a:rPr>
              <a:t>5   9.302454e-01 6.975460e-02</a:t>
            </a:r>
          </a:p>
          <a:p>
            <a:r>
              <a:rPr lang="en-ZA" sz="1100" dirty="0">
                <a:latin typeface="Courier New" panose="02070309020205020404" pitchFamily="49" charset="0"/>
                <a:cs typeface="Courier New" panose="02070309020205020404" pitchFamily="49" charset="0"/>
              </a:rPr>
              <a:t>6   9.945646e-01 5.435388e-03</a:t>
            </a:r>
          </a:p>
          <a:p>
            <a:r>
              <a:rPr lang="en-ZA" sz="1100" dirty="0">
                <a:latin typeface="Courier New" panose="02070309020205020404" pitchFamily="49" charset="0"/>
                <a:cs typeface="Courier New" panose="02070309020205020404" pitchFamily="49" charset="0"/>
              </a:rPr>
              <a:t>7   9.944957e-01 5.504346e-03</a:t>
            </a:r>
          </a:p>
          <a:p>
            <a:r>
              <a:rPr lang="en-ZA" sz="1100" dirty="0" smtClean="0">
                <a:latin typeface="Courier New" panose="02070309020205020404" pitchFamily="49" charset="0"/>
                <a:cs typeface="Courier New" panose="02070309020205020404" pitchFamily="49" charset="0"/>
              </a:rPr>
              <a:t>….</a:t>
            </a:r>
            <a:endParaRPr lang="en-ZA" sz="1100" dirty="0">
              <a:latin typeface="Courier New" panose="02070309020205020404" pitchFamily="49" charset="0"/>
              <a:cs typeface="Courier New" panose="02070309020205020404" pitchFamily="49" charset="0"/>
            </a:endParaRPr>
          </a:p>
          <a:p>
            <a:r>
              <a:rPr lang="en-ZA" sz="1100" dirty="0" smtClean="0">
                <a:latin typeface="Courier New" panose="02070309020205020404" pitchFamily="49" charset="0"/>
                <a:cs typeface="Courier New" panose="02070309020205020404" pitchFamily="49" charset="0"/>
              </a:rPr>
              <a:t>96  </a:t>
            </a:r>
            <a:r>
              <a:rPr lang="en-ZA" sz="1100" dirty="0">
                <a:latin typeface="Courier New" panose="02070309020205020404" pitchFamily="49" charset="0"/>
                <a:cs typeface="Courier New" panose="02070309020205020404" pitchFamily="49" charset="0"/>
              </a:rPr>
              <a:t>7.623827e-04 9.992376e-01</a:t>
            </a:r>
          </a:p>
          <a:p>
            <a:r>
              <a:rPr lang="en-ZA" sz="1100" dirty="0">
                <a:latin typeface="Courier New" panose="02070309020205020404" pitchFamily="49" charset="0"/>
                <a:cs typeface="Courier New" panose="02070309020205020404" pitchFamily="49" charset="0"/>
              </a:rPr>
              <a:t>97  2.459784e-02 9.754022e-01</a:t>
            </a:r>
          </a:p>
          <a:p>
            <a:r>
              <a:rPr lang="en-ZA" sz="1100" dirty="0">
                <a:latin typeface="Courier New" panose="02070309020205020404" pitchFamily="49" charset="0"/>
                <a:cs typeface="Courier New" panose="02070309020205020404" pitchFamily="49" charset="0"/>
              </a:rPr>
              <a:t>98  2.772808e-02 9.722719e-01</a:t>
            </a:r>
          </a:p>
          <a:p>
            <a:r>
              <a:rPr lang="en-ZA" sz="1100" dirty="0">
                <a:latin typeface="Courier New" panose="02070309020205020404" pitchFamily="49" charset="0"/>
                <a:cs typeface="Courier New" panose="02070309020205020404" pitchFamily="49" charset="0"/>
              </a:rPr>
              <a:t>99  1.029729e-03 9.989703e-01</a:t>
            </a:r>
          </a:p>
          <a:p>
            <a:r>
              <a:rPr lang="en-ZA" sz="1100" dirty="0">
                <a:latin typeface="Courier New" panose="02070309020205020404" pitchFamily="49" charset="0"/>
                <a:cs typeface="Courier New" panose="02070309020205020404" pitchFamily="49" charset="0"/>
              </a:rPr>
              <a:t>100 1.631781e-01 8.368219e-01</a:t>
            </a:r>
          </a:p>
        </p:txBody>
      </p:sp>
      <p:sp>
        <p:nvSpPr>
          <p:cNvPr id="8" name="Oval Callout 7"/>
          <p:cNvSpPr/>
          <p:nvPr/>
        </p:nvSpPr>
        <p:spPr>
          <a:xfrm>
            <a:off x="3613150" y="4578350"/>
            <a:ext cx="1708150" cy="1365250"/>
          </a:xfrm>
          <a:prstGeom prst="wedgeEllipseCallout">
            <a:avLst>
              <a:gd name="adj1" fmla="val -87004"/>
              <a:gd name="adj2" fmla="val 15523"/>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The posterior probabilities of class membership.</a:t>
            </a:r>
            <a:endParaRPr lang="en-ZA" sz="1100" dirty="0"/>
          </a:p>
        </p:txBody>
      </p:sp>
      <p:sp>
        <p:nvSpPr>
          <p:cNvPr id="9" name="TextBox 8"/>
          <p:cNvSpPr txBox="1"/>
          <p:nvPr/>
        </p:nvSpPr>
        <p:spPr>
          <a:xfrm>
            <a:off x="5476434" y="4102100"/>
            <a:ext cx="5312216" cy="2800767"/>
          </a:xfrm>
          <a:prstGeom prst="rect">
            <a:avLst/>
          </a:prstGeom>
          <a:noFill/>
          <a:ln>
            <a:solidFill>
              <a:schemeClr val="accent6"/>
            </a:solidFill>
          </a:ln>
        </p:spPr>
        <p:txBody>
          <a:bodyPr wrap="square" rtlCol="0">
            <a:spAutoFit/>
          </a:bodyPr>
          <a:lstStyle/>
          <a:p>
            <a:r>
              <a:rPr lang="en-ZA" sz="1100" dirty="0">
                <a:latin typeface="Courier New" panose="02070309020205020404" pitchFamily="49" charset="0"/>
                <a:cs typeface="Courier New" panose="02070309020205020404" pitchFamily="49" charset="0"/>
              </a:rPr>
              <a:t>library(</a:t>
            </a:r>
            <a:r>
              <a:rPr lang="en-ZA" sz="1100" dirty="0" err="1">
                <a:latin typeface="Courier New" panose="02070309020205020404" pitchFamily="49" charset="0"/>
                <a:cs typeface="Courier New" panose="02070309020205020404" pitchFamily="49" charset="0"/>
              </a:rPr>
              <a:t>klaR</a:t>
            </a:r>
            <a:r>
              <a:rPr lang="en-ZA" sz="1100" dirty="0">
                <a:latin typeface="Courier New" panose="02070309020205020404" pitchFamily="49" charset="0"/>
                <a:cs typeface="Courier New" panose="02070309020205020404" pitchFamily="49" charset="0"/>
              </a:rPr>
              <a:t>)</a:t>
            </a:r>
          </a:p>
          <a:p>
            <a:r>
              <a:rPr lang="en-ZA" sz="1100" dirty="0" smtClean="0">
                <a:latin typeface="Courier New" panose="02070309020205020404" pitchFamily="49" charset="0"/>
                <a:cs typeface="Courier New" panose="02070309020205020404" pitchFamily="49" charset="0"/>
              </a:rPr>
              <a:t>T11_2$Country</a:t>
            </a:r>
            <a:r>
              <a:rPr lang="en-ZA" sz="1100" dirty="0">
                <a:latin typeface="Courier New" panose="02070309020205020404" pitchFamily="49" charset="0"/>
                <a:cs typeface="Courier New" panose="02070309020205020404" pitchFamily="49" charset="0"/>
              </a:rPr>
              <a:t>&lt;-</a:t>
            </a:r>
            <a:r>
              <a:rPr lang="en-ZA" sz="1100" dirty="0" err="1">
                <a:latin typeface="Courier New" panose="02070309020205020404" pitchFamily="49" charset="0"/>
                <a:cs typeface="Courier New" panose="02070309020205020404" pitchFamily="49" charset="0"/>
              </a:rPr>
              <a:t>as.factor</a:t>
            </a:r>
            <a:r>
              <a:rPr lang="en-ZA" sz="1100" dirty="0">
                <a:latin typeface="Courier New" panose="02070309020205020404" pitchFamily="49" charset="0"/>
                <a:cs typeface="Courier New" panose="02070309020205020404" pitchFamily="49" charset="0"/>
              </a:rPr>
              <a:t>(T11_2$Country)</a:t>
            </a:r>
          </a:p>
          <a:p>
            <a:r>
              <a:rPr lang="en-ZA" sz="1100" dirty="0" err="1">
                <a:latin typeface="Courier New" panose="02070309020205020404" pitchFamily="49" charset="0"/>
                <a:cs typeface="Courier New" panose="02070309020205020404" pitchFamily="49" charset="0"/>
              </a:rPr>
              <a:t>partimat</a:t>
            </a:r>
            <a:r>
              <a:rPr lang="en-ZA" sz="1100" dirty="0">
                <a:latin typeface="Courier New" panose="02070309020205020404" pitchFamily="49" charset="0"/>
                <a:cs typeface="Courier New" panose="02070309020205020404" pitchFamily="49" charset="0"/>
              </a:rPr>
              <a:t>(</a:t>
            </a:r>
            <a:r>
              <a:rPr lang="en-ZA" sz="1100" dirty="0" err="1">
                <a:latin typeface="Courier New" panose="02070309020205020404" pitchFamily="49" charset="0"/>
                <a:cs typeface="Courier New" panose="02070309020205020404" pitchFamily="49" charset="0"/>
              </a:rPr>
              <a:t>Country~Freshwater+Marine,data</a:t>
            </a:r>
            <a:r>
              <a:rPr lang="en-ZA" sz="1100" dirty="0">
                <a:latin typeface="Courier New" panose="02070309020205020404" pitchFamily="49" charset="0"/>
                <a:cs typeface="Courier New" panose="02070309020205020404" pitchFamily="49" charset="0"/>
              </a:rPr>
              <a:t>=T11_2,method="</a:t>
            </a:r>
            <a:r>
              <a:rPr lang="en-ZA" sz="1100" dirty="0" err="1">
                <a:latin typeface="Courier New" panose="02070309020205020404" pitchFamily="49" charset="0"/>
                <a:cs typeface="Courier New" panose="02070309020205020404" pitchFamily="49" charset="0"/>
              </a:rPr>
              <a:t>lda</a:t>
            </a:r>
            <a:r>
              <a:rPr lang="en-ZA" sz="1100" dirty="0" smtClean="0">
                <a:latin typeface="Courier New" panose="02070309020205020404" pitchFamily="49" charset="0"/>
                <a:cs typeface="Courier New" panose="02070309020205020404" pitchFamily="49" charset="0"/>
              </a:rPr>
              <a:t>")</a:t>
            </a:r>
          </a:p>
          <a:p>
            <a:endParaRPr lang="en-ZA" sz="1100" dirty="0">
              <a:latin typeface="Courier New" panose="02070309020205020404" pitchFamily="49" charset="0"/>
              <a:cs typeface="Courier New" panose="02070309020205020404" pitchFamily="49" charset="0"/>
            </a:endParaRPr>
          </a:p>
          <a:p>
            <a:endParaRPr lang="en-ZA" sz="1100" dirty="0" smtClean="0">
              <a:latin typeface="Courier New" panose="02070309020205020404" pitchFamily="49" charset="0"/>
              <a:cs typeface="Courier New" panose="02070309020205020404" pitchFamily="49" charset="0"/>
            </a:endParaRPr>
          </a:p>
          <a:p>
            <a:endParaRPr lang="en-ZA" sz="1100" dirty="0">
              <a:latin typeface="Courier New" panose="02070309020205020404" pitchFamily="49" charset="0"/>
              <a:cs typeface="Courier New" panose="02070309020205020404" pitchFamily="49" charset="0"/>
            </a:endParaRPr>
          </a:p>
          <a:p>
            <a:endParaRPr lang="en-ZA" sz="1100" dirty="0" smtClean="0">
              <a:latin typeface="Courier New" panose="02070309020205020404" pitchFamily="49" charset="0"/>
              <a:cs typeface="Courier New" panose="02070309020205020404" pitchFamily="49" charset="0"/>
            </a:endParaRPr>
          </a:p>
          <a:p>
            <a:endParaRPr lang="en-ZA" sz="1100" dirty="0" smtClean="0">
              <a:latin typeface="Courier New" panose="02070309020205020404" pitchFamily="49" charset="0"/>
              <a:cs typeface="Courier New" panose="02070309020205020404" pitchFamily="49" charset="0"/>
            </a:endParaRPr>
          </a:p>
          <a:p>
            <a:endParaRPr lang="en-ZA" sz="1100" dirty="0">
              <a:latin typeface="Courier New" panose="02070309020205020404" pitchFamily="49" charset="0"/>
              <a:cs typeface="Courier New" panose="02070309020205020404" pitchFamily="49" charset="0"/>
            </a:endParaRPr>
          </a:p>
          <a:p>
            <a:endParaRPr lang="en-ZA" sz="1100" dirty="0" smtClean="0">
              <a:latin typeface="Courier New" panose="02070309020205020404" pitchFamily="49" charset="0"/>
              <a:cs typeface="Courier New" panose="02070309020205020404" pitchFamily="49" charset="0"/>
            </a:endParaRPr>
          </a:p>
          <a:p>
            <a:endParaRPr lang="en-ZA" sz="1100" dirty="0">
              <a:latin typeface="Courier New" panose="02070309020205020404" pitchFamily="49" charset="0"/>
              <a:cs typeface="Courier New" panose="02070309020205020404" pitchFamily="49" charset="0"/>
            </a:endParaRPr>
          </a:p>
          <a:p>
            <a:endParaRPr lang="en-ZA" sz="1100" dirty="0" smtClean="0">
              <a:latin typeface="Courier New" panose="02070309020205020404" pitchFamily="49" charset="0"/>
              <a:cs typeface="Courier New" panose="02070309020205020404" pitchFamily="49" charset="0"/>
            </a:endParaRPr>
          </a:p>
          <a:p>
            <a:endParaRPr lang="en-ZA" sz="1100" dirty="0">
              <a:latin typeface="Courier New" panose="02070309020205020404" pitchFamily="49" charset="0"/>
              <a:cs typeface="Courier New" panose="02070309020205020404" pitchFamily="49" charset="0"/>
            </a:endParaRPr>
          </a:p>
          <a:p>
            <a:endParaRPr lang="en-ZA" sz="1100" dirty="0">
              <a:latin typeface="Courier New" panose="02070309020205020404" pitchFamily="49" charset="0"/>
              <a:cs typeface="Courier New" panose="02070309020205020404" pitchFamily="49" charset="0"/>
            </a:endParaRPr>
          </a:p>
          <a:p>
            <a:endParaRPr lang="en-ZA" sz="1100" dirty="0" smtClean="0">
              <a:latin typeface="Courier New" panose="02070309020205020404" pitchFamily="49" charset="0"/>
              <a:cs typeface="Courier New" panose="02070309020205020404" pitchFamily="49" charset="0"/>
            </a:endParaRPr>
          </a:p>
          <a:p>
            <a:r>
              <a:rPr lang="en-ZA" sz="1100" dirty="0" smtClean="0">
                <a:latin typeface="Courier New" panose="02070309020205020404" pitchFamily="49" charset="0"/>
                <a:cs typeface="Courier New" panose="02070309020205020404" pitchFamily="49" charset="0"/>
              </a:rPr>
              <a:t> </a:t>
            </a:r>
            <a:endParaRPr lang="en-ZA" sz="1100" dirty="0">
              <a:latin typeface="Courier New" panose="02070309020205020404" pitchFamily="49" charset="0"/>
              <a:cs typeface="Courier New" panose="02070309020205020404" pitchFamily="49" charset="0"/>
            </a:endParaRPr>
          </a:p>
        </p:txBody>
      </p:sp>
      <p:pic>
        <p:nvPicPr>
          <p:cNvPr id="10" name="Picture 9"/>
          <p:cNvPicPr>
            <a:picLocks noChangeAspect="1"/>
          </p:cNvPicPr>
          <p:nvPr/>
        </p:nvPicPr>
        <p:blipFill>
          <a:blip r:embed="rId5"/>
          <a:stretch>
            <a:fillRect/>
          </a:stretch>
        </p:blipFill>
        <p:spPr>
          <a:xfrm>
            <a:off x="6246095" y="4749908"/>
            <a:ext cx="3068044" cy="2070929"/>
          </a:xfrm>
          <a:prstGeom prst="rect">
            <a:avLst/>
          </a:prstGeom>
        </p:spPr>
      </p:pic>
      <p:sp>
        <p:nvSpPr>
          <p:cNvPr id="11" name="Oval Callout 10"/>
          <p:cNvSpPr/>
          <p:nvPr/>
        </p:nvSpPr>
        <p:spPr>
          <a:xfrm>
            <a:off x="10083800" y="5003800"/>
            <a:ext cx="2108200" cy="990600"/>
          </a:xfrm>
          <a:prstGeom prst="wedgeEllipseCallout">
            <a:avLst>
              <a:gd name="adj1" fmla="val -73243"/>
              <a:gd name="adj2" fmla="val 2019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Another nice way of illustrating the DA results</a:t>
            </a:r>
            <a:endParaRPr lang="en-ZA" sz="1100" dirty="0"/>
          </a:p>
        </p:txBody>
      </p:sp>
    </p:spTree>
    <p:extLst>
      <p:ext uri="{BB962C8B-B14F-4D97-AF65-F5344CB8AC3E}">
        <p14:creationId xmlns:p14="http://schemas.microsoft.com/office/powerpoint/2010/main" val="9588838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 y="323850"/>
            <a:ext cx="11957050" cy="3600986"/>
          </a:xfrm>
          <a:prstGeom prst="rect">
            <a:avLst/>
          </a:prstGeom>
          <a:noFill/>
          <a:ln>
            <a:solidFill>
              <a:schemeClr val="accent1"/>
            </a:solidFill>
          </a:ln>
        </p:spPr>
        <p:txBody>
          <a:bodyPr wrap="square" rtlCol="0">
            <a:spAutoFit/>
          </a:bodyPr>
          <a:lstStyle/>
          <a:p>
            <a:r>
              <a:rPr lang="en-ZA" sz="1200" dirty="0">
                <a:latin typeface="Courier New" panose="02070309020205020404" pitchFamily="49" charset="0"/>
                <a:cs typeface="Courier New" panose="02070309020205020404" pitchFamily="49" charset="0"/>
              </a:rPr>
              <a:t>&gt; fit&lt;-</a:t>
            </a:r>
            <a:r>
              <a:rPr lang="en-ZA" sz="1200" dirty="0" err="1">
                <a:latin typeface="Courier New" panose="02070309020205020404" pitchFamily="49" charset="0"/>
                <a:cs typeface="Courier New" panose="02070309020205020404" pitchFamily="49" charset="0"/>
              </a:rPr>
              <a:t>lda</a:t>
            </a:r>
            <a:r>
              <a:rPr lang="en-ZA" sz="1200" dirty="0">
                <a:latin typeface="Courier New" panose="02070309020205020404" pitchFamily="49" charset="0"/>
                <a:cs typeface="Courier New" panose="02070309020205020404" pitchFamily="49" charset="0"/>
              </a:rPr>
              <a:t>(</a:t>
            </a:r>
            <a:r>
              <a:rPr lang="en-ZA" sz="1200" dirty="0" err="1">
                <a:latin typeface="Courier New" panose="02070309020205020404" pitchFamily="49" charset="0"/>
                <a:cs typeface="Courier New" panose="02070309020205020404" pitchFamily="49" charset="0"/>
              </a:rPr>
              <a:t>Country~Freshwater+Marine,data</a:t>
            </a:r>
            <a:r>
              <a:rPr lang="en-ZA" sz="1200" dirty="0">
                <a:latin typeface="Courier New" panose="02070309020205020404" pitchFamily="49" charset="0"/>
                <a:cs typeface="Courier New" panose="02070309020205020404" pitchFamily="49" charset="0"/>
              </a:rPr>
              <a:t>=T11_2,CV=TRUE</a:t>
            </a:r>
            <a:r>
              <a:rPr lang="en-ZA" sz="1200" dirty="0" smtClean="0">
                <a:latin typeface="Courier New" panose="02070309020205020404" pitchFamily="49" charset="0"/>
                <a:cs typeface="Courier New" panose="02070309020205020404" pitchFamily="49" charset="0"/>
              </a:rPr>
              <a:t>)</a:t>
            </a:r>
          </a:p>
          <a:p>
            <a:endParaRPr lang="en-ZA" sz="1200" dirty="0">
              <a:latin typeface="Courier New" panose="02070309020205020404" pitchFamily="49" charset="0"/>
              <a:cs typeface="Courier New" panose="02070309020205020404" pitchFamily="49" charset="0"/>
            </a:endParaRPr>
          </a:p>
          <a:p>
            <a:r>
              <a:rPr lang="en-ZA" sz="1200" dirty="0" smtClean="0">
                <a:latin typeface="Courier New" panose="02070309020205020404" pitchFamily="49" charset="0"/>
                <a:cs typeface="Courier New" panose="02070309020205020404" pitchFamily="49" charset="0"/>
              </a:rPr>
              <a:t>&gt; </a:t>
            </a:r>
            <a:r>
              <a:rPr lang="en-ZA" sz="1200" dirty="0">
                <a:latin typeface="Courier New" panose="02070309020205020404" pitchFamily="49" charset="0"/>
                <a:cs typeface="Courier New" panose="02070309020205020404" pitchFamily="49" charset="0"/>
              </a:rPr>
              <a:t>tab &lt;- table(T11_2$Country, </a:t>
            </a:r>
            <a:r>
              <a:rPr lang="en-ZA" sz="1200" dirty="0" err="1">
                <a:latin typeface="Courier New" panose="02070309020205020404" pitchFamily="49" charset="0"/>
                <a:cs typeface="Courier New" panose="02070309020205020404" pitchFamily="49" charset="0"/>
              </a:rPr>
              <a:t>fit$class</a:t>
            </a:r>
            <a:r>
              <a:rPr lang="en-ZA" sz="1200" dirty="0">
                <a:latin typeface="Courier New" panose="02070309020205020404" pitchFamily="49" charset="0"/>
                <a:cs typeface="Courier New" panose="02070309020205020404" pitchFamily="49" charset="0"/>
              </a:rPr>
              <a:t>) </a:t>
            </a:r>
          </a:p>
          <a:p>
            <a:r>
              <a:rPr lang="en-ZA" sz="1200" dirty="0">
                <a:latin typeface="Courier New" panose="02070309020205020404" pitchFamily="49" charset="0"/>
                <a:cs typeface="Courier New" panose="02070309020205020404" pitchFamily="49" charset="0"/>
              </a:rPr>
              <a:t>&gt; tab</a:t>
            </a:r>
          </a:p>
          <a:p>
            <a:r>
              <a:rPr lang="en-ZA" sz="1200" dirty="0">
                <a:latin typeface="Courier New" panose="02070309020205020404" pitchFamily="49" charset="0"/>
                <a:cs typeface="Courier New" panose="02070309020205020404" pitchFamily="49" charset="0"/>
              </a:rPr>
              <a:t>   </a:t>
            </a:r>
          </a:p>
          <a:p>
            <a:r>
              <a:rPr lang="en-ZA" sz="1200" dirty="0">
                <a:latin typeface="Courier New" panose="02070309020205020404" pitchFamily="49" charset="0"/>
                <a:cs typeface="Courier New" panose="02070309020205020404" pitchFamily="49" charset="0"/>
              </a:rPr>
              <a:t>     1  2</a:t>
            </a:r>
          </a:p>
          <a:p>
            <a:r>
              <a:rPr lang="en-ZA" sz="1200" dirty="0">
                <a:latin typeface="Courier New" panose="02070309020205020404" pitchFamily="49" charset="0"/>
                <a:cs typeface="Courier New" panose="02070309020205020404" pitchFamily="49" charset="0"/>
              </a:rPr>
              <a:t>  1 44  6</a:t>
            </a:r>
          </a:p>
          <a:p>
            <a:r>
              <a:rPr lang="en-ZA" sz="1200" dirty="0">
                <a:latin typeface="Courier New" panose="02070309020205020404" pitchFamily="49" charset="0"/>
                <a:cs typeface="Courier New" panose="02070309020205020404" pitchFamily="49" charset="0"/>
              </a:rPr>
              <a:t>  2  1 49</a:t>
            </a:r>
          </a:p>
          <a:p>
            <a:endParaRPr lang="en-ZA" sz="1200" dirty="0" smtClean="0">
              <a:latin typeface="Courier New" panose="02070309020205020404" pitchFamily="49" charset="0"/>
              <a:cs typeface="Courier New" panose="02070309020205020404" pitchFamily="49" charset="0"/>
            </a:endParaRPr>
          </a:p>
          <a:p>
            <a:r>
              <a:rPr lang="en-ZA" sz="1200" dirty="0" smtClean="0">
                <a:latin typeface="Courier New" panose="02070309020205020404" pitchFamily="49" charset="0"/>
                <a:cs typeface="Courier New" panose="02070309020205020404" pitchFamily="49" charset="0"/>
              </a:rPr>
              <a:t>&gt; conCV1 </a:t>
            </a:r>
            <a:r>
              <a:rPr lang="en-ZA" sz="1200" dirty="0">
                <a:latin typeface="Courier New" panose="02070309020205020404" pitchFamily="49" charset="0"/>
                <a:cs typeface="Courier New" panose="02070309020205020404" pitchFamily="49" charset="0"/>
              </a:rPr>
              <a:t>&lt;- </a:t>
            </a:r>
            <a:r>
              <a:rPr lang="en-ZA" sz="1200" dirty="0" err="1">
                <a:latin typeface="Courier New" panose="02070309020205020404" pitchFamily="49" charset="0"/>
                <a:cs typeface="Courier New" panose="02070309020205020404" pitchFamily="49" charset="0"/>
              </a:rPr>
              <a:t>rbind</a:t>
            </a:r>
            <a:r>
              <a:rPr lang="en-ZA" sz="1200" dirty="0">
                <a:latin typeface="Courier New" panose="02070309020205020404" pitchFamily="49" charset="0"/>
                <a:cs typeface="Courier New" panose="02070309020205020404" pitchFamily="49" charset="0"/>
              </a:rPr>
              <a:t>(tab[1, ]/sum(tab[1, ]), tab[2, ]/sum(tab[2, </a:t>
            </a:r>
            <a:r>
              <a:rPr lang="en-ZA" sz="1200" dirty="0" smtClean="0">
                <a:latin typeface="Courier New" panose="02070309020205020404" pitchFamily="49" charset="0"/>
                <a:cs typeface="Courier New" panose="02070309020205020404" pitchFamily="49" charset="0"/>
              </a:rPr>
              <a:t>]))</a:t>
            </a:r>
          </a:p>
          <a:p>
            <a:endParaRPr lang="en-ZA" sz="1200" dirty="0">
              <a:latin typeface="Courier New" panose="02070309020205020404" pitchFamily="49" charset="0"/>
              <a:cs typeface="Courier New" panose="02070309020205020404" pitchFamily="49" charset="0"/>
            </a:endParaRPr>
          </a:p>
          <a:p>
            <a:r>
              <a:rPr lang="en-ZA" sz="1200" dirty="0" smtClean="0">
                <a:latin typeface="Courier New" panose="02070309020205020404" pitchFamily="49" charset="0"/>
                <a:cs typeface="Courier New" panose="02070309020205020404" pitchFamily="49" charset="0"/>
              </a:rPr>
              <a:t>&gt; </a:t>
            </a:r>
            <a:r>
              <a:rPr lang="en-ZA" sz="1200" dirty="0" err="1" smtClean="0">
                <a:latin typeface="Courier New" panose="02070309020205020404" pitchFamily="49" charset="0"/>
                <a:cs typeface="Courier New" panose="02070309020205020404" pitchFamily="49" charset="0"/>
              </a:rPr>
              <a:t>dimnames</a:t>
            </a:r>
            <a:r>
              <a:rPr lang="en-ZA" sz="1200" dirty="0" smtClean="0">
                <a:latin typeface="Courier New" panose="02070309020205020404" pitchFamily="49" charset="0"/>
                <a:cs typeface="Courier New" panose="02070309020205020404" pitchFamily="49" charset="0"/>
              </a:rPr>
              <a:t>(conCV1</a:t>
            </a:r>
            <a:r>
              <a:rPr lang="en-ZA" sz="1200" dirty="0">
                <a:latin typeface="Courier New" panose="02070309020205020404" pitchFamily="49" charset="0"/>
                <a:cs typeface="Courier New" panose="02070309020205020404" pitchFamily="49" charset="0"/>
              </a:rPr>
              <a:t>) &lt;- list(Actual = c("1", "2"), "Predicted (cv)" = c("1","2</a:t>
            </a:r>
            <a:r>
              <a:rPr lang="en-ZA" sz="1200" dirty="0" smtClean="0">
                <a:latin typeface="Courier New" panose="02070309020205020404" pitchFamily="49" charset="0"/>
                <a:cs typeface="Courier New" panose="02070309020205020404" pitchFamily="49" charset="0"/>
              </a:rPr>
              <a:t>"))</a:t>
            </a:r>
          </a:p>
          <a:p>
            <a:r>
              <a:rPr lang="en-ZA" sz="1200" dirty="0" smtClean="0">
                <a:latin typeface="Courier New" panose="02070309020205020404" pitchFamily="49" charset="0"/>
                <a:cs typeface="Courier New" panose="02070309020205020404" pitchFamily="49" charset="0"/>
              </a:rPr>
              <a:t> </a:t>
            </a:r>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&gt; print(round(conCV1, 3))</a:t>
            </a:r>
          </a:p>
          <a:p>
            <a:r>
              <a:rPr lang="en-ZA" sz="1200" dirty="0">
                <a:latin typeface="Courier New" panose="02070309020205020404" pitchFamily="49" charset="0"/>
                <a:cs typeface="Courier New" panose="02070309020205020404" pitchFamily="49" charset="0"/>
              </a:rPr>
              <a:t>      Predicted (cv)</a:t>
            </a:r>
          </a:p>
          <a:p>
            <a:r>
              <a:rPr lang="en-ZA" sz="1200" dirty="0">
                <a:latin typeface="Courier New" panose="02070309020205020404" pitchFamily="49" charset="0"/>
                <a:cs typeface="Courier New" panose="02070309020205020404" pitchFamily="49" charset="0"/>
              </a:rPr>
              <a:t>Actual    1    2</a:t>
            </a:r>
          </a:p>
          <a:p>
            <a:r>
              <a:rPr lang="en-ZA" sz="1200" dirty="0">
                <a:latin typeface="Courier New" panose="02070309020205020404" pitchFamily="49" charset="0"/>
                <a:cs typeface="Courier New" panose="02070309020205020404" pitchFamily="49" charset="0"/>
              </a:rPr>
              <a:t>     1 0.88 0.12</a:t>
            </a:r>
          </a:p>
          <a:p>
            <a:r>
              <a:rPr lang="en-ZA" sz="1200" dirty="0">
                <a:latin typeface="Courier New" panose="02070309020205020404" pitchFamily="49" charset="0"/>
                <a:cs typeface="Courier New" panose="02070309020205020404" pitchFamily="49" charset="0"/>
              </a:rPr>
              <a:t>     2 0.02 </a:t>
            </a:r>
            <a:r>
              <a:rPr lang="en-ZA" sz="1200" dirty="0" smtClean="0">
                <a:latin typeface="Courier New" panose="02070309020205020404" pitchFamily="49" charset="0"/>
                <a:cs typeface="Courier New" panose="02070309020205020404" pitchFamily="49" charset="0"/>
              </a:rPr>
              <a:t>0.98</a:t>
            </a:r>
          </a:p>
          <a:p>
            <a:endParaRPr lang="en-ZA" sz="1200" dirty="0">
              <a:latin typeface="Courier New" panose="02070309020205020404" pitchFamily="49" charset="0"/>
              <a:cs typeface="Courier New" panose="02070309020205020404" pitchFamily="49" charset="0"/>
            </a:endParaRPr>
          </a:p>
        </p:txBody>
      </p:sp>
      <p:sp>
        <p:nvSpPr>
          <p:cNvPr id="4" name="Oval Callout 3"/>
          <p:cNvSpPr/>
          <p:nvPr/>
        </p:nvSpPr>
        <p:spPr>
          <a:xfrm>
            <a:off x="6305550" y="438150"/>
            <a:ext cx="3219450" cy="819150"/>
          </a:xfrm>
          <a:prstGeom prst="wedgeEllipseCallout">
            <a:avLst>
              <a:gd name="adj1" fmla="val -100432"/>
              <a:gd name="adj2" fmla="val -31795"/>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We set the option CV equal to TRUE so that they evaluate the classification based on cross-validation.</a:t>
            </a:r>
            <a:endParaRPr lang="en-ZA" sz="1100" dirty="0"/>
          </a:p>
        </p:txBody>
      </p:sp>
      <p:sp>
        <p:nvSpPr>
          <p:cNvPr id="6" name="Oval Callout 5"/>
          <p:cNvSpPr/>
          <p:nvPr/>
        </p:nvSpPr>
        <p:spPr>
          <a:xfrm>
            <a:off x="4022725" y="847725"/>
            <a:ext cx="1987550" cy="819150"/>
          </a:xfrm>
          <a:prstGeom prst="wedgeEllipseCallout">
            <a:avLst>
              <a:gd name="adj1" fmla="val -182175"/>
              <a:gd name="adj2" fmla="val 4932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The classification table, rows are actual, columns are predicted</a:t>
            </a:r>
            <a:endParaRPr lang="en-ZA" sz="1100" dirty="0"/>
          </a:p>
        </p:txBody>
      </p:sp>
      <p:sp>
        <p:nvSpPr>
          <p:cNvPr id="8" name="Oval Callout 7"/>
          <p:cNvSpPr/>
          <p:nvPr/>
        </p:nvSpPr>
        <p:spPr>
          <a:xfrm>
            <a:off x="3422650" y="2895600"/>
            <a:ext cx="2749550" cy="1016000"/>
          </a:xfrm>
          <a:prstGeom prst="wedgeEllipseCallout">
            <a:avLst>
              <a:gd name="adj1" fmla="val -96815"/>
              <a:gd name="adj2" fmla="val -4375"/>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A much more useful and labelled table, showing us that 88% of salmon in country 1 and 98% of salmon in country 2 were correctly classified.</a:t>
            </a:r>
            <a:endParaRPr lang="en-ZA" sz="1100" dirty="0"/>
          </a:p>
        </p:txBody>
      </p:sp>
      <p:sp>
        <p:nvSpPr>
          <p:cNvPr id="9" name="Oval Callout 8"/>
          <p:cNvSpPr/>
          <p:nvPr/>
        </p:nvSpPr>
        <p:spPr>
          <a:xfrm>
            <a:off x="7581900" y="3067050"/>
            <a:ext cx="2914650" cy="844550"/>
          </a:xfrm>
          <a:prstGeom prst="wedgeEllipseCallout">
            <a:avLst>
              <a:gd name="adj1" fmla="val -86659"/>
              <a:gd name="adj2" fmla="val -14491"/>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Note that in this case CV based classification was same as non-CV based classification but it need not be.</a:t>
            </a:r>
            <a:endParaRPr lang="en-ZA" sz="1100" dirty="0"/>
          </a:p>
        </p:txBody>
      </p:sp>
      <p:sp>
        <p:nvSpPr>
          <p:cNvPr id="3" name="TextBox 2"/>
          <p:cNvSpPr txBox="1"/>
          <p:nvPr/>
        </p:nvSpPr>
        <p:spPr>
          <a:xfrm>
            <a:off x="114300" y="3949700"/>
            <a:ext cx="11957050" cy="2862322"/>
          </a:xfrm>
          <a:prstGeom prst="rect">
            <a:avLst/>
          </a:prstGeom>
          <a:noFill/>
          <a:ln>
            <a:solidFill>
              <a:schemeClr val="accent1"/>
            </a:solidFill>
          </a:ln>
        </p:spPr>
        <p:txBody>
          <a:bodyPr wrap="square" rtlCol="0">
            <a:spAutoFit/>
          </a:bodyPr>
          <a:lstStyle/>
          <a:p>
            <a:r>
              <a:rPr lang="en-ZA" sz="1200" dirty="0">
                <a:latin typeface="Courier New" panose="02070309020205020404" pitchFamily="49" charset="0"/>
                <a:cs typeface="Courier New" panose="02070309020205020404" pitchFamily="49" charset="0"/>
              </a:rPr>
              <a:t>&gt; #Try quadratic LDA</a:t>
            </a:r>
          </a:p>
          <a:p>
            <a:r>
              <a:rPr lang="en-ZA" sz="1200" dirty="0">
                <a:latin typeface="Courier New" panose="02070309020205020404" pitchFamily="49" charset="0"/>
                <a:cs typeface="Courier New" panose="02070309020205020404" pitchFamily="49" charset="0"/>
              </a:rPr>
              <a:t>&gt; </a:t>
            </a:r>
            <a:r>
              <a:rPr lang="en-ZA" sz="1200" dirty="0" err="1">
                <a:latin typeface="Courier New" panose="02070309020205020404" pitchFamily="49" charset="0"/>
                <a:cs typeface="Courier New" panose="02070309020205020404" pitchFamily="49" charset="0"/>
              </a:rPr>
              <a:t>fit_qda</a:t>
            </a:r>
            <a:r>
              <a:rPr lang="en-ZA" sz="1200" dirty="0">
                <a:latin typeface="Courier New" panose="02070309020205020404" pitchFamily="49" charset="0"/>
                <a:cs typeface="Courier New" panose="02070309020205020404" pitchFamily="49" charset="0"/>
              </a:rPr>
              <a:t>&lt;-</a:t>
            </a:r>
            <a:r>
              <a:rPr lang="en-ZA" sz="1200" dirty="0" err="1">
                <a:latin typeface="Courier New" panose="02070309020205020404" pitchFamily="49" charset="0"/>
                <a:cs typeface="Courier New" panose="02070309020205020404" pitchFamily="49" charset="0"/>
              </a:rPr>
              <a:t>qda</a:t>
            </a:r>
            <a:r>
              <a:rPr lang="en-ZA" sz="1200" dirty="0">
                <a:latin typeface="Courier New" panose="02070309020205020404" pitchFamily="49" charset="0"/>
                <a:cs typeface="Courier New" panose="02070309020205020404" pitchFamily="49" charset="0"/>
              </a:rPr>
              <a:t>(</a:t>
            </a:r>
            <a:r>
              <a:rPr lang="en-ZA" sz="1200" dirty="0" err="1">
                <a:latin typeface="Courier New" panose="02070309020205020404" pitchFamily="49" charset="0"/>
                <a:cs typeface="Courier New" panose="02070309020205020404" pitchFamily="49" charset="0"/>
              </a:rPr>
              <a:t>Country~Freshwater+Marine,data</a:t>
            </a:r>
            <a:r>
              <a:rPr lang="en-ZA" sz="1200" dirty="0">
                <a:latin typeface="Courier New" panose="02070309020205020404" pitchFamily="49" charset="0"/>
                <a:cs typeface="Courier New" panose="02070309020205020404" pitchFamily="49" charset="0"/>
              </a:rPr>
              <a:t>=T11_2)</a:t>
            </a:r>
          </a:p>
          <a:p>
            <a:r>
              <a:rPr lang="en-ZA" sz="1200" dirty="0">
                <a:latin typeface="Courier New" panose="02070309020205020404" pitchFamily="49" charset="0"/>
                <a:cs typeface="Courier New" panose="02070309020205020404" pitchFamily="49" charset="0"/>
              </a:rPr>
              <a:t>&gt; </a:t>
            </a:r>
            <a:r>
              <a:rPr lang="en-ZA" sz="1200" dirty="0" err="1">
                <a:latin typeface="Courier New" panose="02070309020205020404" pitchFamily="49" charset="0"/>
                <a:cs typeface="Courier New" panose="02070309020205020404" pitchFamily="49" charset="0"/>
              </a:rPr>
              <a:t>fit_qda</a:t>
            </a:r>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Call:</a:t>
            </a:r>
          </a:p>
          <a:p>
            <a:r>
              <a:rPr lang="en-ZA" sz="1200" dirty="0" err="1">
                <a:latin typeface="Courier New" panose="02070309020205020404" pitchFamily="49" charset="0"/>
                <a:cs typeface="Courier New" panose="02070309020205020404" pitchFamily="49" charset="0"/>
              </a:rPr>
              <a:t>qda</a:t>
            </a:r>
            <a:r>
              <a:rPr lang="en-ZA" sz="1200" dirty="0">
                <a:latin typeface="Courier New" panose="02070309020205020404" pitchFamily="49" charset="0"/>
                <a:cs typeface="Courier New" panose="02070309020205020404" pitchFamily="49" charset="0"/>
              </a:rPr>
              <a:t>(Country ~ Freshwater + Marine, data = T11_2)</a:t>
            </a:r>
          </a:p>
          <a:p>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Prior probabilities of groups:</a:t>
            </a:r>
          </a:p>
          <a:p>
            <a:r>
              <a:rPr lang="en-ZA" sz="1200" dirty="0">
                <a:latin typeface="Courier New" panose="02070309020205020404" pitchFamily="49" charset="0"/>
                <a:cs typeface="Courier New" panose="02070309020205020404" pitchFamily="49" charset="0"/>
              </a:rPr>
              <a:t>  1   2 </a:t>
            </a:r>
          </a:p>
          <a:p>
            <a:r>
              <a:rPr lang="en-ZA" sz="1200" dirty="0">
                <a:latin typeface="Courier New" panose="02070309020205020404" pitchFamily="49" charset="0"/>
                <a:cs typeface="Courier New" panose="02070309020205020404" pitchFamily="49" charset="0"/>
              </a:rPr>
              <a:t>0.5 0.5 </a:t>
            </a:r>
          </a:p>
          <a:p>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Group means:</a:t>
            </a:r>
          </a:p>
          <a:p>
            <a:r>
              <a:rPr lang="en-ZA" sz="1200" dirty="0">
                <a:latin typeface="Courier New" panose="02070309020205020404" pitchFamily="49" charset="0"/>
                <a:cs typeface="Courier New" panose="02070309020205020404" pitchFamily="49" charset="0"/>
              </a:rPr>
              <a:t>  Freshwater Marine</a:t>
            </a:r>
          </a:p>
          <a:p>
            <a:r>
              <a:rPr lang="en-ZA" sz="1200" dirty="0">
                <a:latin typeface="Courier New" panose="02070309020205020404" pitchFamily="49" charset="0"/>
                <a:cs typeface="Courier New" panose="02070309020205020404" pitchFamily="49" charset="0"/>
              </a:rPr>
              <a:t>1      98.38 429.66</a:t>
            </a:r>
          </a:p>
          <a:p>
            <a:pPr marL="228600" indent="-228600">
              <a:buAutoNum type="arabicPlain" startAt="2"/>
            </a:pPr>
            <a:r>
              <a:rPr lang="en-ZA" sz="1200" dirty="0" smtClean="0">
                <a:latin typeface="Courier New" panose="02070309020205020404" pitchFamily="49" charset="0"/>
                <a:cs typeface="Courier New" panose="02070309020205020404" pitchFamily="49" charset="0"/>
              </a:rPr>
              <a:t>137.46 366.62</a:t>
            </a:r>
          </a:p>
          <a:p>
            <a:endParaRPr lang="en-ZA" sz="1200" dirty="0">
              <a:latin typeface="Courier New" panose="02070309020205020404" pitchFamily="49" charset="0"/>
              <a:cs typeface="Courier New" panose="02070309020205020404" pitchFamily="49" charset="0"/>
            </a:endParaRPr>
          </a:p>
        </p:txBody>
      </p:sp>
      <p:sp>
        <p:nvSpPr>
          <p:cNvPr id="5" name="TextBox 4"/>
          <p:cNvSpPr txBox="1"/>
          <p:nvPr/>
        </p:nvSpPr>
        <p:spPr>
          <a:xfrm>
            <a:off x="5003800" y="4000500"/>
            <a:ext cx="6985000" cy="2677656"/>
          </a:xfrm>
          <a:prstGeom prst="rect">
            <a:avLst/>
          </a:prstGeom>
          <a:noFill/>
          <a:ln>
            <a:noFill/>
          </a:ln>
        </p:spPr>
        <p:txBody>
          <a:bodyPr wrap="square" rtlCol="0">
            <a:spAutoFit/>
          </a:bodyPr>
          <a:lstStyle/>
          <a:p>
            <a:r>
              <a:rPr lang="en-ZA" sz="1200" dirty="0">
                <a:latin typeface="Courier New" panose="02070309020205020404" pitchFamily="49" charset="0"/>
                <a:cs typeface="Courier New" panose="02070309020205020404" pitchFamily="49" charset="0"/>
              </a:rPr>
              <a:t>&gt; </a:t>
            </a:r>
            <a:r>
              <a:rPr lang="en-ZA" sz="1200" dirty="0" err="1">
                <a:latin typeface="Courier New" panose="02070309020205020404" pitchFamily="49" charset="0"/>
                <a:cs typeface="Courier New" panose="02070309020205020404" pitchFamily="49" charset="0"/>
              </a:rPr>
              <a:t>fitQ.hat</a:t>
            </a:r>
            <a:r>
              <a:rPr lang="en-ZA" sz="1200" dirty="0">
                <a:latin typeface="Courier New" panose="02070309020205020404" pitchFamily="49" charset="0"/>
                <a:cs typeface="Courier New" panose="02070309020205020404" pitchFamily="49" charset="0"/>
              </a:rPr>
              <a:t>&lt;-predict(</a:t>
            </a:r>
            <a:r>
              <a:rPr lang="en-ZA" sz="1200" dirty="0" err="1">
                <a:latin typeface="Courier New" panose="02070309020205020404" pitchFamily="49" charset="0"/>
                <a:cs typeface="Courier New" panose="02070309020205020404" pitchFamily="49" charset="0"/>
              </a:rPr>
              <a:t>fit_qda</a:t>
            </a:r>
            <a:r>
              <a:rPr lang="en-ZA" sz="1200" dirty="0" smtClean="0">
                <a:latin typeface="Courier New" panose="02070309020205020404" pitchFamily="49" charset="0"/>
                <a:cs typeface="Courier New" panose="02070309020205020404" pitchFamily="49" charset="0"/>
              </a:rPr>
              <a:t>)</a:t>
            </a:r>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&gt; tab3 &lt;- table(T11_2$Country, </a:t>
            </a:r>
            <a:r>
              <a:rPr lang="en-ZA" sz="1200" dirty="0" err="1">
                <a:latin typeface="Courier New" panose="02070309020205020404" pitchFamily="49" charset="0"/>
                <a:cs typeface="Courier New" panose="02070309020205020404" pitchFamily="49" charset="0"/>
              </a:rPr>
              <a:t>fitQ.hat$class</a:t>
            </a:r>
            <a:r>
              <a:rPr lang="en-ZA" sz="1200" dirty="0">
                <a:latin typeface="Courier New" panose="02070309020205020404" pitchFamily="49" charset="0"/>
                <a:cs typeface="Courier New" panose="02070309020205020404" pitchFamily="49" charset="0"/>
              </a:rPr>
              <a:t>) </a:t>
            </a:r>
          </a:p>
          <a:p>
            <a:r>
              <a:rPr lang="en-ZA" sz="1200" dirty="0">
                <a:latin typeface="Courier New" panose="02070309020205020404" pitchFamily="49" charset="0"/>
                <a:cs typeface="Courier New" panose="02070309020205020404" pitchFamily="49" charset="0"/>
              </a:rPr>
              <a:t>&gt; tab3 </a:t>
            </a:r>
          </a:p>
          <a:p>
            <a:r>
              <a:rPr lang="en-ZA" sz="1200" dirty="0">
                <a:latin typeface="Courier New" panose="02070309020205020404" pitchFamily="49" charset="0"/>
                <a:cs typeface="Courier New" panose="02070309020205020404" pitchFamily="49" charset="0"/>
              </a:rPr>
              <a:t>     1  2</a:t>
            </a:r>
          </a:p>
          <a:p>
            <a:r>
              <a:rPr lang="en-ZA" sz="1200" dirty="0">
                <a:latin typeface="Courier New" panose="02070309020205020404" pitchFamily="49" charset="0"/>
                <a:cs typeface="Courier New" panose="02070309020205020404" pitchFamily="49" charset="0"/>
              </a:rPr>
              <a:t>  1 45  5</a:t>
            </a:r>
          </a:p>
          <a:p>
            <a:r>
              <a:rPr lang="en-ZA" sz="1200" dirty="0">
                <a:latin typeface="Courier New" panose="02070309020205020404" pitchFamily="49" charset="0"/>
                <a:cs typeface="Courier New" panose="02070309020205020404" pitchFamily="49" charset="0"/>
              </a:rPr>
              <a:t>  2  2 48</a:t>
            </a:r>
          </a:p>
          <a:p>
            <a:r>
              <a:rPr lang="en-ZA" sz="1200" dirty="0">
                <a:latin typeface="Courier New" panose="02070309020205020404" pitchFamily="49" charset="0"/>
                <a:cs typeface="Courier New" panose="02070309020205020404" pitchFamily="49" charset="0"/>
              </a:rPr>
              <a:t>&gt; conCV12 &lt;- </a:t>
            </a:r>
            <a:r>
              <a:rPr lang="en-ZA" sz="1200" dirty="0" err="1">
                <a:latin typeface="Courier New" panose="02070309020205020404" pitchFamily="49" charset="0"/>
                <a:cs typeface="Courier New" panose="02070309020205020404" pitchFamily="49" charset="0"/>
              </a:rPr>
              <a:t>rbind</a:t>
            </a:r>
            <a:r>
              <a:rPr lang="en-ZA" sz="1200" dirty="0">
                <a:latin typeface="Courier New" panose="02070309020205020404" pitchFamily="49" charset="0"/>
                <a:cs typeface="Courier New" panose="02070309020205020404" pitchFamily="49" charset="0"/>
              </a:rPr>
              <a:t>(tab3[1, ]/sum(tab3[1, ]), tab3[2, ]/sum(tab3[2, ]))</a:t>
            </a:r>
          </a:p>
          <a:p>
            <a:r>
              <a:rPr lang="en-ZA" sz="1200" dirty="0">
                <a:latin typeface="Courier New" panose="02070309020205020404" pitchFamily="49" charset="0"/>
                <a:cs typeface="Courier New" panose="02070309020205020404" pitchFamily="49" charset="0"/>
              </a:rPr>
              <a:t>&gt; </a:t>
            </a:r>
            <a:r>
              <a:rPr lang="en-ZA" sz="1200" dirty="0" err="1">
                <a:latin typeface="Courier New" panose="02070309020205020404" pitchFamily="49" charset="0"/>
                <a:cs typeface="Courier New" panose="02070309020205020404" pitchFamily="49" charset="0"/>
              </a:rPr>
              <a:t>dimnames</a:t>
            </a:r>
            <a:r>
              <a:rPr lang="en-ZA" sz="1200" dirty="0">
                <a:latin typeface="Courier New" panose="02070309020205020404" pitchFamily="49" charset="0"/>
                <a:cs typeface="Courier New" panose="02070309020205020404" pitchFamily="49" charset="0"/>
              </a:rPr>
              <a:t>(conCV12) &lt;- list(Actual = c("1", "2"), "Predicted (cv)" = c("1","2")) </a:t>
            </a:r>
          </a:p>
          <a:p>
            <a:r>
              <a:rPr lang="en-ZA" sz="1200" dirty="0">
                <a:latin typeface="Courier New" panose="02070309020205020404" pitchFamily="49" charset="0"/>
                <a:cs typeface="Courier New" panose="02070309020205020404" pitchFamily="49" charset="0"/>
              </a:rPr>
              <a:t>&gt; print(round(conCV12, 3))</a:t>
            </a:r>
          </a:p>
          <a:p>
            <a:r>
              <a:rPr lang="en-ZA" sz="1200" dirty="0">
                <a:latin typeface="Courier New" panose="02070309020205020404" pitchFamily="49" charset="0"/>
                <a:cs typeface="Courier New" panose="02070309020205020404" pitchFamily="49" charset="0"/>
              </a:rPr>
              <a:t>      Predicted (cv)</a:t>
            </a:r>
          </a:p>
          <a:p>
            <a:r>
              <a:rPr lang="en-ZA" sz="1200" dirty="0">
                <a:latin typeface="Courier New" panose="02070309020205020404" pitchFamily="49" charset="0"/>
                <a:cs typeface="Courier New" panose="02070309020205020404" pitchFamily="49" charset="0"/>
              </a:rPr>
              <a:t>Actual    1    2</a:t>
            </a:r>
          </a:p>
          <a:p>
            <a:r>
              <a:rPr lang="en-ZA" sz="1200" dirty="0">
                <a:latin typeface="Courier New" panose="02070309020205020404" pitchFamily="49" charset="0"/>
                <a:cs typeface="Courier New" panose="02070309020205020404" pitchFamily="49" charset="0"/>
              </a:rPr>
              <a:t>     1 0.90 0.10</a:t>
            </a:r>
          </a:p>
          <a:p>
            <a:r>
              <a:rPr lang="en-ZA" sz="1200" dirty="0">
                <a:latin typeface="Courier New" panose="02070309020205020404" pitchFamily="49" charset="0"/>
                <a:cs typeface="Courier New" panose="02070309020205020404" pitchFamily="49" charset="0"/>
              </a:rPr>
              <a:t>     2 0.04 </a:t>
            </a:r>
            <a:r>
              <a:rPr lang="en-ZA" sz="1200" dirty="0" smtClean="0">
                <a:latin typeface="Courier New" panose="02070309020205020404" pitchFamily="49" charset="0"/>
                <a:cs typeface="Courier New" panose="02070309020205020404" pitchFamily="49" charset="0"/>
              </a:rPr>
              <a:t>0.96</a:t>
            </a:r>
            <a:endParaRPr lang="en-ZA" sz="1200" dirty="0">
              <a:latin typeface="Courier New" panose="02070309020205020404" pitchFamily="49" charset="0"/>
              <a:cs typeface="Courier New" panose="02070309020205020404" pitchFamily="49" charset="0"/>
            </a:endParaRPr>
          </a:p>
        </p:txBody>
      </p:sp>
      <p:sp>
        <p:nvSpPr>
          <p:cNvPr id="7" name="Oval Callout 6"/>
          <p:cNvSpPr/>
          <p:nvPr/>
        </p:nvSpPr>
        <p:spPr>
          <a:xfrm>
            <a:off x="2203450" y="5340350"/>
            <a:ext cx="2609850" cy="1136650"/>
          </a:xfrm>
          <a:prstGeom prst="wedgeEllipseCallout">
            <a:avLst>
              <a:gd name="adj1" fmla="val 60432"/>
              <a:gd name="adj2" fmla="val -83869"/>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Based on distribution, variances in 2 groups potentially different, so perform </a:t>
            </a:r>
            <a:r>
              <a:rPr lang="en-ZA" sz="1100" dirty="0" err="1" smtClean="0"/>
              <a:t>qda</a:t>
            </a:r>
            <a:r>
              <a:rPr lang="en-ZA" sz="1100" dirty="0" smtClean="0"/>
              <a:t>.  Leads to slightly different classification.</a:t>
            </a:r>
            <a:endParaRPr lang="en-ZA" sz="1100" dirty="0"/>
          </a:p>
        </p:txBody>
      </p:sp>
    </p:spTree>
    <p:extLst>
      <p:ext uri="{BB962C8B-B14F-4D97-AF65-F5344CB8AC3E}">
        <p14:creationId xmlns:p14="http://schemas.microsoft.com/office/powerpoint/2010/main" val="3494622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215900" y="349250"/>
                <a:ext cx="11595100" cy="6019725"/>
              </a:xfrm>
              <a:prstGeom prst="rect">
                <a:avLst/>
              </a:prstGeom>
              <a:noFill/>
              <a:ln>
                <a:solidFill>
                  <a:schemeClr val="accent1"/>
                </a:solidFill>
              </a:ln>
            </p:spPr>
            <p:txBody>
              <a:bodyPr wrap="square" rtlCol="0">
                <a:spAutoFit/>
              </a:bodyPr>
              <a:lstStyle/>
              <a:p>
                <a:r>
                  <a:rPr lang="en-ZA" dirty="0" smtClean="0"/>
                  <a:t>Classification </a:t>
                </a:r>
                <a:r>
                  <a:rPr lang="en-ZA" dirty="0"/>
                  <a:t>of several </a:t>
                </a:r>
                <a:r>
                  <a:rPr lang="en-ZA" dirty="0" smtClean="0"/>
                  <a:t>populations</a:t>
                </a:r>
              </a:p>
              <a:p>
                <a:endParaRPr lang="en-ZA" dirty="0"/>
              </a:p>
              <a:p>
                <a:r>
                  <a:rPr lang="en-ZA" dirty="0"/>
                  <a:t>If we have more than 2 populations, say </a:t>
                </a:r>
                <a:r>
                  <a:rPr lang="en-ZA" dirty="0" smtClean="0"/>
                  <a:t> </a:t>
                </a:r>
                <a14:m>
                  <m:oMath xmlns:m="http://schemas.openxmlformats.org/officeDocument/2006/math">
                    <m:r>
                      <a:rPr lang="en-ZA" b="0" i="1" smtClean="0">
                        <a:latin typeface="Cambria Math" panose="02040503050406030204" pitchFamily="18" charset="0"/>
                      </a:rPr>
                      <m:t>𝑔</m:t>
                    </m:r>
                  </m:oMath>
                </a14:m>
                <a:r>
                  <a:rPr lang="en-ZA" dirty="0" smtClean="0"/>
                  <a:t> populations</a:t>
                </a:r>
                <a:r>
                  <a:rPr lang="en-ZA" dirty="0"/>
                  <a:t>, we can extend expected misclassification cost </a:t>
                </a:r>
                <a:r>
                  <a:rPr lang="en-ZA" dirty="0" smtClean="0"/>
                  <a:t>definition </a:t>
                </a:r>
                <a:r>
                  <a:rPr lang="en-ZA" dirty="0"/>
                  <a:t>in the following way:</a:t>
                </a:r>
              </a:p>
              <a:p>
                <a:endParaRPr lang="en-ZA" dirty="0"/>
              </a:p>
              <a:p>
                <a:r>
                  <a:rPr lang="en-ZA" dirty="0"/>
                  <a:t>The conditional expected cost of misclassifying </a:t>
                </a:r>
                <a:r>
                  <a:rPr lang="en-ZA" dirty="0" smtClean="0"/>
                  <a:t>an </a:t>
                </a:r>
                <a14:m>
                  <m:oMath xmlns:m="http://schemas.openxmlformats.org/officeDocument/2006/math">
                    <m:r>
                      <a:rPr lang="en-ZA" b="1" i="1" smtClean="0">
                        <a:latin typeface="Cambria Math" panose="02040503050406030204" pitchFamily="18" charset="0"/>
                      </a:rPr>
                      <m:t>𝑿</m:t>
                    </m:r>
                  </m:oMath>
                </a14:m>
                <a:r>
                  <a:rPr lang="en-ZA" dirty="0" smtClean="0"/>
                  <a:t> from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oMath>
                </a14:m>
                <a:r>
                  <a:rPr lang="en-ZA" dirty="0" smtClean="0"/>
                  <a:t> into </a:t>
                </a:r>
                <a14:m>
                  <m:oMath xmlns:m="http://schemas.openxmlformats.org/officeDocument/2006/math">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2</m:t>
                        </m:r>
                      </m:sub>
                    </m:sSub>
                  </m:oMath>
                </a14:m>
                <a:r>
                  <a:rPr lang="en-ZA" dirty="0" smtClean="0"/>
                  <a:t> or </a:t>
                </a:r>
                <a14:m>
                  <m:oMath xmlns:m="http://schemas.openxmlformats.org/officeDocument/2006/math">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3</m:t>
                        </m:r>
                      </m:sub>
                    </m:sSub>
                  </m:oMath>
                </a14:m>
                <a:r>
                  <a:rPr lang="en-ZA" dirty="0" smtClean="0"/>
                  <a:t>, or any if the other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𝑖</m:t>
                        </m:r>
                      </m:sub>
                    </m:sSub>
                    <m:r>
                      <a:rPr lang="en-ZA" b="0" i="1" smtClean="0">
                        <a:latin typeface="Cambria Math" panose="02040503050406030204" pitchFamily="18" charset="0"/>
                      </a:rPr>
                      <m:t> </m:t>
                    </m:r>
                    <m:r>
                      <a:rPr lang="en-ZA" b="0" i="1" smtClean="0">
                        <a:latin typeface="Cambria Math" panose="02040503050406030204" pitchFamily="18" charset="0"/>
                      </a:rPr>
                      <m:t>𝑖</m:t>
                    </m:r>
                    <m:r>
                      <a:rPr lang="en-ZA" b="0" i="1" smtClean="0">
                        <a:latin typeface="Cambria Math" panose="02040503050406030204" pitchFamily="18" charset="0"/>
                      </a:rPr>
                      <m:t>=2,…,</m:t>
                    </m:r>
                    <m:r>
                      <a:rPr lang="en-ZA" b="0" i="1" smtClean="0">
                        <a:latin typeface="Cambria Math" panose="02040503050406030204" pitchFamily="18" charset="0"/>
                      </a:rPr>
                      <m:t>𝑔</m:t>
                    </m:r>
                  </m:oMath>
                </a14:m>
                <a:r>
                  <a:rPr lang="en-ZA" dirty="0" smtClean="0"/>
                  <a:t> is</a:t>
                </a:r>
              </a:p>
              <a:p>
                <a:pPr/>
                <a14:m>
                  <m:oMathPara xmlns:m="http://schemas.openxmlformats.org/officeDocument/2006/math">
                    <m:oMathParaPr>
                      <m:jc m:val="centerGroup"/>
                    </m:oMathParaPr>
                    <m:oMath xmlns:m="http://schemas.openxmlformats.org/officeDocument/2006/math">
                      <m:r>
                        <a:rPr lang="en-ZA" b="0" i="1" smtClean="0">
                          <a:latin typeface="Cambria Math" panose="02040503050406030204" pitchFamily="18" charset="0"/>
                        </a:rPr>
                        <m:t>𝐸𝐶𝑀</m:t>
                      </m:r>
                      <m:d>
                        <m:dPr>
                          <m:ctrlPr>
                            <a:rPr lang="en-ZA" b="0" i="1" smtClean="0">
                              <a:latin typeface="Cambria Math" panose="02040503050406030204" pitchFamily="18" charset="0"/>
                            </a:rPr>
                          </m:ctrlPr>
                        </m:dPr>
                        <m:e>
                          <m:r>
                            <a:rPr lang="en-ZA" b="0" i="1" smtClean="0">
                              <a:latin typeface="Cambria Math" panose="02040503050406030204" pitchFamily="18" charset="0"/>
                            </a:rPr>
                            <m:t>1</m:t>
                          </m:r>
                        </m:e>
                      </m:d>
                      <m:r>
                        <a:rPr lang="en-ZA" b="0" i="1" smtClean="0">
                          <a:latin typeface="Cambria Math" panose="02040503050406030204" pitchFamily="18" charset="0"/>
                        </a:rPr>
                        <m:t>=</m:t>
                      </m:r>
                      <m:r>
                        <a:rPr lang="en-ZA" b="0" i="1" smtClean="0">
                          <a:latin typeface="Cambria Math" panose="02040503050406030204" pitchFamily="18" charset="0"/>
                        </a:rPr>
                        <m:t>𝑃</m:t>
                      </m:r>
                      <m:d>
                        <m:dPr>
                          <m:ctrlPr>
                            <a:rPr lang="en-ZA" b="0" i="1" smtClean="0">
                              <a:latin typeface="Cambria Math" panose="02040503050406030204" pitchFamily="18" charset="0"/>
                            </a:rPr>
                          </m:ctrlPr>
                        </m:dPr>
                        <m:e>
                          <m:r>
                            <a:rPr lang="en-ZA" b="0" i="1" smtClean="0">
                              <a:latin typeface="Cambria Math" panose="02040503050406030204" pitchFamily="18" charset="0"/>
                            </a:rPr>
                            <m:t>2</m:t>
                          </m:r>
                        </m:e>
                        <m:e>
                          <m:r>
                            <a:rPr lang="en-ZA" b="0" i="1" smtClean="0">
                              <a:latin typeface="Cambria Math" panose="02040503050406030204" pitchFamily="18" charset="0"/>
                            </a:rPr>
                            <m:t>1</m:t>
                          </m:r>
                        </m:e>
                      </m:d>
                      <m:r>
                        <a:rPr lang="en-ZA" b="0" i="1" smtClean="0">
                          <a:latin typeface="Cambria Math" panose="02040503050406030204" pitchFamily="18" charset="0"/>
                        </a:rPr>
                        <m:t>𝑐</m:t>
                      </m:r>
                      <m:d>
                        <m:dPr>
                          <m:ctrlPr>
                            <a:rPr lang="en-ZA" b="0" i="1" smtClean="0">
                              <a:latin typeface="Cambria Math" panose="02040503050406030204" pitchFamily="18" charset="0"/>
                            </a:rPr>
                          </m:ctrlPr>
                        </m:dPr>
                        <m:e>
                          <m:r>
                            <a:rPr lang="en-ZA" b="0" i="1" smtClean="0">
                              <a:latin typeface="Cambria Math" panose="02040503050406030204" pitchFamily="18" charset="0"/>
                            </a:rPr>
                            <m:t>2</m:t>
                          </m:r>
                        </m:e>
                        <m:e>
                          <m:r>
                            <a:rPr lang="en-ZA" b="0" i="1" smtClean="0">
                              <a:latin typeface="Cambria Math" panose="02040503050406030204" pitchFamily="18" charset="0"/>
                            </a:rPr>
                            <m:t>1</m:t>
                          </m:r>
                        </m:e>
                      </m:d>
                      <m:r>
                        <a:rPr lang="en-ZA" b="0" i="1" smtClean="0">
                          <a:latin typeface="Cambria Math" panose="02040503050406030204" pitchFamily="18" charset="0"/>
                        </a:rPr>
                        <m:t>+</m:t>
                      </m:r>
                      <m:r>
                        <a:rPr lang="en-ZA" b="0" i="1" smtClean="0">
                          <a:latin typeface="Cambria Math" panose="02040503050406030204" pitchFamily="18" charset="0"/>
                        </a:rPr>
                        <m:t>𝑃</m:t>
                      </m:r>
                      <m:d>
                        <m:dPr>
                          <m:ctrlPr>
                            <a:rPr lang="en-ZA" b="0" i="1" smtClean="0">
                              <a:latin typeface="Cambria Math" panose="02040503050406030204" pitchFamily="18" charset="0"/>
                            </a:rPr>
                          </m:ctrlPr>
                        </m:dPr>
                        <m:e>
                          <m:r>
                            <a:rPr lang="en-ZA" b="0" i="1" smtClean="0">
                              <a:latin typeface="Cambria Math" panose="02040503050406030204" pitchFamily="18" charset="0"/>
                            </a:rPr>
                            <m:t>3</m:t>
                          </m:r>
                        </m:e>
                        <m:e>
                          <m:r>
                            <a:rPr lang="en-ZA" b="0" i="1" smtClean="0">
                              <a:latin typeface="Cambria Math" panose="02040503050406030204" pitchFamily="18" charset="0"/>
                            </a:rPr>
                            <m:t>1</m:t>
                          </m:r>
                        </m:e>
                      </m:d>
                      <m:r>
                        <a:rPr lang="en-ZA" b="0" i="1" smtClean="0">
                          <a:latin typeface="Cambria Math" panose="02040503050406030204" pitchFamily="18" charset="0"/>
                        </a:rPr>
                        <m:t>𝑐</m:t>
                      </m:r>
                      <m:d>
                        <m:dPr>
                          <m:ctrlPr>
                            <a:rPr lang="en-ZA" b="0" i="1" smtClean="0">
                              <a:latin typeface="Cambria Math" panose="02040503050406030204" pitchFamily="18" charset="0"/>
                            </a:rPr>
                          </m:ctrlPr>
                        </m:dPr>
                        <m:e>
                          <m:r>
                            <a:rPr lang="en-ZA" b="0" i="1" smtClean="0">
                              <a:latin typeface="Cambria Math" panose="02040503050406030204" pitchFamily="18" charset="0"/>
                            </a:rPr>
                            <m:t>3</m:t>
                          </m:r>
                        </m:e>
                        <m:e>
                          <m:r>
                            <a:rPr lang="en-ZA" b="0" i="1" smtClean="0">
                              <a:latin typeface="Cambria Math" panose="02040503050406030204" pitchFamily="18" charset="0"/>
                            </a:rPr>
                            <m:t>1</m:t>
                          </m:r>
                        </m:e>
                      </m:d>
                      <m:r>
                        <a:rPr lang="en-ZA" b="0" i="1" smtClean="0">
                          <a:latin typeface="Cambria Math" panose="02040503050406030204" pitchFamily="18" charset="0"/>
                        </a:rPr>
                        <m:t>+…+</m:t>
                      </m:r>
                      <m:r>
                        <a:rPr lang="en-ZA" b="0" i="1" smtClean="0">
                          <a:latin typeface="Cambria Math" panose="02040503050406030204" pitchFamily="18" charset="0"/>
                        </a:rPr>
                        <m:t>𝑃</m:t>
                      </m:r>
                      <m:d>
                        <m:dPr>
                          <m:ctrlPr>
                            <a:rPr lang="en-ZA" b="0" i="1" smtClean="0">
                              <a:latin typeface="Cambria Math" panose="02040503050406030204" pitchFamily="18" charset="0"/>
                            </a:rPr>
                          </m:ctrlPr>
                        </m:dPr>
                        <m:e>
                          <m:r>
                            <a:rPr lang="en-ZA" b="0" i="1" smtClean="0">
                              <a:latin typeface="Cambria Math" panose="02040503050406030204" pitchFamily="18" charset="0"/>
                            </a:rPr>
                            <m:t>𝑔</m:t>
                          </m:r>
                        </m:e>
                        <m:e>
                          <m:r>
                            <a:rPr lang="en-ZA" b="0" i="1" smtClean="0">
                              <a:latin typeface="Cambria Math" panose="02040503050406030204" pitchFamily="18" charset="0"/>
                            </a:rPr>
                            <m:t>1</m:t>
                          </m:r>
                        </m:e>
                      </m:d>
                      <m:r>
                        <a:rPr lang="en-ZA" b="0" i="1" smtClean="0">
                          <a:latin typeface="Cambria Math" panose="02040503050406030204" pitchFamily="18" charset="0"/>
                        </a:rPr>
                        <m:t>𝑐</m:t>
                      </m:r>
                      <m:d>
                        <m:dPr>
                          <m:ctrlPr>
                            <a:rPr lang="en-ZA" b="0" i="1" smtClean="0">
                              <a:latin typeface="Cambria Math" panose="02040503050406030204" pitchFamily="18" charset="0"/>
                            </a:rPr>
                          </m:ctrlPr>
                        </m:dPr>
                        <m:e>
                          <m:r>
                            <a:rPr lang="en-ZA" b="0" i="1" smtClean="0">
                              <a:latin typeface="Cambria Math" panose="02040503050406030204" pitchFamily="18" charset="0"/>
                            </a:rPr>
                            <m:t>𝑔</m:t>
                          </m:r>
                        </m:e>
                        <m:e>
                          <m:r>
                            <a:rPr lang="en-ZA" b="0" i="1" smtClean="0">
                              <a:latin typeface="Cambria Math" panose="02040503050406030204" pitchFamily="18" charset="0"/>
                            </a:rPr>
                            <m:t>1</m:t>
                          </m:r>
                        </m:e>
                      </m:d>
                      <m:r>
                        <a:rPr lang="en-ZA" b="0" i="1" smtClean="0">
                          <a:latin typeface="Cambria Math" panose="02040503050406030204" pitchFamily="18" charset="0"/>
                        </a:rPr>
                        <m:t>=</m:t>
                      </m:r>
                      <m:nary>
                        <m:naryPr>
                          <m:chr m:val="∑"/>
                          <m:ctrlPr>
                            <a:rPr lang="en-ZA" b="0" i="1" smtClean="0">
                              <a:latin typeface="Cambria Math" panose="02040503050406030204" pitchFamily="18" charset="0"/>
                            </a:rPr>
                          </m:ctrlPr>
                        </m:naryPr>
                        <m:sub>
                          <m:r>
                            <m:rPr>
                              <m:brk m:alnAt="23"/>
                            </m:rPr>
                            <a:rPr lang="en-ZA" b="0" i="1" smtClean="0">
                              <a:latin typeface="Cambria Math" panose="02040503050406030204" pitchFamily="18" charset="0"/>
                            </a:rPr>
                            <m:t>𝑘</m:t>
                          </m:r>
                          <m:r>
                            <a:rPr lang="en-ZA" b="0" i="1" smtClean="0">
                              <a:latin typeface="Cambria Math" panose="02040503050406030204" pitchFamily="18" charset="0"/>
                            </a:rPr>
                            <m:t>=2</m:t>
                          </m:r>
                        </m:sub>
                        <m:sup>
                          <m:r>
                            <a:rPr lang="en-ZA" b="0" i="1" smtClean="0">
                              <a:latin typeface="Cambria Math" panose="02040503050406030204" pitchFamily="18" charset="0"/>
                            </a:rPr>
                            <m:t>𝑔</m:t>
                          </m:r>
                        </m:sup>
                        <m:e>
                          <m:r>
                            <a:rPr lang="en-ZA" b="0" i="1" smtClean="0">
                              <a:latin typeface="Cambria Math" panose="02040503050406030204" pitchFamily="18" charset="0"/>
                            </a:rPr>
                            <m:t>𝑃</m:t>
                          </m:r>
                          <m:d>
                            <m:dPr>
                              <m:ctrlPr>
                                <a:rPr lang="en-ZA" b="0" i="1" smtClean="0">
                                  <a:latin typeface="Cambria Math" panose="02040503050406030204" pitchFamily="18" charset="0"/>
                                </a:rPr>
                              </m:ctrlPr>
                            </m:dPr>
                            <m:e>
                              <m:r>
                                <a:rPr lang="en-ZA" b="0" i="1" smtClean="0">
                                  <a:latin typeface="Cambria Math" panose="02040503050406030204" pitchFamily="18" charset="0"/>
                                </a:rPr>
                                <m:t>𝑘</m:t>
                              </m:r>
                            </m:e>
                            <m:e>
                              <m:r>
                                <a:rPr lang="en-ZA" b="0" i="1" smtClean="0">
                                  <a:latin typeface="Cambria Math" panose="02040503050406030204" pitchFamily="18" charset="0"/>
                                </a:rPr>
                                <m:t>1</m:t>
                              </m:r>
                            </m:e>
                          </m:d>
                          <m:r>
                            <a:rPr lang="en-ZA" b="0" i="1" smtClean="0">
                              <a:latin typeface="Cambria Math" panose="02040503050406030204" pitchFamily="18" charset="0"/>
                            </a:rPr>
                            <m:t>𝑐</m:t>
                          </m:r>
                          <m:d>
                            <m:dPr>
                              <m:ctrlPr>
                                <a:rPr lang="en-ZA" b="0" i="1" smtClean="0">
                                  <a:latin typeface="Cambria Math" panose="02040503050406030204" pitchFamily="18" charset="0"/>
                                </a:rPr>
                              </m:ctrlPr>
                            </m:dPr>
                            <m:e>
                              <m:r>
                                <a:rPr lang="en-ZA" b="0" i="1" smtClean="0">
                                  <a:latin typeface="Cambria Math" panose="02040503050406030204" pitchFamily="18" charset="0"/>
                                </a:rPr>
                                <m:t>𝑘</m:t>
                              </m:r>
                            </m:e>
                            <m:e>
                              <m:r>
                                <a:rPr lang="en-ZA" b="0" i="1" smtClean="0">
                                  <a:latin typeface="Cambria Math" panose="02040503050406030204" pitchFamily="18" charset="0"/>
                                </a:rPr>
                                <m:t>1</m:t>
                              </m:r>
                            </m:e>
                          </m:d>
                        </m:e>
                      </m:nary>
                      <m:r>
                        <a:rPr lang="en-ZA" b="0" i="1" smtClean="0">
                          <a:latin typeface="Cambria Math" panose="02040503050406030204" pitchFamily="18" charset="0"/>
                        </a:rPr>
                        <m:t>.</m:t>
                      </m:r>
                    </m:oMath>
                  </m:oMathPara>
                </a14:m>
                <a:endParaRPr lang="en-ZA" dirty="0" smtClean="0"/>
              </a:p>
              <a:p>
                <a:endParaRPr lang="en-ZA" dirty="0" smtClean="0"/>
              </a:p>
              <a:p>
                <a:r>
                  <a:rPr lang="en-ZA" dirty="0" smtClean="0"/>
                  <a:t>The conditional expected cost occurs with prior probability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1</m:t>
                        </m:r>
                      </m:sub>
                    </m:sSub>
                  </m:oMath>
                </a14:m>
                <a:r>
                  <a:rPr lang="en-ZA" dirty="0" smtClean="0"/>
                  <a:t>, the prevalence of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oMath>
                </a14:m>
                <a:r>
                  <a:rPr lang="en-ZA" dirty="0" smtClean="0"/>
                  <a:t>. Similarly for </a:t>
                </a:r>
                <a14:m>
                  <m:oMath xmlns:m="http://schemas.openxmlformats.org/officeDocument/2006/math">
                    <m:r>
                      <a:rPr lang="en-ZA" b="0" i="1" smtClean="0">
                        <a:latin typeface="Cambria Math" panose="02040503050406030204" pitchFamily="18" charset="0"/>
                      </a:rPr>
                      <m:t>𝐸𝐶𝑀</m:t>
                    </m:r>
                    <m:r>
                      <a:rPr lang="en-ZA" b="0" i="1" smtClean="0">
                        <a:latin typeface="Cambria Math" panose="02040503050406030204" pitchFamily="18" charset="0"/>
                      </a:rPr>
                      <m:t>(2)</m:t>
                    </m:r>
                  </m:oMath>
                </a14:m>
                <a:r>
                  <a:rPr lang="en-ZA" dirty="0" smtClean="0"/>
                  <a:t> to </a:t>
                </a:r>
                <a14:m>
                  <m:oMath xmlns:m="http://schemas.openxmlformats.org/officeDocument/2006/math">
                    <m:r>
                      <a:rPr lang="en-ZA" b="0" i="1" smtClean="0">
                        <a:latin typeface="Cambria Math" panose="02040503050406030204" pitchFamily="18" charset="0"/>
                      </a:rPr>
                      <m:t>𝐸𝐶𝑀</m:t>
                    </m:r>
                    <m:r>
                      <a:rPr lang="en-ZA" b="0" i="1" smtClean="0">
                        <a:latin typeface="Cambria Math" panose="02040503050406030204" pitchFamily="18" charset="0"/>
                      </a:rPr>
                      <m:t>(</m:t>
                    </m:r>
                    <m:r>
                      <a:rPr lang="en-ZA" b="0" i="1" smtClean="0">
                        <a:latin typeface="Cambria Math" panose="02040503050406030204" pitchFamily="18" charset="0"/>
                      </a:rPr>
                      <m:t>𝑔</m:t>
                    </m:r>
                    <m:r>
                      <a:rPr lang="en-ZA" b="0" i="1" smtClean="0">
                        <a:latin typeface="Cambria Math" panose="02040503050406030204" pitchFamily="18" charset="0"/>
                      </a:rPr>
                      <m:t>)</m:t>
                    </m:r>
                  </m:oMath>
                </a14:m>
                <a:r>
                  <a:rPr lang="en-ZA" dirty="0" smtClean="0"/>
                  <a:t>. </a:t>
                </a:r>
              </a:p>
              <a:p>
                <a:endParaRPr lang="en-ZA" dirty="0" smtClean="0"/>
              </a:p>
              <a:p>
                <a:r>
                  <a:rPr lang="en-ZA" dirty="0" smtClean="0"/>
                  <a:t>The overall expected cost of misclassification is </a:t>
                </a:r>
              </a:p>
              <a:p>
                <a:pPr/>
                <a14:m>
                  <m:oMathPara xmlns:m="http://schemas.openxmlformats.org/officeDocument/2006/math">
                    <m:oMathParaPr>
                      <m:jc m:val="centerGroup"/>
                    </m:oMathParaPr>
                    <m:oMath xmlns:m="http://schemas.openxmlformats.org/officeDocument/2006/math">
                      <m:r>
                        <a:rPr lang="en-ZA" b="0" i="1" smtClean="0">
                          <a:latin typeface="Cambria Math" panose="02040503050406030204" pitchFamily="18" charset="0"/>
                        </a:rPr>
                        <m:t>𝐸𝐶𝑀</m:t>
                      </m:r>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1</m:t>
                          </m:r>
                        </m:sub>
                      </m:sSub>
                      <m:r>
                        <a:rPr lang="en-ZA" b="0" i="1" smtClean="0">
                          <a:latin typeface="Cambria Math" panose="02040503050406030204" pitchFamily="18" charset="0"/>
                        </a:rPr>
                        <m:t>𝐸𝐶𝑀</m:t>
                      </m:r>
                      <m:d>
                        <m:dPr>
                          <m:ctrlPr>
                            <a:rPr lang="en-ZA" b="0" i="1" smtClean="0">
                              <a:latin typeface="Cambria Math" panose="02040503050406030204" pitchFamily="18" charset="0"/>
                            </a:rPr>
                          </m:ctrlPr>
                        </m:dPr>
                        <m:e>
                          <m:r>
                            <a:rPr lang="en-ZA" b="0" i="1" smtClean="0">
                              <a:latin typeface="Cambria Math" panose="02040503050406030204" pitchFamily="18" charset="0"/>
                            </a:rPr>
                            <m:t>1</m:t>
                          </m:r>
                        </m:e>
                      </m:d>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2</m:t>
                          </m:r>
                        </m:sub>
                      </m:sSub>
                      <m:r>
                        <a:rPr lang="en-ZA" b="0" i="1" smtClean="0">
                          <a:latin typeface="Cambria Math" panose="02040503050406030204" pitchFamily="18" charset="0"/>
                        </a:rPr>
                        <m:t>𝐸𝐶𝑀</m:t>
                      </m:r>
                      <m:d>
                        <m:dPr>
                          <m:ctrlPr>
                            <a:rPr lang="en-ZA" b="0" i="1" smtClean="0">
                              <a:latin typeface="Cambria Math" panose="02040503050406030204" pitchFamily="18" charset="0"/>
                            </a:rPr>
                          </m:ctrlPr>
                        </m:dPr>
                        <m:e>
                          <m:r>
                            <a:rPr lang="en-ZA" b="0" i="1" smtClean="0">
                              <a:latin typeface="Cambria Math" panose="02040503050406030204" pitchFamily="18" charset="0"/>
                            </a:rPr>
                            <m:t>2</m:t>
                          </m:r>
                        </m:e>
                      </m:d>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𝑔</m:t>
                          </m:r>
                        </m:sub>
                      </m:sSub>
                      <m:r>
                        <a:rPr lang="en-ZA" b="0" i="1" smtClean="0">
                          <a:latin typeface="Cambria Math" panose="02040503050406030204" pitchFamily="18" charset="0"/>
                        </a:rPr>
                        <m:t>𝐸𝐶𝑀</m:t>
                      </m:r>
                      <m:d>
                        <m:dPr>
                          <m:ctrlPr>
                            <a:rPr lang="en-ZA" b="0" i="1" smtClean="0">
                              <a:latin typeface="Cambria Math" panose="02040503050406030204" pitchFamily="18" charset="0"/>
                            </a:rPr>
                          </m:ctrlPr>
                        </m:dPr>
                        <m:e>
                          <m:r>
                            <a:rPr lang="en-ZA" b="0" i="1" smtClean="0">
                              <a:latin typeface="Cambria Math" panose="02040503050406030204" pitchFamily="18" charset="0"/>
                            </a:rPr>
                            <m:t>𝑔</m:t>
                          </m:r>
                        </m:e>
                      </m:d>
                      <m:r>
                        <a:rPr lang="en-ZA" b="0" i="1" smtClean="0">
                          <a:latin typeface="Cambria Math" panose="02040503050406030204" pitchFamily="18" charset="0"/>
                        </a:rPr>
                        <m:t>=</m:t>
                      </m:r>
                      <m:nary>
                        <m:naryPr>
                          <m:chr m:val="∑"/>
                          <m:ctrlPr>
                            <a:rPr lang="en-ZA" b="0" i="1" smtClean="0">
                              <a:latin typeface="Cambria Math" panose="02040503050406030204" pitchFamily="18" charset="0"/>
                            </a:rPr>
                          </m:ctrlPr>
                        </m:naryPr>
                        <m:sub>
                          <m:r>
                            <m:rPr>
                              <m:brk m:alnAt="23"/>
                            </m:rPr>
                            <a:rPr lang="en-ZA" b="0" i="1" smtClean="0">
                              <a:latin typeface="Cambria Math" panose="02040503050406030204" pitchFamily="18" charset="0"/>
                            </a:rPr>
                            <m:t>𝑖</m:t>
                          </m:r>
                          <m:r>
                            <a:rPr lang="en-ZA" b="0" i="1" smtClean="0">
                              <a:latin typeface="Cambria Math" panose="02040503050406030204" pitchFamily="18" charset="0"/>
                            </a:rPr>
                            <m:t>=1</m:t>
                          </m:r>
                        </m:sub>
                        <m:sup>
                          <m:r>
                            <a:rPr lang="en-ZA" b="0" i="1" smtClean="0">
                              <a:latin typeface="Cambria Math" panose="02040503050406030204" pitchFamily="18" charset="0"/>
                            </a:rPr>
                            <m:t>𝑔</m:t>
                          </m:r>
                        </m:sup>
                        <m:e>
                          <m:sSub>
                            <m:sSubPr>
                              <m:ctrlPr>
                                <a:rPr lang="en-ZA" b="0"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𝑖</m:t>
                              </m:r>
                            </m:sub>
                          </m:sSub>
                          <m:d>
                            <m:dPr>
                              <m:ctrlPr>
                                <a:rPr lang="en-ZA" b="0" i="1" smtClean="0">
                                  <a:latin typeface="Cambria Math" panose="02040503050406030204" pitchFamily="18" charset="0"/>
                                </a:rPr>
                              </m:ctrlPr>
                            </m:dPr>
                            <m:e>
                              <m:nary>
                                <m:naryPr>
                                  <m:chr m:val="∑"/>
                                  <m:ctrlPr>
                                    <a:rPr lang="en-ZA" b="0" i="1" smtClean="0">
                                      <a:latin typeface="Cambria Math" panose="02040503050406030204" pitchFamily="18" charset="0"/>
                                    </a:rPr>
                                  </m:ctrlPr>
                                </m:naryPr>
                                <m:sub>
                                  <m:r>
                                    <m:rPr>
                                      <m:brk m:alnAt="23"/>
                                    </m:rPr>
                                    <a:rPr lang="en-ZA" b="0" i="1" smtClean="0">
                                      <a:latin typeface="Cambria Math" panose="02040503050406030204" pitchFamily="18" charset="0"/>
                                    </a:rPr>
                                    <m:t>𝑖</m:t>
                                  </m:r>
                                  <m:r>
                                    <a:rPr lang="en-ZA" b="0" i="1" smtClean="0">
                                      <a:latin typeface="Cambria Math" panose="02040503050406030204" pitchFamily="18" charset="0"/>
                                    </a:rPr>
                                    <m:t>=1</m:t>
                                  </m:r>
                                  <m:d>
                                    <m:dPr>
                                      <m:ctrlPr>
                                        <a:rPr lang="en-ZA" b="0" i="1" smtClean="0">
                                          <a:latin typeface="Cambria Math" panose="02040503050406030204" pitchFamily="18" charset="0"/>
                                        </a:rPr>
                                      </m:ctrlPr>
                                    </m:dPr>
                                    <m:e>
                                      <m:r>
                                        <m:rPr>
                                          <m:brk m:alnAt="23"/>
                                        </m:rPr>
                                        <a:rPr lang="en-ZA" b="0" i="1" smtClean="0">
                                          <a:latin typeface="Cambria Math" panose="02040503050406030204" pitchFamily="18" charset="0"/>
                                        </a:rPr>
                                        <m:t>𝑖</m:t>
                                      </m:r>
                                      <m:r>
                                        <a:rPr lang="en-ZA" b="0" i="1" smtClean="0">
                                          <a:latin typeface="Cambria Math" panose="02040503050406030204" pitchFamily="18" charset="0"/>
                                          <a:ea typeface="Cambria Math" panose="02040503050406030204" pitchFamily="18" charset="0"/>
                                        </a:rPr>
                                        <m:t>≠</m:t>
                                      </m:r>
                                      <m:r>
                                        <a:rPr lang="en-ZA" b="0" i="1" smtClean="0">
                                          <a:latin typeface="Cambria Math" panose="02040503050406030204" pitchFamily="18" charset="0"/>
                                          <a:ea typeface="Cambria Math" panose="02040503050406030204" pitchFamily="18" charset="0"/>
                                        </a:rPr>
                                        <m:t>𝑘</m:t>
                                      </m:r>
                                    </m:e>
                                  </m:d>
                                </m:sub>
                                <m:sup>
                                  <m:r>
                                    <a:rPr lang="en-ZA" b="0" i="1" smtClean="0">
                                      <a:latin typeface="Cambria Math" panose="02040503050406030204" pitchFamily="18" charset="0"/>
                                    </a:rPr>
                                    <m:t>𝑔</m:t>
                                  </m:r>
                                </m:sup>
                                <m:e>
                                  <m:r>
                                    <a:rPr lang="en-ZA" b="0" i="1" smtClean="0">
                                      <a:latin typeface="Cambria Math" panose="02040503050406030204" pitchFamily="18" charset="0"/>
                                    </a:rPr>
                                    <m:t>𝑃</m:t>
                                  </m:r>
                                  <m:d>
                                    <m:dPr>
                                      <m:ctrlPr>
                                        <a:rPr lang="en-ZA" b="0" i="1" smtClean="0">
                                          <a:latin typeface="Cambria Math" panose="02040503050406030204" pitchFamily="18" charset="0"/>
                                        </a:rPr>
                                      </m:ctrlPr>
                                    </m:dPr>
                                    <m:e>
                                      <m:r>
                                        <a:rPr lang="en-ZA" b="0" i="1" smtClean="0">
                                          <a:latin typeface="Cambria Math" panose="02040503050406030204" pitchFamily="18" charset="0"/>
                                        </a:rPr>
                                        <m:t>𝑘</m:t>
                                      </m:r>
                                    </m:e>
                                    <m:e>
                                      <m:r>
                                        <a:rPr lang="en-ZA" b="0" i="1" smtClean="0">
                                          <a:latin typeface="Cambria Math" panose="02040503050406030204" pitchFamily="18" charset="0"/>
                                        </a:rPr>
                                        <m:t>𝑖</m:t>
                                      </m:r>
                                    </m:e>
                                  </m:d>
                                  <m:r>
                                    <a:rPr lang="en-ZA" b="0" i="1" smtClean="0">
                                      <a:latin typeface="Cambria Math" panose="02040503050406030204" pitchFamily="18" charset="0"/>
                                    </a:rPr>
                                    <m:t>𝑐</m:t>
                                  </m:r>
                                  <m:d>
                                    <m:dPr>
                                      <m:ctrlPr>
                                        <a:rPr lang="en-ZA" b="0" i="1" smtClean="0">
                                          <a:latin typeface="Cambria Math" panose="02040503050406030204" pitchFamily="18" charset="0"/>
                                        </a:rPr>
                                      </m:ctrlPr>
                                    </m:dPr>
                                    <m:e>
                                      <m:r>
                                        <a:rPr lang="en-ZA" b="0" i="1" smtClean="0">
                                          <a:latin typeface="Cambria Math" panose="02040503050406030204" pitchFamily="18" charset="0"/>
                                        </a:rPr>
                                        <m:t>𝑘</m:t>
                                      </m:r>
                                    </m:e>
                                    <m:e>
                                      <m:r>
                                        <a:rPr lang="en-ZA" b="0" i="1" smtClean="0">
                                          <a:latin typeface="Cambria Math" panose="02040503050406030204" pitchFamily="18" charset="0"/>
                                        </a:rPr>
                                        <m:t>𝑖</m:t>
                                      </m:r>
                                    </m:e>
                                  </m:d>
                                </m:e>
                              </m:nary>
                            </m:e>
                          </m:d>
                          <m:r>
                            <a:rPr lang="en-ZA" b="0" i="1" smtClean="0">
                              <a:latin typeface="Cambria Math" panose="02040503050406030204" pitchFamily="18" charset="0"/>
                            </a:rPr>
                            <m:t>,</m:t>
                          </m:r>
                        </m:e>
                      </m:nary>
                    </m:oMath>
                  </m:oMathPara>
                </a14:m>
                <a:endParaRPr lang="en-ZA" b="0" dirty="0" smtClean="0"/>
              </a:p>
              <a:p>
                <a:r>
                  <a:rPr lang="en-ZA" dirty="0"/>
                  <a:t>which should be minimised by choosing </a:t>
                </a:r>
                <a:r>
                  <a:rPr lang="en-ZA" dirty="0" smtClean="0"/>
                  <a:t>mutually </a:t>
                </a:r>
                <a:r>
                  <a:rPr lang="en-ZA" dirty="0"/>
                  <a:t>exclusive and exhaustive </a:t>
                </a:r>
                <a:r>
                  <a:rPr lang="en-ZA" dirty="0" smtClean="0"/>
                  <a:t>regions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𝑅</m:t>
                        </m:r>
                      </m:e>
                      <m:sub>
                        <m:r>
                          <a:rPr lang="en-ZA" b="0" i="1" smtClean="0">
                            <a:latin typeface="Cambria Math" panose="02040503050406030204" pitchFamily="18" charset="0"/>
                          </a:rPr>
                          <m:t>1</m:t>
                        </m:r>
                      </m:sub>
                    </m:sSub>
                    <m:r>
                      <a:rPr lang="en-ZA" b="0" i="1" smtClean="0">
                        <a:latin typeface="Cambria Math" panose="02040503050406030204" pitchFamily="18" charset="0"/>
                      </a:rPr>
                      <m:t>, </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𝑅</m:t>
                        </m:r>
                      </m:e>
                      <m:sub>
                        <m:r>
                          <a:rPr lang="en-ZA" b="0" i="1" smtClean="0">
                            <a:latin typeface="Cambria Math" panose="02040503050406030204" pitchFamily="18" charset="0"/>
                          </a:rPr>
                          <m:t>2</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𝑅</m:t>
                        </m:r>
                      </m:e>
                      <m:sub>
                        <m:r>
                          <a:rPr lang="en-ZA" b="0" i="1" smtClean="0">
                            <a:latin typeface="Cambria Math" panose="02040503050406030204" pitchFamily="18" charset="0"/>
                          </a:rPr>
                          <m:t>𝑔</m:t>
                        </m:r>
                      </m:sub>
                    </m:sSub>
                  </m:oMath>
                </a14:m>
                <a:r>
                  <a:rPr lang="en-ZA" dirty="0" smtClean="0"/>
                  <a:t>. </a:t>
                </a:r>
                <a:endParaRPr lang="en-ZA" dirty="0"/>
              </a:p>
              <a:p>
                <a:endParaRPr lang="en-ZA" dirty="0"/>
              </a:p>
              <a:p>
                <a:r>
                  <a:rPr lang="en-ZA" dirty="0"/>
                  <a:t>The classification regions that minimize the ECM are defined </a:t>
                </a:r>
                <a:r>
                  <a:rPr lang="en-ZA" dirty="0" smtClean="0"/>
                  <a:t>by allocating </a:t>
                </a:r>
                <a14:m>
                  <m:oMath xmlns:m="http://schemas.openxmlformats.org/officeDocument/2006/math">
                    <m:r>
                      <a:rPr lang="en-ZA" b="1" i="1" smtClean="0">
                        <a:latin typeface="Cambria Math" panose="02040503050406030204" pitchFamily="18" charset="0"/>
                      </a:rPr>
                      <m:t>𝒙</m:t>
                    </m:r>
                  </m:oMath>
                </a14:m>
                <a:r>
                  <a:rPr lang="en-ZA" dirty="0" smtClean="0"/>
                  <a:t> to </a:t>
                </a:r>
                <a:r>
                  <a:rPr lang="en-ZA" dirty="0"/>
                  <a:t>that population</a:t>
                </a:r>
                <a:r>
                  <a:rPr lang="en-ZA" dirty="0" smtClean="0"/>
                  <a:t>,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2</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𝑔</m:t>
                        </m:r>
                      </m:sub>
                    </m:sSub>
                  </m:oMath>
                </a14:m>
                <a:r>
                  <a:rPr lang="en-ZA" dirty="0" smtClean="0"/>
                  <a:t> </a:t>
                </a:r>
                <a:r>
                  <a:rPr lang="en-ZA" dirty="0"/>
                  <a:t>,</a:t>
                </a:r>
                <a:r>
                  <a:rPr lang="en-ZA" dirty="0" smtClean="0"/>
                  <a:t> </a:t>
                </a:r>
                <a:r>
                  <a:rPr lang="en-ZA" dirty="0"/>
                  <a:t>for which </a:t>
                </a:r>
                <a:endParaRPr lang="en-ZA" dirty="0" smtClean="0"/>
              </a:p>
              <a:p>
                <a:endParaRPr lang="en-ZA" dirty="0"/>
              </a:p>
              <a:p>
                <a:pPr algn="ctr"/>
                <a14:m>
                  <m:oMath xmlns:m="http://schemas.openxmlformats.org/officeDocument/2006/math">
                    <m:nary>
                      <m:naryPr>
                        <m:chr m:val="∑"/>
                        <m:ctrlPr>
                          <a:rPr lang="en-ZA" i="1" smtClean="0">
                            <a:latin typeface="Cambria Math" panose="02040503050406030204" pitchFamily="18" charset="0"/>
                          </a:rPr>
                        </m:ctrlPr>
                      </m:naryPr>
                      <m:sub>
                        <m:r>
                          <m:rPr>
                            <m:brk m:alnAt="23"/>
                          </m:rPr>
                          <a:rPr lang="en-ZA" b="0" i="1" smtClean="0">
                            <a:latin typeface="Cambria Math" panose="02040503050406030204" pitchFamily="18" charset="0"/>
                          </a:rPr>
                          <m:t>𝑖</m:t>
                        </m:r>
                        <m:r>
                          <a:rPr lang="en-ZA" b="0" i="1" smtClean="0">
                            <a:latin typeface="Cambria Math" panose="02040503050406030204" pitchFamily="18" charset="0"/>
                          </a:rPr>
                          <m:t>=1(</m:t>
                        </m:r>
                        <m:r>
                          <a:rPr lang="en-ZA" b="0" i="1" smtClean="0">
                            <a:latin typeface="Cambria Math" panose="02040503050406030204" pitchFamily="18" charset="0"/>
                          </a:rPr>
                          <m:t>𝑖</m:t>
                        </m:r>
                        <m:r>
                          <a:rPr lang="en-ZA" b="0" i="1" smtClean="0">
                            <a:latin typeface="Cambria Math" panose="02040503050406030204" pitchFamily="18" charset="0"/>
                            <a:ea typeface="Cambria Math" panose="02040503050406030204" pitchFamily="18" charset="0"/>
                          </a:rPr>
                          <m:t>≠</m:t>
                        </m:r>
                        <m:r>
                          <a:rPr lang="en-ZA" b="0" i="1" smtClean="0">
                            <a:latin typeface="Cambria Math" panose="02040503050406030204" pitchFamily="18" charset="0"/>
                            <a:ea typeface="Cambria Math" panose="02040503050406030204" pitchFamily="18" charset="0"/>
                          </a:rPr>
                          <m:t>𝑘</m:t>
                        </m:r>
                        <m:r>
                          <a:rPr lang="en-ZA" b="0" i="1" smtClean="0">
                            <a:latin typeface="Cambria Math" panose="02040503050406030204" pitchFamily="18" charset="0"/>
                            <a:ea typeface="Cambria Math" panose="02040503050406030204" pitchFamily="18" charset="0"/>
                          </a:rPr>
                          <m:t>)</m:t>
                        </m:r>
                      </m:sub>
                      <m:sup>
                        <m:r>
                          <a:rPr lang="en-ZA" b="0" i="1" smtClean="0">
                            <a:latin typeface="Cambria Math" panose="02040503050406030204" pitchFamily="18" charset="0"/>
                          </a:rPr>
                          <m:t>𝑔</m:t>
                        </m:r>
                      </m:sup>
                      <m:e>
                        <m:sSub>
                          <m:sSubPr>
                            <m:ctrlPr>
                              <a:rPr lang="en-ZA"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𝑖</m:t>
                            </m:r>
                          </m:sub>
                        </m:sSub>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𝑖</m:t>
                            </m:r>
                          </m:sub>
                        </m:sSub>
                        <m:d>
                          <m:dPr>
                            <m:ctrlPr>
                              <a:rPr lang="en-ZA" b="0" i="1" smtClean="0">
                                <a:latin typeface="Cambria Math" panose="02040503050406030204" pitchFamily="18" charset="0"/>
                              </a:rPr>
                            </m:ctrlPr>
                          </m:dPr>
                          <m:e>
                            <m:r>
                              <a:rPr lang="en-ZA" b="1" i="1" smtClean="0">
                                <a:latin typeface="Cambria Math" panose="02040503050406030204" pitchFamily="18" charset="0"/>
                              </a:rPr>
                              <m:t>𝒙</m:t>
                            </m:r>
                          </m:e>
                        </m:d>
                        <m:r>
                          <a:rPr lang="en-ZA" b="0" i="1" smtClean="0">
                            <a:latin typeface="Cambria Math" panose="02040503050406030204" pitchFamily="18" charset="0"/>
                          </a:rPr>
                          <m:t>𝑐</m:t>
                        </m:r>
                        <m:r>
                          <a:rPr lang="en-ZA" b="0" i="1" smtClean="0">
                            <a:latin typeface="Cambria Math" panose="02040503050406030204" pitchFamily="18" charset="0"/>
                          </a:rPr>
                          <m:t>(</m:t>
                        </m:r>
                        <m:r>
                          <a:rPr lang="en-ZA" b="0" i="1" smtClean="0">
                            <a:latin typeface="Cambria Math" panose="02040503050406030204" pitchFamily="18" charset="0"/>
                          </a:rPr>
                          <m:t>𝑘</m:t>
                        </m:r>
                        <m:r>
                          <a:rPr lang="en-ZA" b="0" i="1" smtClean="0">
                            <a:latin typeface="Cambria Math" panose="02040503050406030204" pitchFamily="18" charset="0"/>
                          </a:rPr>
                          <m:t>|</m:t>
                        </m:r>
                        <m:r>
                          <a:rPr lang="en-ZA" b="0" i="1" smtClean="0">
                            <a:latin typeface="Cambria Math" panose="02040503050406030204" pitchFamily="18" charset="0"/>
                          </a:rPr>
                          <m:t>𝑖</m:t>
                        </m:r>
                        <m:r>
                          <a:rPr lang="en-ZA" b="0" i="1" smtClean="0">
                            <a:latin typeface="Cambria Math" panose="02040503050406030204" pitchFamily="18" charset="0"/>
                          </a:rPr>
                          <m:t>)</m:t>
                        </m:r>
                      </m:e>
                    </m:nary>
                  </m:oMath>
                </a14:m>
                <a:r>
                  <a:rPr lang="en-ZA" dirty="0" smtClean="0"/>
                  <a:t> </a:t>
                </a:r>
                <a:r>
                  <a:rPr lang="en-ZA" dirty="0"/>
                  <a:t>is </a:t>
                </a:r>
                <a:r>
                  <a:rPr lang="en-ZA" dirty="0" smtClean="0"/>
                  <a:t>smallest.</a:t>
                </a:r>
                <a:endParaRPr lang="en-ZA" dirty="0"/>
              </a:p>
            </p:txBody>
          </p:sp>
        </mc:Choice>
        <mc:Fallback xmlns="">
          <p:sp>
            <p:nvSpPr>
              <p:cNvPr id="2" name="TextBox 1"/>
              <p:cNvSpPr txBox="1">
                <a:spLocks noRot="1" noChangeAspect="1" noMove="1" noResize="1" noEditPoints="1" noAdjustHandles="1" noChangeArrowheads="1" noChangeShapeType="1" noTextEdit="1"/>
              </p:cNvSpPr>
              <p:nvPr/>
            </p:nvSpPr>
            <p:spPr>
              <a:xfrm>
                <a:off x="215900" y="349250"/>
                <a:ext cx="11595100" cy="6019725"/>
              </a:xfrm>
              <a:prstGeom prst="rect">
                <a:avLst/>
              </a:prstGeom>
              <a:blipFill rotWithShape="0">
                <a:blip r:embed="rId2"/>
                <a:stretch>
                  <a:fillRect l="-367" t="-404" b="-9394"/>
                </a:stretch>
              </a:blipFill>
              <a:ln>
                <a:solidFill>
                  <a:schemeClr val="accent1"/>
                </a:solidFill>
              </a:ln>
            </p:spPr>
            <p:txBody>
              <a:bodyPr/>
              <a:lstStyle/>
              <a:p>
                <a:r>
                  <a:rPr lang="en-ZA">
                    <a:noFill/>
                  </a:rPr>
                  <a:t> </a:t>
                </a:r>
              </a:p>
            </p:txBody>
          </p:sp>
        </mc:Fallback>
      </mc:AlternateContent>
    </p:spTree>
    <p:extLst>
      <p:ext uri="{BB962C8B-B14F-4D97-AF65-F5344CB8AC3E}">
        <p14:creationId xmlns:p14="http://schemas.microsoft.com/office/powerpoint/2010/main" val="2772894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p:cNvSpPr txBox="1"/>
              <p:nvPr/>
            </p:nvSpPr>
            <p:spPr>
              <a:xfrm>
                <a:off x="146050" y="215900"/>
                <a:ext cx="11887200" cy="6493444"/>
              </a:xfrm>
              <a:prstGeom prst="rect">
                <a:avLst/>
              </a:prstGeom>
              <a:noFill/>
              <a:ln>
                <a:solidFill>
                  <a:schemeClr val="accent1"/>
                </a:solidFill>
              </a:ln>
            </p:spPr>
            <p:txBody>
              <a:bodyPr wrap="square" rtlCol="0">
                <a:spAutoFit/>
              </a:bodyPr>
              <a:lstStyle/>
              <a:p>
                <a:r>
                  <a:rPr lang="en-ZA" dirty="0" smtClean="0"/>
                  <a:t>If all misclassification costs are equal,</a:t>
                </a:r>
              </a:p>
              <a:p>
                <a:endParaRPr lang="en-ZA" dirty="0" smtClean="0"/>
              </a:p>
              <a:p>
                <a:r>
                  <a:rPr lang="en-ZA" dirty="0" smtClean="0"/>
                  <a:t>The 	MINIMUM CLASSIFICATION RULE WITH EQUAL MISCLASSIFICATION COSTS is to</a:t>
                </a:r>
              </a:p>
              <a:p>
                <a:r>
                  <a:rPr lang="en-ZA" dirty="0" smtClean="0"/>
                  <a:t> </a:t>
                </a:r>
              </a:p>
              <a:p>
                <a:pPr algn="ctr"/>
                <a:r>
                  <a:rPr lang="en-ZA" dirty="0"/>
                  <a:t>a</a:t>
                </a:r>
                <a:r>
                  <a:rPr lang="en-ZA" dirty="0" smtClean="0"/>
                  <a:t>llocate </a:t>
                </a:r>
                <a14:m>
                  <m:oMath xmlns:m="http://schemas.openxmlformats.org/officeDocument/2006/math">
                    <m:sSub>
                      <m:sSubPr>
                        <m:ctrlPr>
                          <a:rPr lang="en-ZA" b="1" i="1" smtClean="0">
                            <a:latin typeface="Cambria Math" panose="02040503050406030204" pitchFamily="18" charset="0"/>
                          </a:rPr>
                        </m:ctrlPr>
                      </m:sSubPr>
                      <m:e>
                        <m:r>
                          <a:rPr lang="en-ZA" b="1" i="1" smtClean="0">
                            <a:latin typeface="Cambria Math" panose="02040503050406030204" pitchFamily="18" charset="0"/>
                          </a:rPr>
                          <m:t>𝒙</m:t>
                        </m:r>
                      </m:e>
                      <m:sub>
                        <m:r>
                          <a:rPr lang="en-ZA" b="1" i="1" smtClean="0">
                            <a:latin typeface="Cambria Math" panose="02040503050406030204" pitchFamily="18" charset="0"/>
                          </a:rPr>
                          <m:t>𝟎</m:t>
                        </m:r>
                      </m:sub>
                    </m:sSub>
                  </m:oMath>
                </a14:m>
                <a:r>
                  <a:rPr lang="en-ZA" dirty="0" smtClean="0"/>
                  <a:t> to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𝑘</m:t>
                        </m:r>
                      </m:sub>
                    </m:sSub>
                  </m:oMath>
                </a14:m>
                <a:r>
                  <a:rPr lang="en-ZA" dirty="0" smtClean="0"/>
                  <a:t> if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𝑘</m:t>
                        </m:r>
                      </m:sub>
                    </m:sSub>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𝑘</m:t>
                        </m:r>
                      </m:sub>
                    </m:sSub>
                    <m:d>
                      <m:dPr>
                        <m:ctrlPr>
                          <a:rPr lang="en-ZA" b="0" i="1" smtClean="0">
                            <a:latin typeface="Cambria Math" panose="02040503050406030204" pitchFamily="18" charset="0"/>
                          </a:rPr>
                        </m:ctrlPr>
                      </m:dPr>
                      <m:e>
                        <m:sSub>
                          <m:sSubPr>
                            <m:ctrlPr>
                              <a:rPr lang="en-ZA" b="1" i="1" smtClean="0">
                                <a:latin typeface="Cambria Math" panose="02040503050406030204" pitchFamily="18" charset="0"/>
                              </a:rPr>
                            </m:ctrlPr>
                          </m:sSubPr>
                          <m:e>
                            <m:r>
                              <a:rPr lang="en-ZA" b="1" i="1" smtClean="0">
                                <a:latin typeface="Cambria Math" panose="02040503050406030204" pitchFamily="18" charset="0"/>
                              </a:rPr>
                              <m:t>𝒙</m:t>
                            </m:r>
                          </m:e>
                          <m:sub>
                            <m:r>
                              <a:rPr lang="en-ZA" b="1" i="1" smtClean="0">
                                <a:latin typeface="Cambria Math" panose="02040503050406030204" pitchFamily="18" charset="0"/>
                              </a:rPr>
                              <m:t>𝟎</m:t>
                            </m:r>
                          </m:sub>
                        </m:sSub>
                      </m:e>
                    </m:d>
                    <m:r>
                      <a:rPr lang="en-ZA" b="0" i="1" smtClean="0">
                        <a:latin typeface="Cambria Math" panose="02040503050406030204" pitchFamily="18" charset="0"/>
                      </a:rPr>
                      <m:t>&gt;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𝑖</m:t>
                        </m:r>
                      </m:sub>
                    </m:sSub>
                    <m:sSub>
                      <m:sSubPr>
                        <m:ctrlPr>
                          <a:rPr lang="en-ZA" b="0"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𝑖</m:t>
                        </m:r>
                      </m:sub>
                    </m:sSub>
                    <m:r>
                      <a:rPr lang="en-ZA" b="1" i="1" smtClean="0">
                        <a:latin typeface="Cambria Math" panose="02040503050406030204" pitchFamily="18" charset="0"/>
                      </a:rPr>
                      <m:t>(</m:t>
                    </m:r>
                    <m:sSub>
                      <m:sSubPr>
                        <m:ctrlPr>
                          <a:rPr lang="en-ZA" b="1" i="1" smtClean="0">
                            <a:latin typeface="Cambria Math" panose="02040503050406030204" pitchFamily="18" charset="0"/>
                          </a:rPr>
                        </m:ctrlPr>
                      </m:sSubPr>
                      <m:e>
                        <m:r>
                          <a:rPr lang="en-ZA" b="1" i="1" smtClean="0">
                            <a:latin typeface="Cambria Math" panose="02040503050406030204" pitchFamily="18" charset="0"/>
                          </a:rPr>
                          <m:t>𝒙</m:t>
                        </m:r>
                      </m:e>
                      <m:sub>
                        <m:r>
                          <a:rPr lang="en-ZA" b="1" i="1" smtClean="0">
                            <a:latin typeface="Cambria Math" panose="02040503050406030204" pitchFamily="18" charset="0"/>
                          </a:rPr>
                          <m:t>𝟎</m:t>
                        </m:r>
                      </m:sub>
                    </m:sSub>
                    <m:r>
                      <a:rPr lang="en-ZA" b="0" i="1" smtClean="0">
                        <a:latin typeface="Cambria Math" panose="02040503050406030204" pitchFamily="18" charset="0"/>
                      </a:rPr>
                      <m:t>)</m:t>
                    </m:r>
                  </m:oMath>
                </a14:m>
                <a:r>
                  <a:rPr lang="en-ZA" dirty="0" smtClean="0"/>
                  <a:t> for all </a:t>
                </a:r>
                <a14:m>
                  <m:oMath xmlns:m="http://schemas.openxmlformats.org/officeDocument/2006/math">
                    <m:r>
                      <a:rPr lang="en-ZA" b="0" i="1" smtClean="0">
                        <a:latin typeface="Cambria Math" panose="02040503050406030204" pitchFamily="18" charset="0"/>
                      </a:rPr>
                      <m:t>𝑖</m:t>
                    </m:r>
                    <m:r>
                      <a:rPr lang="en-ZA" b="0" i="1" smtClean="0">
                        <a:latin typeface="Cambria Math" panose="02040503050406030204" pitchFamily="18" charset="0"/>
                        <a:ea typeface="Cambria Math" panose="02040503050406030204" pitchFamily="18" charset="0"/>
                      </a:rPr>
                      <m:t>≠</m:t>
                    </m:r>
                    <m:r>
                      <a:rPr lang="en-ZA" b="0" i="1" smtClean="0">
                        <a:latin typeface="Cambria Math" panose="02040503050406030204" pitchFamily="18" charset="0"/>
                        <a:ea typeface="Cambria Math" panose="02040503050406030204" pitchFamily="18" charset="0"/>
                      </a:rPr>
                      <m:t>𝑘</m:t>
                    </m:r>
                  </m:oMath>
                </a14:m>
                <a:r>
                  <a:rPr lang="en-ZA" dirty="0" smtClean="0"/>
                  <a:t> </a:t>
                </a:r>
              </a:p>
              <a:p>
                <a:pPr algn="ctr"/>
                <a:endParaRPr lang="en-ZA" dirty="0" smtClean="0"/>
              </a:p>
              <a:p>
                <a:pPr algn="ctr"/>
                <a:r>
                  <a:rPr lang="en-ZA" dirty="0" smtClean="0"/>
                  <a:t>or, equivalently,</a:t>
                </a:r>
              </a:p>
              <a:p>
                <a:pPr algn="ctr"/>
                <a:endParaRPr lang="en-ZA" dirty="0" smtClean="0"/>
              </a:p>
              <a:p>
                <a:pPr algn="ctr"/>
                <a:r>
                  <a:rPr lang="en-ZA" dirty="0"/>
                  <a:t>a</a:t>
                </a:r>
                <a:r>
                  <a:rPr lang="en-ZA" dirty="0" smtClean="0"/>
                  <a:t>llocate </a:t>
                </a:r>
                <a14:m>
                  <m:oMath xmlns:m="http://schemas.openxmlformats.org/officeDocument/2006/math">
                    <m:sSub>
                      <m:sSubPr>
                        <m:ctrlPr>
                          <a:rPr lang="en-ZA" b="1" i="1">
                            <a:latin typeface="Cambria Math" panose="02040503050406030204" pitchFamily="18" charset="0"/>
                          </a:rPr>
                        </m:ctrlPr>
                      </m:sSubPr>
                      <m:e>
                        <m:r>
                          <a:rPr lang="en-ZA" b="1" i="1">
                            <a:latin typeface="Cambria Math" panose="02040503050406030204" pitchFamily="18" charset="0"/>
                          </a:rPr>
                          <m:t>𝒙</m:t>
                        </m:r>
                      </m:e>
                      <m:sub>
                        <m:r>
                          <a:rPr lang="en-ZA" b="1" i="1">
                            <a:latin typeface="Cambria Math" panose="02040503050406030204" pitchFamily="18" charset="0"/>
                          </a:rPr>
                          <m:t>𝟎</m:t>
                        </m:r>
                      </m:sub>
                    </m:sSub>
                  </m:oMath>
                </a14:m>
                <a:r>
                  <a:rPr lang="en-ZA" dirty="0"/>
                  <a:t> to </a:t>
                </a:r>
                <a14:m>
                  <m:oMath xmlns:m="http://schemas.openxmlformats.org/officeDocument/2006/math">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𝜋</m:t>
                        </m:r>
                      </m:e>
                      <m:sub>
                        <m:r>
                          <a:rPr lang="en-ZA" i="1">
                            <a:latin typeface="Cambria Math" panose="02040503050406030204" pitchFamily="18" charset="0"/>
                          </a:rPr>
                          <m:t>𝑘</m:t>
                        </m:r>
                      </m:sub>
                    </m:sSub>
                  </m:oMath>
                </a14:m>
                <a:r>
                  <a:rPr lang="en-ZA" dirty="0"/>
                  <a:t> </a:t>
                </a:r>
                <a:r>
                  <a:rPr lang="en-ZA" dirty="0" smtClean="0"/>
                  <a:t>if  </a:t>
                </a:r>
                <a14:m>
                  <m:oMath xmlns:m="http://schemas.openxmlformats.org/officeDocument/2006/math">
                    <m:func>
                      <m:funcPr>
                        <m:ctrlPr>
                          <a:rPr lang="en-ZA" i="1" smtClean="0">
                            <a:latin typeface="Cambria Math" panose="02040503050406030204" pitchFamily="18" charset="0"/>
                          </a:rPr>
                        </m:ctrlPr>
                      </m:funcPr>
                      <m:fName>
                        <m:r>
                          <m:rPr>
                            <m:sty m:val="p"/>
                          </m:rPr>
                          <a:rPr lang="en-ZA" i="0" smtClean="0">
                            <a:latin typeface="Cambria Math" panose="02040503050406030204" pitchFamily="18" charset="0"/>
                          </a:rPr>
                          <m:t>ln</m:t>
                        </m:r>
                      </m:fName>
                      <m:e>
                        <m:sSub>
                          <m:sSubPr>
                            <m:ctrlPr>
                              <a:rPr lang="en-ZA"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𝑘</m:t>
                            </m:r>
                          </m:sub>
                        </m:sSub>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𝑘</m:t>
                            </m:r>
                          </m:sub>
                        </m:sSub>
                        <m:d>
                          <m:dPr>
                            <m:ctrlPr>
                              <a:rPr lang="en-ZA" b="0" i="1" smtClean="0">
                                <a:latin typeface="Cambria Math" panose="02040503050406030204" pitchFamily="18" charset="0"/>
                              </a:rPr>
                            </m:ctrlPr>
                          </m:dPr>
                          <m:e>
                            <m:sSub>
                              <m:sSubPr>
                                <m:ctrlPr>
                                  <a:rPr lang="en-ZA" b="0"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0</m:t>
                                </m:r>
                              </m:sub>
                            </m:sSub>
                          </m:e>
                        </m:d>
                        <m:r>
                          <a:rPr lang="en-ZA" b="0" i="1" smtClean="0">
                            <a:latin typeface="Cambria Math" panose="02040503050406030204" pitchFamily="18" charset="0"/>
                          </a:rPr>
                          <m:t>&gt;</m:t>
                        </m:r>
                        <m:func>
                          <m:funcPr>
                            <m:ctrlPr>
                              <a:rPr lang="en-ZA" b="0" i="1" smtClean="0">
                                <a:latin typeface="Cambria Math" panose="02040503050406030204" pitchFamily="18" charset="0"/>
                              </a:rPr>
                            </m:ctrlPr>
                          </m:funcPr>
                          <m:fName>
                            <m:r>
                              <m:rPr>
                                <m:sty m:val="p"/>
                              </m:rPr>
                              <a:rPr lang="en-ZA" b="0" i="0" smtClean="0">
                                <a:latin typeface="Cambria Math" panose="02040503050406030204" pitchFamily="18" charset="0"/>
                              </a:rPr>
                              <m:t>ln</m:t>
                            </m:r>
                          </m:fName>
                          <m:e>
                            <m:sSub>
                              <m:sSubPr>
                                <m:ctrlPr>
                                  <a:rPr lang="en-ZA" b="0"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𝑖</m:t>
                                </m:r>
                              </m:sub>
                            </m:sSub>
                            <m:sSub>
                              <m:sSubPr>
                                <m:ctrlPr>
                                  <a:rPr lang="en-ZA" b="0"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𝑖</m:t>
                                </m:r>
                              </m:sub>
                            </m:sSub>
                            <m:r>
                              <a:rPr lang="en-ZA" b="0" i="1" smtClean="0">
                                <a:latin typeface="Cambria Math" panose="02040503050406030204" pitchFamily="18" charset="0"/>
                              </a:rPr>
                              <m:t>(</m:t>
                            </m:r>
                            <m:sSub>
                              <m:sSubPr>
                                <m:ctrlPr>
                                  <a:rPr lang="en-ZA" b="1" i="1" smtClean="0">
                                    <a:latin typeface="Cambria Math" panose="02040503050406030204" pitchFamily="18" charset="0"/>
                                  </a:rPr>
                                </m:ctrlPr>
                              </m:sSubPr>
                              <m:e>
                                <m:r>
                                  <a:rPr lang="en-ZA" b="1" i="1" smtClean="0">
                                    <a:latin typeface="Cambria Math" panose="02040503050406030204" pitchFamily="18" charset="0"/>
                                  </a:rPr>
                                  <m:t>𝒙</m:t>
                                </m:r>
                              </m:e>
                              <m:sub>
                                <m:r>
                                  <a:rPr lang="en-ZA" b="1" i="1" smtClean="0">
                                    <a:latin typeface="Cambria Math" panose="02040503050406030204" pitchFamily="18" charset="0"/>
                                  </a:rPr>
                                  <m:t>𝟎</m:t>
                                </m:r>
                              </m:sub>
                            </m:sSub>
                            <m:r>
                              <a:rPr lang="en-ZA" b="0" i="1" smtClean="0">
                                <a:latin typeface="Cambria Math" panose="02040503050406030204" pitchFamily="18" charset="0"/>
                              </a:rPr>
                              <m:t>)</m:t>
                            </m:r>
                          </m:e>
                        </m:func>
                      </m:e>
                    </m:func>
                    <m:r>
                      <a:rPr lang="en-ZA" b="0" i="1" smtClean="0">
                        <a:latin typeface="Cambria Math" panose="02040503050406030204" pitchFamily="18" charset="0"/>
                      </a:rPr>
                      <m:t> </m:t>
                    </m:r>
                  </m:oMath>
                </a14:m>
                <a:r>
                  <a:rPr lang="en-ZA" dirty="0" smtClean="0"/>
                  <a:t>for </a:t>
                </a:r>
                <a:r>
                  <a:rPr lang="en-ZA" dirty="0"/>
                  <a:t>all </a:t>
                </a:r>
                <a14:m>
                  <m:oMath xmlns:m="http://schemas.openxmlformats.org/officeDocument/2006/math">
                    <m:r>
                      <a:rPr lang="en-ZA" i="1">
                        <a:latin typeface="Cambria Math" panose="02040503050406030204" pitchFamily="18" charset="0"/>
                      </a:rPr>
                      <m:t>𝑖</m:t>
                    </m:r>
                    <m:r>
                      <a:rPr lang="en-ZA" i="1">
                        <a:latin typeface="Cambria Math" panose="02040503050406030204" pitchFamily="18" charset="0"/>
                        <a:ea typeface="Cambria Math" panose="02040503050406030204" pitchFamily="18" charset="0"/>
                      </a:rPr>
                      <m:t>≠</m:t>
                    </m:r>
                    <m:r>
                      <a:rPr lang="en-ZA" i="1">
                        <a:latin typeface="Cambria Math" panose="02040503050406030204" pitchFamily="18" charset="0"/>
                        <a:ea typeface="Cambria Math" panose="02040503050406030204" pitchFamily="18" charset="0"/>
                      </a:rPr>
                      <m:t>𝑘</m:t>
                    </m:r>
                  </m:oMath>
                </a14:m>
                <a:r>
                  <a:rPr lang="en-ZA" dirty="0" smtClean="0"/>
                  <a:t>.</a:t>
                </a:r>
              </a:p>
              <a:p>
                <a:pPr algn="ctr"/>
                <a:endParaRPr lang="en-ZA" dirty="0"/>
              </a:p>
              <a:p>
                <a:r>
                  <a:rPr lang="en-ZA" dirty="0" smtClean="0"/>
                  <a:t>It can be shown that this is equivalent to calculating the discriminant score,</a:t>
                </a:r>
              </a:p>
              <a:p>
                <a:pPr algn="ctr"/>
                <a14:m>
                  <m:oMath xmlns:m="http://schemas.openxmlformats.org/officeDocument/2006/math">
                    <m:sSub>
                      <m:sSubPr>
                        <m:ctrlPr>
                          <a:rPr lang="en-ZA" i="1" smtClean="0">
                            <a:latin typeface="Cambria Math" panose="02040503050406030204" pitchFamily="18" charset="0"/>
                          </a:rPr>
                        </m:ctrlPr>
                      </m:sSubPr>
                      <m:e>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𝑑</m:t>
                            </m:r>
                          </m:e>
                        </m:acc>
                      </m:e>
                      <m:sub>
                        <m:r>
                          <a:rPr lang="en-ZA" b="0" i="1" smtClean="0">
                            <a:latin typeface="Cambria Math" panose="02040503050406030204" pitchFamily="18" charset="0"/>
                          </a:rPr>
                          <m:t>𝑖</m:t>
                        </m:r>
                      </m:sub>
                    </m:sSub>
                    <m:d>
                      <m:dPr>
                        <m:ctrlPr>
                          <a:rPr lang="en-ZA" b="0" i="1" smtClean="0">
                            <a:latin typeface="Cambria Math" panose="02040503050406030204" pitchFamily="18" charset="0"/>
                          </a:rPr>
                        </m:ctrlPr>
                      </m:dPr>
                      <m:e>
                        <m:r>
                          <a:rPr lang="en-ZA" b="0" i="1" smtClean="0">
                            <a:latin typeface="Cambria Math" panose="02040503050406030204" pitchFamily="18" charset="0"/>
                          </a:rPr>
                          <m:t>𝑥</m:t>
                        </m:r>
                      </m:e>
                    </m:d>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𝑖</m:t>
                        </m:r>
                      </m:sub>
                    </m:sSub>
                    <m:r>
                      <a:rPr lang="en-ZA" b="0" i="1" smtClean="0">
                        <a:latin typeface="Cambria Math" panose="02040503050406030204" pitchFamily="18" charset="0"/>
                      </a:rPr>
                      <m:t>′</m:t>
                    </m:r>
                    <m:sSubSup>
                      <m:sSubSupPr>
                        <m:ctrlPr>
                          <a:rPr lang="en-ZA" b="0" i="1" smtClean="0">
                            <a:latin typeface="Cambria Math" panose="02040503050406030204" pitchFamily="18" charset="0"/>
                          </a:rPr>
                        </m:ctrlPr>
                      </m:sSubSupPr>
                      <m:e>
                        <m:r>
                          <a:rPr lang="en-ZA" b="0" i="1" smtClean="0">
                            <a:latin typeface="Cambria Math" panose="02040503050406030204" pitchFamily="18" charset="0"/>
                          </a:rPr>
                          <m:t>𝑆</m:t>
                        </m:r>
                      </m:e>
                      <m:sub>
                        <m:r>
                          <a:rPr lang="en-ZA" b="0" i="1" smtClean="0">
                            <a:latin typeface="Cambria Math" panose="02040503050406030204" pitchFamily="18" charset="0"/>
                          </a:rPr>
                          <m:t>𝑝</m:t>
                        </m:r>
                      </m:sub>
                      <m:sup>
                        <m:r>
                          <a:rPr lang="en-ZA" b="0" i="1" smtClean="0">
                            <a:latin typeface="Cambria Math" panose="02040503050406030204" pitchFamily="18" charset="0"/>
                          </a:rPr>
                          <m:t>−1</m:t>
                        </m:r>
                      </m:sup>
                    </m:sSubSup>
                    <m:r>
                      <a:rPr lang="en-ZA" b="0" i="1" smtClean="0">
                        <a:latin typeface="Cambria Math" panose="02040503050406030204" pitchFamily="18" charset="0"/>
                      </a:rPr>
                      <m:t>𝑥</m:t>
                    </m:r>
                    <m:r>
                      <a:rPr lang="en-ZA" b="0" i="0" smtClean="0">
                        <a:latin typeface="Cambria Math" panose="02040503050406030204" pitchFamily="18" charset="0"/>
                      </a:rPr>
                      <m:t>−</m:t>
                    </m:r>
                    <m:f>
                      <m:fPr>
                        <m:ctrlPr>
                          <a:rPr lang="en-ZA" b="0" i="1" smtClean="0">
                            <a:latin typeface="Cambria Math" panose="02040503050406030204" pitchFamily="18" charset="0"/>
                          </a:rPr>
                        </m:ctrlPr>
                      </m:fPr>
                      <m:num>
                        <m:r>
                          <a:rPr lang="en-ZA" b="0" i="0" smtClean="0">
                            <a:latin typeface="Cambria Math" panose="02040503050406030204" pitchFamily="18" charset="0"/>
                          </a:rPr>
                          <m:t>1</m:t>
                        </m:r>
                      </m:num>
                      <m:den>
                        <m:r>
                          <a:rPr lang="en-ZA" b="0" i="0" smtClean="0">
                            <a:latin typeface="Cambria Math" panose="02040503050406030204" pitchFamily="18" charset="0"/>
                          </a:rPr>
                          <m:t>2</m:t>
                        </m:r>
                      </m:den>
                    </m:f>
                    <m:sSubSup>
                      <m:sSubSupPr>
                        <m:ctrlPr>
                          <a:rPr lang="en-ZA" b="0" i="1" smtClean="0">
                            <a:latin typeface="Cambria Math" panose="02040503050406030204" pitchFamily="18" charset="0"/>
                          </a:rPr>
                        </m:ctrlPr>
                      </m:sSubSup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𝑖</m:t>
                        </m:r>
                      </m:sub>
                      <m:sup>
                        <m:r>
                          <a:rPr lang="en-ZA" b="0" i="1" smtClean="0">
                            <a:latin typeface="Cambria Math" panose="02040503050406030204" pitchFamily="18" charset="0"/>
                          </a:rPr>
                          <m:t>′</m:t>
                        </m:r>
                      </m:sup>
                    </m:sSubSup>
                    <m:sSubSup>
                      <m:sSubSupPr>
                        <m:ctrlPr>
                          <a:rPr lang="en-ZA" b="0" i="1" smtClean="0">
                            <a:latin typeface="Cambria Math" panose="02040503050406030204" pitchFamily="18" charset="0"/>
                          </a:rPr>
                        </m:ctrlPr>
                      </m:sSubSupPr>
                      <m:e>
                        <m:r>
                          <a:rPr lang="en-ZA" b="0" i="1" smtClean="0">
                            <a:latin typeface="Cambria Math" panose="02040503050406030204" pitchFamily="18" charset="0"/>
                          </a:rPr>
                          <m:t>𝑆</m:t>
                        </m:r>
                      </m:e>
                      <m:sub>
                        <m:r>
                          <a:rPr lang="en-ZA" b="0" i="1" smtClean="0">
                            <a:latin typeface="Cambria Math" panose="02040503050406030204" pitchFamily="18" charset="0"/>
                          </a:rPr>
                          <m:t>𝑝</m:t>
                        </m:r>
                      </m:sub>
                      <m:sup>
                        <m:r>
                          <a:rPr lang="en-ZA" b="0" i="1" smtClean="0">
                            <a:latin typeface="Cambria Math" panose="02040503050406030204" pitchFamily="18" charset="0"/>
                          </a:rPr>
                          <m:t>−1</m:t>
                        </m:r>
                      </m:sup>
                    </m:sSubSup>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𝑖</m:t>
                        </m:r>
                      </m:sub>
                    </m:sSub>
                    <m:r>
                      <a:rPr lang="en-ZA" b="0" i="1" smtClean="0">
                        <a:latin typeface="Cambria Math" panose="02040503050406030204" pitchFamily="18" charset="0"/>
                      </a:rPr>
                      <m:t>+</m:t>
                    </m:r>
                    <m:func>
                      <m:funcPr>
                        <m:ctrlPr>
                          <a:rPr lang="en-ZA" b="0" i="1" smtClean="0">
                            <a:latin typeface="Cambria Math" panose="02040503050406030204" pitchFamily="18" charset="0"/>
                          </a:rPr>
                        </m:ctrlPr>
                      </m:funcPr>
                      <m:fName>
                        <m:r>
                          <m:rPr>
                            <m:sty m:val="p"/>
                          </m:rPr>
                          <a:rPr lang="en-ZA" b="0" i="0" smtClean="0">
                            <a:latin typeface="Cambria Math" panose="02040503050406030204" pitchFamily="18" charset="0"/>
                          </a:rPr>
                          <m:t>ln</m:t>
                        </m:r>
                      </m:fName>
                      <m:e>
                        <m:sSub>
                          <m:sSubPr>
                            <m:ctrlPr>
                              <a:rPr lang="en-ZA" b="0"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𝑖</m:t>
                            </m:r>
                          </m:sub>
                        </m:sSub>
                      </m:e>
                    </m:func>
                  </m:oMath>
                </a14:m>
                <a:r>
                  <a:rPr lang="en-ZA" dirty="0" smtClean="0"/>
                  <a:t> </a:t>
                </a:r>
              </a:p>
              <a:p>
                <a:r>
                  <a:rPr lang="en-ZA" dirty="0"/>
                  <a:t>a</a:t>
                </a:r>
                <a:r>
                  <a:rPr lang="en-ZA" dirty="0" smtClean="0"/>
                  <a:t>nd using the rule that allocates </a:t>
                </a:r>
                <a14:m>
                  <m:oMath xmlns:m="http://schemas.openxmlformats.org/officeDocument/2006/math">
                    <m:r>
                      <a:rPr lang="en-ZA" b="0" i="1" smtClean="0">
                        <a:latin typeface="Cambria Math" panose="02040503050406030204" pitchFamily="18" charset="0"/>
                      </a:rPr>
                      <m:t>𝑥</m:t>
                    </m:r>
                  </m:oMath>
                </a14:m>
                <a:r>
                  <a:rPr lang="en-ZA" dirty="0" smtClean="0"/>
                  <a:t> to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𝑘</m:t>
                        </m:r>
                      </m:sub>
                    </m:sSub>
                  </m:oMath>
                </a14:m>
                <a:r>
                  <a:rPr lang="en-ZA" dirty="0" smtClean="0"/>
                  <a:t>if</a:t>
                </a:r>
              </a:p>
              <a:p>
                <a:endParaRPr lang="en-ZA" dirty="0" smtClean="0"/>
              </a:p>
              <a:p>
                <a:pPr/>
                <a14:m>
                  <m:oMathPara xmlns:m="http://schemas.openxmlformats.org/officeDocument/2006/math">
                    <m:oMathParaPr>
                      <m:jc m:val="centerGroup"/>
                    </m:oMathParaPr>
                    <m:oMath xmlns:m="http://schemas.openxmlformats.org/officeDocument/2006/math">
                      <m:sSub>
                        <m:sSubPr>
                          <m:ctrlPr>
                            <a:rPr lang="en-ZA" i="1" smtClean="0">
                              <a:latin typeface="Cambria Math" panose="02040503050406030204" pitchFamily="18" charset="0"/>
                            </a:rPr>
                          </m:ctrlPr>
                        </m:sSubPr>
                        <m:e>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𝑑</m:t>
                              </m:r>
                            </m:e>
                          </m:acc>
                        </m:e>
                        <m:sub>
                          <m:r>
                            <a:rPr lang="en-ZA" b="0" i="1" smtClean="0">
                              <a:latin typeface="Cambria Math" panose="02040503050406030204" pitchFamily="18" charset="0"/>
                            </a:rPr>
                            <m:t>𝑘</m:t>
                          </m:r>
                        </m:sub>
                      </m:sSub>
                      <m:d>
                        <m:dPr>
                          <m:ctrlPr>
                            <a:rPr lang="en-ZA" b="0" i="1" smtClean="0">
                              <a:latin typeface="Cambria Math" panose="02040503050406030204" pitchFamily="18" charset="0"/>
                            </a:rPr>
                          </m:ctrlPr>
                        </m:dPr>
                        <m:e>
                          <m:r>
                            <a:rPr lang="en-ZA" b="0" i="1" smtClean="0">
                              <a:latin typeface="Cambria Math" panose="02040503050406030204" pitchFamily="18" charset="0"/>
                            </a:rPr>
                            <m:t>𝑥</m:t>
                          </m:r>
                        </m:e>
                      </m:d>
                      <m:r>
                        <a:rPr lang="en-ZA" b="0" i="1" smtClean="0">
                          <a:latin typeface="Cambria Math" panose="02040503050406030204" pitchFamily="18" charset="0"/>
                        </a:rPr>
                        <m:t>=</m:t>
                      </m:r>
                      <m:r>
                        <a:rPr lang="en-ZA" b="0" i="1" smtClean="0">
                          <a:latin typeface="Cambria Math" panose="02040503050406030204" pitchFamily="18" charset="0"/>
                        </a:rPr>
                        <m:t>𝑚𝑎𝑥</m:t>
                      </m:r>
                      <m:d>
                        <m:dPr>
                          <m:ctrlPr>
                            <a:rPr lang="en-ZA" b="0" i="1" smtClean="0">
                              <a:latin typeface="Cambria Math" panose="02040503050406030204" pitchFamily="18" charset="0"/>
                            </a:rPr>
                          </m:ctrlPr>
                        </m:dPr>
                        <m:e>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𝑑</m:t>
                                  </m:r>
                                </m:e>
                              </m:acc>
                            </m:e>
                            <m:sub>
                              <m:r>
                                <a:rPr lang="en-ZA" b="0" i="1" smtClean="0">
                                  <a:latin typeface="Cambria Math" panose="02040503050406030204" pitchFamily="18" charset="0"/>
                                </a:rPr>
                                <m:t>1</m:t>
                              </m:r>
                            </m:sub>
                          </m:sSub>
                          <m:d>
                            <m:dPr>
                              <m:ctrlPr>
                                <a:rPr lang="en-ZA" b="0" i="1" smtClean="0">
                                  <a:latin typeface="Cambria Math" panose="02040503050406030204" pitchFamily="18" charset="0"/>
                                </a:rPr>
                              </m:ctrlPr>
                            </m:dPr>
                            <m:e>
                              <m:r>
                                <a:rPr lang="en-ZA" b="0" i="1" smtClean="0">
                                  <a:latin typeface="Cambria Math" panose="02040503050406030204" pitchFamily="18" charset="0"/>
                                </a:rPr>
                                <m:t>𝑥</m:t>
                              </m:r>
                            </m:e>
                          </m:d>
                          <m:r>
                            <a:rPr lang="en-ZA" b="0" i="1" smtClean="0">
                              <a:latin typeface="Cambria Math" panose="02040503050406030204" pitchFamily="18" charset="0"/>
                            </a:rPr>
                            <m:t>, </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𝑑</m:t>
                                  </m:r>
                                </m:e>
                              </m:acc>
                            </m:e>
                            <m:sub>
                              <m:r>
                                <a:rPr lang="en-ZA" b="0" i="1" smtClean="0">
                                  <a:latin typeface="Cambria Math" panose="02040503050406030204" pitchFamily="18" charset="0"/>
                                </a:rPr>
                                <m:t>2</m:t>
                              </m:r>
                            </m:sub>
                          </m:sSub>
                          <m:d>
                            <m:dPr>
                              <m:ctrlPr>
                                <a:rPr lang="en-ZA" b="0" i="1" smtClean="0">
                                  <a:latin typeface="Cambria Math" panose="02040503050406030204" pitchFamily="18" charset="0"/>
                                </a:rPr>
                              </m:ctrlPr>
                            </m:dPr>
                            <m:e>
                              <m:r>
                                <a:rPr lang="en-ZA" b="0" i="1" smtClean="0">
                                  <a:latin typeface="Cambria Math" panose="02040503050406030204" pitchFamily="18" charset="0"/>
                                </a:rPr>
                                <m:t>𝑥</m:t>
                              </m:r>
                            </m:e>
                          </m:d>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𝑑</m:t>
                                  </m:r>
                                </m:e>
                              </m:acc>
                            </m:e>
                            <m:sub>
                              <m:r>
                                <a:rPr lang="en-ZA" b="0" i="1" smtClean="0">
                                  <a:latin typeface="Cambria Math" panose="02040503050406030204" pitchFamily="18" charset="0"/>
                                </a:rPr>
                                <m:t>𝑝</m:t>
                              </m:r>
                            </m:sub>
                          </m:sSub>
                          <m:r>
                            <a:rPr lang="en-ZA" b="0" i="1" smtClean="0">
                              <a:latin typeface="Cambria Math" panose="02040503050406030204" pitchFamily="18" charset="0"/>
                            </a:rPr>
                            <m:t>(</m:t>
                          </m:r>
                          <m:r>
                            <a:rPr lang="en-ZA" b="0" i="1" smtClean="0">
                              <a:latin typeface="Cambria Math" panose="02040503050406030204" pitchFamily="18" charset="0"/>
                            </a:rPr>
                            <m:t>𝑥</m:t>
                          </m:r>
                          <m:r>
                            <a:rPr lang="en-ZA" b="0" i="1" smtClean="0">
                              <a:latin typeface="Cambria Math" panose="02040503050406030204" pitchFamily="18" charset="0"/>
                            </a:rPr>
                            <m:t>)</m:t>
                          </m:r>
                        </m:e>
                      </m:d>
                      <m:r>
                        <a:rPr lang="en-ZA" b="0" i="1" smtClean="0">
                          <a:latin typeface="Cambria Math" panose="02040503050406030204" pitchFamily="18" charset="0"/>
                        </a:rPr>
                        <m:t>.</m:t>
                      </m:r>
                    </m:oMath>
                  </m:oMathPara>
                </a14:m>
                <a:endParaRPr lang="en-ZA" dirty="0" smtClean="0"/>
              </a:p>
              <a:p>
                <a:endParaRPr lang="en-ZA" dirty="0" smtClean="0"/>
              </a:p>
              <a:p>
                <a:r>
                  <a:rPr lang="en-ZA" dirty="0" smtClean="0"/>
                  <a:t>Alternatively, define the discriminant score in terms of squared distances,</a:t>
                </a:r>
              </a:p>
              <a:p>
                <a:endParaRPr lang="en-ZA" dirty="0" smtClean="0"/>
              </a:p>
              <a:p>
                <a:pPr/>
                <a14:m>
                  <m:oMathPara xmlns:m="http://schemas.openxmlformats.org/officeDocument/2006/math">
                    <m:oMathParaPr>
                      <m:jc m:val="centerGroup"/>
                    </m:oMathParaPr>
                    <m:oMath xmlns:m="http://schemas.openxmlformats.org/officeDocument/2006/math">
                      <m:sSubSup>
                        <m:sSubSupPr>
                          <m:ctrlPr>
                            <a:rPr lang="en-ZA" i="1" smtClean="0">
                              <a:latin typeface="Cambria Math" panose="02040503050406030204" pitchFamily="18" charset="0"/>
                            </a:rPr>
                          </m:ctrlPr>
                        </m:sSubSupPr>
                        <m:e>
                          <m:r>
                            <a:rPr lang="en-ZA" b="0" i="1" smtClean="0">
                              <a:latin typeface="Cambria Math" panose="02040503050406030204" pitchFamily="18" charset="0"/>
                            </a:rPr>
                            <m:t>𝐷</m:t>
                          </m:r>
                        </m:e>
                        <m:sub>
                          <m:r>
                            <a:rPr lang="en-ZA" b="0" i="1" smtClean="0">
                              <a:latin typeface="Cambria Math" panose="02040503050406030204" pitchFamily="18" charset="0"/>
                            </a:rPr>
                            <m:t>𝑖</m:t>
                          </m:r>
                        </m:sub>
                        <m:sup>
                          <m:r>
                            <a:rPr lang="en-ZA" b="0" i="1" smtClean="0">
                              <a:latin typeface="Cambria Math" panose="02040503050406030204" pitchFamily="18" charset="0"/>
                            </a:rPr>
                            <m:t>2</m:t>
                          </m:r>
                        </m:sup>
                      </m:sSubSup>
                      <m:d>
                        <m:dPr>
                          <m:ctrlPr>
                            <a:rPr lang="en-ZA" b="0" i="1" smtClean="0">
                              <a:latin typeface="Cambria Math" panose="02040503050406030204" pitchFamily="18" charset="0"/>
                            </a:rPr>
                          </m:ctrlPr>
                        </m:dPr>
                        <m:e>
                          <m:r>
                            <a:rPr lang="en-ZA" b="0" i="1" smtClean="0">
                              <a:latin typeface="Cambria Math" panose="02040503050406030204" pitchFamily="18" charset="0"/>
                            </a:rPr>
                            <m:t>𝑥</m:t>
                          </m:r>
                        </m:e>
                      </m:d>
                      <m:r>
                        <a:rPr lang="en-ZA" b="0" i="1" smtClean="0">
                          <a:latin typeface="Cambria Math" panose="02040503050406030204" pitchFamily="18" charset="0"/>
                        </a:rPr>
                        <m:t>=(</m:t>
                      </m:r>
                      <m:r>
                        <a:rPr lang="en-ZA" b="0" i="1" smtClean="0">
                          <a:latin typeface="Cambria Math" panose="02040503050406030204" pitchFamily="18" charset="0"/>
                        </a:rPr>
                        <m:t>𝑥</m:t>
                      </m:r>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𝑖</m:t>
                          </m:r>
                        </m:sub>
                      </m:sSub>
                      <m:r>
                        <a:rPr lang="en-ZA" b="0" i="1" smtClean="0">
                          <a:latin typeface="Cambria Math" panose="02040503050406030204" pitchFamily="18" charset="0"/>
                        </a:rPr>
                        <m:t>)′</m:t>
                      </m:r>
                      <m:sSubSup>
                        <m:sSubSupPr>
                          <m:ctrlPr>
                            <a:rPr lang="en-ZA" b="0" i="1" smtClean="0">
                              <a:latin typeface="Cambria Math" panose="02040503050406030204" pitchFamily="18" charset="0"/>
                            </a:rPr>
                          </m:ctrlPr>
                        </m:sSubSupPr>
                        <m:e>
                          <m:r>
                            <a:rPr lang="en-ZA" b="0" i="1" smtClean="0">
                              <a:latin typeface="Cambria Math" panose="02040503050406030204" pitchFamily="18" charset="0"/>
                            </a:rPr>
                            <m:t>𝑆</m:t>
                          </m:r>
                        </m:e>
                        <m:sub>
                          <m:r>
                            <a:rPr lang="en-ZA" b="0" i="1" smtClean="0">
                              <a:latin typeface="Cambria Math" panose="02040503050406030204" pitchFamily="18" charset="0"/>
                            </a:rPr>
                            <m:t>𝑝</m:t>
                          </m:r>
                        </m:sub>
                        <m:sup>
                          <m:r>
                            <a:rPr lang="en-ZA" b="0" i="1" smtClean="0">
                              <a:latin typeface="Cambria Math" panose="02040503050406030204" pitchFamily="18" charset="0"/>
                            </a:rPr>
                            <m:t>−1</m:t>
                          </m:r>
                        </m:sup>
                      </m:sSubSup>
                      <m:r>
                        <a:rPr lang="en-ZA" b="0" i="1" smtClean="0">
                          <a:latin typeface="Cambria Math" panose="02040503050406030204" pitchFamily="18" charset="0"/>
                        </a:rPr>
                        <m:t>(</m:t>
                      </m:r>
                      <m:r>
                        <a:rPr lang="en-ZA" b="0" i="1" smtClean="0">
                          <a:latin typeface="Cambria Math" panose="02040503050406030204" pitchFamily="18" charset="0"/>
                        </a:rPr>
                        <m:t>𝑥</m:t>
                      </m:r>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𝑖</m:t>
                          </m:r>
                        </m:sub>
                      </m:sSub>
                      <m:r>
                        <a:rPr lang="en-ZA" b="0" i="1" smtClean="0">
                          <a:latin typeface="Cambria Math" panose="02040503050406030204" pitchFamily="18" charset="0"/>
                        </a:rPr>
                        <m:t>)</m:t>
                      </m:r>
                    </m:oMath>
                  </m:oMathPara>
                </a14:m>
                <a:endParaRPr lang="en-ZA" dirty="0" smtClean="0"/>
              </a:p>
              <a:p>
                <a:endParaRPr lang="en-ZA" dirty="0"/>
              </a:p>
              <a:p>
                <a:r>
                  <a:rPr lang="en-ZA" dirty="0" smtClean="0"/>
                  <a:t>and allocate </a:t>
                </a:r>
                <a14:m>
                  <m:oMath xmlns:m="http://schemas.openxmlformats.org/officeDocument/2006/math">
                    <m:r>
                      <a:rPr lang="en-ZA" b="0" i="1" smtClean="0">
                        <a:latin typeface="Cambria Math" panose="02040503050406030204" pitchFamily="18" charset="0"/>
                      </a:rPr>
                      <m:t>𝑥</m:t>
                    </m:r>
                  </m:oMath>
                </a14:m>
                <a:r>
                  <a:rPr lang="en-ZA" dirty="0" smtClean="0"/>
                  <a:t> to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𝑖</m:t>
                        </m:r>
                      </m:sub>
                    </m:sSub>
                  </m:oMath>
                </a14:m>
                <a:r>
                  <a:rPr lang="en-ZA" dirty="0" smtClean="0"/>
                  <a:t> for which </a:t>
                </a:r>
                <a14:m>
                  <m:oMath xmlns:m="http://schemas.openxmlformats.org/officeDocument/2006/math">
                    <m:r>
                      <a:rPr lang="en-ZA" b="0" i="0" smtClean="0">
                        <a:latin typeface="Cambria Math" panose="02040503050406030204" pitchFamily="18" charset="0"/>
                      </a:rPr>
                      <m:t>− </m:t>
                    </m:r>
                    <m:f>
                      <m:fPr>
                        <m:ctrlPr>
                          <a:rPr lang="en-ZA" i="1" smtClean="0">
                            <a:latin typeface="Cambria Math" panose="02040503050406030204" pitchFamily="18" charset="0"/>
                          </a:rPr>
                        </m:ctrlPr>
                      </m:fPr>
                      <m:num>
                        <m:r>
                          <a:rPr lang="en-ZA" b="0" i="1" smtClean="0">
                            <a:latin typeface="Cambria Math" panose="02040503050406030204" pitchFamily="18" charset="0"/>
                          </a:rPr>
                          <m:t>1</m:t>
                        </m:r>
                      </m:num>
                      <m:den>
                        <m:r>
                          <a:rPr lang="en-ZA" b="0" i="1" smtClean="0">
                            <a:latin typeface="Cambria Math" panose="02040503050406030204" pitchFamily="18" charset="0"/>
                          </a:rPr>
                          <m:t>2</m:t>
                        </m:r>
                      </m:den>
                    </m:f>
                    <m:sSubSup>
                      <m:sSubSupPr>
                        <m:ctrlPr>
                          <a:rPr lang="en-ZA" i="1" smtClean="0">
                            <a:latin typeface="Cambria Math" panose="02040503050406030204" pitchFamily="18" charset="0"/>
                          </a:rPr>
                        </m:ctrlPr>
                      </m:sSubSupPr>
                      <m:e>
                        <m:r>
                          <a:rPr lang="en-ZA" b="0" i="1" smtClean="0">
                            <a:latin typeface="Cambria Math" panose="02040503050406030204" pitchFamily="18" charset="0"/>
                          </a:rPr>
                          <m:t>𝐷</m:t>
                        </m:r>
                      </m:e>
                      <m:sub>
                        <m:r>
                          <a:rPr lang="en-ZA" b="0" i="1" smtClean="0">
                            <a:latin typeface="Cambria Math" panose="02040503050406030204" pitchFamily="18" charset="0"/>
                          </a:rPr>
                          <m:t>𝑖</m:t>
                        </m:r>
                      </m:sub>
                      <m:sup>
                        <m:r>
                          <a:rPr lang="en-ZA" b="0" i="1" smtClean="0">
                            <a:latin typeface="Cambria Math" panose="02040503050406030204" pitchFamily="18" charset="0"/>
                          </a:rPr>
                          <m:t>2</m:t>
                        </m:r>
                      </m:sup>
                    </m:sSubSup>
                    <m:d>
                      <m:dPr>
                        <m:ctrlPr>
                          <a:rPr lang="en-ZA" b="0" i="1" smtClean="0">
                            <a:latin typeface="Cambria Math" panose="02040503050406030204" pitchFamily="18" charset="0"/>
                          </a:rPr>
                        </m:ctrlPr>
                      </m:dPr>
                      <m:e>
                        <m:r>
                          <a:rPr lang="en-ZA" b="0" i="1" smtClean="0">
                            <a:latin typeface="Cambria Math" panose="02040503050406030204" pitchFamily="18" charset="0"/>
                          </a:rPr>
                          <m:t>𝑥</m:t>
                        </m:r>
                      </m:e>
                    </m:d>
                    <m:r>
                      <a:rPr lang="en-ZA" b="0" i="1" smtClean="0">
                        <a:latin typeface="Cambria Math" panose="02040503050406030204" pitchFamily="18" charset="0"/>
                      </a:rPr>
                      <m:t>+</m:t>
                    </m:r>
                    <m:func>
                      <m:funcPr>
                        <m:ctrlPr>
                          <a:rPr lang="en-ZA" b="0" i="1" smtClean="0">
                            <a:latin typeface="Cambria Math" panose="02040503050406030204" pitchFamily="18" charset="0"/>
                          </a:rPr>
                        </m:ctrlPr>
                      </m:funcPr>
                      <m:fName>
                        <m:r>
                          <m:rPr>
                            <m:sty m:val="p"/>
                          </m:rPr>
                          <a:rPr lang="en-ZA" b="0" i="0" smtClean="0">
                            <a:latin typeface="Cambria Math" panose="02040503050406030204" pitchFamily="18" charset="0"/>
                          </a:rPr>
                          <m:t>ln</m:t>
                        </m:r>
                      </m:fName>
                      <m:e>
                        <m:r>
                          <a:rPr lang="en-ZA" b="0" i="1" smtClean="0">
                            <a:latin typeface="Cambria Math" panose="02040503050406030204" pitchFamily="18" charset="0"/>
                          </a:rPr>
                          <m:t>𝑝</m:t>
                        </m:r>
                      </m:e>
                    </m:func>
                  </m:oMath>
                </a14:m>
                <a:r>
                  <a:rPr lang="en-ZA" dirty="0" smtClean="0"/>
                  <a:t> is the largest (and assigns x to the ‘closest” population).</a:t>
                </a:r>
              </a:p>
              <a:p>
                <a:endParaRPr lang="en-ZA" dirty="0" smtClean="0"/>
              </a:p>
            </p:txBody>
          </p:sp>
        </mc:Choice>
        <mc:Fallback xmlns="">
          <p:sp>
            <p:nvSpPr>
              <p:cNvPr id="3" name="TextBox 2"/>
              <p:cNvSpPr txBox="1">
                <a:spLocks noRot="1" noChangeAspect="1" noMove="1" noResize="1" noEditPoints="1" noAdjustHandles="1" noChangeArrowheads="1" noChangeShapeType="1" noTextEdit="1"/>
              </p:cNvSpPr>
              <p:nvPr/>
            </p:nvSpPr>
            <p:spPr>
              <a:xfrm>
                <a:off x="146050" y="215900"/>
                <a:ext cx="11887200" cy="6493444"/>
              </a:xfrm>
              <a:prstGeom prst="rect">
                <a:avLst/>
              </a:prstGeom>
              <a:blipFill rotWithShape="0">
                <a:blip r:embed="rId2"/>
                <a:stretch>
                  <a:fillRect l="-410" t="-375"/>
                </a:stretch>
              </a:blipFill>
              <a:ln>
                <a:solidFill>
                  <a:schemeClr val="accent1"/>
                </a:solidFill>
              </a:ln>
            </p:spPr>
            <p:txBody>
              <a:bodyPr/>
              <a:lstStyle/>
              <a:p>
                <a:r>
                  <a:rPr lang="en-ZA">
                    <a:noFill/>
                  </a:rPr>
                  <a:t> </a:t>
                </a:r>
              </a:p>
            </p:txBody>
          </p:sp>
        </mc:Fallback>
      </mc:AlternateContent>
      <p:sp>
        <p:nvSpPr>
          <p:cNvPr id="2" name="Oval Callout 1"/>
          <p:cNvSpPr/>
          <p:nvPr/>
        </p:nvSpPr>
        <p:spPr>
          <a:xfrm>
            <a:off x="9359900" y="2647950"/>
            <a:ext cx="2247900" cy="1905000"/>
          </a:xfrm>
          <a:prstGeom prst="wedgeEllipseCallout">
            <a:avLst>
              <a:gd name="adj1" fmla="val -81567"/>
              <a:gd name="adj2" fmla="val 451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SO when we have &gt;2 groups, instead of comparing discriminant function to a cut-off value, we evaluate it for all groups and chose either ma or min depending on criterion.</a:t>
            </a:r>
            <a:endParaRPr lang="en-ZA" sz="1100" dirty="0"/>
          </a:p>
        </p:txBody>
      </p:sp>
    </p:spTree>
    <p:extLst>
      <p:ext uri="{BB962C8B-B14F-4D97-AF65-F5344CB8AC3E}">
        <p14:creationId xmlns:p14="http://schemas.microsoft.com/office/powerpoint/2010/main" val="1182726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196850" y="241300"/>
                <a:ext cx="11677650" cy="5371920"/>
              </a:xfrm>
              <a:prstGeom prst="rect">
                <a:avLst/>
              </a:prstGeom>
              <a:noFill/>
              <a:ln>
                <a:solidFill>
                  <a:schemeClr val="accent1"/>
                </a:solidFill>
              </a:ln>
            </p:spPr>
            <p:txBody>
              <a:bodyPr wrap="square" rtlCol="0">
                <a:spAutoFit/>
              </a:bodyPr>
              <a:lstStyle/>
              <a:p>
                <a:r>
                  <a:rPr lang="en-ZA" dirty="0" smtClean="0"/>
                  <a:t>Can also use Fisher’s method to classify observation into one of multiple groups:</a:t>
                </a:r>
              </a:p>
              <a:p>
                <a:endParaRPr lang="en-ZA" dirty="0"/>
              </a:p>
              <a:p>
                <a:r>
                  <a:rPr lang="en-ZA" dirty="0" smtClean="0"/>
                  <a:t>Based on finding coefficients </a:t>
                </a:r>
                <a14:m>
                  <m:oMath xmlns:m="http://schemas.openxmlformats.org/officeDocument/2006/math">
                    <m:r>
                      <a:rPr lang="en-ZA" b="0" i="1" smtClean="0">
                        <a:latin typeface="Cambria Math" panose="02040503050406030204" pitchFamily="18" charset="0"/>
                      </a:rPr>
                      <m:t>𝑎</m:t>
                    </m:r>
                  </m:oMath>
                </a14:m>
                <a:r>
                  <a:rPr lang="en-ZA" dirty="0" smtClean="0"/>
                  <a:t> that maximizes </a:t>
                </a:r>
                <a14:m>
                  <m:oMath xmlns:m="http://schemas.openxmlformats.org/officeDocument/2006/math">
                    <m:f>
                      <m:fPr>
                        <m:ctrlPr>
                          <a:rPr lang="en-ZA" i="1">
                            <a:latin typeface="Cambria Math" panose="02040503050406030204" pitchFamily="18" charset="0"/>
                          </a:rPr>
                        </m:ctrlPr>
                      </m:fPr>
                      <m:num>
                        <m:sSup>
                          <m:sSupPr>
                            <m:ctrlPr>
                              <a:rPr lang="en-ZA" i="1">
                                <a:latin typeface="Cambria Math" panose="02040503050406030204" pitchFamily="18" charset="0"/>
                              </a:rPr>
                            </m:ctrlPr>
                          </m:sSupPr>
                          <m:e>
                            <m:r>
                              <a:rPr lang="en-ZA" i="1">
                                <a:latin typeface="Cambria Math" panose="02040503050406030204" pitchFamily="18" charset="0"/>
                              </a:rPr>
                              <m:t>𝑎</m:t>
                            </m:r>
                          </m:e>
                          <m:sup>
                            <m:r>
                              <a:rPr lang="en-ZA" i="1">
                                <a:latin typeface="Cambria Math" panose="02040503050406030204" pitchFamily="18" charset="0"/>
                              </a:rPr>
                              <m:t>′</m:t>
                            </m:r>
                          </m:sup>
                        </m:sSup>
                        <m:r>
                          <a:rPr lang="en-ZA" i="1">
                            <a:latin typeface="Cambria Math" panose="02040503050406030204" pitchFamily="18" charset="0"/>
                          </a:rPr>
                          <m:t>𝐵𝑎</m:t>
                        </m:r>
                      </m:num>
                      <m:den>
                        <m:sSup>
                          <m:sSupPr>
                            <m:ctrlPr>
                              <a:rPr lang="en-ZA" i="1">
                                <a:latin typeface="Cambria Math" panose="02040503050406030204" pitchFamily="18" charset="0"/>
                              </a:rPr>
                            </m:ctrlPr>
                          </m:sSupPr>
                          <m:e>
                            <m:r>
                              <a:rPr lang="en-ZA" i="1">
                                <a:latin typeface="Cambria Math" panose="02040503050406030204" pitchFamily="18" charset="0"/>
                              </a:rPr>
                              <m:t>𝑎</m:t>
                            </m:r>
                          </m:e>
                          <m:sup>
                            <m:r>
                              <a:rPr lang="en-ZA" i="1">
                                <a:latin typeface="Cambria Math" panose="02040503050406030204" pitchFamily="18" charset="0"/>
                              </a:rPr>
                              <m:t>′</m:t>
                            </m:r>
                          </m:sup>
                        </m:sSup>
                        <m:r>
                          <a:rPr lang="en-ZA" i="1">
                            <a:latin typeface="Cambria Math" panose="02040503050406030204" pitchFamily="18" charset="0"/>
                          </a:rPr>
                          <m:t>𝑊𝑎</m:t>
                        </m:r>
                      </m:den>
                    </m:f>
                  </m:oMath>
                </a14:m>
                <a:endParaRPr lang="en-ZA" dirty="0"/>
              </a:p>
              <a:p>
                <a:endParaRPr lang="en-ZA" dirty="0"/>
              </a:p>
              <a:p>
                <a:r>
                  <a:rPr lang="en-ZA" dirty="0"/>
                  <a:t>where </a:t>
                </a:r>
                <a14:m>
                  <m:oMath xmlns:m="http://schemas.openxmlformats.org/officeDocument/2006/math">
                    <m:sSub>
                      <m:sSubPr>
                        <m:ctrlPr>
                          <a:rPr lang="en-ZA" i="1">
                            <a:latin typeface="Cambria Math" panose="02040503050406030204" pitchFamily="18" charset="0"/>
                          </a:rPr>
                        </m:ctrlPr>
                      </m:sSubPr>
                      <m:e>
                        <m:r>
                          <a:rPr lang="en-ZA" b="1" i="1">
                            <a:latin typeface="Cambria Math" panose="02040503050406030204" pitchFamily="18" charset="0"/>
                          </a:rPr>
                          <m:t>𝑩</m:t>
                        </m:r>
                      </m:e>
                      <m:sub>
                        <m:r>
                          <a:rPr lang="en-ZA" i="1">
                            <a:latin typeface="Cambria Math" panose="02040503050406030204" pitchFamily="18" charset="0"/>
                          </a:rPr>
                          <m:t>𝑝</m:t>
                        </m:r>
                        <m:r>
                          <a:rPr lang="en-ZA" i="1">
                            <a:latin typeface="Cambria Math" panose="02040503050406030204" pitchFamily="18" charset="0"/>
                            <a:ea typeface="Cambria Math" panose="02040503050406030204" pitchFamily="18" charset="0"/>
                          </a:rPr>
                          <m:t>×</m:t>
                        </m:r>
                        <m:r>
                          <a:rPr lang="en-ZA" i="1">
                            <a:latin typeface="Cambria Math" panose="02040503050406030204" pitchFamily="18" charset="0"/>
                            <a:ea typeface="Cambria Math" panose="02040503050406030204" pitchFamily="18" charset="0"/>
                          </a:rPr>
                          <m:t>𝑝</m:t>
                        </m:r>
                      </m:sub>
                    </m:sSub>
                    <m:r>
                      <a:rPr lang="en-ZA" i="1">
                        <a:latin typeface="Cambria Math" panose="02040503050406030204" pitchFamily="18" charset="0"/>
                      </a:rPr>
                      <m:t>=</m:t>
                    </m:r>
                    <m:nary>
                      <m:naryPr>
                        <m:chr m:val="∑"/>
                        <m:ctrlPr>
                          <a:rPr lang="en-ZA" i="1">
                            <a:latin typeface="Cambria Math" panose="02040503050406030204" pitchFamily="18" charset="0"/>
                          </a:rPr>
                        </m:ctrlPr>
                      </m:naryPr>
                      <m:sub>
                        <m:r>
                          <m:rPr>
                            <m:brk m:alnAt="23"/>
                          </m:rPr>
                          <a:rPr lang="en-ZA" i="1">
                            <a:latin typeface="Cambria Math" panose="02040503050406030204" pitchFamily="18" charset="0"/>
                          </a:rPr>
                          <m:t>𝑖</m:t>
                        </m:r>
                        <m:r>
                          <a:rPr lang="en-ZA" i="1">
                            <a:latin typeface="Cambria Math" panose="02040503050406030204" pitchFamily="18" charset="0"/>
                          </a:rPr>
                          <m:t>=</m:t>
                        </m:r>
                        <m:r>
                          <m:rPr>
                            <m:brk m:alnAt="23"/>
                          </m:rPr>
                          <a:rPr lang="en-ZA" i="1">
                            <a:latin typeface="Cambria Math" panose="02040503050406030204" pitchFamily="18" charset="0"/>
                          </a:rPr>
                          <m:t>1</m:t>
                        </m:r>
                      </m:sub>
                      <m:sup>
                        <m:r>
                          <a:rPr lang="en-ZA" i="1">
                            <a:latin typeface="Cambria Math" panose="02040503050406030204" pitchFamily="18" charset="0"/>
                          </a:rPr>
                          <m:t>𝑔</m:t>
                        </m:r>
                      </m:sup>
                      <m:e>
                        <m:sSub>
                          <m:sSubPr>
                            <m:ctrlPr>
                              <a:rPr lang="en-ZA" i="1">
                                <a:latin typeface="Cambria Math" panose="02040503050406030204" pitchFamily="18" charset="0"/>
                              </a:rPr>
                            </m:ctrlPr>
                          </m:sSubPr>
                          <m:e>
                            <m:r>
                              <a:rPr lang="en-ZA" i="1">
                                <a:latin typeface="Cambria Math" panose="02040503050406030204" pitchFamily="18" charset="0"/>
                              </a:rPr>
                              <m:t>𝑛</m:t>
                            </m:r>
                          </m:e>
                          <m:sub>
                            <m:r>
                              <a:rPr lang="en-ZA" i="1">
                                <a:latin typeface="Cambria Math" panose="02040503050406030204" pitchFamily="18" charset="0"/>
                              </a:rPr>
                              <m:t>𝑖</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r>
                              <a:rPr lang="en-ZA" i="1">
                                <a:latin typeface="Cambria Math" panose="02040503050406030204" pitchFamily="18" charset="0"/>
                              </a:rPr>
                              <m:t>.</m:t>
                            </m:r>
                          </m:sub>
                        </m:sSub>
                        <m:r>
                          <a:rPr lang="en-ZA" i="1">
                            <a:latin typeface="Cambria Math" panose="02040503050406030204" pitchFamily="18" charset="0"/>
                          </a:rPr>
                          <m:t>−</m:t>
                        </m:r>
                        <m:acc>
                          <m:accPr>
                            <m:chr m:val="̅"/>
                            <m:ctrlPr>
                              <a:rPr lang="en-ZA" i="1">
                                <a:latin typeface="Cambria Math" panose="02040503050406030204" pitchFamily="18" charset="0"/>
                              </a:rPr>
                            </m:ctrlPr>
                          </m:accPr>
                          <m:e>
                            <m:r>
                              <a:rPr lang="en-ZA" i="1">
                                <a:latin typeface="Cambria Math" panose="02040503050406030204" pitchFamily="18" charset="0"/>
                              </a:rPr>
                              <m:t>𝑥</m:t>
                            </m:r>
                          </m:e>
                        </m:acc>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r>
                              <a:rPr lang="en-ZA" i="1">
                                <a:latin typeface="Cambria Math" panose="02040503050406030204" pitchFamily="18" charset="0"/>
                              </a:rPr>
                              <m:t>.</m:t>
                            </m:r>
                          </m:sub>
                        </m:sSub>
                        <m:r>
                          <a:rPr lang="en-ZA" i="1">
                            <a:latin typeface="Cambria Math" panose="02040503050406030204" pitchFamily="18" charset="0"/>
                          </a:rPr>
                          <m:t>−</m:t>
                        </m:r>
                        <m:acc>
                          <m:accPr>
                            <m:chr m:val="̅"/>
                            <m:ctrlPr>
                              <a:rPr lang="en-ZA" i="1">
                                <a:latin typeface="Cambria Math" panose="02040503050406030204" pitchFamily="18" charset="0"/>
                              </a:rPr>
                            </m:ctrlPr>
                          </m:accPr>
                          <m:e>
                            <m:r>
                              <a:rPr lang="en-ZA" i="1">
                                <a:latin typeface="Cambria Math" panose="02040503050406030204" pitchFamily="18" charset="0"/>
                              </a:rPr>
                              <m:t>𝑥</m:t>
                            </m:r>
                          </m:e>
                        </m:acc>
                        <m:r>
                          <a:rPr lang="en-ZA" i="1">
                            <a:latin typeface="Cambria Math" panose="02040503050406030204" pitchFamily="18" charset="0"/>
                          </a:rPr>
                          <m:t>)′</m:t>
                        </m:r>
                      </m:e>
                    </m:nary>
                  </m:oMath>
                </a14:m>
                <a:r>
                  <a:rPr lang="en-ZA" dirty="0"/>
                  <a:t> and </a:t>
                </a:r>
                <a14:m>
                  <m:oMath xmlns:m="http://schemas.openxmlformats.org/officeDocument/2006/math">
                    <m:sSub>
                      <m:sSubPr>
                        <m:ctrlPr>
                          <a:rPr lang="en-ZA" i="1">
                            <a:latin typeface="Cambria Math" panose="02040503050406030204" pitchFamily="18" charset="0"/>
                          </a:rPr>
                        </m:ctrlPr>
                      </m:sSubPr>
                      <m:e>
                        <m:r>
                          <a:rPr lang="en-ZA" b="1" i="1">
                            <a:latin typeface="Cambria Math" panose="02040503050406030204" pitchFamily="18" charset="0"/>
                          </a:rPr>
                          <m:t>𝑾</m:t>
                        </m:r>
                      </m:e>
                      <m:sub>
                        <m:r>
                          <a:rPr lang="en-ZA" i="1">
                            <a:latin typeface="Cambria Math" panose="02040503050406030204" pitchFamily="18" charset="0"/>
                          </a:rPr>
                          <m:t>𝑝</m:t>
                        </m:r>
                        <m:r>
                          <a:rPr lang="en-ZA" i="1">
                            <a:latin typeface="Cambria Math" panose="02040503050406030204" pitchFamily="18" charset="0"/>
                            <a:ea typeface="Cambria Math" panose="02040503050406030204" pitchFamily="18" charset="0"/>
                          </a:rPr>
                          <m:t>×</m:t>
                        </m:r>
                        <m:r>
                          <a:rPr lang="en-ZA" i="1">
                            <a:latin typeface="Cambria Math" panose="02040503050406030204" pitchFamily="18" charset="0"/>
                            <a:ea typeface="Cambria Math" panose="02040503050406030204" pitchFamily="18" charset="0"/>
                          </a:rPr>
                          <m:t>𝑝</m:t>
                        </m:r>
                      </m:sub>
                    </m:sSub>
                    <m:r>
                      <a:rPr lang="en-ZA" i="1">
                        <a:latin typeface="Cambria Math" panose="02040503050406030204" pitchFamily="18" charset="0"/>
                      </a:rPr>
                      <m:t>=</m:t>
                    </m:r>
                    <m:nary>
                      <m:naryPr>
                        <m:chr m:val="∑"/>
                        <m:ctrlPr>
                          <a:rPr lang="en-ZA" i="1">
                            <a:latin typeface="Cambria Math" panose="02040503050406030204" pitchFamily="18" charset="0"/>
                          </a:rPr>
                        </m:ctrlPr>
                      </m:naryPr>
                      <m:sub>
                        <m:r>
                          <m:rPr>
                            <m:brk m:alnAt="23"/>
                          </m:rPr>
                          <a:rPr lang="en-ZA" i="1">
                            <a:latin typeface="Cambria Math" panose="02040503050406030204" pitchFamily="18" charset="0"/>
                          </a:rPr>
                          <m:t>𝑖</m:t>
                        </m:r>
                        <m:r>
                          <a:rPr lang="en-ZA" i="1">
                            <a:latin typeface="Cambria Math" panose="02040503050406030204" pitchFamily="18" charset="0"/>
                          </a:rPr>
                          <m:t>=</m:t>
                        </m:r>
                        <m:r>
                          <m:rPr>
                            <m:brk m:alnAt="23"/>
                          </m:rPr>
                          <a:rPr lang="en-ZA" i="1">
                            <a:latin typeface="Cambria Math" panose="02040503050406030204" pitchFamily="18" charset="0"/>
                          </a:rPr>
                          <m:t>1</m:t>
                        </m:r>
                      </m:sub>
                      <m:sup>
                        <m:r>
                          <a:rPr lang="en-ZA" i="1">
                            <a:latin typeface="Cambria Math" panose="02040503050406030204" pitchFamily="18" charset="0"/>
                          </a:rPr>
                          <m:t>𝑔</m:t>
                        </m:r>
                      </m:sup>
                      <m:e>
                        <m:nary>
                          <m:naryPr>
                            <m:chr m:val="∑"/>
                            <m:ctrlPr>
                              <a:rPr lang="en-ZA" i="1">
                                <a:latin typeface="Cambria Math" panose="02040503050406030204" pitchFamily="18" charset="0"/>
                              </a:rPr>
                            </m:ctrlPr>
                          </m:naryPr>
                          <m:sub>
                            <m:r>
                              <m:rPr>
                                <m:brk m:alnAt="23"/>
                              </m:rPr>
                              <a:rPr lang="en-ZA" i="1">
                                <a:latin typeface="Cambria Math" panose="02040503050406030204" pitchFamily="18" charset="0"/>
                              </a:rPr>
                              <m:t>𝑗</m:t>
                            </m:r>
                            <m:r>
                              <a:rPr lang="en-ZA" i="1">
                                <a:latin typeface="Cambria Math" panose="02040503050406030204" pitchFamily="18" charset="0"/>
                              </a:rPr>
                              <m:t>=</m:t>
                            </m:r>
                            <m:r>
                              <m:rPr>
                                <m:brk m:alnAt="23"/>
                              </m:rPr>
                              <a:rPr lang="en-ZA" i="1">
                                <a:latin typeface="Cambria Math" panose="02040503050406030204" pitchFamily="18" charset="0"/>
                              </a:rPr>
                              <m:t>1</m:t>
                            </m:r>
                          </m:sub>
                          <m:sup>
                            <m:sSub>
                              <m:sSubPr>
                                <m:ctrlPr>
                                  <a:rPr lang="en-ZA" i="1">
                                    <a:latin typeface="Cambria Math" panose="02040503050406030204" pitchFamily="18" charset="0"/>
                                  </a:rPr>
                                </m:ctrlPr>
                              </m:sSubPr>
                              <m:e>
                                <m:r>
                                  <a:rPr lang="en-ZA" i="1">
                                    <a:latin typeface="Cambria Math" panose="02040503050406030204" pitchFamily="18" charset="0"/>
                                  </a:rPr>
                                  <m:t>𝑛</m:t>
                                </m:r>
                              </m:e>
                              <m:sub>
                                <m:r>
                                  <a:rPr lang="en-ZA" i="1">
                                    <a:latin typeface="Cambria Math" panose="02040503050406030204" pitchFamily="18" charset="0"/>
                                  </a:rPr>
                                  <m:t>𝑖</m:t>
                                </m:r>
                              </m:sub>
                            </m:sSub>
                          </m:sup>
                          <m:e>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rPr>
                                  <m:t>𝑥</m:t>
                                </m:r>
                              </m:e>
                              <m:sub>
                                <m:r>
                                  <a:rPr lang="en-ZA" i="1">
                                    <a:latin typeface="Cambria Math" panose="02040503050406030204" pitchFamily="18" charset="0"/>
                                  </a:rPr>
                                  <m:t>𝑖𝑗</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r>
                                  <a:rPr lang="en-ZA" i="1">
                                    <a:latin typeface="Cambria Math" panose="02040503050406030204" pitchFamily="18" charset="0"/>
                                  </a:rPr>
                                  <m:t>.</m:t>
                                </m:r>
                              </m:sub>
                            </m:sSub>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rPr>
                                  <m:t>𝑥</m:t>
                                </m:r>
                              </m:e>
                              <m:sub>
                                <m:r>
                                  <a:rPr lang="en-ZA" i="1">
                                    <a:latin typeface="Cambria Math" panose="02040503050406030204" pitchFamily="18" charset="0"/>
                                  </a:rPr>
                                  <m:t>𝑖𝑗</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r>
                                  <a:rPr lang="en-ZA" i="1">
                                    <a:latin typeface="Cambria Math" panose="02040503050406030204" pitchFamily="18" charset="0"/>
                                  </a:rPr>
                                  <m:t>.</m:t>
                                </m:r>
                              </m:sub>
                            </m:sSub>
                            <m:r>
                              <a:rPr lang="en-ZA" i="1">
                                <a:latin typeface="Cambria Math" panose="02040503050406030204" pitchFamily="18" charset="0"/>
                              </a:rPr>
                              <m:t>)′</m:t>
                            </m:r>
                          </m:e>
                        </m:nary>
                      </m:e>
                    </m:nary>
                    <m:r>
                      <a:rPr lang="en-ZA" b="0" i="1" smtClean="0">
                        <a:latin typeface="Cambria Math" panose="02040503050406030204" pitchFamily="18" charset="0"/>
                      </a:rPr>
                      <m:t>=</m:t>
                    </m:r>
                    <m:nary>
                      <m:naryPr>
                        <m:chr m:val="∑"/>
                        <m:ctrlPr>
                          <a:rPr lang="en-ZA" b="0" i="1" smtClean="0">
                            <a:latin typeface="Cambria Math" panose="02040503050406030204" pitchFamily="18" charset="0"/>
                          </a:rPr>
                        </m:ctrlPr>
                      </m:naryPr>
                      <m:sub>
                        <m:r>
                          <m:rPr>
                            <m:brk m:alnAt="23"/>
                          </m:rPr>
                          <a:rPr lang="en-ZA" b="0" i="1" smtClean="0">
                            <a:latin typeface="Cambria Math" panose="02040503050406030204" pitchFamily="18" charset="0"/>
                          </a:rPr>
                          <m:t>𝑖</m:t>
                        </m:r>
                        <m:r>
                          <a:rPr lang="en-ZA" b="0" i="1" smtClean="0">
                            <a:latin typeface="Cambria Math" panose="02040503050406030204" pitchFamily="18" charset="0"/>
                          </a:rPr>
                          <m:t>=1</m:t>
                        </m:r>
                      </m:sub>
                      <m:sup>
                        <m:r>
                          <a:rPr lang="en-ZA" b="0" i="1" smtClean="0">
                            <a:latin typeface="Cambria Math" panose="02040503050406030204" pitchFamily="18" charset="0"/>
                          </a:rPr>
                          <m:t>𝑔</m:t>
                        </m:r>
                      </m:sup>
                      <m:e>
                        <m:sSub>
                          <m:sSubPr>
                            <m:ctrlPr>
                              <a:rPr lang="en-ZA" b="0" i="1" smtClean="0">
                                <a:latin typeface="Cambria Math" panose="02040503050406030204" pitchFamily="18" charset="0"/>
                              </a:rPr>
                            </m:ctrlPr>
                          </m:sSubPr>
                          <m:e>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𝑖</m:t>
                                </m:r>
                              </m:sub>
                            </m:sSub>
                            <m:r>
                              <a:rPr lang="en-ZA" b="0" i="1" smtClean="0">
                                <a:latin typeface="Cambria Math" panose="02040503050406030204" pitchFamily="18" charset="0"/>
                              </a:rPr>
                              <m:t>−1)</m:t>
                            </m:r>
                            <m:r>
                              <a:rPr lang="en-ZA" b="0" i="1" smtClean="0">
                                <a:latin typeface="Cambria Math" panose="02040503050406030204" pitchFamily="18" charset="0"/>
                              </a:rPr>
                              <m:t>𝑆</m:t>
                            </m:r>
                          </m:e>
                          <m:sub>
                            <m:r>
                              <a:rPr lang="en-ZA" b="0" i="1" smtClean="0">
                                <a:latin typeface="Cambria Math" panose="02040503050406030204" pitchFamily="18" charset="0"/>
                              </a:rPr>
                              <m:t>𝑖</m:t>
                            </m:r>
                          </m:sub>
                        </m:sSub>
                      </m:e>
                    </m:nary>
                  </m:oMath>
                </a14:m>
                <a:r>
                  <a:rPr lang="en-ZA" dirty="0" smtClean="0"/>
                  <a:t>.</a:t>
                </a:r>
              </a:p>
              <a:p>
                <a:endParaRPr lang="en-ZA" dirty="0"/>
              </a:p>
              <a:p>
                <a:r>
                  <a:rPr lang="en-ZA" dirty="0" smtClean="0"/>
                  <a:t>Also </a:t>
                </a:r>
                <a14:m>
                  <m:oMath xmlns:m="http://schemas.openxmlformats.org/officeDocument/2006/math">
                    <m:f>
                      <m:fPr>
                        <m:type m:val="skw"/>
                        <m:ctrlPr>
                          <a:rPr lang="en-ZA" i="1" smtClean="0">
                            <a:latin typeface="Cambria Math" panose="02040503050406030204" pitchFamily="18" charset="0"/>
                          </a:rPr>
                        </m:ctrlPr>
                      </m:fPr>
                      <m:num>
                        <m:r>
                          <a:rPr lang="en-ZA" b="1" i="1" smtClean="0">
                            <a:latin typeface="Cambria Math" panose="02040503050406030204" pitchFamily="18" charset="0"/>
                          </a:rPr>
                          <m:t>𝑾</m:t>
                        </m:r>
                      </m:num>
                      <m:den>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1</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2</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𝑔</m:t>
                            </m:r>
                          </m:sub>
                        </m:sSub>
                        <m:r>
                          <a:rPr lang="en-ZA" b="0" i="1" smtClean="0">
                            <a:latin typeface="Cambria Math" panose="02040503050406030204" pitchFamily="18" charset="0"/>
                          </a:rPr>
                          <m:t>−</m:t>
                        </m:r>
                        <m:r>
                          <a:rPr lang="en-ZA" b="0" i="1" smtClean="0">
                            <a:latin typeface="Cambria Math" panose="02040503050406030204" pitchFamily="18" charset="0"/>
                          </a:rPr>
                          <m:t>𝑔</m:t>
                        </m:r>
                        <m:r>
                          <a:rPr lang="en-ZA" b="0" i="1" smtClean="0">
                            <a:latin typeface="Cambria Math" panose="02040503050406030204" pitchFamily="18" charset="0"/>
                          </a:rPr>
                          <m:t>)</m:t>
                        </m:r>
                      </m:den>
                    </m:f>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r>
                          <a:rPr lang="en-ZA" b="1" i="1" smtClean="0">
                            <a:latin typeface="Cambria Math" panose="02040503050406030204" pitchFamily="18" charset="0"/>
                          </a:rPr>
                          <m:t>𝑺</m:t>
                        </m:r>
                      </m:e>
                      <m:sub>
                        <m:r>
                          <a:rPr lang="en-ZA" b="0" i="1" smtClean="0">
                            <a:latin typeface="Cambria Math" panose="02040503050406030204" pitchFamily="18" charset="0"/>
                          </a:rPr>
                          <m:t>𝑝𝑜𝑜𝑙𝑒𝑑</m:t>
                        </m:r>
                      </m:sub>
                    </m:sSub>
                  </m:oMath>
                </a14:m>
                <a:r>
                  <a:rPr lang="en-ZA" dirty="0" smtClean="0"/>
                  <a:t>.</a:t>
                </a:r>
              </a:p>
              <a:p>
                <a:endParaRPr lang="en-ZA" dirty="0"/>
              </a:p>
              <a:p>
                <a:r>
                  <a:rPr lang="en-ZA" dirty="0" smtClean="0"/>
                  <a:t>The first sample discriminant function is </a:t>
                </a:r>
                <a14:m>
                  <m:oMath xmlns:m="http://schemas.openxmlformats.org/officeDocument/2006/math">
                    <m:sSubSup>
                      <m:sSubSupPr>
                        <m:ctrlPr>
                          <a:rPr lang="en-ZA" i="1" smtClean="0">
                            <a:latin typeface="Cambria Math" panose="02040503050406030204" pitchFamily="18" charset="0"/>
                          </a:rPr>
                        </m:ctrlPr>
                      </m:sSubSupPr>
                      <m:e>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𝑎</m:t>
                            </m:r>
                          </m:e>
                        </m:acc>
                      </m:e>
                      <m:sub>
                        <m:r>
                          <a:rPr lang="en-ZA" b="0" i="1" smtClean="0">
                            <a:latin typeface="Cambria Math" panose="02040503050406030204" pitchFamily="18" charset="0"/>
                          </a:rPr>
                          <m:t>1</m:t>
                        </m:r>
                      </m:sub>
                      <m:sup>
                        <m:r>
                          <a:rPr lang="en-ZA" b="0" i="1" smtClean="0">
                            <a:latin typeface="Cambria Math" panose="02040503050406030204" pitchFamily="18" charset="0"/>
                          </a:rPr>
                          <m:t>′</m:t>
                        </m:r>
                      </m:sup>
                    </m:sSubSup>
                    <m:r>
                      <a:rPr lang="en-ZA" b="0" i="1" smtClean="0">
                        <a:latin typeface="Cambria Math" panose="02040503050406030204" pitchFamily="18" charset="0"/>
                      </a:rPr>
                      <m:t>𝑥</m:t>
                    </m:r>
                  </m:oMath>
                </a14:m>
                <a:r>
                  <a:rPr lang="en-ZA" dirty="0" smtClean="0"/>
                  <a:t> where </a:t>
                </a:r>
                <a14:m>
                  <m:oMath xmlns:m="http://schemas.openxmlformats.org/officeDocument/2006/math">
                    <m:sSub>
                      <m:sSubPr>
                        <m:ctrlPr>
                          <a:rPr lang="en-ZA" i="1" smtClean="0">
                            <a:latin typeface="Cambria Math" panose="02040503050406030204" pitchFamily="18" charset="0"/>
                          </a:rPr>
                        </m:ctrlPr>
                      </m:sSubPr>
                      <m:e>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𝑎</m:t>
                            </m:r>
                          </m:e>
                        </m:acc>
                      </m:e>
                      <m:sub>
                        <m:r>
                          <a:rPr lang="en-ZA" b="0" i="1" smtClean="0">
                            <a:latin typeface="Cambria Math" panose="02040503050406030204" pitchFamily="18" charset="0"/>
                          </a:rPr>
                          <m:t>1</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𝑒</m:t>
                            </m:r>
                          </m:e>
                        </m:acc>
                      </m:e>
                      <m:sub>
                        <m:r>
                          <a:rPr lang="en-ZA" b="0" i="1" smtClean="0">
                            <a:latin typeface="Cambria Math" panose="02040503050406030204" pitchFamily="18" charset="0"/>
                          </a:rPr>
                          <m:t>1</m:t>
                        </m:r>
                      </m:sub>
                    </m:sSub>
                  </m:oMath>
                </a14:m>
                <a:r>
                  <a:rPr lang="en-ZA" dirty="0" smtClean="0"/>
                  <a:t>, the eigenvector of </a:t>
                </a:r>
                <a14:m>
                  <m:oMath xmlns:m="http://schemas.openxmlformats.org/officeDocument/2006/math">
                    <m:sSup>
                      <m:sSupPr>
                        <m:ctrlPr>
                          <a:rPr lang="en-ZA" i="1" smtClean="0">
                            <a:latin typeface="Cambria Math" panose="02040503050406030204" pitchFamily="18" charset="0"/>
                          </a:rPr>
                        </m:ctrlPr>
                      </m:sSupPr>
                      <m:e>
                        <m:r>
                          <a:rPr lang="en-ZA" b="0" i="1" smtClean="0">
                            <a:latin typeface="Cambria Math" panose="02040503050406030204" pitchFamily="18" charset="0"/>
                          </a:rPr>
                          <m:t>𝑊</m:t>
                        </m:r>
                      </m:e>
                      <m:sup>
                        <m:r>
                          <a:rPr lang="en-ZA" b="0" i="1" smtClean="0">
                            <a:latin typeface="Cambria Math" panose="02040503050406030204" pitchFamily="18" charset="0"/>
                          </a:rPr>
                          <m:t>−1</m:t>
                        </m:r>
                      </m:sup>
                    </m:sSup>
                    <m:r>
                      <a:rPr lang="en-ZA" b="0" i="1" smtClean="0">
                        <a:latin typeface="Cambria Math" panose="02040503050406030204" pitchFamily="18" charset="0"/>
                      </a:rPr>
                      <m:t>𝐵</m:t>
                    </m:r>
                  </m:oMath>
                </a14:m>
                <a:r>
                  <a:rPr lang="en-ZA" dirty="0" smtClean="0"/>
                  <a:t> associated with the largest eigenvalue, </a:t>
                </a:r>
                <a14:m>
                  <m:oMath xmlns:m="http://schemas.openxmlformats.org/officeDocument/2006/math">
                    <m:sSub>
                      <m:sSubPr>
                        <m:ctrlPr>
                          <a:rPr lang="en-ZA" i="1" smtClean="0">
                            <a:latin typeface="Cambria Math" panose="02040503050406030204" pitchFamily="18" charset="0"/>
                          </a:rPr>
                        </m:ctrlPr>
                      </m:sSubPr>
                      <m:e>
                        <m:acc>
                          <m:accPr>
                            <m:chr m:val="̂"/>
                            <m:ctrlPr>
                              <a:rPr lang="en-ZA" i="1" smtClean="0">
                                <a:latin typeface="Cambria Math" panose="02040503050406030204" pitchFamily="18" charset="0"/>
                              </a:rPr>
                            </m:ctrlPr>
                          </m:accPr>
                          <m:e>
                            <m:r>
                              <a:rPr lang="en-ZA" i="1" smtClean="0">
                                <a:latin typeface="Cambria Math" panose="02040503050406030204" pitchFamily="18" charset="0"/>
                                <a:ea typeface="Cambria Math" panose="02040503050406030204" pitchFamily="18" charset="0"/>
                              </a:rPr>
                              <m:t>𝜆</m:t>
                            </m:r>
                          </m:e>
                        </m:acc>
                      </m:e>
                      <m:sub>
                        <m:r>
                          <a:rPr lang="en-ZA" b="0" i="1" smtClean="0">
                            <a:latin typeface="Cambria Math" panose="02040503050406030204" pitchFamily="18" charset="0"/>
                          </a:rPr>
                          <m:t>1</m:t>
                        </m:r>
                      </m:sub>
                    </m:sSub>
                  </m:oMath>
                </a14:m>
                <a:r>
                  <a:rPr lang="en-ZA" dirty="0" smtClean="0"/>
                  <a:t>   and the </a:t>
                </a:r>
                <a14:m>
                  <m:oMath xmlns:m="http://schemas.openxmlformats.org/officeDocument/2006/math">
                    <m:sSup>
                      <m:sSupPr>
                        <m:ctrlPr>
                          <a:rPr lang="en-ZA" i="1" smtClean="0">
                            <a:latin typeface="Cambria Math" panose="02040503050406030204" pitchFamily="18" charset="0"/>
                          </a:rPr>
                        </m:ctrlPr>
                      </m:sSupPr>
                      <m:e>
                        <m:r>
                          <a:rPr lang="en-ZA" b="0" i="1" smtClean="0">
                            <a:latin typeface="Cambria Math" panose="02040503050406030204" pitchFamily="18" charset="0"/>
                          </a:rPr>
                          <m:t>𝑘</m:t>
                        </m:r>
                      </m:e>
                      <m:sup>
                        <m:r>
                          <a:rPr lang="en-ZA" b="0" i="1" smtClean="0">
                            <a:latin typeface="Cambria Math" panose="02040503050406030204" pitchFamily="18" charset="0"/>
                          </a:rPr>
                          <m:t>𝑡h</m:t>
                        </m:r>
                      </m:sup>
                    </m:sSup>
                  </m:oMath>
                </a14:m>
                <a:r>
                  <a:rPr lang="en-ZA" dirty="0" smtClean="0"/>
                  <a:t> discriminant function is </a:t>
                </a:r>
                <a14:m>
                  <m:oMath xmlns:m="http://schemas.openxmlformats.org/officeDocument/2006/math">
                    <m:sSubSup>
                      <m:sSubSupPr>
                        <m:ctrlPr>
                          <a:rPr lang="en-ZA" i="1">
                            <a:latin typeface="Cambria Math" panose="02040503050406030204" pitchFamily="18" charset="0"/>
                          </a:rPr>
                        </m:ctrlPr>
                      </m:sSubSupPr>
                      <m:e>
                        <m:acc>
                          <m:accPr>
                            <m:chr m:val="̂"/>
                            <m:ctrlPr>
                              <a:rPr lang="en-ZA" i="1">
                                <a:latin typeface="Cambria Math" panose="02040503050406030204" pitchFamily="18" charset="0"/>
                              </a:rPr>
                            </m:ctrlPr>
                          </m:accPr>
                          <m:e>
                            <m:r>
                              <a:rPr lang="en-ZA" i="1">
                                <a:latin typeface="Cambria Math" panose="02040503050406030204" pitchFamily="18" charset="0"/>
                              </a:rPr>
                              <m:t>𝑎</m:t>
                            </m:r>
                          </m:e>
                        </m:acc>
                      </m:e>
                      <m:sub>
                        <m:r>
                          <a:rPr lang="en-ZA" b="0" i="1" smtClean="0">
                            <a:latin typeface="Cambria Math" panose="02040503050406030204" pitchFamily="18" charset="0"/>
                          </a:rPr>
                          <m:t>𝑘</m:t>
                        </m:r>
                      </m:sub>
                      <m:sup>
                        <m:r>
                          <a:rPr lang="en-ZA" i="1">
                            <a:latin typeface="Cambria Math" panose="02040503050406030204" pitchFamily="18" charset="0"/>
                          </a:rPr>
                          <m:t>′</m:t>
                        </m:r>
                      </m:sup>
                    </m:sSubSup>
                    <m:r>
                      <a:rPr lang="en-ZA" i="1">
                        <a:latin typeface="Cambria Math" panose="02040503050406030204" pitchFamily="18" charset="0"/>
                      </a:rPr>
                      <m:t>𝑥</m:t>
                    </m:r>
                    <m:r>
                      <a:rPr lang="en-ZA" b="0" i="0" smtClean="0">
                        <a:latin typeface="Cambria Math" panose="02040503050406030204" pitchFamily="18" charset="0"/>
                      </a:rPr>
                      <m:t>=</m:t>
                    </m:r>
                    <m:sSubSup>
                      <m:sSubSupPr>
                        <m:ctrlPr>
                          <a:rPr lang="en-ZA" b="0" i="1" smtClean="0">
                            <a:latin typeface="Cambria Math" panose="02040503050406030204" pitchFamily="18" charset="0"/>
                          </a:rPr>
                        </m:ctrlPr>
                      </m:sSubSup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𝑒</m:t>
                            </m:r>
                          </m:e>
                        </m:acc>
                      </m:e>
                      <m:sub>
                        <m:r>
                          <a:rPr lang="en-ZA" b="0" i="1" smtClean="0">
                            <a:latin typeface="Cambria Math" panose="02040503050406030204" pitchFamily="18" charset="0"/>
                          </a:rPr>
                          <m:t>𝑘</m:t>
                        </m:r>
                      </m:sub>
                      <m:sup>
                        <m:r>
                          <a:rPr lang="en-ZA" b="0" i="1" smtClean="0">
                            <a:latin typeface="Cambria Math" panose="02040503050406030204" pitchFamily="18" charset="0"/>
                          </a:rPr>
                          <m:t>,</m:t>
                        </m:r>
                      </m:sup>
                    </m:sSubSup>
                    <m:r>
                      <a:rPr lang="en-ZA" b="0" i="1" smtClean="0">
                        <a:latin typeface="Cambria Math" panose="02040503050406030204" pitchFamily="18" charset="0"/>
                      </a:rPr>
                      <m:t>𝑥</m:t>
                    </m:r>
                  </m:oMath>
                </a14:m>
                <a:r>
                  <a:rPr lang="en-ZA" dirty="0" smtClean="0"/>
                  <a:t>   with </a:t>
                </a:r>
                <a14:m>
                  <m:oMath xmlns:m="http://schemas.openxmlformats.org/officeDocument/2006/math">
                    <m:sSubSup>
                      <m:sSubSupPr>
                        <m:ctrlPr>
                          <a:rPr lang="en-ZA" i="1" smtClean="0">
                            <a:latin typeface="Cambria Math" panose="02040503050406030204" pitchFamily="18" charset="0"/>
                          </a:rPr>
                        </m:ctrlPr>
                      </m:sSubSupPr>
                      <m:e>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𝑎</m:t>
                            </m:r>
                          </m:e>
                        </m:acc>
                      </m:e>
                      <m:sub>
                        <m:r>
                          <a:rPr lang="en-ZA" b="0" i="1" smtClean="0">
                            <a:latin typeface="Cambria Math" panose="02040503050406030204" pitchFamily="18" charset="0"/>
                          </a:rPr>
                          <m:t>𝑖</m:t>
                        </m:r>
                      </m:sub>
                      <m:sup>
                        <m:r>
                          <a:rPr lang="en-ZA" b="0" i="1" smtClean="0">
                            <a:latin typeface="Cambria Math" panose="02040503050406030204" pitchFamily="18" charset="0"/>
                          </a:rPr>
                          <m:t>′</m:t>
                        </m:r>
                      </m:sup>
                    </m:sSubSup>
                    <m:sSub>
                      <m:sSubPr>
                        <m:ctrlPr>
                          <a:rPr lang="en-ZA" i="1" smtClean="0">
                            <a:latin typeface="Cambria Math" panose="02040503050406030204" pitchFamily="18" charset="0"/>
                          </a:rPr>
                        </m:ctrlPr>
                      </m:sSubPr>
                      <m:e>
                        <m:r>
                          <a:rPr lang="en-ZA" b="0" i="1" smtClean="0">
                            <a:latin typeface="Cambria Math" panose="02040503050406030204" pitchFamily="18" charset="0"/>
                          </a:rPr>
                          <m:t>𝑆</m:t>
                        </m:r>
                      </m:e>
                      <m:sub>
                        <m:r>
                          <a:rPr lang="en-ZA" b="0" i="1" smtClean="0">
                            <a:latin typeface="Cambria Math" panose="02040503050406030204" pitchFamily="18" charset="0"/>
                          </a:rPr>
                          <m:t>𝑝</m:t>
                        </m:r>
                      </m:sub>
                    </m:sSub>
                    <m:sSub>
                      <m:sSubPr>
                        <m:ctrlPr>
                          <a:rPr lang="en-ZA" i="1" smtClean="0">
                            <a:latin typeface="Cambria Math" panose="02040503050406030204" pitchFamily="18" charset="0"/>
                          </a:rPr>
                        </m:ctrlPr>
                      </m:sSubPr>
                      <m:e>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𝑎</m:t>
                            </m:r>
                          </m:e>
                        </m:acc>
                      </m:e>
                      <m:sub>
                        <m:r>
                          <a:rPr lang="en-ZA" b="0" i="1" smtClean="0">
                            <a:latin typeface="Cambria Math" panose="02040503050406030204" pitchFamily="18" charset="0"/>
                          </a:rPr>
                          <m:t>𝑖</m:t>
                        </m:r>
                      </m:sub>
                    </m:sSub>
                    <m:r>
                      <a:rPr lang="en-ZA" b="0" i="1" smtClean="0">
                        <a:latin typeface="Cambria Math" panose="02040503050406030204" pitchFamily="18" charset="0"/>
                      </a:rPr>
                      <m:t>=1.</m:t>
                    </m:r>
                  </m:oMath>
                </a14:m>
                <a:endParaRPr lang="en-ZA" dirty="0" smtClean="0"/>
              </a:p>
              <a:p>
                <a:endParaRPr lang="en-ZA" dirty="0"/>
              </a:p>
              <a:p>
                <a:r>
                  <a:rPr lang="en-ZA" dirty="0" smtClean="0"/>
                  <a:t>To use the sample discriminants for classification we will allocate </a:t>
                </a:r>
                <a14:m>
                  <m:oMath xmlns:m="http://schemas.openxmlformats.org/officeDocument/2006/math">
                    <m:r>
                      <a:rPr lang="en-ZA" b="0" i="1" smtClean="0">
                        <a:latin typeface="Cambria Math" panose="02040503050406030204" pitchFamily="18" charset="0"/>
                      </a:rPr>
                      <m:t>𝑥</m:t>
                    </m:r>
                  </m:oMath>
                </a14:m>
                <a:r>
                  <a:rPr lang="en-ZA" dirty="0" smtClean="0"/>
                  <a:t> to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𝑘</m:t>
                        </m:r>
                      </m:sub>
                    </m:sSub>
                  </m:oMath>
                </a14:m>
                <a:r>
                  <a:rPr lang="en-ZA" dirty="0" smtClean="0"/>
                  <a:t> if </a:t>
                </a:r>
              </a:p>
              <a:p>
                <a:pPr/>
                <a14:m>
                  <m:oMathPara xmlns:m="http://schemas.openxmlformats.org/officeDocument/2006/math">
                    <m:oMathParaPr>
                      <m:jc m:val="centerGroup"/>
                    </m:oMathParaPr>
                    <m:oMath xmlns:m="http://schemas.openxmlformats.org/officeDocument/2006/math">
                      <m:nary>
                        <m:naryPr>
                          <m:chr m:val="∑"/>
                          <m:ctrlPr>
                            <a:rPr lang="en-ZA" i="1" smtClean="0">
                              <a:latin typeface="Cambria Math" panose="02040503050406030204" pitchFamily="18" charset="0"/>
                            </a:rPr>
                          </m:ctrlPr>
                        </m:naryPr>
                        <m:sub>
                          <m:r>
                            <m:rPr>
                              <m:brk m:alnAt="23"/>
                            </m:rPr>
                            <a:rPr lang="en-ZA" b="0" i="1" smtClean="0">
                              <a:latin typeface="Cambria Math" panose="02040503050406030204" pitchFamily="18" charset="0"/>
                            </a:rPr>
                            <m:t>𝑗</m:t>
                          </m:r>
                          <m:r>
                            <a:rPr lang="en-ZA" b="0" i="1" smtClean="0">
                              <a:latin typeface="Cambria Math" panose="02040503050406030204" pitchFamily="18" charset="0"/>
                            </a:rPr>
                            <m:t>=1</m:t>
                          </m:r>
                        </m:sub>
                        <m:sup>
                          <m:r>
                            <a:rPr lang="en-ZA" b="0" i="1" smtClean="0">
                              <a:latin typeface="Cambria Math" panose="02040503050406030204" pitchFamily="18" charset="0"/>
                            </a:rPr>
                            <m:t>𝑟</m:t>
                          </m:r>
                        </m:sup>
                        <m:e>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𝑦</m:t>
                                  </m:r>
                                </m:e>
                              </m:acc>
                            </m:e>
                            <m:sub>
                              <m:r>
                                <a:rPr lang="en-ZA" b="0" i="1" smtClean="0">
                                  <a:latin typeface="Cambria Math" panose="02040503050406030204" pitchFamily="18" charset="0"/>
                                </a:rPr>
                                <m:t>𝑗</m:t>
                              </m:r>
                            </m:sub>
                          </m:sSub>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𝑦</m:t>
                                  </m:r>
                                </m:e>
                              </m:acc>
                            </m:e>
                            <m:sub>
                              <m:r>
                                <a:rPr lang="en-ZA" b="0" i="1" smtClean="0">
                                  <a:latin typeface="Cambria Math" panose="02040503050406030204" pitchFamily="18" charset="0"/>
                                </a:rPr>
                                <m:t>𝑘𝑗</m:t>
                              </m:r>
                            </m:sub>
                          </m:sSub>
                          <m:sSup>
                            <m:sSupPr>
                              <m:ctrlPr>
                                <a:rPr lang="en-ZA" b="0" i="1" smtClean="0">
                                  <a:latin typeface="Cambria Math" panose="02040503050406030204" pitchFamily="18" charset="0"/>
                                </a:rPr>
                              </m:ctrlPr>
                            </m:sSupPr>
                            <m:e>
                              <m:r>
                                <a:rPr lang="en-ZA" b="0" i="1" smtClean="0">
                                  <a:latin typeface="Cambria Math" panose="02040503050406030204" pitchFamily="18" charset="0"/>
                                </a:rPr>
                                <m:t>)</m:t>
                              </m:r>
                            </m:e>
                            <m:sup>
                              <m:r>
                                <a:rPr lang="en-ZA" b="0" i="1" smtClean="0">
                                  <a:latin typeface="Cambria Math" panose="02040503050406030204" pitchFamily="18" charset="0"/>
                                </a:rPr>
                                <m:t>2</m:t>
                              </m:r>
                            </m:sup>
                          </m:sSup>
                          <m:r>
                            <a:rPr lang="en-ZA" b="0" i="1" smtClean="0">
                              <a:latin typeface="Cambria Math" panose="02040503050406030204" pitchFamily="18" charset="0"/>
                            </a:rPr>
                            <m:t>=</m:t>
                          </m:r>
                          <m:nary>
                            <m:naryPr>
                              <m:chr m:val="∑"/>
                              <m:ctrlPr>
                                <a:rPr lang="en-ZA" b="0" i="1" smtClean="0">
                                  <a:latin typeface="Cambria Math" panose="02040503050406030204" pitchFamily="18" charset="0"/>
                                </a:rPr>
                              </m:ctrlPr>
                            </m:naryPr>
                            <m:sub>
                              <m:r>
                                <m:rPr>
                                  <m:brk m:alnAt="23"/>
                                </m:rPr>
                                <a:rPr lang="en-ZA" b="0" i="1" smtClean="0">
                                  <a:latin typeface="Cambria Math" panose="02040503050406030204" pitchFamily="18" charset="0"/>
                                </a:rPr>
                                <m:t>𝑗</m:t>
                              </m:r>
                              <m:r>
                                <a:rPr lang="en-ZA" b="0" i="1" smtClean="0">
                                  <a:latin typeface="Cambria Math" panose="02040503050406030204" pitchFamily="18" charset="0"/>
                                </a:rPr>
                                <m:t>=1</m:t>
                              </m:r>
                            </m:sub>
                            <m:sup>
                              <m:r>
                                <a:rPr lang="en-ZA" b="0" i="1" smtClean="0">
                                  <a:latin typeface="Cambria Math" panose="02040503050406030204" pitchFamily="18" charset="0"/>
                                </a:rPr>
                                <m:t>𝑟</m:t>
                              </m:r>
                            </m:sup>
                            <m:e>
                              <m:r>
                                <a:rPr lang="en-ZA" b="0" i="1" smtClean="0">
                                  <a:latin typeface="Cambria Math" panose="02040503050406030204" pitchFamily="18" charset="0"/>
                                </a:rPr>
                                <m:t>[</m:t>
                              </m:r>
                              <m:sSubSup>
                                <m:sSubSupPr>
                                  <m:ctrlPr>
                                    <a:rPr lang="en-ZA" b="0" i="1" smtClean="0">
                                      <a:latin typeface="Cambria Math" panose="02040503050406030204" pitchFamily="18" charset="0"/>
                                    </a:rPr>
                                  </m:ctrlPr>
                                </m:sSubSup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𝑎</m:t>
                                      </m:r>
                                    </m:e>
                                  </m:acc>
                                </m:e>
                                <m:sub>
                                  <m:r>
                                    <a:rPr lang="en-ZA" b="0" i="1" smtClean="0">
                                      <a:latin typeface="Cambria Math" panose="02040503050406030204" pitchFamily="18" charset="0"/>
                                    </a:rPr>
                                    <m:t>𝑗</m:t>
                                  </m:r>
                                </m:sub>
                                <m:sup>
                                  <m:r>
                                    <a:rPr lang="en-ZA" b="0" i="1" smtClean="0">
                                      <a:latin typeface="Cambria Math" panose="02040503050406030204" pitchFamily="18" charset="0"/>
                                    </a:rPr>
                                    <m:t>′</m:t>
                                  </m:r>
                                </m:sup>
                              </m:sSubSup>
                              <m:r>
                                <a:rPr lang="en-ZA" b="0" i="1" smtClean="0">
                                  <a:latin typeface="Cambria Math" panose="02040503050406030204" pitchFamily="18" charset="0"/>
                                </a:rPr>
                                <m:t>(</m:t>
                              </m:r>
                              <m:r>
                                <a:rPr lang="en-ZA" b="0" i="1" smtClean="0">
                                  <a:latin typeface="Cambria Math" panose="02040503050406030204" pitchFamily="18" charset="0"/>
                                </a:rPr>
                                <m:t>𝑥</m:t>
                              </m:r>
                              <m:r>
                                <a:rPr lang="en-ZA" b="0" i="1" smtClean="0">
                                  <a:latin typeface="Cambria Math" panose="02040503050406030204" pitchFamily="18" charset="0"/>
                                </a:rPr>
                                <m:t>−</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𝑘</m:t>
                                  </m:r>
                                </m:sub>
                              </m:sSub>
                              <m:r>
                                <a:rPr lang="en-ZA" b="0" i="1" smtClean="0">
                                  <a:latin typeface="Cambria Math" panose="02040503050406030204" pitchFamily="18" charset="0"/>
                                </a:rPr>
                                <m:t>)</m:t>
                              </m:r>
                              <m:sSup>
                                <m:sSupPr>
                                  <m:ctrlPr>
                                    <a:rPr lang="en-ZA" b="0" i="1" smtClean="0">
                                      <a:latin typeface="Cambria Math" panose="02040503050406030204" pitchFamily="18" charset="0"/>
                                    </a:rPr>
                                  </m:ctrlPr>
                                </m:sSupPr>
                                <m:e>
                                  <m:r>
                                    <a:rPr lang="en-ZA" b="0" i="1" smtClean="0">
                                      <a:latin typeface="Cambria Math" panose="02040503050406030204" pitchFamily="18" charset="0"/>
                                    </a:rPr>
                                    <m:t>]</m:t>
                                  </m:r>
                                </m:e>
                                <m:sup>
                                  <m:r>
                                    <a:rPr lang="en-ZA" b="0" i="1" smtClean="0">
                                      <a:latin typeface="Cambria Math" panose="02040503050406030204" pitchFamily="18" charset="0"/>
                                    </a:rPr>
                                    <m:t>2</m:t>
                                  </m:r>
                                </m:sup>
                              </m:sSup>
                              <m:r>
                                <a:rPr lang="en-ZA" b="0" i="1" smtClean="0">
                                  <a:latin typeface="Cambria Math" panose="02040503050406030204" pitchFamily="18" charset="0"/>
                                  <a:ea typeface="Cambria Math" panose="02040503050406030204" pitchFamily="18" charset="0"/>
                                </a:rPr>
                                <m:t>≤</m:t>
                              </m:r>
                              <m:nary>
                                <m:naryPr>
                                  <m:chr m:val="∑"/>
                                  <m:ctrlPr>
                                    <a:rPr lang="en-ZA" i="1">
                                      <a:latin typeface="Cambria Math" panose="02040503050406030204" pitchFamily="18" charset="0"/>
                                    </a:rPr>
                                  </m:ctrlPr>
                                </m:naryPr>
                                <m:sub>
                                  <m:r>
                                    <m:rPr>
                                      <m:brk m:alnAt="23"/>
                                    </m:rPr>
                                    <a:rPr lang="en-ZA" i="1">
                                      <a:latin typeface="Cambria Math" panose="02040503050406030204" pitchFamily="18" charset="0"/>
                                    </a:rPr>
                                    <m:t>𝑗</m:t>
                                  </m:r>
                                  <m:r>
                                    <a:rPr lang="en-ZA" i="1">
                                      <a:latin typeface="Cambria Math" panose="02040503050406030204" pitchFamily="18" charset="0"/>
                                    </a:rPr>
                                    <m:t>=1</m:t>
                                  </m:r>
                                </m:sub>
                                <m:sup>
                                  <m:r>
                                    <a:rPr lang="en-ZA" i="1">
                                      <a:latin typeface="Cambria Math" panose="02040503050406030204" pitchFamily="18" charset="0"/>
                                    </a:rPr>
                                    <m:t>𝑟</m:t>
                                  </m:r>
                                </m:sup>
                                <m:e>
                                  <m:r>
                                    <a:rPr lang="en-ZA" i="1">
                                      <a:latin typeface="Cambria Math" panose="02040503050406030204" pitchFamily="18" charset="0"/>
                                    </a:rPr>
                                    <m:t>[</m:t>
                                  </m:r>
                                  <m:sSubSup>
                                    <m:sSubSupPr>
                                      <m:ctrlPr>
                                        <a:rPr lang="en-ZA" i="1">
                                          <a:latin typeface="Cambria Math" panose="02040503050406030204" pitchFamily="18" charset="0"/>
                                        </a:rPr>
                                      </m:ctrlPr>
                                    </m:sSubSupPr>
                                    <m:e>
                                      <m:acc>
                                        <m:accPr>
                                          <m:chr m:val="̂"/>
                                          <m:ctrlPr>
                                            <a:rPr lang="en-ZA" i="1">
                                              <a:latin typeface="Cambria Math" panose="02040503050406030204" pitchFamily="18" charset="0"/>
                                            </a:rPr>
                                          </m:ctrlPr>
                                        </m:accPr>
                                        <m:e>
                                          <m:r>
                                            <a:rPr lang="en-ZA" i="1">
                                              <a:latin typeface="Cambria Math" panose="02040503050406030204" pitchFamily="18" charset="0"/>
                                            </a:rPr>
                                            <m:t>𝑎</m:t>
                                          </m:r>
                                        </m:e>
                                      </m:acc>
                                    </m:e>
                                    <m:sub>
                                      <m:r>
                                        <a:rPr lang="en-ZA" i="1">
                                          <a:latin typeface="Cambria Math" panose="02040503050406030204" pitchFamily="18" charset="0"/>
                                        </a:rPr>
                                        <m:t>𝑗</m:t>
                                      </m:r>
                                    </m:sub>
                                    <m:sup>
                                      <m:r>
                                        <a:rPr lang="en-ZA" i="1">
                                          <a:latin typeface="Cambria Math" panose="02040503050406030204" pitchFamily="18" charset="0"/>
                                        </a:rPr>
                                        <m:t>′</m:t>
                                      </m:r>
                                    </m:sup>
                                  </m:sSubSup>
                                  <m:r>
                                    <a:rPr lang="en-ZA" i="1">
                                      <a:latin typeface="Cambria Math" panose="02040503050406030204" pitchFamily="18" charset="0"/>
                                    </a:rPr>
                                    <m:t>(</m:t>
                                  </m:r>
                                  <m:r>
                                    <a:rPr lang="en-ZA" i="1">
                                      <a:latin typeface="Cambria Math" panose="02040503050406030204" pitchFamily="18" charset="0"/>
                                    </a:rPr>
                                    <m:t>𝑥</m:t>
                                  </m:r>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b="0" i="1" smtClean="0">
                                          <a:latin typeface="Cambria Math" panose="02040503050406030204" pitchFamily="18" charset="0"/>
                                        </a:rPr>
                                        <m:t>𝑖</m:t>
                                      </m:r>
                                    </m:sub>
                                  </m:sSub>
                                  <m:r>
                                    <a:rPr lang="en-ZA" i="1">
                                      <a:latin typeface="Cambria Math" panose="02040503050406030204" pitchFamily="18" charset="0"/>
                                    </a:rPr>
                                    <m:t>)</m:t>
                                  </m:r>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2</m:t>
                                      </m:r>
                                    </m:sup>
                                  </m:sSup>
                                </m:e>
                              </m:nary>
                            </m:e>
                          </m:nary>
                          <m:r>
                            <a:rPr lang="en-ZA" b="0" i="1" smtClean="0">
                              <a:latin typeface="Cambria Math" panose="02040503050406030204" pitchFamily="18" charset="0"/>
                            </a:rPr>
                            <m:t> </m:t>
                          </m:r>
                          <m:r>
                            <a:rPr lang="en-ZA" b="0" i="1" smtClean="0">
                              <a:latin typeface="Cambria Math" panose="02040503050406030204" pitchFamily="18" charset="0"/>
                            </a:rPr>
                            <m:t>𝑓𝑜𝑟</m:t>
                          </m:r>
                          <m:r>
                            <a:rPr lang="en-ZA" b="0" i="1" smtClean="0">
                              <a:latin typeface="Cambria Math" panose="02040503050406030204" pitchFamily="18" charset="0"/>
                            </a:rPr>
                            <m:t> </m:t>
                          </m:r>
                          <m:r>
                            <a:rPr lang="en-ZA" b="0" i="1" smtClean="0">
                              <a:latin typeface="Cambria Math" panose="02040503050406030204" pitchFamily="18" charset="0"/>
                            </a:rPr>
                            <m:t>𝑖</m:t>
                          </m:r>
                          <m:r>
                            <a:rPr lang="en-ZA" b="0" i="1" smtClean="0">
                              <a:latin typeface="Cambria Math" panose="02040503050406030204" pitchFamily="18" charset="0"/>
                              <a:ea typeface="Cambria Math" panose="02040503050406030204" pitchFamily="18" charset="0"/>
                            </a:rPr>
                            <m:t>≠</m:t>
                          </m:r>
                          <m:r>
                            <a:rPr lang="en-ZA" b="0" i="1" smtClean="0">
                              <a:latin typeface="Cambria Math" panose="02040503050406030204" pitchFamily="18" charset="0"/>
                              <a:ea typeface="Cambria Math" panose="02040503050406030204" pitchFamily="18" charset="0"/>
                            </a:rPr>
                            <m:t>𝑘</m:t>
                          </m:r>
                        </m:e>
                      </m:nary>
                      <m:r>
                        <a:rPr lang="en-ZA" b="0" i="1" smtClean="0">
                          <a:latin typeface="Cambria Math" panose="02040503050406030204" pitchFamily="18" charset="0"/>
                        </a:rPr>
                        <m:t>.</m:t>
                      </m:r>
                    </m:oMath>
                  </m:oMathPara>
                </a14:m>
                <a:endParaRPr lang="en-ZA" dirty="0" smtClean="0"/>
              </a:p>
              <a:p>
                <a:endParaRPr lang="en-ZA" dirty="0"/>
              </a:p>
              <a:p>
                <a:endParaRPr lang="en-ZA" dirty="0"/>
              </a:p>
              <a:p>
                <a:endParaRPr lang="en-ZA" dirty="0"/>
              </a:p>
            </p:txBody>
          </p:sp>
        </mc:Choice>
        <mc:Fallback xmlns="">
          <p:sp>
            <p:nvSpPr>
              <p:cNvPr id="2" name="TextBox 1"/>
              <p:cNvSpPr txBox="1">
                <a:spLocks noRot="1" noChangeAspect="1" noMove="1" noResize="1" noEditPoints="1" noAdjustHandles="1" noChangeArrowheads="1" noChangeShapeType="1" noTextEdit="1"/>
              </p:cNvSpPr>
              <p:nvPr/>
            </p:nvSpPr>
            <p:spPr>
              <a:xfrm>
                <a:off x="196850" y="241300"/>
                <a:ext cx="11677650" cy="5371920"/>
              </a:xfrm>
              <a:prstGeom prst="rect">
                <a:avLst/>
              </a:prstGeom>
              <a:blipFill rotWithShape="0">
                <a:blip r:embed="rId2"/>
                <a:stretch>
                  <a:fillRect l="-365" t="-566"/>
                </a:stretch>
              </a:blipFill>
              <a:ln>
                <a:solidFill>
                  <a:schemeClr val="accent1"/>
                </a:solidFill>
              </a:ln>
            </p:spPr>
            <p:txBody>
              <a:bodyPr/>
              <a:lstStyle/>
              <a:p>
                <a:r>
                  <a:rPr lang="en-ZA">
                    <a:noFill/>
                  </a:rPr>
                  <a:t> </a:t>
                </a:r>
              </a:p>
            </p:txBody>
          </p:sp>
        </mc:Fallback>
      </mc:AlternateContent>
    </p:spTree>
    <p:extLst>
      <p:ext uri="{BB962C8B-B14F-4D97-AF65-F5344CB8AC3E}">
        <p14:creationId xmlns:p14="http://schemas.microsoft.com/office/powerpoint/2010/main" val="13784299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133350" y="158750"/>
                <a:ext cx="11957050" cy="6470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ZA" dirty="0" smtClean="0"/>
                  <a:t>To summarise:</a:t>
                </a:r>
                <a:endParaRPr lang="en-ZA" dirty="0"/>
              </a:p>
              <a:p>
                <a:pPr marL="342900" indent="-342900">
                  <a:buAutoNum type="arabicPeriod"/>
                </a:pPr>
                <a:r>
                  <a:rPr lang="en-ZA" dirty="0" smtClean="0"/>
                  <a:t>Classification of observation into one of two classes based on ECM which leads to </a:t>
                </a:r>
                <a14:m>
                  <m:oMath xmlns:m="http://schemas.openxmlformats.org/officeDocument/2006/math">
                    <m:f>
                      <m:fPr>
                        <m:ctrlPr>
                          <a:rPr lang="en-ZA" i="1">
                            <a:latin typeface="Cambria Math" panose="02040503050406030204" pitchFamily="18" charset="0"/>
                          </a:rPr>
                        </m:ctrlPr>
                      </m:fPr>
                      <m:num>
                        <m:sSub>
                          <m:sSubPr>
                            <m:ctrlPr>
                              <a:rPr lang="en-ZA" i="1">
                                <a:latin typeface="Cambria Math" panose="02040503050406030204" pitchFamily="18" charset="0"/>
                              </a:rPr>
                            </m:ctrlPr>
                          </m:sSubPr>
                          <m:e>
                            <m:r>
                              <a:rPr lang="en-ZA" i="1">
                                <a:latin typeface="Cambria Math" panose="02040503050406030204" pitchFamily="18" charset="0"/>
                              </a:rPr>
                              <m:t>𝑓</m:t>
                            </m:r>
                          </m:e>
                          <m:sub>
                            <m:r>
                              <a:rPr lang="en-ZA" i="1">
                                <a:latin typeface="Cambria Math" panose="02040503050406030204" pitchFamily="18" charset="0"/>
                              </a:rPr>
                              <m:t>1</m:t>
                            </m:r>
                          </m:sub>
                        </m:sSub>
                        <m:r>
                          <a:rPr lang="en-ZA" i="1">
                            <a:latin typeface="Cambria Math" panose="02040503050406030204" pitchFamily="18" charset="0"/>
                          </a:rPr>
                          <m:t>(</m:t>
                        </m:r>
                        <m:r>
                          <a:rPr lang="en-ZA" i="1">
                            <a:latin typeface="Cambria Math" panose="02040503050406030204" pitchFamily="18" charset="0"/>
                          </a:rPr>
                          <m:t>𝑥</m:t>
                        </m:r>
                        <m:r>
                          <a:rPr lang="en-ZA" i="1">
                            <a:latin typeface="Cambria Math" panose="02040503050406030204" pitchFamily="18" charset="0"/>
                          </a:rPr>
                          <m:t>)</m:t>
                        </m:r>
                      </m:num>
                      <m:den>
                        <m:sSub>
                          <m:sSubPr>
                            <m:ctrlPr>
                              <a:rPr lang="en-ZA" i="1">
                                <a:latin typeface="Cambria Math" panose="02040503050406030204" pitchFamily="18" charset="0"/>
                              </a:rPr>
                            </m:ctrlPr>
                          </m:sSubPr>
                          <m:e>
                            <m:r>
                              <a:rPr lang="en-ZA" i="1">
                                <a:latin typeface="Cambria Math" panose="02040503050406030204" pitchFamily="18" charset="0"/>
                              </a:rPr>
                              <m:t>𝑓</m:t>
                            </m:r>
                          </m:e>
                          <m:sub>
                            <m:r>
                              <a:rPr lang="en-ZA" i="1">
                                <a:latin typeface="Cambria Math" panose="02040503050406030204" pitchFamily="18" charset="0"/>
                              </a:rPr>
                              <m:t>2</m:t>
                            </m:r>
                          </m:sub>
                        </m:sSub>
                        <m:r>
                          <a:rPr lang="en-ZA" i="1">
                            <a:latin typeface="Cambria Math" panose="02040503050406030204" pitchFamily="18" charset="0"/>
                          </a:rPr>
                          <m:t>(</m:t>
                        </m:r>
                        <m:r>
                          <a:rPr lang="en-ZA" i="1">
                            <a:latin typeface="Cambria Math" panose="02040503050406030204" pitchFamily="18" charset="0"/>
                          </a:rPr>
                          <m:t>𝑥</m:t>
                        </m:r>
                        <m:r>
                          <a:rPr lang="en-ZA" i="1">
                            <a:latin typeface="Cambria Math" panose="02040503050406030204" pitchFamily="18" charset="0"/>
                          </a:rPr>
                          <m:t>)</m:t>
                        </m:r>
                      </m:den>
                    </m:f>
                    <m:r>
                      <a:rPr lang="en-ZA" i="1">
                        <a:latin typeface="Cambria Math" panose="02040503050406030204" pitchFamily="18" charset="0"/>
                        <a:ea typeface="Cambria Math" panose="02040503050406030204" pitchFamily="18" charset="0"/>
                      </a:rPr>
                      <m:t>≥</m:t>
                    </m:r>
                    <m:d>
                      <m:dPr>
                        <m:ctrlPr>
                          <a:rPr lang="en-ZA" i="1">
                            <a:latin typeface="Cambria Math" panose="02040503050406030204" pitchFamily="18" charset="0"/>
                            <a:ea typeface="Cambria Math" panose="02040503050406030204" pitchFamily="18" charset="0"/>
                          </a:rPr>
                        </m:ctrlPr>
                      </m:dPr>
                      <m:e>
                        <m:f>
                          <m:fPr>
                            <m:ctrlPr>
                              <a:rPr lang="en-ZA" i="1">
                                <a:latin typeface="Cambria Math" panose="02040503050406030204" pitchFamily="18" charset="0"/>
                                <a:ea typeface="Cambria Math" panose="02040503050406030204" pitchFamily="18" charset="0"/>
                              </a:rPr>
                            </m:ctrlPr>
                          </m:fPr>
                          <m:num>
                            <m:r>
                              <a:rPr lang="en-ZA" i="1">
                                <a:latin typeface="Cambria Math" panose="02040503050406030204" pitchFamily="18" charset="0"/>
                                <a:ea typeface="Cambria Math" panose="02040503050406030204" pitchFamily="18" charset="0"/>
                              </a:rPr>
                              <m:t>𝑐</m:t>
                            </m:r>
                            <m:r>
                              <a:rPr lang="en-ZA" i="1">
                                <a:latin typeface="Cambria Math" panose="02040503050406030204" pitchFamily="18" charset="0"/>
                                <a:ea typeface="Cambria Math" panose="02040503050406030204" pitchFamily="18" charset="0"/>
                              </a:rPr>
                              <m:t>(1|2)</m:t>
                            </m:r>
                          </m:num>
                          <m:den>
                            <m:r>
                              <a:rPr lang="en-ZA" i="1">
                                <a:latin typeface="Cambria Math" panose="02040503050406030204" pitchFamily="18" charset="0"/>
                                <a:ea typeface="Cambria Math" panose="02040503050406030204" pitchFamily="18" charset="0"/>
                              </a:rPr>
                              <m:t>𝑐</m:t>
                            </m:r>
                            <m:r>
                              <a:rPr lang="en-ZA" i="1">
                                <a:latin typeface="Cambria Math" panose="02040503050406030204" pitchFamily="18" charset="0"/>
                                <a:ea typeface="Cambria Math" panose="02040503050406030204" pitchFamily="18" charset="0"/>
                              </a:rPr>
                              <m:t>(2|1)</m:t>
                            </m:r>
                          </m:den>
                        </m:f>
                      </m:e>
                    </m:d>
                    <m:d>
                      <m:dPr>
                        <m:ctrlPr>
                          <a:rPr lang="en-ZA" i="1">
                            <a:latin typeface="Cambria Math" panose="02040503050406030204" pitchFamily="18" charset="0"/>
                            <a:ea typeface="Cambria Math" panose="02040503050406030204" pitchFamily="18" charset="0"/>
                          </a:rPr>
                        </m:ctrlPr>
                      </m:dPr>
                      <m:e>
                        <m:f>
                          <m:fPr>
                            <m:ctrlPr>
                              <a:rPr lang="en-ZA" i="1">
                                <a:latin typeface="Cambria Math" panose="02040503050406030204" pitchFamily="18" charset="0"/>
                                <a:ea typeface="Cambria Math" panose="02040503050406030204" pitchFamily="18" charset="0"/>
                              </a:rPr>
                            </m:ctrlPr>
                          </m:fPr>
                          <m:num>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𝑝</m:t>
                                </m:r>
                              </m:e>
                              <m:sub>
                                <m:r>
                                  <a:rPr lang="en-ZA" i="1">
                                    <a:latin typeface="Cambria Math" panose="02040503050406030204" pitchFamily="18" charset="0"/>
                                    <a:ea typeface="Cambria Math" panose="02040503050406030204" pitchFamily="18" charset="0"/>
                                  </a:rPr>
                                  <m:t>2</m:t>
                                </m:r>
                              </m:sub>
                            </m:sSub>
                          </m:num>
                          <m:den>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𝑝</m:t>
                                </m:r>
                              </m:e>
                              <m:sub>
                                <m:r>
                                  <a:rPr lang="en-ZA" i="1">
                                    <a:latin typeface="Cambria Math" panose="02040503050406030204" pitchFamily="18" charset="0"/>
                                    <a:ea typeface="Cambria Math" panose="02040503050406030204" pitchFamily="18" charset="0"/>
                                  </a:rPr>
                                  <m:t>1</m:t>
                                </m:r>
                              </m:sub>
                            </m:sSub>
                          </m:den>
                        </m:f>
                      </m:e>
                    </m:d>
                  </m:oMath>
                </a14:m>
                <a:r>
                  <a:rPr lang="en-ZA" dirty="0" smtClean="0"/>
                  <a:t>.</a:t>
                </a:r>
              </a:p>
              <a:p>
                <a:endParaRPr lang="en-ZA" dirty="0" smtClean="0"/>
              </a:p>
              <a:p>
                <a:r>
                  <a:rPr lang="en-ZA" dirty="0" smtClean="0"/>
                  <a:t>2. Substitute MVNs for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1</m:t>
                        </m:r>
                      </m:sub>
                    </m:sSub>
                    <m:r>
                      <a:rPr lang="en-ZA" b="0" i="1" smtClean="0">
                        <a:latin typeface="Cambria Math" panose="02040503050406030204" pitchFamily="18" charset="0"/>
                      </a:rPr>
                      <m:t>(</m:t>
                    </m:r>
                    <m:r>
                      <a:rPr lang="en-ZA" b="0" i="1" smtClean="0">
                        <a:latin typeface="Cambria Math" panose="02040503050406030204" pitchFamily="18" charset="0"/>
                      </a:rPr>
                      <m:t>𝑥</m:t>
                    </m:r>
                    <m:r>
                      <a:rPr lang="en-ZA" b="0" i="1" smtClean="0">
                        <a:latin typeface="Cambria Math" panose="02040503050406030204" pitchFamily="18" charset="0"/>
                      </a:rPr>
                      <m:t>)</m:t>
                    </m:r>
                  </m:oMath>
                </a14:m>
                <a:r>
                  <a:rPr lang="en-ZA" dirty="0" smtClean="0"/>
                  <a:t> and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𝑓</m:t>
                        </m:r>
                      </m:e>
                      <m:sub>
                        <m:r>
                          <a:rPr lang="en-ZA" b="0" i="1" smtClean="0">
                            <a:latin typeface="Cambria Math" panose="02040503050406030204" pitchFamily="18" charset="0"/>
                          </a:rPr>
                          <m:t>2</m:t>
                        </m:r>
                      </m:sub>
                    </m:sSub>
                    <m:r>
                      <a:rPr lang="en-ZA" b="0" i="1" smtClean="0">
                        <a:latin typeface="Cambria Math" panose="02040503050406030204" pitchFamily="18" charset="0"/>
                      </a:rPr>
                      <m:t>(</m:t>
                    </m:r>
                    <m:r>
                      <a:rPr lang="en-ZA" b="0" i="1" smtClean="0">
                        <a:latin typeface="Cambria Math" panose="02040503050406030204" pitchFamily="18" charset="0"/>
                      </a:rPr>
                      <m:t>𝑥</m:t>
                    </m:r>
                    <m:r>
                      <a:rPr lang="en-ZA" b="0" i="1" smtClean="0">
                        <a:latin typeface="Cambria Math" panose="02040503050406030204" pitchFamily="18" charset="0"/>
                      </a:rPr>
                      <m:t>)</m:t>
                    </m:r>
                  </m:oMath>
                </a14:m>
                <a:r>
                  <a:rPr lang="en-ZA" dirty="0" smtClean="0"/>
                  <a:t> </a:t>
                </a:r>
                <a:r>
                  <a:rPr lang="en-ZA" dirty="0" smtClean="0">
                    <a:sym typeface="Wingdings" panose="05000000000000000000" pitchFamily="2" charset="2"/>
                  </a:rPr>
                  <a:t> </a:t>
                </a:r>
                <a14:m>
                  <m:oMath xmlns:m="http://schemas.openxmlformats.org/officeDocument/2006/math">
                    <m:sSub>
                      <m:sSubPr>
                        <m:ctrlPr>
                          <a:rPr lang="en-ZA" i="1">
                            <a:latin typeface="Cambria Math" panose="02040503050406030204" pitchFamily="18" charset="0"/>
                          </a:rPr>
                        </m:ctrlPr>
                      </m:sSubPr>
                      <m:e>
                        <m:r>
                          <a:rPr lang="en-ZA" i="1">
                            <a:latin typeface="Cambria Math" panose="02040503050406030204" pitchFamily="18" charset="0"/>
                          </a:rPr>
                          <m:t>𝑅</m:t>
                        </m:r>
                      </m:e>
                      <m:sub>
                        <m:r>
                          <a:rPr lang="en-ZA" i="1">
                            <a:latin typeface="Cambria Math" panose="02040503050406030204" pitchFamily="18" charset="0"/>
                          </a:rPr>
                          <m:t>1</m:t>
                        </m:r>
                      </m:sub>
                    </m:sSub>
                    <m:r>
                      <a:rPr lang="en-ZA" i="1">
                        <a:latin typeface="Cambria Math" panose="02040503050406030204" pitchFamily="18" charset="0"/>
                      </a:rPr>
                      <m:t>:</m:t>
                    </m:r>
                  </m:oMath>
                </a14:m>
                <a:r>
                  <a:rPr lang="en-ZA" dirty="0"/>
                  <a:t> </a:t>
                </a:r>
                <a14:m>
                  <m:oMath xmlns:m="http://schemas.openxmlformats.org/officeDocument/2006/math">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2</m:t>
                        </m:r>
                      </m:sub>
                    </m:sSub>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m:t>
                        </m:r>
                      </m:sup>
                    </m:sSup>
                    <m:sSup>
                      <m:sSupPr>
                        <m:ctrlPr>
                          <a:rPr lang="en-ZA" i="1">
                            <a:latin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ZA" i="1">
                            <a:latin typeface="Cambria Math" panose="02040503050406030204" pitchFamily="18" charset="0"/>
                          </a:rPr>
                          <m:t>−1</m:t>
                        </m:r>
                      </m:sup>
                    </m:sSup>
                    <m:r>
                      <a:rPr lang="en-ZA" i="1">
                        <a:latin typeface="Cambria Math" panose="02040503050406030204" pitchFamily="18" charset="0"/>
                      </a:rPr>
                      <m:t>𝑥</m:t>
                    </m:r>
                    <m:r>
                      <a:rPr lang="en-ZA" i="1">
                        <a:latin typeface="Cambria Math" panose="02040503050406030204" pitchFamily="18" charset="0"/>
                      </a:rPr>
                      <m:t>−1/2(</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2</m:t>
                        </m:r>
                      </m:sub>
                    </m:sSub>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m:t>
                        </m:r>
                      </m:sup>
                    </m:sSup>
                    <m:sSup>
                      <m:sSupPr>
                        <m:ctrlPr>
                          <a:rPr lang="en-ZA" i="1">
                            <a:latin typeface="Cambria Math" panose="02040503050406030204" pitchFamily="18" charset="0"/>
                          </a:rPr>
                        </m:ctrlPr>
                      </m:sSupPr>
                      <m:e>
                        <m:r>
                          <m:rPr>
                            <m:sty m:val="p"/>
                          </m:rPr>
                          <a:rPr lang="el-GR" i="1">
                            <a:latin typeface="Cambria Math" panose="02040503050406030204" pitchFamily="18" charset="0"/>
                            <a:ea typeface="Cambria Math" panose="02040503050406030204" pitchFamily="18" charset="0"/>
                          </a:rPr>
                          <m:t>Σ</m:t>
                        </m:r>
                      </m:e>
                      <m:sup>
                        <m:r>
                          <a:rPr lang="en-ZA" i="1">
                            <a:latin typeface="Cambria Math" panose="02040503050406030204" pitchFamily="18" charset="0"/>
                          </a:rPr>
                          <m:t>−1</m:t>
                        </m:r>
                      </m:sup>
                    </m:sSup>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𝜇</m:t>
                        </m:r>
                      </m:e>
                      <m:sub>
                        <m:r>
                          <a:rPr lang="en-ZA" i="1">
                            <a:latin typeface="Cambria Math" panose="02040503050406030204" pitchFamily="18" charset="0"/>
                          </a:rPr>
                          <m:t>2</m:t>
                        </m:r>
                      </m:sub>
                    </m:sSub>
                    <m:r>
                      <a:rPr lang="en-ZA" i="1">
                        <a:latin typeface="Cambria Math" panose="02040503050406030204" pitchFamily="18" charset="0"/>
                      </a:rPr>
                      <m:t>)</m:t>
                    </m:r>
                    <m:r>
                      <a:rPr lang="en-ZA" i="1">
                        <a:latin typeface="Cambria Math" panose="02040503050406030204" pitchFamily="18" charset="0"/>
                        <a:ea typeface="Cambria Math" panose="02040503050406030204" pitchFamily="18" charset="0"/>
                      </a:rPr>
                      <m:t>≥</m:t>
                    </m:r>
                    <m:func>
                      <m:funcPr>
                        <m:ctrlPr>
                          <a:rPr lang="en-ZA" i="1">
                            <a:latin typeface="Cambria Math" panose="02040503050406030204" pitchFamily="18" charset="0"/>
                            <a:ea typeface="Cambria Math" panose="02040503050406030204" pitchFamily="18" charset="0"/>
                          </a:rPr>
                        </m:ctrlPr>
                      </m:funcPr>
                      <m:fName>
                        <m:r>
                          <m:rPr>
                            <m:sty m:val="p"/>
                          </m:rPr>
                          <a:rPr lang="en-ZA">
                            <a:latin typeface="Cambria Math" panose="02040503050406030204" pitchFamily="18" charset="0"/>
                            <a:ea typeface="Cambria Math" panose="02040503050406030204" pitchFamily="18" charset="0"/>
                          </a:rPr>
                          <m:t>log</m:t>
                        </m:r>
                      </m:fName>
                      <m:e>
                        <m:d>
                          <m:dPr>
                            <m:begChr m:val="["/>
                            <m:endChr m:val="]"/>
                            <m:ctrlPr>
                              <a:rPr lang="en-ZA" i="1">
                                <a:latin typeface="Cambria Math" panose="02040503050406030204" pitchFamily="18" charset="0"/>
                                <a:ea typeface="Cambria Math" panose="02040503050406030204" pitchFamily="18" charset="0"/>
                              </a:rPr>
                            </m:ctrlPr>
                          </m:dPr>
                          <m:e>
                            <m:d>
                              <m:dPr>
                                <m:ctrlPr>
                                  <a:rPr lang="en-ZA" i="1">
                                    <a:latin typeface="Cambria Math" panose="02040503050406030204" pitchFamily="18" charset="0"/>
                                    <a:ea typeface="Cambria Math" panose="02040503050406030204" pitchFamily="18" charset="0"/>
                                  </a:rPr>
                                </m:ctrlPr>
                              </m:dPr>
                              <m:e>
                                <m:f>
                                  <m:fPr>
                                    <m:ctrlPr>
                                      <a:rPr lang="en-ZA" i="1">
                                        <a:latin typeface="Cambria Math" panose="02040503050406030204" pitchFamily="18" charset="0"/>
                                        <a:ea typeface="Cambria Math" panose="02040503050406030204" pitchFamily="18" charset="0"/>
                                      </a:rPr>
                                    </m:ctrlPr>
                                  </m:fPr>
                                  <m:num>
                                    <m:r>
                                      <a:rPr lang="en-ZA" i="1">
                                        <a:latin typeface="Cambria Math" panose="02040503050406030204" pitchFamily="18" charset="0"/>
                                        <a:ea typeface="Cambria Math" panose="02040503050406030204" pitchFamily="18" charset="0"/>
                                      </a:rPr>
                                      <m:t>𝑐</m:t>
                                    </m:r>
                                    <m:d>
                                      <m:dPr>
                                        <m:ctrlPr>
                                          <a:rPr lang="en-ZA" i="1">
                                            <a:latin typeface="Cambria Math" panose="02040503050406030204" pitchFamily="18" charset="0"/>
                                            <a:ea typeface="Cambria Math" panose="02040503050406030204" pitchFamily="18" charset="0"/>
                                          </a:rPr>
                                        </m:ctrlPr>
                                      </m:dPr>
                                      <m:e>
                                        <m:r>
                                          <a:rPr lang="en-ZA" i="1">
                                            <a:latin typeface="Cambria Math" panose="02040503050406030204" pitchFamily="18" charset="0"/>
                                            <a:ea typeface="Cambria Math" panose="02040503050406030204" pitchFamily="18" charset="0"/>
                                          </a:rPr>
                                          <m:t>1</m:t>
                                        </m:r>
                                      </m:e>
                                      <m:e>
                                        <m:r>
                                          <a:rPr lang="en-ZA" i="1">
                                            <a:latin typeface="Cambria Math" panose="02040503050406030204" pitchFamily="18" charset="0"/>
                                            <a:ea typeface="Cambria Math" panose="02040503050406030204" pitchFamily="18" charset="0"/>
                                          </a:rPr>
                                          <m:t>2</m:t>
                                        </m:r>
                                      </m:e>
                                    </m:d>
                                  </m:num>
                                  <m:den>
                                    <m:r>
                                      <a:rPr lang="en-ZA" i="1">
                                        <a:latin typeface="Cambria Math" panose="02040503050406030204" pitchFamily="18" charset="0"/>
                                        <a:ea typeface="Cambria Math" panose="02040503050406030204" pitchFamily="18" charset="0"/>
                                      </a:rPr>
                                      <m:t>𝑐</m:t>
                                    </m:r>
                                    <m:d>
                                      <m:dPr>
                                        <m:ctrlPr>
                                          <a:rPr lang="en-ZA" i="1">
                                            <a:latin typeface="Cambria Math" panose="02040503050406030204" pitchFamily="18" charset="0"/>
                                            <a:ea typeface="Cambria Math" panose="02040503050406030204" pitchFamily="18" charset="0"/>
                                          </a:rPr>
                                        </m:ctrlPr>
                                      </m:dPr>
                                      <m:e>
                                        <m:r>
                                          <a:rPr lang="en-ZA" i="1">
                                            <a:latin typeface="Cambria Math" panose="02040503050406030204" pitchFamily="18" charset="0"/>
                                            <a:ea typeface="Cambria Math" panose="02040503050406030204" pitchFamily="18" charset="0"/>
                                          </a:rPr>
                                          <m:t>2</m:t>
                                        </m:r>
                                      </m:e>
                                      <m:e>
                                        <m:r>
                                          <a:rPr lang="en-ZA" i="1">
                                            <a:latin typeface="Cambria Math" panose="02040503050406030204" pitchFamily="18" charset="0"/>
                                            <a:ea typeface="Cambria Math" panose="02040503050406030204" pitchFamily="18" charset="0"/>
                                          </a:rPr>
                                          <m:t>1</m:t>
                                        </m:r>
                                      </m:e>
                                    </m:d>
                                  </m:den>
                                </m:f>
                              </m:e>
                            </m:d>
                            <m:d>
                              <m:dPr>
                                <m:ctrlPr>
                                  <a:rPr lang="en-ZA" i="1">
                                    <a:latin typeface="Cambria Math" panose="02040503050406030204" pitchFamily="18" charset="0"/>
                                    <a:ea typeface="Cambria Math" panose="02040503050406030204" pitchFamily="18" charset="0"/>
                                  </a:rPr>
                                </m:ctrlPr>
                              </m:dPr>
                              <m:e>
                                <m:f>
                                  <m:fPr>
                                    <m:ctrlPr>
                                      <a:rPr lang="en-ZA" i="1">
                                        <a:latin typeface="Cambria Math" panose="02040503050406030204" pitchFamily="18" charset="0"/>
                                        <a:ea typeface="Cambria Math" panose="02040503050406030204" pitchFamily="18" charset="0"/>
                                      </a:rPr>
                                    </m:ctrlPr>
                                  </m:fPr>
                                  <m:num>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𝑝</m:t>
                                        </m:r>
                                      </m:e>
                                      <m:sub>
                                        <m:r>
                                          <a:rPr lang="en-ZA" i="1">
                                            <a:latin typeface="Cambria Math" panose="02040503050406030204" pitchFamily="18" charset="0"/>
                                            <a:ea typeface="Cambria Math" panose="02040503050406030204" pitchFamily="18" charset="0"/>
                                          </a:rPr>
                                          <m:t>2</m:t>
                                        </m:r>
                                      </m:sub>
                                    </m:sSub>
                                  </m:num>
                                  <m:den>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𝑝</m:t>
                                        </m:r>
                                      </m:e>
                                      <m:sub>
                                        <m:r>
                                          <a:rPr lang="en-ZA" i="1">
                                            <a:latin typeface="Cambria Math" panose="02040503050406030204" pitchFamily="18" charset="0"/>
                                            <a:ea typeface="Cambria Math" panose="02040503050406030204" pitchFamily="18" charset="0"/>
                                          </a:rPr>
                                          <m:t>1</m:t>
                                        </m:r>
                                      </m:sub>
                                    </m:sSub>
                                  </m:den>
                                </m:f>
                              </m:e>
                            </m:d>
                          </m:e>
                        </m:d>
                      </m:e>
                    </m:func>
                    <m:r>
                      <a:rPr lang="en-ZA" b="0" i="1" smtClean="0">
                        <a:latin typeface="Cambria Math" panose="02040503050406030204" pitchFamily="18" charset="0"/>
                        <a:ea typeface="Cambria Math" panose="02040503050406030204" pitchFamily="18" charset="0"/>
                      </a:rPr>
                      <m:t>.</m:t>
                    </m:r>
                  </m:oMath>
                </a14:m>
                <a:endParaRPr lang="en-ZA" dirty="0" smtClean="0"/>
              </a:p>
              <a:p>
                <a:endParaRPr lang="en-ZA" dirty="0" smtClean="0"/>
              </a:p>
              <a:p>
                <a:r>
                  <a:rPr lang="en-ZA" dirty="0" smtClean="0"/>
                  <a:t>3. Replace with sample estimates </a:t>
                </a:r>
                <a:r>
                  <a:rPr lang="en-ZA" dirty="0" smtClean="0">
                    <a:sym typeface="Wingdings" panose="05000000000000000000" pitchFamily="2" charset="2"/>
                  </a:rPr>
                  <a:t></a:t>
                </a:r>
                <a:r>
                  <a:rPr lang="en-ZA" dirty="0" smtClean="0"/>
                  <a:t> allocate </a:t>
                </a:r>
                <a14:m>
                  <m:oMath xmlns:m="http://schemas.openxmlformats.org/officeDocument/2006/math">
                    <m:sSub>
                      <m:sSubPr>
                        <m:ctrlPr>
                          <a:rPr lang="en-ZA" i="1">
                            <a:latin typeface="Cambria Math" panose="02040503050406030204" pitchFamily="18" charset="0"/>
                          </a:rPr>
                        </m:ctrlPr>
                      </m:sSubPr>
                      <m:e>
                        <m:r>
                          <a:rPr lang="en-ZA" i="1">
                            <a:latin typeface="Cambria Math" panose="02040503050406030204" pitchFamily="18" charset="0"/>
                          </a:rPr>
                          <m:t>𝑥</m:t>
                        </m:r>
                      </m:e>
                      <m:sub>
                        <m:r>
                          <a:rPr lang="en-ZA" i="1">
                            <a:latin typeface="Cambria Math" panose="02040503050406030204" pitchFamily="18" charset="0"/>
                          </a:rPr>
                          <m:t>0</m:t>
                        </m:r>
                      </m:sub>
                    </m:sSub>
                  </m:oMath>
                </a14:m>
                <a:r>
                  <a:rPr lang="en-ZA" dirty="0"/>
                  <a:t>  to </a:t>
                </a:r>
                <a14:m>
                  <m:oMath xmlns:m="http://schemas.openxmlformats.org/officeDocument/2006/math">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𝜋</m:t>
                        </m:r>
                      </m:e>
                      <m:sub>
                        <m:r>
                          <a:rPr lang="en-ZA" i="1">
                            <a:latin typeface="Cambria Math" panose="02040503050406030204" pitchFamily="18" charset="0"/>
                          </a:rPr>
                          <m:t>1</m:t>
                        </m:r>
                      </m:sub>
                    </m:sSub>
                  </m:oMath>
                </a14:m>
                <a:r>
                  <a:rPr lang="en-ZA" dirty="0"/>
                  <a:t> if </a:t>
                </a:r>
                <a14:m>
                  <m:oMath xmlns:m="http://schemas.openxmlformats.org/officeDocument/2006/math">
                    <m:sSup>
                      <m:sSupPr>
                        <m:ctrlPr>
                          <a:rPr lang="en-ZA" i="1">
                            <a:latin typeface="Cambria Math" panose="02040503050406030204" pitchFamily="18" charset="0"/>
                          </a:rPr>
                        </m:ctrlPr>
                      </m:sSupPr>
                      <m:e>
                        <m:d>
                          <m:dPr>
                            <m:ctrlPr>
                              <a:rPr lang="en-ZA" i="1">
                                <a:latin typeface="Cambria Math" panose="02040503050406030204" pitchFamily="18" charset="0"/>
                              </a:rPr>
                            </m:ctrlPr>
                          </m:dPr>
                          <m:e>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2</m:t>
                                </m:r>
                              </m:sub>
                            </m:sSub>
                          </m:e>
                        </m:d>
                      </m:e>
                      <m:sup>
                        <m:r>
                          <a:rPr lang="en-ZA" i="1">
                            <a:latin typeface="Cambria Math" panose="02040503050406030204" pitchFamily="18" charset="0"/>
                          </a:rPr>
                          <m:t>′</m:t>
                        </m:r>
                      </m:sup>
                    </m:sSup>
                    <m:sSubSup>
                      <m:sSubSupPr>
                        <m:ctrlPr>
                          <a:rPr lang="en-ZA" i="1" smtClean="0">
                            <a:latin typeface="Cambria Math" panose="02040503050406030204" pitchFamily="18" charset="0"/>
                          </a:rPr>
                        </m:ctrlPr>
                      </m:sSubSupPr>
                      <m:e>
                        <m:r>
                          <a:rPr lang="en-ZA" b="0" i="1" smtClean="0">
                            <a:latin typeface="Cambria Math" panose="02040503050406030204" pitchFamily="18" charset="0"/>
                          </a:rPr>
                          <m:t>𝑆</m:t>
                        </m:r>
                      </m:e>
                      <m:sub>
                        <m:r>
                          <a:rPr lang="en-ZA" b="0" i="1" smtClean="0">
                            <a:latin typeface="Cambria Math" panose="02040503050406030204" pitchFamily="18" charset="0"/>
                          </a:rPr>
                          <m:t>𝑝</m:t>
                        </m:r>
                      </m:sub>
                      <m:sup>
                        <m:r>
                          <a:rPr lang="en-ZA" b="0" i="1" smtClean="0">
                            <a:latin typeface="Cambria Math" panose="02040503050406030204" pitchFamily="18" charset="0"/>
                          </a:rPr>
                          <m:t>−1</m:t>
                        </m:r>
                      </m:sup>
                    </m:sSubSup>
                    <m:sSub>
                      <m:sSubPr>
                        <m:ctrlPr>
                          <a:rPr lang="en-ZA"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0</m:t>
                        </m:r>
                      </m:sub>
                    </m:sSub>
                    <m:r>
                      <a:rPr lang="en-ZA" b="0" i="1" smtClean="0">
                        <a:latin typeface="Cambria Math" panose="02040503050406030204" pitchFamily="18" charset="0"/>
                      </a:rPr>
                      <m:t>−</m:t>
                    </m:r>
                    <m:f>
                      <m:fPr>
                        <m:ctrlPr>
                          <a:rPr lang="en-ZA" i="1">
                            <a:latin typeface="Cambria Math" panose="02040503050406030204" pitchFamily="18" charset="0"/>
                            <a:ea typeface="Cambria Math" panose="02040503050406030204" pitchFamily="18" charset="0"/>
                          </a:rPr>
                        </m:ctrlPr>
                      </m:fPr>
                      <m:num>
                        <m:r>
                          <a:rPr lang="en-ZA" i="1">
                            <a:latin typeface="Cambria Math" panose="02040503050406030204" pitchFamily="18" charset="0"/>
                            <a:ea typeface="Cambria Math" panose="02040503050406030204" pitchFamily="18" charset="0"/>
                          </a:rPr>
                          <m:t>1</m:t>
                        </m:r>
                      </m:num>
                      <m:den>
                        <m:r>
                          <a:rPr lang="en-ZA" i="1">
                            <a:latin typeface="Cambria Math" panose="02040503050406030204" pitchFamily="18" charset="0"/>
                            <a:ea typeface="Cambria Math" panose="02040503050406030204" pitchFamily="18" charset="0"/>
                          </a:rPr>
                          <m:t>2</m:t>
                        </m:r>
                      </m:den>
                    </m:f>
                    <m:sSup>
                      <m:sSupPr>
                        <m:ctrlPr>
                          <a:rPr lang="en-ZA" i="1">
                            <a:latin typeface="Cambria Math" panose="02040503050406030204" pitchFamily="18" charset="0"/>
                            <a:ea typeface="Cambria Math" panose="02040503050406030204" pitchFamily="18" charset="0"/>
                          </a:rPr>
                        </m:ctrlPr>
                      </m:sSupPr>
                      <m:e>
                        <m:d>
                          <m:dPr>
                            <m:ctrlPr>
                              <a:rPr lang="en-ZA" i="1">
                                <a:latin typeface="Cambria Math" panose="02040503050406030204" pitchFamily="18" charset="0"/>
                                <a:ea typeface="Cambria Math" panose="02040503050406030204" pitchFamily="18" charset="0"/>
                              </a:rPr>
                            </m:ctrlPr>
                          </m:dPr>
                          <m:e>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2</m:t>
                                </m:r>
                              </m:sub>
                            </m:sSub>
                          </m:e>
                        </m:d>
                      </m:e>
                      <m:sup>
                        <m:r>
                          <a:rPr lang="en-ZA" i="1">
                            <a:latin typeface="Cambria Math" panose="02040503050406030204" pitchFamily="18" charset="0"/>
                          </a:rPr>
                          <m:t>′</m:t>
                        </m:r>
                      </m:sup>
                    </m:sSup>
                    <m:sSubSup>
                      <m:sSubSupPr>
                        <m:ctrlPr>
                          <a:rPr lang="en-ZA" i="1" smtClean="0">
                            <a:latin typeface="Cambria Math" panose="02040503050406030204" pitchFamily="18" charset="0"/>
                          </a:rPr>
                        </m:ctrlPr>
                      </m:sSubSupPr>
                      <m:e>
                        <m:r>
                          <a:rPr lang="en-ZA" b="0" i="1" smtClean="0">
                            <a:latin typeface="Cambria Math" panose="02040503050406030204" pitchFamily="18" charset="0"/>
                          </a:rPr>
                          <m:t>𝑆</m:t>
                        </m:r>
                      </m:e>
                      <m:sub>
                        <m:r>
                          <a:rPr lang="en-ZA" b="0" i="1" smtClean="0">
                            <a:latin typeface="Cambria Math" panose="02040503050406030204" pitchFamily="18" charset="0"/>
                          </a:rPr>
                          <m:t>𝑝</m:t>
                        </m:r>
                      </m:sub>
                      <m:sup>
                        <m:r>
                          <a:rPr lang="en-ZA" b="0" i="1" smtClean="0">
                            <a:latin typeface="Cambria Math" panose="02040503050406030204" pitchFamily="18" charset="0"/>
                          </a:rPr>
                          <m:t>−1</m:t>
                        </m:r>
                      </m:sup>
                    </m:sSubSup>
                    <m:d>
                      <m:dPr>
                        <m:ctrlPr>
                          <a:rPr lang="en-ZA" i="1">
                            <a:latin typeface="Cambria Math" panose="02040503050406030204" pitchFamily="18" charset="0"/>
                          </a:rPr>
                        </m:ctrlPr>
                      </m:dPr>
                      <m:e>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1</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2</m:t>
                            </m:r>
                          </m:sub>
                        </m:sSub>
                      </m:e>
                    </m:d>
                    <m:r>
                      <a:rPr lang="en-ZA" b="0" i="1" smtClean="0">
                        <a:latin typeface="Cambria Math" panose="02040503050406030204" pitchFamily="18" charset="0"/>
                        <a:ea typeface="Cambria Math" panose="02040503050406030204" pitchFamily="18" charset="0"/>
                      </a:rPr>
                      <m:t>≥</m:t>
                    </m:r>
                    <m:func>
                      <m:funcPr>
                        <m:ctrlPr>
                          <a:rPr lang="en-ZA" i="1">
                            <a:latin typeface="Cambria Math" panose="02040503050406030204" pitchFamily="18" charset="0"/>
                            <a:ea typeface="Cambria Math" panose="02040503050406030204" pitchFamily="18" charset="0"/>
                          </a:rPr>
                        </m:ctrlPr>
                      </m:funcPr>
                      <m:fName>
                        <m:r>
                          <m:rPr>
                            <m:sty m:val="p"/>
                          </m:rPr>
                          <a:rPr lang="en-ZA">
                            <a:latin typeface="Cambria Math" panose="02040503050406030204" pitchFamily="18" charset="0"/>
                            <a:ea typeface="Cambria Math" panose="02040503050406030204" pitchFamily="18" charset="0"/>
                          </a:rPr>
                          <m:t>log</m:t>
                        </m:r>
                      </m:fName>
                      <m:e>
                        <m:d>
                          <m:dPr>
                            <m:begChr m:val="["/>
                            <m:endChr m:val="]"/>
                            <m:ctrlPr>
                              <a:rPr lang="en-ZA" i="1">
                                <a:latin typeface="Cambria Math" panose="02040503050406030204" pitchFamily="18" charset="0"/>
                                <a:ea typeface="Cambria Math" panose="02040503050406030204" pitchFamily="18" charset="0"/>
                              </a:rPr>
                            </m:ctrlPr>
                          </m:dPr>
                          <m:e>
                            <m:d>
                              <m:dPr>
                                <m:ctrlPr>
                                  <a:rPr lang="en-ZA" i="1">
                                    <a:latin typeface="Cambria Math" panose="02040503050406030204" pitchFamily="18" charset="0"/>
                                    <a:ea typeface="Cambria Math" panose="02040503050406030204" pitchFamily="18" charset="0"/>
                                  </a:rPr>
                                </m:ctrlPr>
                              </m:dPr>
                              <m:e>
                                <m:f>
                                  <m:fPr>
                                    <m:ctrlPr>
                                      <a:rPr lang="en-ZA" i="1">
                                        <a:latin typeface="Cambria Math" panose="02040503050406030204" pitchFamily="18" charset="0"/>
                                        <a:ea typeface="Cambria Math" panose="02040503050406030204" pitchFamily="18" charset="0"/>
                                      </a:rPr>
                                    </m:ctrlPr>
                                  </m:fPr>
                                  <m:num>
                                    <m:r>
                                      <a:rPr lang="en-ZA" i="1">
                                        <a:latin typeface="Cambria Math" panose="02040503050406030204" pitchFamily="18" charset="0"/>
                                        <a:ea typeface="Cambria Math" panose="02040503050406030204" pitchFamily="18" charset="0"/>
                                      </a:rPr>
                                      <m:t>𝑐</m:t>
                                    </m:r>
                                    <m:d>
                                      <m:dPr>
                                        <m:ctrlPr>
                                          <a:rPr lang="en-ZA" i="1">
                                            <a:latin typeface="Cambria Math" panose="02040503050406030204" pitchFamily="18" charset="0"/>
                                            <a:ea typeface="Cambria Math" panose="02040503050406030204" pitchFamily="18" charset="0"/>
                                          </a:rPr>
                                        </m:ctrlPr>
                                      </m:dPr>
                                      <m:e>
                                        <m:r>
                                          <a:rPr lang="en-ZA" i="1">
                                            <a:latin typeface="Cambria Math" panose="02040503050406030204" pitchFamily="18" charset="0"/>
                                            <a:ea typeface="Cambria Math" panose="02040503050406030204" pitchFamily="18" charset="0"/>
                                          </a:rPr>
                                          <m:t>1</m:t>
                                        </m:r>
                                      </m:e>
                                      <m:e>
                                        <m:r>
                                          <a:rPr lang="en-ZA" i="1">
                                            <a:latin typeface="Cambria Math" panose="02040503050406030204" pitchFamily="18" charset="0"/>
                                            <a:ea typeface="Cambria Math" panose="02040503050406030204" pitchFamily="18" charset="0"/>
                                          </a:rPr>
                                          <m:t>2</m:t>
                                        </m:r>
                                      </m:e>
                                    </m:d>
                                  </m:num>
                                  <m:den>
                                    <m:r>
                                      <a:rPr lang="en-ZA" i="1">
                                        <a:latin typeface="Cambria Math" panose="02040503050406030204" pitchFamily="18" charset="0"/>
                                        <a:ea typeface="Cambria Math" panose="02040503050406030204" pitchFamily="18" charset="0"/>
                                      </a:rPr>
                                      <m:t>𝑐</m:t>
                                    </m:r>
                                    <m:d>
                                      <m:dPr>
                                        <m:ctrlPr>
                                          <a:rPr lang="en-ZA" i="1">
                                            <a:latin typeface="Cambria Math" panose="02040503050406030204" pitchFamily="18" charset="0"/>
                                            <a:ea typeface="Cambria Math" panose="02040503050406030204" pitchFamily="18" charset="0"/>
                                          </a:rPr>
                                        </m:ctrlPr>
                                      </m:dPr>
                                      <m:e>
                                        <m:r>
                                          <a:rPr lang="en-ZA" i="1">
                                            <a:latin typeface="Cambria Math" panose="02040503050406030204" pitchFamily="18" charset="0"/>
                                            <a:ea typeface="Cambria Math" panose="02040503050406030204" pitchFamily="18" charset="0"/>
                                          </a:rPr>
                                          <m:t>2</m:t>
                                        </m:r>
                                      </m:e>
                                      <m:e>
                                        <m:r>
                                          <a:rPr lang="en-ZA" i="1">
                                            <a:latin typeface="Cambria Math" panose="02040503050406030204" pitchFamily="18" charset="0"/>
                                            <a:ea typeface="Cambria Math" panose="02040503050406030204" pitchFamily="18" charset="0"/>
                                          </a:rPr>
                                          <m:t>1</m:t>
                                        </m:r>
                                      </m:e>
                                    </m:d>
                                  </m:den>
                                </m:f>
                              </m:e>
                            </m:d>
                            <m:d>
                              <m:dPr>
                                <m:ctrlPr>
                                  <a:rPr lang="en-ZA" i="1">
                                    <a:latin typeface="Cambria Math" panose="02040503050406030204" pitchFamily="18" charset="0"/>
                                    <a:ea typeface="Cambria Math" panose="02040503050406030204" pitchFamily="18" charset="0"/>
                                  </a:rPr>
                                </m:ctrlPr>
                              </m:dPr>
                              <m:e>
                                <m:f>
                                  <m:fPr>
                                    <m:ctrlPr>
                                      <a:rPr lang="en-ZA" i="1">
                                        <a:latin typeface="Cambria Math" panose="02040503050406030204" pitchFamily="18" charset="0"/>
                                        <a:ea typeface="Cambria Math" panose="02040503050406030204" pitchFamily="18" charset="0"/>
                                      </a:rPr>
                                    </m:ctrlPr>
                                  </m:fPr>
                                  <m:num>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𝑝</m:t>
                                        </m:r>
                                      </m:e>
                                      <m:sub>
                                        <m:r>
                                          <a:rPr lang="en-ZA" i="1">
                                            <a:latin typeface="Cambria Math" panose="02040503050406030204" pitchFamily="18" charset="0"/>
                                            <a:ea typeface="Cambria Math" panose="02040503050406030204" pitchFamily="18" charset="0"/>
                                          </a:rPr>
                                          <m:t>2</m:t>
                                        </m:r>
                                      </m:sub>
                                    </m:sSub>
                                  </m:num>
                                  <m:den>
                                    <m:sSub>
                                      <m:sSubPr>
                                        <m:ctrlPr>
                                          <a:rPr lang="en-ZA" i="1">
                                            <a:latin typeface="Cambria Math" panose="02040503050406030204" pitchFamily="18" charset="0"/>
                                            <a:ea typeface="Cambria Math" panose="02040503050406030204" pitchFamily="18" charset="0"/>
                                          </a:rPr>
                                        </m:ctrlPr>
                                      </m:sSubPr>
                                      <m:e>
                                        <m:r>
                                          <a:rPr lang="en-ZA" i="1">
                                            <a:latin typeface="Cambria Math" panose="02040503050406030204" pitchFamily="18" charset="0"/>
                                            <a:ea typeface="Cambria Math" panose="02040503050406030204" pitchFamily="18" charset="0"/>
                                          </a:rPr>
                                          <m:t>𝑝</m:t>
                                        </m:r>
                                      </m:e>
                                      <m:sub>
                                        <m:r>
                                          <a:rPr lang="en-ZA" i="1">
                                            <a:latin typeface="Cambria Math" panose="02040503050406030204" pitchFamily="18" charset="0"/>
                                            <a:ea typeface="Cambria Math" panose="02040503050406030204" pitchFamily="18" charset="0"/>
                                          </a:rPr>
                                          <m:t>1</m:t>
                                        </m:r>
                                      </m:sub>
                                    </m:sSub>
                                  </m:den>
                                </m:f>
                              </m:e>
                            </m:d>
                          </m:e>
                        </m:d>
                        <m:r>
                          <a:rPr lang="en-ZA" b="0" i="1" smtClean="0">
                            <a:latin typeface="Cambria Math" panose="02040503050406030204" pitchFamily="18" charset="0"/>
                            <a:ea typeface="Cambria Math" panose="02040503050406030204" pitchFamily="18" charset="0"/>
                          </a:rPr>
                          <m:t>.</m:t>
                        </m:r>
                      </m:e>
                    </m:func>
                  </m:oMath>
                </a14:m>
                <a:endParaRPr lang="en-ZA" dirty="0" smtClean="0">
                  <a:ea typeface="Cambria Math" panose="02040503050406030204" pitchFamily="18" charset="0"/>
                </a:endParaRPr>
              </a:p>
              <a:p>
                <a:endParaRPr lang="en-ZA" dirty="0" smtClean="0"/>
              </a:p>
              <a:p>
                <a:r>
                  <a:rPr lang="en-ZA" dirty="0"/>
                  <a:t> </a:t>
                </a:r>
                <a:r>
                  <a:rPr lang="en-ZA" dirty="0" smtClean="0"/>
                  <a:t>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𝑦</m:t>
                        </m:r>
                      </m:e>
                      <m:sub>
                        <m:r>
                          <a:rPr lang="en-ZA" b="0" i="1" smtClean="0">
                            <a:latin typeface="Cambria Math" panose="02040503050406030204" pitchFamily="18" charset="0"/>
                          </a:rPr>
                          <m:t>𝑜</m:t>
                        </m:r>
                      </m:sub>
                    </m:sSub>
                  </m:oMath>
                </a14:m>
                <a:r>
                  <a:rPr lang="en-ZA" dirty="0" smtClean="0"/>
                  <a:t>                     		</a:t>
                </a:r>
                <a14:m>
                  <m:oMath xmlns:m="http://schemas.openxmlformats.org/officeDocument/2006/math">
                    <m:r>
                      <a:rPr lang="en-ZA" b="0" i="1" smtClean="0">
                        <a:latin typeface="Cambria Math" panose="02040503050406030204" pitchFamily="18" charset="0"/>
                      </a:rPr>
                      <m:t>𝑚</m:t>
                    </m:r>
                  </m:oMath>
                </a14:m>
                <a:r>
                  <a:rPr lang="en-ZA" dirty="0" smtClean="0"/>
                  <a:t>                  </a:t>
                </a:r>
              </a:p>
              <a:p>
                <a:r>
                  <a:rPr lang="en-ZA" dirty="0" smtClean="0"/>
                  <a:t>4. Note that for equal cost and equal prior probabilities the RHS simplifies to 0.</a:t>
                </a:r>
              </a:p>
              <a:p>
                <a:endParaRPr lang="en-ZA" dirty="0"/>
              </a:p>
              <a:p>
                <a:r>
                  <a:rPr lang="en-ZA" dirty="0" smtClean="0"/>
                  <a:t>5.  Fisher’s LDA based on maximizing </a:t>
                </a:r>
                <a14:m>
                  <m:oMath xmlns:m="http://schemas.openxmlformats.org/officeDocument/2006/math">
                    <m:f>
                      <m:fPr>
                        <m:ctrlPr>
                          <a:rPr lang="en-ZA" i="1" smtClean="0">
                            <a:latin typeface="Cambria Math" panose="02040503050406030204" pitchFamily="18" charset="0"/>
                          </a:rPr>
                        </m:ctrlPr>
                      </m:fPr>
                      <m:num>
                        <m:r>
                          <a:rPr lang="en-ZA" b="0" i="1" smtClean="0">
                            <a:latin typeface="Cambria Math" panose="02040503050406030204" pitchFamily="18" charset="0"/>
                          </a:rPr>
                          <m:t>𝐵𝑒𝑡𝑤𝑒𝑒𝑛</m:t>
                        </m:r>
                        <m:r>
                          <a:rPr lang="en-ZA" b="0" i="1" smtClean="0">
                            <a:latin typeface="Cambria Math" panose="02040503050406030204" pitchFamily="18" charset="0"/>
                          </a:rPr>
                          <m:t> </m:t>
                        </m:r>
                        <m:r>
                          <a:rPr lang="en-ZA" b="0" i="1" smtClean="0">
                            <a:latin typeface="Cambria Math" panose="02040503050406030204" pitchFamily="18" charset="0"/>
                          </a:rPr>
                          <m:t>𝑔𝑟𝑜𝑢𝑝</m:t>
                        </m:r>
                        <m:r>
                          <a:rPr lang="en-ZA" b="0" i="1" smtClean="0">
                            <a:latin typeface="Cambria Math" panose="02040503050406030204" pitchFamily="18" charset="0"/>
                          </a:rPr>
                          <m:t> </m:t>
                        </m:r>
                        <m:r>
                          <a:rPr lang="en-ZA" b="0" i="1" smtClean="0">
                            <a:latin typeface="Cambria Math" panose="02040503050406030204" pitchFamily="18" charset="0"/>
                          </a:rPr>
                          <m:t>𝑣𝑎𝑟𝑖𝑎𝑛𝑐𝑒</m:t>
                        </m:r>
                      </m:num>
                      <m:den>
                        <m:r>
                          <a:rPr lang="en-ZA" b="0" i="1" smtClean="0">
                            <a:latin typeface="Cambria Math" panose="02040503050406030204" pitchFamily="18" charset="0"/>
                          </a:rPr>
                          <m:t>𝑊𝑖𝑡h𝑖𝑛</m:t>
                        </m:r>
                        <m:r>
                          <a:rPr lang="en-ZA" b="0" i="1" smtClean="0">
                            <a:latin typeface="Cambria Math" panose="02040503050406030204" pitchFamily="18" charset="0"/>
                          </a:rPr>
                          <m:t> </m:t>
                        </m:r>
                        <m:r>
                          <a:rPr lang="en-ZA" b="0" i="1" smtClean="0">
                            <a:latin typeface="Cambria Math" panose="02040503050406030204" pitchFamily="18" charset="0"/>
                          </a:rPr>
                          <m:t>𝑔𝑟𝑜𝑢𝑝</m:t>
                        </m:r>
                        <m:r>
                          <a:rPr lang="en-ZA" b="0" i="1" smtClean="0">
                            <a:latin typeface="Cambria Math" panose="02040503050406030204" pitchFamily="18" charset="0"/>
                          </a:rPr>
                          <m:t> </m:t>
                        </m:r>
                        <m:r>
                          <a:rPr lang="en-ZA" b="0" i="1" smtClean="0">
                            <a:latin typeface="Cambria Math" panose="02040503050406030204" pitchFamily="18" charset="0"/>
                          </a:rPr>
                          <m:t>𝑣𝑎𝑟𝑖𝑎𝑛𝑐𝑒</m:t>
                        </m:r>
                      </m:den>
                    </m:f>
                    <m:r>
                      <a:rPr lang="en-ZA" b="0" i="1" smtClean="0">
                        <a:latin typeface="Cambria Math" panose="02040503050406030204" pitchFamily="18" charset="0"/>
                      </a:rPr>
                      <m:t>=</m:t>
                    </m:r>
                    <m:f>
                      <m:fPr>
                        <m:ctrlPr>
                          <a:rPr lang="en-ZA" b="0" i="1" smtClean="0">
                            <a:latin typeface="Cambria Math" panose="02040503050406030204" pitchFamily="18" charset="0"/>
                          </a:rPr>
                        </m:ctrlPr>
                      </m:fPr>
                      <m:num>
                        <m:sSup>
                          <m:sSupPr>
                            <m:ctrlPr>
                              <a:rPr lang="en-ZA" b="0" i="1" smtClean="0">
                                <a:latin typeface="Cambria Math" panose="02040503050406030204" pitchFamily="18" charset="0"/>
                              </a:rPr>
                            </m:ctrlPr>
                          </m:sSupPr>
                          <m:e>
                            <m:r>
                              <a:rPr lang="en-ZA" b="0" i="1" smtClean="0">
                                <a:latin typeface="Cambria Math" panose="02040503050406030204" pitchFamily="18" charset="0"/>
                              </a:rPr>
                              <m:t>𝑎</m:t>
                            </m:r>
                          </m:e>
                          <m:sup>
                            <m:r>
                              <a:rPr lang="en-ZA" b="0" i="1" smtClean="0">
                                <a:latin typeface="Cambria Math" panose="02040503050406030204" pitchFamily="18" charset="0"/>
                              </a:rPr>
                              <m:t>′</m:t>
                            </m:r>
                          </m:sup>
                        </m:sSup>
                        <m:r>
                          <a:rPr lang="en-ZA" b="0" i="1" smtClean="0">
                            <a:latin typeface="Cambria Math" panose="02040503050406030204" pitchFamily="18" charset="0"/>
                          </a:rPr>
                          <m:t>𝐵𝑎</m:t>
                        </m:r>
                      </m:num>
                      <m:den>
                        <m:sSup>
                          <m:sSupPr>
                            <m:ctrlPr>
                              <a:rPr lang="en-ZA" b="0" i="1" smtClean="0">
                                <a:latin typeface="Cambria Math" panose="02040503050406030204" pitchFamily="18" charset="0"/>
                              </a:rPr>
                            </m:ctrlPr>
                          </m:sSupPr>
                          <m:e>
                            <m:r>
                              <a:rPr lang="en-ZA" b="0" i="1" smtClean="0">
                                <a:latin typeface="Cambria Math" panose="02040503050406030204" pitchFamily="18" charset="0"/>
                              </a:rPr>
                              <m:t>𝑎</m:t>
                            </m:r>
                          </m:e>
                          <m:sup>
                            <m:r>
                              <a:rPr lang="en-ZA" b="0" i="1" smtClean="0">
                                <a:latin typeface="Cambria Math" panose="02040503050406030204" pitchFamily="18" charset="0"/>
                              </a:rPr>
                              <m:t>′</m:t>
                            </m:r>
                          </m:sup>
                        </m:sSup>
                        <m:r>
                          <a:rPr lang="en-ZA" b="0" i="1" smtClean="0">
                            <a:latin typeface="Cambria Math" panose="02040503050406030204" pitchFamily="18" charset="0"/>
                          </a:rPr>
                          <m:t>𝑊𝑎</m:t>
                        </m:r>
                      </m:den>
                    </m:f>
                  </m:oMath>
                </a14:m>
                <a:r>
                  <a:rPr lang="en-ZA" dirty="0" smtClean="0"/>
                  <a:t> </a:t>
                </a:r>
                <a:r>
                  <a:rPr lang="en-ZA" dirty="0"/>
                  <a:t>where </a:t>
                </a:r>
                <a14:m>
                  <m:oMath xmlns:m="http://schemas.openxmlformats.org/officeDocument/2006/math">
                    <m:sSub>
                      <m:sSubPr>
                        <m:ctrlPr>
                          <a:rPr lang="en-ZA" i="1">
                            <a:latin typeface="Cambria Math" panose="02040503050406030204" pitchFamily="18" charset="0"/>
                          </a:rPr>
                        </m:ctrlPr>
                      </m:sSubPr>
                      <m:e>
                        <m:r>
                          <a:rPr lang="en-ZA" b="1" i="1">
                            <a:latin typeface="Cambria Math" panose="02040503050406030204" pitchFamily="18" charset="0"/>
                          </a:rPr>
                          <m:t>𝑩</m:t>
                        </m:r>
                      </m:e>
                      <m:sub>
                        <m:r>
                          <a:rPr lang="en-ZA" i="1">
                            <a:latin typeface="Cambria Math" panose="02040503050406030204" pitchFamily="18" charset="0"/>
                          </a:rPr>
                          <m:t>𝑝</m:t>
                        </m:r>
                        <m:r>
                          <a:rPr lang="en-ZA" i="1">
                            <a:latin typeface="Cambria Math" panose="02040503050406030204" pitchFamily="18" charset="0"/>
                            <a:ea typeface="Cambria Math" panose="02040503050406030204" pitchFamily="18" charset="0"/>
                          </a:rPr>
                          <m:t>×</m:t>
                        </m:r>
                        <m:r>
                          <a:rPr lang="en-ZA" i="1">
                            <a:latin typeface="Cambria Math" panose="02040503050406030204" pitchFamily="18" charset="0"/>
                            <a:ea typeface="Cambria Math" panose="02040503050406030204" pitchFamily="18" charset="0"/>
                          </a:rPr>
                          <m:t>𝑝</m:t>
                        </m:r>
                      </m:sub>
                    </m:sSub>
                    <m:r>
                      <a:rPr lang="en-ZA" i="1">
                        <a:latin typeface="Cambria Math" panose="02040503050406030204" pitchFamily="18" charset="0"/>
                      </a:rPr>
                      <m:t>=</m:t>
                    </m:r>
                    <m:nary>
                      <m:naryPr>
                        <m:chr m:val="∑"/>
                        <m:ctrlPr>
                          <a:rPr lang="en-ZA" i="1">
                            <a:latin typeface="Cambria Math" panose="02040503050406030204" pitchFamily="18" charset="0"/>
                          </a:rPr>
                        </m:ctrlPr>
                      </m:naryPr>
                      <m:sub>
                        <m:r>
                          <m:rPr>
                            <m:brk m:alnAt="23"/>
                          </m:rPr>
                          <a:rPr lang="en-ZA" i="1">
                            <a:latin typeface="Cambria Math" panose="02040503050406030204" pitchFamily="18" charset="0"/>
                          </a:rPr>
                          <m:t>𝑖</m:t>
                        </m:r>
                        <m:r>
                          <a:rPr lang="en-ZA" i="1">
                            <a:latin typeface="Cambria Math" panose="02040503050406030204" pitchFamily="18" charset="0"/>
                          </a:rPr>
                          <m:t>=</m:t>
                        </m:r>
                        <m:r>
                          <m:rPr>
                            <m:brk m:alnAt="23"/>
                          </m:rPr>
                          <a:rPr lang="en-ZA" i="1">
                            <a:latin typeface="Cambria Math" panose="02040503050406030204" pitchFamily="18" charset="0"/>
                          </a:rPr>
                          <m:t>1</m:t>
                        </m:r>
                      </m:sub>
                      <m:sup>
                        <m:r>
                          <a:rPr lang="en-ZA" i="1">
                            <a:latin typeface="Cambria Math" panose="02040503050406030204" pitchFamily="18" charset="0"/>
                          </a:rPr>
                          <m:t>𝑔</m:t>
                        </m:r>
                      </m:sup>
                      <m:e>
                        <m:sSub>
                          <m:sSubPr>
                            <m:ctrlPr>
                              <a:rPr lang="en-ZA" i="1">
                                <a:latin typeface="Cambria Math" panose="02040503050406030204" pitchFamily="18" charset="0"/>
                              </a:rPr>
                            </m:ctrlPr>
                          </m:sSubPr>
                          <m:e>
                            <m:r>
                              <a:rPr lang="en-ZA" i="1">
                                <a:latin typeface="Cambria Math" panose="02040503050406030204" pitchFamily="18" charset="0"/>
                              </a:rPr>
                              <m:t>𝑛</m:t>
                            </m:r>
                          </m:e>
                          <m:sub>
                            <m:r>
                              <a:rPr lang="en-ZA" i="1">
                                <a:latin typeface="Cambria Math" panose="02040503050406030204" pitchFamily="18" charset="0"/>
                              </a:rPr>
                              <m:t>𝑖</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r>
                              <a:rPr lang="en-ZA" i="1">
                                <a:latin typeface="Cambria Math" panose="02040503050406030204" pitchFamily="18" charset="0"/>
                              </a:rPr>
                              <m:t>.</m:t>
                            </m:r>
                          </m:sub>
                        </m:sSub>
                        <m:r>
                          <a:rPr lang="en-ZA" i="1">
                            <a:latin typeface="Cambria Math" panose="02040503050406030204" pitchFamily="18" charset="0"/>
                          </a:rPr>
                          <m:t>−</m:t>
                        </m:r>
                        <m:acc>
                          <m:accPr>
                            <m:chr m:val="̅"/>
                            <m:ctrlPr>
                              <a:rPr lang="en-ZA" i="1">
                                <a:latin typeface="Cambria Math" panose="02040503050406030204" pitchFamily="18" charset="0"/>
                              </a:rPr>
                            </m:ctrlPr>
                          </m:accPr>
                          <m:e>
                            <m:r>
                              <a:rPr lang="en-ZA" i="1">
                                <a:latin typeface="Cambria Math" panose="02040503050406030204" pitchFamily="18" charset="0"/>
                              </a:rPr>
                              <m:t>𝑥</m:t>
                            </m:r>
                          </m:e>
                        </m:acc>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r>
                              <a:rPr lang="en-ZA" i="1">
                                <a:latin typeface="Cambria Math" panose="02040503050406030204" pitchFamily="18" charset="0"/>
                              </a:rPr>
                              <m:t>.</m:t>
                            </m:r>
                          </m:sub>
                        </m:sSub>
                        <m:r>
                          <a:rPr lang="en-ZA" i="1">
                            <a:latin typeface="Cambria Math" panose="02040503050406030204" pitchFamily="18" charset="0"/>
                          </a:rPr>
                          <m:t>−</m:t>
                        </m:r>
                        <m:acc>
                          <m:accPr>
                            <m:chr m:val="̅"/>
                            <m:ctrlPr>
                              <a:rPr lang="en-ZA" i="1">
                                <a:latin typeface="Cambria Math" panose="02040503050406030204" pitchFamily="18" charset="0"/>
                              </a:rPr>
                            </m:ctrlPr>
                          </m:accPr>
                          <m:e>
                            <m:r>
                              <a:rPr lang="en-ZA" i="1">
                                <a:latin typeface="Cambria Math" panose="02040503050406030204" pitchFamily="18" charset="0"/>
                              </a:rPr>
                              <m:t>𝑥</m:t>
                            </m:r>
                          </m:e>
                        </m:acc>
                        <m:r>
                          <a:rPr lang="en-ZA" i="1">
                            <a:latin typeface="Cambria Math" panose="02040503050406030204" pitchFamily="18" charset="0"/>
                          </a:rPr>
                          <m:t>)′</m:t>
                        </m:r>
                      </m:e>
                    </m:nary>
                  </m:oMath>
                </a14:m>
                <a:r>
                  <a:rPr lang="en-ZA" dirty="0"/>
                  <a:t> and </a:t>
                </a:r>
                <a14:m>
                  <m:oMath xmlns:m="http://schemas.openxmlformats.org/officeDocument/2006/math">
                    <m:sSub>
                      <m:sSubPr>
                        <m:ctrlPr>
                          <a:rPr lang="en-ZA" i="1">
                            <a:latin typeface="Cambria Math" panose="02040503050406030204" pitchFamily="18" charset="0"/>
                          </a:rPr>
                        </m:ctrlPr>
                      </m:sSubPr>
                      <m:e>
                        <m:r>
                          <a:rPr lang="en-ZA" b="1" i="1">
                            <a:latin typeface="Cambria Math" panose="02040503050406030204" pitchFamily="18" charset="0"/>
                          </a:rPr>
                          <m:t>𝑾</m:t>
                        </m:r>
                      </m:e>
                      <m:sub>
                        <m:r>
                          <a:rPr lang="en-ZA" i="1">
                            <a:latin typeface="Cambria Math" panose="02040503050406030204" pitchFamily="18" charset="0"/>
                          </a:rPr>
                          <m:t>𝑝</m:t>
                        </m:r>
                        <m:r>
                          <a:rPr lang="en-ZA" i="1">
                            <a:latin typeface="Cambria Math" panose="02040503050406030204" pitchFamily="18" charset="0"/>
                            <a:ea typeface="Cambria Math" panose="02040503050406030204" pitchFamily="18" charset="0"/>
                          </a:rPr>
                          <m:t>×</m:t>
                        </m:r>
                        <m:r>
                          <a:rPr lang="en-ZA" i="1">
                            <a:latin typeface="Cambria Math" panose="02040503050406030204" pitchFamily="18" charset="0"/>
                            <a:ea typeface="Cambria Math" panose="02040503050406030204" pitchFamily="18" charset="0"/>
                          </a:rPr>
                          <m:t>𝑝</m:t>
                        </m:r>
                      </m:sub>
                    </m:sSub>
                    <m:r>
                      <a:rPr lang="en-ZA" i="1">
                        <a:latin typeface="Cambria Math" panose="02040503050406030204" pitchFamily="18" charset="0"/>
                      </a:rPr>
                      <m:t>=</m:t>
                    </m:r>
                    <m:nary>
                      <m:naryPr>
                        <m:chr m:val="∑"/>
                        <m:ctrlPr>
                          <a:rPr lang="en-ZA" i="1">
                            <a:latin typeface="Cambria Math" panose="02040503050406030204" pitchFamily="18" charset="0"/>
                          </a:rPr>
                        </m:ctrlPr>
                      </m:naryPr>
                      <m:sub>
                        <m:r>
                          <m:rPr>
                            <m:brk m:alnAt="23"/>
                          </m:rPr>
                          <a:rPr lang="en-ZA" i="1">
                            <a:latin typeface="Cambria Math" panose="02040503050406030204" pitchFamily="18" charset="0"/>
                          </a:rPr>
                          <m:t>𝑖</m:t>
                        </m:r>
                        <m:r>
                          <a:rPr lang="en-ZA" i="1">
                            <a:latin typeface="Cambria Math" panose="02040503050406030204" pitchFamily="18" charset="0"/>
                          </a:rPr>
                          <m:t>=</m:t>
                        </m:r>
                        <m:r>
                          <m:rPr>
                            <m:brk m:alnAt="23"/>
                          </m:rPr>
                          <a:rPr lang="en-ZA" i="1">
                            <a:latin typeface="Cambria Math" panose="02040503050406030204" pitchFamily="18" charset="0"/>
                          </a:rPr>
                          <m:t>1</m:t>
                        </m:r>
                      </m:sub>
                      <m:sup>
                        <m:r>
                          <a:rPr lang="en-ZA" i="1">
                            <a:latin typeface="Cambria Math" panose="02040503050406030204" pitchFamily="18" charset="0"/>
                          </a:rPr>
                          <m:t>𝑔</m:t>
                        </m:r>
                      </m:sup>
                      <m:e>
                        <m:nary>
                          <m:naryPr>
                            <m:chr m:val="∑"/>
                            <m:ctrlPr>
                              <a:rPr lang="en-ZA" i="1">
                                <a:latin typeface="Cambria Math" panose="02040503050406030204" pitchFamily="18" charset="0"/>
                              </a:rPr>
                            </m:ctrlPr>
                          </m:naryPr>
                          <m:sub>
                            <m:r>
                              <m:rPr>
                                <m:brk m:alnAt="23"/>
                              </m:rPr>
                              <a:rPr lang="en-ZA" i="1">
                                <a:latin typeface="Cambria Math" panose="02040503050406030204" pitchFamily="18" charset="0"/>
                              </a:rPr>
                              <m:t>𝑗</m:t>
                            </m:r>
                            <m:r>
                              <a:rPr lang="en-ZA" i="1">
                                <a:latin typeface="Cambria Math" panose="02040503050406030204" pitchFamily="18" charset="0"/>
                              </a:rPr>
                              <m:t>=</m:t>
                            </m:r>
                            <m:r>
                              <m:rPr>
                                <m:brk m:alnAt="23"/>
                              </m:rPr>
                              <a:rPr lang="en-ZA" i="1">
                                <a:latin typeface="Cambria Math" panose="02040503050406030204" pitchFamily="18" charset="0"/>
                              </a:rPr>
                              <m:t>1</m:t>
                            </m:r>
                          </m:sub>
                          <m:sup>
                            <m:sSub>
                              <m:sSubPr>
                                <m:ctrlPr>
                                  <a:rPr lang="en-ZA" i="1">
                                    <a:latin typeface="Cambria Math" panose="02040503050406030204" pitchFamily="18" charset="0"/>
                                  </a:rPr>
                                </m:ctrlPr>
                              </m:sSubPr>
                              <m:e>
                                <m:r>
                                  <a:rPr lang="en-ZA" i="1">
                                    <a:latin typeface="Cambria Math" panose="02040503050406030204" pitchFamily="18" charset="0"/>
                                  </a:rPr>
                                  <m:t>𝑛</m:t>
                                </m:r>
                              </m:e>
                              <m:sub>
                                <m:r>
                                  <a:rPr lang="en-ZA" i="1">
                                    <a:latin typeface="Cambria Math" panose="02040503050406030204" pitchFamily="18" charset="0"/>
                                  </a:rPr>
                                  <m:t>𝑖</m:t>
                                </m:r>
                              </m:sub>
                            </m:sSub>
                          </m:sup>
                          <m:e>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rPr>
                                  <m:t>𝑥</m:t>
                                </m:r>
                              </m:e>
                              <m:sub>
                                <m:r>
                                  <a:rPr lang="en-ZA" i="1">
                                    <a:latin typeface="Cambria Math" panose="02040503050406030204" pitchFamily="18" charset="0"/>
                                  </a:rPr>
                                  <m:t>𝑖𝑗</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r>
                                  <a:rPr lang="en-ZA" i="1">
                                    <a:latin typeface="Cambria Math" panose="02040503050406030204" pitchFamily="18" charset="0"/>
                                  </a:rPr>
                                  <m:t>.</m:t>
                                </m:r>
                              </m:sub>
                            </m:sSub>
                            <m:r>
                              <a:rPr lang="en-ZA" i="1">
                                <a:latin typeface="Cambria Math" panose="02040503050406030204" pitchFamily="18" charset="0"/>
                              </a:rPr>
                              <m:t>)(</m:t>
                            </m:r>
                            <m:sSub>
                              <m:sSubPr>
                                <m:ctrlPr>
                                  <a:rPr lang="en-ZA" i="1">
                                    <a:latin typeface="Cambria Math" panose="02040503050406030204" pitchFamily="18" charset="0"/>
                                  </a:rPr>
                                </m:ctrlPr>
                              </m:sSubPr>
                              <m:e>
                                <m:r>
                                  <a:rPr lang="en-ZA" i="1">
                                    <a:latin typeface="Cambria Math" panose="02040503050406030204" pitchFamily="18" charset="0"/>
                                  </a:rPr>
                                  <m:t>𝑥</m:t>
                                </m:r>
                              </m:e>
                              <m:sub>
                                <m:r>
                                  <a:rPr lang="en-ZA" i="1">
                                    <a:latin typeface="Cambria Math" panose="02040503050406030204" pitchFamily="18" charset="0"/>
                                  </a:rPr>
                                  <m:t>𝑖𝑗</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r>
                                  <a:rPr lang="en-ZA" i="1">
                                    <a:latin typeface="Cambria Math" panose="02040503050406030204" pitchFamily="18" charset="0"/>
                                  </a:rPr>
                                  <m:t>.</m:t>
                                </m:r>
                              </m:sub>
                            </m:sSub>
                            <m:r>
                              <a:rPr lang="en-ZA" i="1">
                                <a:latin typeface="Cambria Math" panose="02040503050406030204" pitchFamily="18" charset="0"/>
                              </a:rPr>
                              <m:t>)′</m:t>
                            </m:r>
                          </m:e>
                        </m:nary>
                      </m:e>
                    </m:nary>
                    <m:r>
                      <a:rPr lang="en-ZA" b="0" i="0" smtClean="0">
                        <a:latin typeface="Cambria Math" panose="02040503050406030204" pitchFamily="18" charset="0"/>
                      </a:rPr>
                      <m:t> </m:t>
                    </m:r>
                    <m:r>
                      <m:rPr>
                        <m:sty m:val="p"/>
                      </m:rPr>
                      <a:rPr lang="en-ZA" b="0" i="0" smtClean="0">
                        <a:latin typeface="Cambria Math" panose="02040503050406030204" pitchFamily="18" charset="0"/>
                      </a:rPr>
                      <m:t>and</m:t>
                    </m:r>
                    <m:r>
                      <a:rPr lang="en-ZA" b="0" i="0" smtClean="0">
                        <a:latin typeface="Cambria Math" panose="02040503050406030204" pitchFamily="18" charset="0"/>
                      </a:rPr>
                      <m:t> </m:t>
                    </m:r>
                    <m:r>
                      <m:rPr>
                        <m:sty m:val="p"/>
                      </m:rPr>
                      <a:rPr lang="en-ZA" b="0" i="0" smtClean="0">
                        <a:latin typeface="Cambria Math" panose="02040503050406030204" pitchFamily="18" charset="0"/>
                      </a:rPr>
                      <m:t>a</m:t>
                    </m:r>
                  </m:oMath>
                </a14:m>
                <a:r>
                  <a:rPr lang="en-ZA" dirty="0" smtClean="0"/>
                  <a:t> is  </a:t>
                </a:r>
                <a14:m>
                  <m:oMath xmlns:m="http://schemas.openxmlformats.org/officeDocument/2006/math">
                    <m:r>
                      <a:rPr lang="en-ZA" b="0" i="1" smtClean="0">
                        <a:latin typeface="Cambria Math" panose="02040503050406030204" pitchFamily="18" charset="0"/>
                      </a:rPr>
                      <m:t>𝑎</m:t>
                    </m:r>
                  </m:oMath>
                </a14:m>
                <a:r>
                  <a:rPr lang="en-ZA" dirty="0" smtClean="0"/>
                  <a:t> is the eigenvector of </a:t>
                </a:r>
                <a14:m>
                  <m:oMath xmlns:m="http://schemas.openxmlformats.org/officeDocument/2006/math">
                    <m:sSup>
                      <m:sSupPr>
                        <m:ctrlPr>
                          <a:rPr lang="en-ZA" i="1" smtClean="0">
                            <a:latin typeface="Cambria Math" panose="02040503050406030204" pitchFamily="18" charset="0"/>
                          </a:rPr>
                        </m:ctrlPr>
                      </m:sSupPr>
                      <m:e>
                        <m:r>
                          <a:rPr lang="en-ZA" b="0" i="1" smtClean="0">
                            <a:latin typeface="Cambria Math" panose="02040503050406030204" pitchFamily="18" charset="0"/>
                          </a:rPr>
                          <m:t>𝑊</m:t>
                        </m:r>
                      </m:e>
                      <m:sup>
                        <m:r>
                          <a:rPr lang="en-ZA" b="0" i="1" smtClean="0">
                            <a:latin typeface="Cambria Math" panose="02040503050406030204" pitchFamily="18" charset="0"/>
                          </a:rPr>
                          <m:t>−1</m:t>
                        </m:r>
                      </m:sup>
                    </m:sSup>
                    <m:r>
                      <a:rPr lang="en-ZA" b="0" i="1" smtClean="0">
                        <a:latin typeface="Cambria Math" panose="02040503050406030204" pitchFamily="18" charset="0"/>
                      </a:rPr>
                      <m:t>𝐵</m:t>
                    </m:r>
                  </m:oMath>
                </a14:m>
                <a:r>
                  <a:rPr lang="en-ZA" dirty="0" smtClean="0"/>
                  <a:t> associated with the largest eigenvalue. Can be shown to be equivalent to 3.</a:t>
                </a:r>
              </a:p>
              <a:p>
                <a:endParaRPr lang="en-ZA" dirty="0"/>
              </a:p>
              <a:p>
                <a:r>
                  <a:rPr lang="en-ZA" dirty="0" smtClean="0"/>
                  <a:t>5. Quadratic DA when two covariance matrices are not equal …</a:t>
                </a:r>
              </a:p>
              <a:p>
                <a:endParaRPr lang="en-ZA" dirty="0"/>
              </a:p>
              <a:p>
                <a:r>
                  <a:rPr lang="en-ZA" dirty="0" smtClean="0"/>
                  <a:t>6. Classification into multiple groups : Either allocate </a:t>
                </a:r>
                <a14:m>
                  <m:oMath xmlns:m="http://schemas.openxmlformats.org/officeDocument/2006/math">
                    <m:r>
                      <a:rPr lang="en-ZA" i="1">
                        <a:latin typeface="Cambria Math" panose="02040503050406030204" pitchFamily="18" charset="0"/>
                      </a:rPr>
                      <m:t>𝑥</m:t>
                    </m:r>
                  </m:oMath>
                </a14:m>
                <a:r>
                  <a:rPr lang="en-ZA" dirty="0"/>
                  <a:t> to </a:t>
                </a:r>
                <a14:m>
                  <m:oMath xmlns:m="http://schemas.openxmlformats.org/officeDocument/2006/math">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𝜋</m:t>
                        </m:r>
                      </m:e>
                      <m:sub>
                        <m:r>
                          <a:rPr lang="en-ZA" i="1">
                            <a:latin typeface="Cambria Math" panose="02040503050406030204" pitchFamily="18" charset="0"/>
                          </a:rPr>
                          <m:t>𝑘</m:t>
                        </m:r>
                      </m:sub>
                    </m:sSub>
                  </m:oMath>
                </a14:m>
                <a:r>
                  <a:rPr lang="en-ZA" dirty="0"/>
                  <a:t> if </a:t>
                </a:r>
                <a14:m>
                  <m:oMath xmlns:m="http://schemas.openxmlformats.org/officeDocument/2006/math">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𝑑</m:t>
                            </m:r>
                          </m:e>
                        </m:acc>
                      </m:e>
                      <m:sub>
                        <m:r>
                          <a:rPr lang="en-ZA" i="1">
                            <a:latin typeface="Cambria Math" panose="02040503050406030204" pitchFamily="18" charset="0"/>
                          </a:rPr>
                          <m:t>𝑘</m:t>
                        </m:r>
                      </m:sub>
                    </m:sSub>
                    <m:d>
                      <m:dPr>
                        <m:ctrlPr>
                          <a:rPr lang="en-ZA" i="1">
                            <a:latin typeface="Cambria Math" panose="02040503050406030204" pitchFamily="18" charset="0"/>
                          </a:rPr>
                        </m:ctrlPr>
                      </m:dPr>
                      <m:e>
                        <m:r>
                          <a:rPr lang="en-ZA" i="1">
                            <a:latin typeface="Cambria Math" panose="02040503050406030204" pitchFamily="18" charset="0"/>
                          </a:rPr>
                          <m:t>𝑥</m:t>
                        </m:r>
                      </m:e>
                    </m:d>
                    <m:r>
                      <a:rPr lang="en-ZA" i="1">
                        <a:latin typeface="Cambria Math" panose="02040503050406030204" pitchFamily="18" charset="0"/>
                      </a:rPr>
                      <m:t>=</m:t>
                    </m:r>
                    <m:r>
                      <a:rPr lang="en-ZA" i="1">
                        <a:latin typeface="Cambria Math" panose="02040503050406030204" pitchFamily="18" charset="0"/>
                      </a:rPr>
                      <m:t>𝑚𝑎𝑥</m:t>
                    </m:r>
                    <m:d>
                      <m:dPr>
                        <m:ctrlPr>
                          <a:rPr lang="en-ZA" i="1">
                            <a:latin typeface="Cambria Math" panose="02040503050406030204" pitchFamily="18" charset="0"/>
                          </a:rPr>
                        </m:ctrlPr>
                      </m:dPr>
                      <m:e>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𝑑</m:t>
                                </m:r>
                              </m:e>
                            </m:acc>
                          </m:e>
                          <m:sub>
                            <m:r>
                              <a:rPr lang="en-ZA" i="1">
                                <a:latin typeface="Cambria Math" panose="02040503050406030204" pitchFamily="18" charset="0"/>
                              </a:rPr>
                              <m:t>1</m:t>
                            </m:r>
                          </m:sub>
                        </m:sSub>
                        <m:d>
                          <m:dPr>
                            <m:ctrlPr>
                              <a:rPr lang="en-ZA" i="1">
                                <a:latin typeface="Cambria Math" panose="02040503050406030204" pitchFamily="18" charset="0"/>
                              </a:rPr>
                            </m:ctrlPr>
                          </m:dPr>
                          <m:e>
                            <m:r>
                              <a:rPr lang="en-ZA" i="1">
                                <a:latin typeface="Cambria Math" panose="02040503050406030204" pitchFamily="18" charset="0"/>
                              </a:rPr>
                              <m:t>𝑥</m:t>
                            </m:r>
                          </m:e>
                        </m:d>
                        <m:r>
                          <a:rPr lang="en-ZA" i="1">
                            <a:latin typeface="Cambria Math" panose="02040503050406030204" pitchFamily="18" charset="0"/>
                          </a:rPr>
                          <m:t>, </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𝑑</m:t>
                                </m:r>
                              </m:e>
                            </m:acc>
                          </m:e>
                          <m:sub>
                            <m:r>
                              <a:rPr lang="en-ZA" i="1">
                                <a:latin typeface="Cambria Math" panose="02040503050406030204" pitchFamily="18" charset="0"/>
                              </a:rPr>
                              <m:t>2</m:t>
                            </m:r>
                          </m:sub>
                        </m:sSub>
                        <m:d>
                          <m:dPr>
                            <m:ctrlPr>
                              <a:rPr lang="en-ZA" i="1">
                                <a:latin typeface="Cambria Math" panose="02040503050406030204" pitchFamily="18" charset="0"/>
                              </a:rPr>
                            </m:ctrlPr>
                          </m:dPr>
                          <m:e>
                            <m:r>
                              <a:rPr lang="en-ZA" i="1">
                                <a:latin typeface="Cambria Math" panose="02040503050406030204" pitchFamily="18" charset="0"/>
                              </a:rPr>
                              <m:t>𝑥</m:t>
                            </m:r>
                          </m:e>
                        </m:d>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𝑑</m:t>
                                </m:r>
                              </m:e>
                            </m:acc>
                          </m:e>
                          <m:sub>
                            <m:r>
                              <a:rPr lang="en-ZA" i="1">
                                <a:latin typeface="Cambria Math" panose="02040503050406030204" pitchFamily="18" charset="0"/>
                              </a:rPr>
                              <m:t>𝑝</m:t>
                            </m:r>
                          </m:sub>
                        </m:sSub>
                        <m:r>
                          <a:rPr lang="en-ZA" i="1">
                            <a:latin typeface="Cambria Math" panose="02040503050406030204" pitchFamily="18" charset="0"/>
                          </a:rPr>
                          <m:t>(</m:t>
                        </m:r>
                        <m:r>
                          <a:rPr lang="en-ZA" i="1">
                            <a:latin typeface="Cambria Math" panose="02040503050406030204" pitchFamily="18" charset="0"/>
                          </a:rPr>
                          <m:t>𝑥</m:t>
                        </m:r>
                        <m:r>
                          <a:rPr lang="en-ZA" i="1">
                            <a:latin typeface="Cambria Math" panose="02040503050406030204" pitchFamily="18" charset="0"/>
                          </a:rPr>
                          <m:t>)</m:t>
                        </m:r>
                      </m:e>
                    </m:d>
                    <m:r>
                      <a:rPr lang="en-ZA" i="1" smtClean="0">
                        <a:latin typeface="Cambria Math" panose="02040503050406030204" pitchFamily="18" charset="0"/>
                      </a:rPr>
                      <m:t>,  </m:t>
                    </m:r>
                    <m:r>
                      <a:rPr lang="en-ZA" i="1" smtClean="0">
                        <a:latin typeface="Cambria Math" panose="02040503050406030204" pitchFamily="18" charset="0"/>
                      </a:rPr>
                      <m:t>𝑤h𝑒𝑟𝑒</m:t>
                    </m:r>
                    <m:r>
                      <a:rPr lang="en-ZA" i="1" smtClean="0">
                        <a:latin typeface="Cambria Math" panose="02040503050406030204" pitchFamily="18" charset="0"/>
                      </a:rPr>
                      <m:t> </m:t>
                    </m:r>
                    <m:sSub>
                      <m:sSubPr>
                        <m:ctrlPr>
                          <a:rPr lang="en-ZA" i="1" smtClean="0">
                            <a:latin typeface="Cambria Math" panose="02040503050406030204" pitchFamily="18" charset="0"/>
                          </a:rPr>
                        </m:ctrlPr>
                      </m:sSubPr>
                      <m:e>
                        <m:acc>
                          <m:accPr>
                            <m:chr m:val="̂"/>
                            <m:ctrlPr>
                              <a:rPr lang="en-ZA" i="1" smtClean="0">
                                <a:latin typeface="Cambria Math" panose="02040503050406030204" pitchFamily="18" charset="0"/>
                              </a:rPr>
                            </m:ctrlPr>
                          </m:accPr>
                          <m:e>
                            <m:r>
                              <a:rPr lang="en-ZA" i="1" smtClean="0">
                                <a:latin typeface="Cambria Math" panose="02040503050406030204" pitchFamily="18" charset="0"/>
                              </a:rPr>
                              <m:t>𝑑</m:t>
                            </m:r>
                          </m:e>
                        </m:acc>
                      </m:e>
                      <m:sub>
                        <m:r>
                          <a:rPr lang="en-ZA" i="1">
                            <a:latin typeface="Cambria Math" panose="02040503050406030204" pitchFamily="18" charset="0"/>
                          </a:rPr>
                          <m:t>𝑖</m:t>
                        </m:r>
                      </m:sub>
                    </m:sSub>
                    <m:d>
                      <m:dPr>
                        <m:ctrlPr>
                          <a:rPr lang="en-ZA" i="1">
                            <a:latin typeface="Cambria Math" panose="02040503050406030204" pitchFamily="18" charset="0"/>
                          </a:rPr>
                        </m:ctrlPr>
                      </m:dPr>
                      <m:e>
                        <m:r>
                          <a:rPr lang="en-ZA" i="1">
                            <a:latin typeface="Cambria Math" panose="02040503050406030204" pitchFamily="18" charset="0"/>
                          </a:rPr>
                          <m:t>𝑥</m:t>
                        </m:r>
                      </m:e>
                    </m:d>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sub>
                    </m:sSub>
                    <m:r>
                      <a:rPr lang="en-ZA" i="1">
                        <a:latin typeface="Cambria Math" panose="02040503050406030204" pitchFamily="18" charset="0"/>
                      </a:rPr>
                      <m:t>′</m:t>
                    </m:r>
                    <m:sSubSup>
                      <m:sSubSupPr>
                        <m:ctrlPr>
                          <a:rPr lang="en-ZA" i="1">
                            <a:latin typeface="Cambria Math" panose="02040503050406030204" pitchFamily="18" charset="0"/>
                          </a:rPr>
                        </m:ctrlPr>
                      </m:sSubSupPr>
                      <m:e>
                        <m:r>
                          <a:rPr lang="en-ZA" i="1">
                            <a:latin typeface="Cambria Math" panose="02040503050406030204" pitchFamily="18" charset="0"/>
                          </a:rPr>
                          <m:t>𝑆</m:t>
                        </m:r>
                      </m:e>
                      <m:sub>
                        <m:r>
                          <a:rPr lang="en-ZA" i="1">
                            <a:latin typeface="Cambria Math" panose="02040503050406030204" pitchFamily="18" charset="0"/>
                          </a:rPr>
                          <m:t>𝑝</m:t>
                        </m:r>
                      </m:sub>
                      <m:sup>
                        <m:r>
                          <a:rPr lang="en-ZA" i="1">
                            <a:latin typeface="Cambria Math" panose="02040503050406030204" pitchFamily="18" charset="0"/>
                          </a:rPr>
                          <m:t>−1</m:t>
                        </m:r>
                      </m:sup>
                    </m:sSubSup>
                    <m:r>
                      <a:rPr lang="en-ZA" i="1">
                        <a:latin typeface="Cambria Math" panose="02040503050406030204" pitchFamily="18" charset="0"/>
                      </a:rPr>
                      <m:t>𝑥</m:t>
                    </m:r>
                    <m:r>
                      <a:rPr lang="en-ZA">
                        <a:latin typeface="Cambria Math" panose="02040503050406030204" pitchFamily="18" charset="0"/>
                      </a:rPr>
                      <m:t>−</m:t>
                    </m:r>
                    <m:f>
                      <m:fPr>
                        <m:ctrlPr>
                          <a:rPr lang="en-ZA" i="1">
                            <a:latin typeface="Cambria Math" panose="02040503050406030204" pitchFamily="18" charset="0"/>
                          </a:rPr>
                        </m:ctrlPr>
                      </m:fPr>
                      <m:num>
                        <m:r>
                          <a:rPr lang="en-ZA">
                            <a:latin typeface="Cambria Math" panose="02040503050406030204" pitchFamily="18" charset="0"/>
                          </a:rPr>
                          <m:t>1</m:t>
                        </m:r>
                      </m:num>
                      <m:den>
                        <m:r>
                          <a:rPr lang="en-ZA">
                            <a:latin typeface="Cambria Math" panose="02040503050406030204" pitchFamily="18" charset="0"/>
                          </a:rPr>
                          <m:t>2</m:t>
                        </m:r>
                      </m:den>
                    </m:f>
                    <m:sSubSup>
                      <m:sSubSupPr>
                        <m:ctrlPr>
                          <a:rPr lang="en-ZA" i="1">
                            <a:latin typeface="Cambria Math" panose="02040503050406030204" pitchFamily="18" charset="0"/>
                          </a:rPr>
                        </m:ctrlPr>
                      </m:sSubSup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sub>
                      <m:sup>
                        <m:r>
                          <a:rPr lang="en-ZA" i="1">
                            <a:latin typeface="Cambria Math" panose="02040503050406030204" pitchFamily="18" charset="0"/>
                          </a:rPr>
                          <m:t>′</m:t>
                        </m:r>
                      </m:sup>
                    </m:sSubSup>
                    <m:sSubSup>
                      <m:sSubSupPr>
                        <m:ctrlPr>
                          <a:rPr lang="en-ZA" i="1">
                            <a:latin typeface="Cambria Math" panose="02040503050406030204" pitchFamily="18" charset="0"/>
                          </a:rPr>
                        </m:ctrlPr>
                      </m:sSubSupPr>
                      <m:e>
                        <m:r>
                          <a:rPr lang="en-ZA" i="1">
                            <a:latin typeface="Cambria Math" panose="02040503050406030204" pitchFamily="18" charset="0"/>
                          </a:rPr>
                          <m:t>𝑆</m:t>
                        </m:r>
                      </m:e>
                      <m:sub>
                        <m:r>
                          <a:rPr lang="en-ZA" i="1">
                            <a:latin typeface="Cambria Math" panose="02040503050406030204" pitchFamily="18" charset="0"/>
                          </a:rPr>
                          <m:t>𝑝</m:t>
                        </m:r>
                      </m:sub>
                      <m:sup>
                        <m:r>
                          <a:rPr lang="en-ZA" i="1">
                            <a:latin typeface="Cambria Math" panose="02040503050406030204" pitchFamily="18" charset="0"/>
                          </a:rPr>
                          <m:t>−1</m:t>
                        </m:r>
                      </m:sup>
                    </m:sSubSup>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sub>
                    </m:sSub>
                    <m:r>
                      <a:rPr lang="en-ZA" i="1">
                        <a:latin typeface="Cambria Math" panose="02040503050406030204" pitchFamily="18" charset="0"/>
                      </a:rPr>
                      <m:t>+</m:t>
                    </m:r>
                    <m:func>
                      <m:funcPr>
                        <m:ctrlPr>
                          <a:rPr lang="en-ZA" i="1">
                            <a:latin typeface="Cambria Math" panose="02040503050406030204" pitchFamily="18" charset="0"/>
                          </a:rPr>
                        </m:ctrlPr>
                      </m:funcPr>
                      <m:fName>
                        <m:r>
                          <m:rPr>
                            <m:sty m:val="p"/>
                          </m:rPr>
                          <a:rPr lang="en-ZA">
                            <a:latin typeface="Cambria Math" panose="02040503050406030204" pitchFamily="18" charset="0"/>
                          </a:rPr>
                          <m:t>ln</m:t>
                        </m:r>
                      </m:fName>
                      <m:e>
                        <m:sSub>
                          <m:sSubPr>
                            <m:ctrlPr>
                              <a:rPr lang="en-ZA" i="1">
                                <a:latin typeface="Cambria Math" panose="02040503050406030204" pitchFamily="18" charset="0"/>
                              </a:rPr>
                            </m:ctrlPr>
                          </m:sSubPr>
                          <m:e>
                            <m:r>
                              <a:rPr lang="en-ZA" i="1">
                                <a:latin typeface="Cambria Math" panose="02040503050406030204" pitchFamily="18" charset="0"/>
                              </a:rPr>
                              <m:t>𝑝</m:t>
                            </m:r>
                          </m:e>
                          <m:sub>
                            <m:r>
                              <a:rPr lang="en-ZA" i="1">
                                <a:latin typeface="Cambria Math" panose="02040503050406030204" pitchFamily="18" charset="0"/>
                              </a:rPr>
                              <m:t>𝑖</m:t>
                            </m:r>
                          </m:sub>
                        </m:sSub>
                      </m:e>
                    </m:func>
                    <m:sSubSup>
                      <m:sSubSupPr>
                        <m:ctrlPr>
                          <a:rPr lang="en-ZA" i="1">
                            <a:latin typeface="Cambria Math" panose="02040503050406030204" pitchFamily="18" charset="0"/>
                          </a:rPr>
                        </m:ctrlPr>
                      </m:sSubSupPr>
                      <m:e>
                        <m:r>
                          <a:rPr lang="en-ZA" b="0" i="1" smtClean="0">
                            <a:latin typeface="Cambria Math" panose="02040503050406030204" pitchFamily="18" charset="0"/>
                          </a:rPr>
                          <m:t> </m:t>
                        </m:r>
                        <m:r>
                          <a:rPr lang="en-ZA" b="0" i="1" smtClean="0">
                            <a:latin typeface="Cambria Math" panose="02040503050406030204" pitchFamily="18" charset="0"/>
                          </a:rPr>
                          <m:t>𝑜𝑟</m:t>
                        </m:r>
                        <m:r>
                          <a:rPr lang="en-ZA" b="0" i="1" smtClean="0">
                            <a:latin typeface="Cambria Math" panose="02040503050406030204" pitchFamily="18" charset="0"/>
                          </a:rPr>
                          <m:t> </m:t>
                        </m:r>
                        <m:r>
                          <a:rPr lang="en-ZA" b="0" i="1" smtClean="0">
                            <a:latin typeface="Cambria Math" panose="02040503050406030204" pitchFamily="18" charset="0"/>
                          </a:rPr>
                          <m:t>𝑐𝑎𝑙𝑐𝑢𝑙𝑐𝑎𝑡𝑒</m:t>
                        </m:r>
                        <m:r>
                          <a:rPr lang="en-ZA" b="0" i="1" smtClean="0">
                            <a:latin typeface="Cambria Math" panose="02040503050406030204" pitchFamily="18" charset="0"/>
                          </a:rPr>
                          <m:t>   </m:t>
                        </m:r>
                        <m:r>
                          <a:rPr lang="en-ZA" i="1">
                            <a:latin typeface="Cambria Math" panose="02040503050406030204" pitchFamily="18" charset="0"/>
                          </a:rPr>
                          <m:t>𝐷</m:t>
                        </m:r>
                      </m:e>
                      <m:sub>
                        <m:r>
                          <a:rPr lang="en-ZA" i="1">
                            <a:latin typeface="Cambria Math" panose="02040503050406030204" pitchFamily="18" charset="0"/>
                          </a:rPr>
                          <m:t>𝑖</m:t>
                        </m:r>
                      </m:sub>
                      <m:sup>
                        <m:r>
                          <a:rPr lang="en-ZA" i="1">
                            <a:latin typeface="Cambria Math" panose="02040503050406030204" pitchFamily="18" charset="0"/>
                          </a:rPr>
                          <m:t>2</m:t>
                        </m:r>
                      </m:sup>
                    </m:sSubSup>
                    <m:d>
                      <m:dPr>
                        <m:ctrlPr>
                          <a:rPr lang="en-ZA" i="1">
                            <a:latin typeface="Cambria Math" panose="02040503050406030204" pitchFamily="18" charset="0"/>
                          </a:rPr>
                        </m:ctrlPr>
                      </m:dPr>
                      <m:e>
                        <m:r>
                          <a:rPr lang="en-ZA" i="1">
                            <a:latin typeface="Cambria Math" panose="02040503050406030204" pitchFamily="18" charset="0"/>
                          </a:rPr>
                          <m:t>𝑥</m:t>
                        </m:r>
                      </m:e>
                    </m:d>
                    <m:r>
                      <a:rPr lang="en-ZA" i="1">
                        <a:latin typeface="Cambria Math" panose="02040503050406030204" pitchFamily="18" charset="0"/>
                      </a:rPr>
                      <m:t>=(</m:t>
                    </m:r>
                    <m:r>
                      <a:rPr lang="en-ZA" i="1">
                        <a:latin typeface="Cambria Math" panose="02040503050406030204" pitchFamily="18" charset="0"/>
                      </a:rPr>
                      <m:t>𝑥</m:t>
                    </m:r>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sub>
                    </m:sSub>
                    <m:r>
                      <a:rPr lang="en-ZA" i="1">
                        <a:latin typeface="Cambria Math" panose="02040503050406030204" pitchFamily="18" charset="0"/>
                      </a:rPr>
                      <m:t>)′</m:t>
                    </m:r>
                    <m:sSubSup>
                      <m:sSubSupPr>
                        <m:ctrlPr>
                          <a:rPr lang="en-ZA" i="1">
                            <a:latin typeface="Cambria Math" panose="02040503050406030204" pitchFamily="18" charset="0"/>
                          </a:rPr>
                        </m:ctrlPr>
                      </m:sSubSupPr>
                      <m:e>
                        <m:r>
                          <a:rPr lang="en-ZA" i="1">
                            <a:latin typeface="Cambria Math" panose="02040503050406030204" pitchFamily="18" charset="0"/>
                          </a:rPr>
                          <m:t>𝑆</m:t>
                        </m:r>
                      </m:e>
                      <m:sub>
                        <m:r>
                          <a:rPr lang="en-ZA" i="1">
                            <a:latin typeface="Cambria Math" panose="02040503050406030204" pitchFamily="18" charset="0"/>
                          </a:rPr>
                          <m:t>𝑝</m:t>
                        </m:r>
                      </m:sub>
                      <m:sup>
                        <m:r>
                          <a:rPr lang="en-ZA" i="1">
                            <a:latin typeface="Cambria Math" panose="02040503050406030204" pitchFamily="18" charset="0"/>
                          </a:rPr>
                          <m:t>−1</m:t>
                        </m:r>
                      </m:sup>
                    </m:sSubSup>
                    <m:r>
                      <a:rPr lang="en-ZA" i="1">
                        <a:latin typeface="Cambria Math" panose="02040503050406030204" pitchFamily="18" charset="0"/>
                      </a:rPr>
                      <m:t>(</m:t>
                    </m:r>
                    <m:r>
                      <a:rPr lang="en-ZA" i="1">
                        <a:latin typeface="Cambria Math" panose="02040503050406030204" pitchFamily="18" charset="0"/>
                      </a:rPr>
                      <m:t>𝑥</m:t>
                    </m:r>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sub>
                    </m:sSub>
                    <m:r>
                      <a:rPr lang="en-ZA" i="1" smtClean="0">
                        <a:latin typeface="Cambria Math" panose="02040503050406030204" pitchFamily="18" charset="0"/>
                      </a:rPr>
                      <m:t>)</m:t>
                    </m:r>
                    <m:r>
                      <m:rPr>
                        <m:nor/>
                      </m:rPr>
                      <a:rPr lang="en-ZA" b="0" i="0" smtClean="0">
                        <a:latin typeface="Cambria Math" panose="02040503050406030204" pitchFamily="18" charset="0"/>
                      </a:rPr>
                      <m:t> </m:t>
                    </m:r>
                    <m:r>
                      <m:rPr>
                        <m:nor/>
                      </m:rPr>
                      <a:rPr lang="en-ZA" dirty="0"/>
                      <m:t>and</m:t>
                    </m:r>
                    <m:r>
                      <m:rPr>
                        <m:nor/>
                      </m:rPr>
                      <a:rPr lang="en-ZA" dirty="0"/>
                      <m:t> </m:t>
                    </m:r>
                    <m:r>
                      <m:rPr>
                        <m:nor/>
                      </m:rPr>
                      <a:rPr lang="en-ZA" dirty="0"/>
                      <m:t>allocate</m:t>
                    </m:r>
                    <m:r>
                      <m:rPr>
                        <m:nor/>
                      </m:rPr>
                      <a:rPr lang="en-ZA" dirty="0"/>
                      <m:t> </m:t>
                    </m:r>
                    <m:r>
                      <a:rPr lang="en-ZA" i="1">
                        <a:latin typeface="Cambria Math" panose="02040503050406030204" pitchFamily="18" charset="0"/>
                      </a:rPr>
                      <m:t>𝑥</m:t>
                    </m:r>
                    <m:r>
                      <m:rPr>
                        <m:nor/>
                      </m:rPr>
                      <a:rPr lang="en-ZA" dirty="0"/>
                      <m:t> </m:t>
                    </m:r>
                    <m:r>
                      <m:rPr>
                        <m:nor/>
                      </m:rPr>
                      <a:rPr lang="en-ZA" dirty="0"/>
                      <m:t>to</m:t>
                    </m:r>
                    <m:r>
                      <m:rPr>
                        <m:nor/>
                      </m:rPr>
                      <a:rPr lang="en-ZA" dirty="0"/>
                      <m:t> </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𝜋</m:t>
                        </m:r>
                      </m:e>
                      <m:sub>
                        <m:r>
                          <a:rPr lang="en-ZA" i="1">
                            <a:latin typeface="Cambria Math" panose="02040503050406030204" pitchFamily="18" charset="0"/>
                          </a:rPr>
                          <m:t>𝑖</m:t>
                        </m:r>
                      </m:sub>
                    </m:sSub>
                    <m:r>
                      <m:rPr>
                        <m:nor/>
                      </m:rPr>
                      <a:rPr lang="en-ZA" dirty="0"/>
                      <m:t> </m:t>
                    </m:r>
                    <m:r>
                      <m:rPr>
                        <m:nor/>
                      </m:rPr>
                      <a:rPr lang="en-ZA" dirty="0"/>
                      <m:t>for</m:t>
                    </m:r>
                    <m:r>
                      <m:rPr>
                        <m:nor/>
                      </m:rPr>
                      <a:rPr lang="en-ZA" dirty="0"/>
                      <m:t> </m:t>
                    </m:r>
                    <m:r>
                      <m:rPr>
                        <m:nor/>
                      </m:rPr>
                      <a:rPr lang="en-ZA" dirty="0"/>
                      <m:t>which</m:t>
                    </m:r>
                    <m:r>
                      <m:rPr>
                        <m:nor/>
                      </m:rPr>
                      <a:rPr lang="en-ZA" dirty="0"/>
                      <m:t> </m:t>
                    </m:r>
                    <m:r>
                      <a:rPr lang="en-ZA">
                        <a:latin typeface="Cambria Math" panose="02040503050406030204" pitchFamily="18" charset="0"/>
                      </a:rPr>
                      <m:t>− </m:t>
                    </m:r>
                    <m:f>
                      <m:fPr>
                        <m:ctrlPr>
                          <a:rPr lang="en-ZA" i="1">
                            <a:latin typeface="Cambria Math" panose="02040503050406030204" pitchFamily="18" charset="0"/>
                          </a:rPr>
                        </m:ctrlPr>
                      </m:fPr>
                      <m:num>
                        <m:r>
                          <a:rPr lang="en-ZA" i="1">
                            <a:latin typeface="Cambria Math" panose="02040503050406030204" pitchFamily="18" charset="0"/>
                          </a:rPr>
                          <m:t>1</m:t>
                        </m:r>
                      </m:num>
                      <m:den>
                        <m:r>
                          <a:rPr lang="en-ZA" i="1">
                            <a:latin typeface="Cambria Math" panose="02040503050406030204" pitchFamily="18" charset="0"/>
                          </a:rPr>
                          <m:t>2</m:t>
                        </m:r>
                      </m:den>
                    </m:f>
                    <m:sSubSup>
                      <m:sSubSupPr>
                        <m:ctrlPr>
                          <a:rPr lang="en-ZA" i="1">
                            <a:latin typeface="Cambria Math" panose="02040503050406030204" pitchFamily="18" charset="0"/>
                          </a:rPr>
                        </m:ctrlPr>
                      </m:sSubSupPr>
                      <m:e>
                        <m:r>
                          <a:rPr lang="en-ZA" i="1">
                            <a:latin typeface="Cambria Math" panose="02040503050406030204" pitchFamily="18" charset="0"/>
                          </a:rPr>
                          <m:t>𝐷</m:t>
                        </m:r>
                      </m:e>
                      <m:sub>
                        <m:r>
                          <a:rPr lang="en-ZA" i="1">
                            <a:latin typeface="Cambria Math" panose="02040503050406030204" pitchFamily="18" charset="0"/>
                          </a:rPr>
                          <m:t>𝑖</m:t>
                        </m:r>
                      </m:sub>
                      <m:sup>
                        <m:r>
                          <a:rPr lang="en-ZA" i="1">
                            <a:latin typeface="Cambria Math" panose="02040503050406030204" pitchFamily="18" charset="0"/>
                          </a:rPr>
                          <m:t>2</m:t>
                        </m:r>
                      </m:sup>
                    </m:sSubSup>
                    <m:d>
                      <m:dPr>
                        <m:ctrlPr>
                          <a:rPr lang="en-ZA" i="1">
                            <a:latin typeface="Cambria Math" panose="02040503050406030204" pitchFamily="18" charset="0"/>
                          </a:rPr>
                        </m:ctrlPr>
                      </m:dPr>
                      <m:e>
                        <m:r>
                          <a:rPr lang="en-ZA" i="1">
                            <a:latin typeface="Cambria Math" panose="02040503050406030204" pitchFamily="18" charset="0"/>
                          </a:rPr>
                          <m:t>𝑥</m:t>
                        </m:r>
                      </m:e>
                    </m:d>
                    <m:r>
                      <a:rPr lang="en-ZA" i="1">
                        <a:latin typeface="Cambria Math" panose="02040503050406030204" pitchFamily="18" charset="0"/>
                      </a:rPr>
                      <m:t>+</m:t>
                    </m:r>
                    <m:func>
                      <m:funcPr>
                        <m:ctrlPr>
                          <a:rPr lang="en-ZA" i="1">
                            <a:latin typeface="Cambria Math" panose="02040503050406030204" pitchFamily="18" charset="0"/>
                          </a:rPr>
                        </m:ctrlPr>
                      </m:funcPr>
                      <m:fName>
                        <m:r>
                          <m:rPr>
                            <m:sty m:val="p"/>
                          </m:rPr>
                          <a:rPr lang="en-ZA">
                            <a:latin typeface="Cambria Math" panose="02040503050406030204" pitchFamily="18" charset="0"/>
                          </a:rPr>
                          <m:t>ln</m:t>
                        </m:r>
                      </m:fName>
                      <m:e>
                        <m:r>
                          <a:rPr lang="en-ZA" i="1">
                            <a:latin typeface="Cambria Math" panose="02040503050406030204" pitchFamily="18" charset="0"/>
                          </a:rPr>
                          <m:t>𝑝</m:t>
                        </m:r>
                      </m:e>
                    </m:func>
                    <m:r>
                      <m:rPr>
                        <m:nor/>
                      </m:rPr>
                      <a:rPr lang="en-ZA" dirty="0"/>
                      <m:t> </m:t>
                    </m:r>
                    <m:r>
                      <m:rPr>
                        <m:nor/>
                      </m:rPr>
                      <a:rPr lang="en-ZA" dirty="0"/>
                      <m:t>is</m:t>
                    </m:r>
                    <m:r>
                      <m:rPr>
                        <m:nor/>
                      </m:rPr>
                      <a:rPr lang="en-ZA" dirty="0"/>
                      <m:t> </m:t>
                    </m:r>
                    <m:r>
                      <m:rPr>
                        <m:nor/>
                      </m:rPr>
                      <a:rPr lang="en-ZA" dirty="0"/>
                      <m:t>the</m:t>
                    </m:r>
                    <m:r>
                      <m:rPr>
                        <m:nor/>
                      </m:rPr>
                      <a:rPr lang="en-ZA" dirty="0"/>
                      <m:t> </m:t>
                    </m:r>
                    <m:r>
                      <m:rPr>
                        <m:nor/>
                      </m:rPr>
                      <a:rPr lang="en-ZA" dirty="0"/>
                      <m:t>largest</m:t>
                    </m:r>
                    <m:r>
                      <m:rPr>
                        <m:nor/>
                      </m:rPr>
                      <a:rPr lang="en-ZA" b="0" i="0" dirty="0" smtClean="0"/>
                      <m:t> </m:t>
                    </m:r>
                    <m:r>
                      <m:rPr>
                        <m:nor/>
                      </m:rPr>
                      <a:rPr lang="en-ZA" b="0" i="0" dirty="0" smtClean="0"/>
                      <m:t>or</m:t>
                    </m:r>
                    <m:r>
                      <m:rPr>
                        <m:nor/>
                      </m:rPr>
                      <a:rPr lang="en-ZA" b="0" i="0" dirty="0" smtClean="0"/>
                      <m:t> </m:t>
                    </m:r>
                    <m:r>
                      <m:rPr>
                        <m:nor/>
                      </m:rPr>
                      <a:rPr lang="en-ZA" b="0" i="0" dirty="0" smtClean="0"/>
                      <m:t>use</m:t>
                    </m:r>
                    <m:r>
                      <m:rPr>
                        <m:nor/>
                      </m:rPr>
                      <a:rPr lang="en-ZA" b="0" i="0" dirty="0" smtClean="0"/>
                      <m:t> </m:t>
                    </m:r>
                    <m:r>
                      <m:rPr>
                        <m:nor/>
                      </m:rPr>
                      <a:rPr lang="en-ZA" b="0" i="0" dirty="0" smtClean="0"/>
                      <m:t>Fisher</m:t>
                    </m:r>
                    <m:r>
                      <m:rPr>
                        <m:nor/>
                      </m:rPr>
                      <a:rPr lang="en-ZA" b="0" i="0" dirty="0" smtClean="0"/>
                      <m:t>′</m:t>
                    </m:r>
                    <m:r>
                      <m:rPr>
                        <m:nor/>
                      </m:rPr>
                      <a:rPr lang="en-ZA" b="0" i="0" dirty="0" smtClean="0"/>
                      <m:t>s</m:t>
                    </m:r>
                    <m:r>
                      <m:rPr>
                        <m:nor/>
                      </m:rPr>
                      <a:rPr lang="en-ZA" b="0" i="0" dirty="0" smtClean="0"/>
                      <m:t> </m:t>
                    </m:r>
                    <m:r>
                      <m:rPr>
                        <m:nor/>
                      </m:rPr>
                      <a:rPr lang="en-ZA" b="0" i="0" dirty="0" smtClean="0"/>
                      <m:t>method</m:t>
                    </m:r>
                  </m:oMath>
                </a14:m>
                <a:r>
                  <a:rPr lang="en-ZA" dirty="0" smtClean="0"/>
                  <a:t> </a:t>
                </a:r>
                <a14:m>
                  <m:oMath xmlns:m="http://schemas.openxmlformats.org/officeDocument/2006/math">
                    <m:nary>
                      <m:naryPr>
                        <m:chr m:val="∑"/>
                        <m:ctrlPr>
                          <a:rPr lang="en-ZA" i="1">
                            <a:latin typeface="Cambria Math" panose="02040503050406030204" pitchFamily="18" charset="0"/>
                          </a:rPr>
                        </m:ctrlPr>
                      </m:naryPr>
                      <m:sub>
                        <m:r>
                          <m:rPr>
                            <m:brk m:alnAt="23"/>
                          </m:rPr>
                          <a:rPr lang="en-ZA" i="1">
                            <a:latin typeface="Cambria Math" panose="02040503050406030204" pitchFamily="18" charset="0"/>
                          </a:rPr>
                          <m:t>𝑗</m:t>
                        </m:r>
                        <m:r>
                          <a:rPr lang="en-ZA" i="1">
                            <a:latin typeface="Cambria Math" panose="02040503050406030204" pitchFamily="18" charset="0"/>
                          </a:rPr>
                          <m:t>=1</m:t>
                        </m:r>
                      </m:sub>
                      <m:sup>
                        <m:r>
                          <a:rPr lang="en-ZA" i="1">
                            <a:latin typeface="Cambria Math" panose="02040503050406030204" pitchFamily="18" charset="0"/>
                          </a:rPr>
                          <m:t>𝑟</m:t>
                        </m:r>
                      </m:sup>
                      <m:e>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𝑦</m:t>
                                </m:r>
                              </m:e>
                            </m:acc>
                          </m:e>
                          <m:sub>
                            <m:r>
                              <a:rPr lang="en-ZA" i="1">
                                <a:latin typeface="Cambria Math" panose="02040503050406030204" pitchFamily="18" charset="0"/>
                              </a:rPr>
                              <m:t>𝑗</m:t>
                            </m:r>
                          </m:sub>
                        </m:sSub>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𝑦</m:t>
                                </m:r>
                              </m:e>
                            </m:acc>
                          </m:e>
                          <m:sub>
                            <m:r>
                              <a:rPr lang="en-ZA" i="1">
                                <a:latin typeface="Cambria Math" panose="02040503050406030204" pitchFamily="18" charset="0"/>
                              </a:rPr>
                              <m:t>𝑘𝑗</m:t>
                            </m:r>
                          </m:sub>
                        </m:sSub>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2</m:t>
                            </m:r>
                          </m:sup>
                        </m:sSup>
                        <m:r>
                          <a:rPr lang="en-ZA" i="1">
                            <a:latin typeface="Cambria Math" panose="02040503050406030204" pitchFamily="18" charset="0"/>
                          </a:rPr>
                          <m:t>=</m:t>
                        </m:r>
                        <m:nary>
                          <m:naryPr>
                            <m:chr m:val="∑"/>
                            <m:ctrlPr>
                              <a:rPr lang="en-ZA" i="1">
                                <a:latin typeface="Cambria Math" panose="02040503050406030204" pitchFamily="18" charset="0"/>
                              </a:rPr>
                            </m:ctrlPr>
                          </m:naryPr>
                          <m:sub>
                            <m:r>
                              <m:rPr>
                                <m:brk m:alnAt="23"/>
                              </m:rPr>
                              <a:rPr lang="en-ZA" i="1">
                                <a:latin typeface="Cambria Math" panose="02040503050406030204" pitchFamily="18" charset="0"/>
                              </a:rPr>
                              <m:t>𝑗</m:t>
                            </m:r>
                            <m:r>
                              <a:rPr lang="en-ZA" i="1">
                                <a:latin typeface="Cambria Math" panose="02040503050406030204" pitchFamily="18" charset="0"/>
                              </a:rPr>
                              <m:t>=1</m:t>
                            </m:r>
                          </m:sub>
                          <m:sup>
                            <m:r>
                              <a:rPr lang="en-ZA" i="1">
                                <a:latin typeface="Cambria Math" panose="02040503050406030204" pitchFamily="18" charset="0"/>
                              </a:rPr>
                              <m:t>𝑟</m:t>
                            </m:r>
                          </m:sup>
                          <m:e>
                            <m:r>
                              <a:rPr lang="en-ZA" i="1">
                                <a:latin typeface="Cambria Math" panose="02040503050406030204" pitchFamily="18" charset="0"/>
                              </a:rPr>
                              <m:t>[</m:t>
                            </m:r>
                            <m:sSubSup>
                              <m:sSubSupPr>
                                <m:ctrlPr>
                                  <a:rPr lang="en-ZA" i="1">
                                    <a:latin typeface="Cambria Math" panose="02040503050406030204" pitchFamily="18" charset="0"/>
                                  </a:rPr>
                                </m:ctrlPr>
                              </m:sSubSupPr>
                              <m:e>
                                <m:acc>
                                  <m:accPr>
                                    <m:chr m:val="̂"/>
                                    <m:ctrlPr>
                                      <a:rPr lang="en-ZA" i="1">
                                        <a:latin typeface="Cambria Math" panose="02040503050406030204" pitchFamily="18" charset="0"/>
                                      </a:rPr>
                                    </m:ctrlPr>
                                  </m:accPr>
                                  <m:e>
                                    <m:r>
                                      <a:rPr lang="en-ZA" i="1">
                                        <a:latin typeface="Cambria Math" panose="02040503050406030204" pitchFamily="18" charset="0"/>
                                      </a:rPr>
                                      <m:t>𝑎</m:t>
                                    </m:r>
                                  </m:e>
                                </m:acc>
                              </m:e>
                              <m:sub>
                                <m:r>
                                  <a:rPr lang="en-ZA" i="1">
                                    <a:latin typeface="Cambria Math" panose="02040503050406030204" pitchFamily="18" charset="0"/>
                                  </a:rPr>
                                  <m:t>𝑗</m:t>
                                </m:r>
                              </m:sub>
                              <m:sup>
                                <m:r>
                                  <a:rPr lang="en-ZA" i="1">
                                    <a:latin typeface="Cambria Math" panose="02040503050406030204" pitchFamily="18" charset="0"/>
                                  </a:rPr>
                                  <m:t>′</m:t>
                                </m:r>
                              </m:sup>
                            </m:sSubSup>
                            <m:r>
                              <a:rPr lang="en-ZA" i="1">
                                <a:latin typeface="Cambria Math" panose="02040503050406030204" pitchFamily="18" charset="0"/>
                              </a:rPr>
                              <m:t>(</m:t>
                            </m:r>
                            <m:r>
                              <a:rPr lang="en-ZA" i="1">
                                <a:latin typeface="Cambria Math" panose="02040503050406030204" pitchFamily="18" charset="0"/>
                              </a:rPr>
                              <m:t>𝑥</m:t>
                            </m:r>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𝑘</m:t>
                                </m:r>
                              </m:sub>
                            </m:sSub>
                            <m:r>
                              <a:rPr lang="en-ZA" i="1">
                                <a:latin typeface="Cambria Math" panose="02040503050406030204" pitchFamily="18" charset="0"/>
                              </a:rPr>
                              <m:t>)</m:t>
                            </m:r>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2</m:t>
                                </m:r>
                              </m:sup>
                            </m:sSup>
                            <m:r>
                              <a:rPr lang="en-ZA" i="1">
                                <a:latin typeface="Cambria Math" panose="02040503050406030204" pitchFamily="18" charset="0"/>
                                <a:ea typeface="Cambria Math" panose="02040503050406030204" pitchFamily="18" charset="0"/>
                              </a:rPr>
                              <m:t>≤</m:t>
                            </m:r>
                            <m:nary>
                              <m:naryPr>
                                <m:chr m:val="∑"/>
                                <m:ctrlPr>
                                  <a:rPr lang="en-ZA" i="1">
                                    <a:latin typeface="Cambria Math" panose="02040503050406030204" pitchFamily="18" charset="0"/>
                                  </a:rPr>
                                </m:ctrlPr>
                              </m:naryPr>
                              <m:sub>
                                <m:r>
                                  <m:rPr>
                                    <m:brk m:alnAt="23"/>
                                  </m:rPr>
                                  <a:rPr lang="en-ZA" i="1">
                                    <a:latin typeface="Cambria Math" panose="02040503050406030204" pitchFamily="18" charset="0"/>
                                  </a:rPr>
                                  <m:t>𝑗</m:t>
                                </m:r>
                                <m:r>
                                  <a:rPr lang="en-ZA" i="1">
                                    <a:latin typeface="Cambria Math" panose="02040503050406030204" pitchFamily="18" charset="0"/>
                                  </a:rPr>
                                  <m:t>=1</m:t>
                                </m:r>
                              </m:sub>
                              <m:sup>
                                <m:r>
                                  <a:rPr lang="en-ZA" i="1">
                                    <a:latin typeface="Cambria Math" panose="02040503050406030204" pitchFamily="18" charset="0"/>
                                  </a:rPr>
                                  <m:t>𝑟</m:t>
                                </m:r>
                              </m:sup>
                              <m:e>
                                <m:r>
                                  <a:rPr lang="en-ZA" i="1">
                                    <a:latin typeface="Cambria Math" panose="02040503050406030204" pitchFamily="18" charset="0"/>
                                  </a:rPr>
                                  <m:t>[</m:t>
                                </m:r>
                                <m:sSubSup>
                                  <m:sSubSupPr>
                                    <m:ctrlPr>
                                      <a:rPr lang="en-ZA" i="1">
                                        <a:latin typeface="Cambria Math" panose="02040503050406030204" pitchFamily="18" charset="0"/>
                                      </a:rPr>
                                    </m:ctrlPr>
                                  </m:sSubSupPr>
                                  <m:e>
                                    <m:acc>
                                      <m:accPr>
                                        <m:chr m:val="̂"/>
                                        <m:ctrlPr>
                                          <a:rPr lang="en-ZA" i="1">
                                            <a:latin typeface="Cambria Math" panose="02040503050406030204" pitchFamily="18" charset="0"/>
                                          </a:rPr>
                                        </m:ctrlPr>
                                      </m:accPr>
                                      <m:e>
                                        <m:r>
                                          <a:rPr lang="en-ZA" i="1">
                                            <a:latin typeface="Cambria Math" panose="02040503050406030204" pitchFamily="18" charset="0"/>
                                          </a:rPr>
                                          <m:t>𝑎</m:t>
                                        </m:r>
                                      </m:e>
                                    </m:acc>
                                  </m:e>
                                  <m:sub>
                                    <m:r>
                                      <a:rPr lang="en-ZA" i="1">
                                        <a:latin typeface="Cambria Math" panose="02040503050406030204" pitchFamily="18" charset="0"/>
                                      </a:rPr>
                                      <m:t>𝑗</m:t>
                                    </m:r>
                                  </m:sub>
                                  <m:sup>
                                    <m:r>
                                      <a:rPr lang="en-ZA" i="1">
                                        <a:latin typeface="Cambria Math" panose="02040503050406030204" pitchFamily="18" charset="0"/>
                                      </a:rPr>
                                      <m:t>′</m:t>
                                    </m:r>
                                  </m:sup>
                                </m:sSubSup>
                                <m:r>
                                  <a:rPr lang="en-ZA" i="1">
                                    <a:latin typeface="Cambria Math" panose="02040503050406030204" pitchFamily="18" charset="0"/>
                                  </a:rPr>
                                  <m:t>(</m:t>
                                </m:r>
                                <m:r>
                                  <a:rPr lang="en-ZA" i="1">
                                    <a:latin typeface="Cambria Math" panose="02040503050406030204" pitchFamily="18" charset="0"/>
                                  </a:rPr>
                                  <m:t>𝑥</m:t>
                                </m:r>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sub>
                                </m:sSub>
                                <m:r>
                                  <a:rPr lang="en-ZA" i="1">
                                    <a:latin typeface="Cambria Math" panose="02040503050406030204" pitchFamily="18" charset="0"/>
                                  </a:rPr>
                                  <m:t>)</m:t>
                                </m:r>
                                <m:sSup>
                                  <m:sSupPr>
                                    <m:ctrlPr>
                                      <a:rPr lang="en-ZA" i="1">
                                        <a:latin typeface="Cambria Math" panose="02040503050406030204" pitchFamily="18" charset="0"/>
                                      </a:rPr>
                                    </m:ctrlPr>
                                  </m:sSupPr>
                                  <m:e>
                                    <m:r>
                                      <a:rPr lang="en-ZA" i="1">
                                        <a:latin typeface="Cambria Math" panose="02040503050406030204" pitchFamily="18" charset="0"/>
                                      </a:rPr>
                                      <m:t>]</m:t>
                                    </m:r>
                                  </m:e>
                                  <m:sup>
                                    <m:r>
                                      <a:rPr lang="en-ZA" i="1">
                                        <a:latin typeface="Cambria Math" panose="02040503050406030204" pitchFamily="18" charset="0"/>
                                      </a:rPr>
                                      <m:t>2</m:t>
                                    </m:r>
                                  </m:sup>
                                </m:sSup>
                              </m:e>
                            </m:nary>
                          </m:e>
                        </m:nary>
                        <m:r>
                          <a:rPr lang="en-ZA" i="1">
                            <a:latin typeface="Cambria Math" panose="02040503050406030204" pitchFamily="18" charset="0"/>
                          </a:rPr>
                          <m:t> </m:t>
                        </m:r>
                        <m:r>
                          <a:rPr lang="en-ZA" i="1">
                            <a:latin typeface="Cambria Math" panose="02040503050406030204" pitchFamily="18" charset="0"/>
                          </a:rPr>
                          <m:t>𝑓𝑜𝑟</m:t>
                        </m:r>
                        <m:r>
                          <a:rPr lang="en-ZA" i="1">
                            <a:latin typeface="Cambria Math" panose="02040503050406030204" pitchFamily="18" charset="0"/>
                          </a:rPr>
                          <m:t> </m:t>
                        </m:r>
                        <m:r>
                          <a:rPr lang="en-ZA" i="1">
                            <a:latin typeface="Cambria Math" panose="02040503050406030204" pitchFamily="18" charset="0"/>
                          </a:rPr>
                          <m:t>𝑖</m:t>
                        </m:r>
                        <m:r>
                          <a:rPr lang="en-ZA" i="1">
                            <a:latin typeface="Cambria Math" panose="02040503050406030204" pitchFamily="18" charset="0"/>
                            <a:ea typeface="Cambria Math" panose="02040503050406030204" pitchFamily="18" charset="0"/>
                          </a:rPr>
                          <m:t>≠</m:t>
                        </m:r>
                        <m:r>
                          <a:rPr lang="en-ZA" i="1">
                            <a:latin typeface="Cambria Math" panose="02040503050406030204" pitchFamily="18" charset="0"/>
                            <a:ea typeface="Cambria Math" panose="02040503050406030204" pitchFamily="18" charset="0"/>
                          </a:rPr>
                          <m:t>𝑘</m:t>
                        </m:r>
                      </m:e>
                    </m:nary>
                    <m:r>
                      <a:rPr lang="en-ZA" i="1">
                        <a:latin typeface="Cambria Math" panose="02040503050406030204" pitchFamily="18" charset="0"/>
                      </a:rPr>
                      <m:t>.</m:t>
                    </m:r>
                  </m:oMath>
                </a14:m>
                <a:endParaRPr lang="en-ZA" dirty="0"/>
              </a:p>
            </p:txBody>
          </p:sp>
        </mc:Choice>
        <mc:Fallback xmlns="">
          <p:sp>
            <p:nvSpPr>
              <p:cNvPr id="2" name="TextBox 1"/>
              <p:cNvSpPr txBox="1">
                <a:spLocks noRot="1" noChangeAspect="1" noMove="1" noResize="1" noEditPoints="1" noAdjustHandles="1" noChangeArrowheads="1" noChangeShapeType="1" noTextEdit="1"/>
              </p:cNvSpPr>
              <p:nvPr/>
            </p:nvSpPr>
            <p:spPr>
              <a:xfrm>
                <a:off x="133350" y="158750"/>
                <a:ext cx="11957050" cy="6470554"/>
              </a:xfrm>
              <a:prstGeom prst="rect">
                <a:avLst/>
              </a:prstGeom>
              <a:blipFill rotWithShape="0">
                <a:blip r:embed="rId2"/>
                <a:stretch>
                  <a:fillRect l="-2802" t="-376" b="-9219"/>
                </a:stretch>
              </a:blipFill>
            </p:spPr>
            <p:txBody>
              <a:bodyPr/>
              <a:lstStyle/>
              <a:p>
                <a:r>
                  <a:rPr lang="en-ZA">
                    <a:noFill/>
                  </a:rPr>
                  <a:t> </a:t>
                </a:r>
              </a:p>
            </p:txBody>
          </p:sp>
        </mc:Fallback>
      </mc:AlternateContent>
      <p:sp>
        <p:nvSpPr>
          <p:cNvPr id="3" name="Right Brace 2"/>
          <p:cNvSpPr/>
          <p:nvPr/>
        </p:nvSpPr>
        <p:spPr>
          <a:xfrm rot="16200000" flipH="1">
            <a:off x="5822952" y="2036766"/>
            <a:ext cx="431800" cy="121602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ZA"/>
          </a:p>
        </p:txBody>
      </p:sp>
      <p:sp>
        <p:nvSpPr>
          <p:cNvPr id="4" name="Right Brace 3"/>
          <p:cNvSpPr/>
          <p:nvPr/>
        </p:nvSpPr>
        <p:spPr>
          <a:xfrm rot="16200000" flipH="1">
            <a:off x="8125622" y="1550197"/>
            <a:ext cx="431800" cy="218916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ZA"/>
          </a:p>
        </p:txBody>
      </p:sp>
      <p:sp>
        <p:nvSpPr>
          <p:cNvPr id="5" name="Oval Callout 4"/>
          <p:cNvSpPr/>
          <p:nvPr/>
        </p:nvSpPr>
        <p:spPr>
          <a:xfrm>
            <a:off x="10820400" y="209550"/>
            <a:ext cx="1155700" cy="889000"/>
          </a:xfrm>
          <a:prstGeom prst="wedgeEllipseCallout">
            <a:avLst>
              <a:gd name="adj1" fmla="val -95009"/>
              <a:gd name="adj2" fmla="val 49643"/>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All you need on one page!</a:t>
            </a:r>
            <a:endParaRPr lang="en-ZA" sz="1100" dirty="0"/>
          </a:p>
        </p:txBody>
      </p:sp>
    </p:spTree>
    <p:extLst>
      <p:ext uri="{BB962C8B-B14F-4D97-AF65-F5344CB8AC3E}">
        <p14:creationId xmlns:p14="http://schemas.microsoft.com/office/powerpoint/2010/main" val="4073657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133350" y="222250"/>
                <a:ext cx="11798300" cy="5565498"/>
              </a:xfrm>
              <a:prstGeom prst="rect">
                <a:avLst/>
              </a:prstGeom>
              <a:noFill/>
              <a:ln>
                <a:solidFill>
                  <a:schemeClr val="accent3"/>
                </a:solidFill>
              </a:ln>
            </p:spPr>
            <p:txBody>
              <a:bodyPr wrap="square" rtlCol="0">
                <a:spAutoFit/>
              </a:bodyPr>
              <a:lstStyle/>
              <a:p>
                <a:r>
                  <a:rPr lang="en-ZA" dirty="0" smtClean="0"/>
                  <a:t>Class exercises 1: (Johnson &amp; Wichern 11.10)</a:t>
                </a:r>
              </a:p>
              <a:p>
                <a:endParaRPr lang="en-ZA" dirty="0"/>
              </a:p>
              <a:p>
                <a:r>
                  <a:rPr lang="en-ZA" dirty="0" smtClean="0"/>
                  <a:t>You can do this by hand or from first principle in R.</a:t>
                </a:r>
              </a:p>
              <a:p>
                <a:endParaRPr lang="en-ZA" dirty="0"/>
              </a:p>
              <a:p>
                <a:r>
                  <a:rPr lang="en-ZA" dirty="0" smtClean="0"/>
                  <a:t>Given random samples from  3 populations with sample mean vectors, covariance matrices and prior probabilities as follows:</a:t>
                </a:r>
              </a:p>
              <a:p>
                <a:pPr/>
                <a14:m>
                  <m:oMathPara xmlns:m="http://schemas.openxmlformats.org/officeDocument/2006/math">
                    <m:oMathParaPr>
                      <m:jc m:val="centerGroup"/>
                    </m:oMathParaPr>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r>
                        <a:rPr lang="en-ZA" b="0" i="1" smtClean="0">
                          <a:latin typeface="Cambria Math" panose="02040503050406030204" pitchFamily="18" charset="0"/>
                        </a:rPr>
                        <m:t>:  </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𝑋</m:t>
                          </m:r>
                        </m:e>
                        <m:sub>
                          <m:r>
                            <a:rPr lang="en-ZA" b="0" i="1" smtClean="0">
                              <a:latin typeface="Cambria Math" panose="02040503050406030204" pitchFamily="18" charset="0"/>
                            </a:rPr>
                            <m:t>1</m:t>
                          </m:r>
                        </m:sub>
                      </m:sSub>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2"/>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m:t>
                                </m:r>
                                <m:r>
                                  <a:rPr lang="en-ZA" b="0" i="1" smtClean="0">
                                    <a:latin typeface="Cambria Math" panose="02040503050406030204" pitchFamily="18" charset="0"/>
                                  </a:rPr>
                                  <m:t>2</m:t>
                                </m:r>
                              </m:e>
                              <m:e>
                                <m:r>
                                  <a:rPr lang="en-ZA" b="0" i="1" smtClean="0">
                                    <a:latin typeface="Cambria Math" panose="02040503050406030204" pitchFamily="18" charset="0"/>
                                  </a:rPr>
                                  <m:t>5</m:t>
                                </m:r>
                              </m:e>
                            </m:mr>
                            <m:mr>
                              <m:e>
                                <m:r>
                                  <a:rPr lang="en-ZA" b="0" i="1" smtClean="0">
                                    <a:latin typeface="Cambria Math" panose="02040503050406030204" pitchFamily="18" charset="0"/>
                                  </a:rPr>
                                  <m:t>0</m:t>
                                </m:r>
                              </m:e>
                              <m:e>
                                <m:r>
                                  <a:rPr lang="en-ZA" b="0" i="1" smtClean="0">
                                    <a:latin typeface="Cambria Math" panose="02040503050406030204" pitchFamily="18" charset="0"/>
                                  </a:rPr>
                                  <m:t>3</m:t>
                                </m:r>
                              </m:e>
                            </m:mr>
                            <m:mr>
                              <m:e>
                                <m:r>
                                  <a:rPr lang="en-ZA" b="0" i="1" smtClean="0">
                                    <a:latin typeface="Cambria Math" panose="02040503050406030204" pitchFamily="18" charset="0"/>
                                  </a:rPr>
                                  <m:t>−1</m:t>
                                </m:r>
                              </m:e>
                              <m:e>
                                <m:r>
                                  <a:rPr lang="en-ZA" b="0" i="1" smtClean="0">
                                    <a:latin typeface="Cambria Math" panose="02040503050406030204" pitchFamily="18" charset="0"/>
                                  </a:rPr>
                                  <m:t>1</m:t>
                                </m:r>
                              </m:e>
                            </m:mr>
                          </m:m>
                        </m:e>
                      </m:d>
                      <m:r>
                        <a:rPr lang="en-ZA" b="0" i="1" smtClean="0">
                          <a:latin typeface="Cambria Math" panose="02040503050406030204" pitchFamily="18" charset="0"/>
                        </a:rPr>
                        <m:t>   </m:t>
                      </m:r>
                      <m:r>
                        <a:rPr lang="en-ZA" b="0" i="1" smtClean="0">
                          <a:latin typeface="Cambria Math" panose="02040503050406030204" pitchFamily="18" charset="0"/>
                        </a:rPr>
                        <m:t>𝑤𝑖𝑡h</m:t>
                      </m:r>
                      <m:r>
                        <a:rPr lang="en-ZA" b="0" i="1" smtClean="0">
                          <a:latin typeface="Cambria Math" panose="02040503050406030204" pitchFamily="18" charset="0"/>
                        </a:rPr>
                        <m:t> </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1</m:t>
                          </m:r>
                        </m:sub>
                      </m:sSub>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1"/>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m:t>
                                </m:r>
                                <m:r>
                                  <a:rPr lang="en-ZA" b="0" i="1" smtClean="0">
                                    <a:latin typeface="Cambria Math" panose="02040503050406030204" pitchFamily="18" charset="0"/>
                                  </a:rPr>
                                  <m:t>1</m:t>
                                </m:r>
                              </m:e>
                            </m:mr>
                            <m:mr>
                              <m:e>
                                <m:r>
                                  <a:rPr lang="en-ZA" b="0" i="1" smtClean="0">
                                    <a:latin typeface="Cambria Math" panose="02040503050406030204" pitchFamily="18" charset="0"/>
                                  </a:rPr>
                                  <m:t>3</m:t>
                                </m:r>
                              </m:e>
                            </m:mr>
                          </m:m>
                        </m:e>
                      </m:d>
                      <m:r>
                        <a:rPr lang="en-ZA" b="0" i="1" smtClean="0">
                          <a:latin typeface="Cambria Math" panose="02040503050406030204" pitchFamily="18" charset="0"/>
                        </a:rPr>
                        <m:t>    </m:t>
                      </m:r>
                      <m:r>
                        <a:rPr lang="en-ZA" b="0" i="1" smtClean="0">
                          <a:latin typeface="Cambria Math" panose="02040503050406030204" pitchFamily="18" charset="0"/>
                        </a:rPr>
                        <m:t>𝑎𝑛𝑑</m:t>
                      </m:r>
                      <m:r>
                        <a:rPr lang="en-ZA" b="0" i="1" smtClean="0">
                          <a:latin typeface="Cambria Math" panose="02040503050406030204" pitchFamily="18" charset="0"/>
                        </a:rPr>
                        <m:t>   </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𝑆</m:t>
                          </m:r>
                        </m:e>
                        <m:sub>
                          <m:r>
                            <a:rPr lang="en-ZA" b="0" i="1" smtClean="0">
                              <a:latin typeface="Cambria Math" panose="02040503050406030204" pitchFamily="18" charset="0"/>
                            </a:rPr>
                            <m:t>1</m:t>
                          </m:r>
                        </m:sub>
                      </m:sSub>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2"/>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1</m:t>
                                </m:r>
                              </m:e>
                              <m:e>
                                <m:r>
                                  <a:rPr lang="en-ZA" b="0" i="1" smtClean="0">
                                    <a:latin typeface="Cambria Math" panose="02040503050406030204" pitchFamily="18" charset="0"/>
                                  </a:rPr>
                                  <m:t>−1</m:t>
                                </m:r>
                              </m:e>
                            </m:mr>
                            <m:mr>
                              <m:e>
                                <m:r>
                                  <a:rPr lang="en-ZA" b="0" i="1" smtClean="0">
                                    <a:latin typeface="Cambria Math" panose="02040503050406030204" pitchFamily="18" charset="0"/>
                                  </a:rPr>
                                  <m:t>−1</m:t>
                                </m:r>
                              </m:e>
                              <m:e>
                                <m:r>
                                  <a:rPr lang="en-ZA" b="0" i="1" smtClean="0">
                                    <a:latin typeface="Cambria Math" panose="02040503050406030204" pitchFamily="18" charset="0"/>
                                  </a:rPr>
                                  <m:t>4</m:t>
                                </m:r>
                              </m:e>
                            </m:mr>
                          </m:m>
                        </m:e>
                      </m:d>
                      <m:r>
                        <a:rPr lang="en-ZA" b="0" i="1" smtClean="0">
                          <a:latin typeface="Cambria Math" panose="02040503050406030204" pitchFamily="18" charset="0"/>
                        </a:rPr>
                        <m:t>   </m:t>
                      </m:r>
                      <m:r>
                        <a:rPr lang="en-ZA" b="0" i="1" smtClean="0">
                          <a:latin typeface="Cambria Math" panose="02040503050406030204" pitchFamily="18" charset="0"/>
                        </a:rPr>
                        <m:t>𝑎𝑛𝑑</m:t>
                      </m:r>
                      <m:r>
                        <a:rPr lang="en-ZA" b="0" i="1" smtClean="0">
                          <a:latin typeface="Cambria Math" panose="02040503050406030204" pitchFamily="18" charset="0"/>
                        </a:rPr>
                        <m:t>  </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1</m:t>
                          </m:r>
                        </m:sub>
                      </m:sSub>
                      <m:r>
                        <a:rPr lang="en-ZA" b="0" i="1" smtClean="0">
                          <a:latin typeface="Cambria Math" panose="02040503050406030204" pitchFamily="18" charset="0"/>
                        </a:rPr>
                        <m:t>=0.25</m:t>
                      </m:r>
                    </m:oMath>
                  </m:oMathPara>
                </a14:m>
                <a:endParaRPr lang="en-ZA" dirty="0" smtClean="0"/>
              </a:p>
              <a:p>
                <a:pPr/>
                <a14:m>
                  <m:oMathPara xmlns:m="http://schemas.openxmlformats.org/officeDocument/2006/math">
                    <m:oMathParaPr>
                      <m:jc m:val="centerGroup"/>
                    </m:oMathParaPr>
                    <m:oMath xmlns:m="http://schemas.openxmlformats.org/officeDocument/2006/math">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2</m:t>
                          </m:r>
                        </m:sub>
                      </m:sSub>
                      <m:r>
                        <a:rPr lang="en-ZA" i="1">
                          <a:latin typeface="Cambria Math" panose="02040503050406030204" pitchFamily="18" charset="0"/>
                        </a:rPr>
                        <m:t>: </m:t>
                      </m:r>
                      <m:r>
                        <a:rPr lang="en-ZA" b="0" i="1" smtClean="0">
                          <a:latin typeface="Cambria Math" panose="02040503050406030204" pitchFamily="18" charset="0"/>
                        </a:rPr>
                        <m:t>     </m:t>
                      </m:r>
                      <m:r>
                        <a:rPr lang="en-ZA" i="1">
                          <a:latin typeface="Cambria Math" panose="02040503050406030204" pitchFamily="18" charset="0"/>
                        </a:rPr>
                        <m:t> </m:t>
                      </m:r>
                      <m:sSub>
                        <m:sSubPr>
                          <m:ctrlPr>
                            <a:rPr lang="en-ZA" i="1">
                              <a:latin typeface="Cambria Math" panose="02040503050406030204" pitchFamily="18" charset="0"/>
                            </a:rPr>
                          </m:ctrlPr>
                        </m:sSubPr>
                        <m:e>
                          <m:r>
                            <a:rPr lang="en-ZA" i="1">
                              <a:latin typeface="Cambria Math" panose="02040503050406030204" pitchFamily="18" charset="0"/>
                            </a:rPr>
                            <m:t>𝑋</m:t>
                          </m:r>
                        </m:e>
                        <m:sub>
                          <m:r>
                            <a:rPr lang="en-ZA" b="0" i="1" smtClean="0">
                              <a:latin typeface="Cambria Math" panose="02040503050406030204" pitchFamily="18" charset="0"/>
                            </a:rPr>
                            <m:t>2</m:t>
                          </m:r>
                        </m:sub>
                      </m:sSub>
                      <m:r>
                        <a:rPr lang="en-ZA" i="1">
                          <a:latin typeface="Cambria Math" panose="02040503050406030204" pitchFamily="18" charset="0"/>
                        </a:rPr>
                        <m:t>=</m:t>
                      </m:r>
                      <m:d>
                        <m:dPr>
                          <m:begChr m:val="["/>
                          <m:endChr m:val="]"/>
                          <m:ctrlPr>
                            <a:rPr lang="en-ZA" i="1">
                              <a:latin typeface="Cambria Math" panose="02040503050406030204" pitchFamily="18" charset="0"/>
                            </a:rPr>
                          </m:ctrlPr>
                        </m:dPr>
                        <m:e>
                          <m:m>
                            <m:mPr>
                              <m:mcs>
                                <m:mc>
                                  <m:mcPr>
                                    <m:count m:val="2"/>
                                    <m:mcJc m:val="center"/>
                                  </m:mcPr>
                                </m:mc>
                              </m:mcs>
                              <m:ctrlPr>
                                <a:rPr lang="en-ZA" i="1" smtClean="0">
                                  <a:latin typeface="Cambria Math" panose="02040503050406030204" pitchFamily="18" charset="0"/>
                                </a:rPr>
                              </m:ctrlPr>
                            </m:mPr>
                            <m:mr>
                              <m:e>
                                <m:r>
                                  <m:rPr>
                                    <m:brk m:alnAt="7"/>
                                  </m:rPr>
                                  <a:rPr lang="en-ZA" b="0" i="1" smtClean="0">
                                    <a:latin typeface="Cambria Math" panose="02040503050406030204" pitchFamily="18" charset="0"/>
                                  </a:rPr>
                                  <m:t>0</m:t>
                                </m:r>
                              </m:e>
                              <m:e>
                                <m:r>
                                  <a:rPr lang="en-ZA" b="0" i="1" smtClean="0">
                                    <a:latin typeface="Cambria Math" panose="02040503050406030204" pitchFamily="18" charset="0"/>
                                  </a:rPr>
                                  <m:t>6</m:t>
                                </m:r>
                              </m:e>
                            </m:mr>
                            <m:mr>
                              <m:e>
                                <m:r>
                                  <a:rPr lang="en-ZA" b="0" i="1" smtClean="0">
                                    <a:latin typeface="Cambria Math" panose="02040503050406030204" pitchFamily="18" charset="0"/>
                                  </a:rPr>
                                  <m:t>2</m:t>
                                </m:r>
                              </m:e>
                              <m:e>
                                <m:r>
                                  <a:rPr lang="en-ZA" b="0" i="1" smtClean="0">
                                    <a:latin typeface="Cambria Math" panose="02040503050406030204" pitchFamily="18" charset="0"/>
                                  </a:rPr>
                                  <m:t>4</m:t>
                                </m:r>
                              </m:e>
                            </m:mr>
                            <m:mr>
                              <m:e>
                                <m:r>
                                  <a:rPr lang="en-ZA" b="0" i="1" smtClean="0">
                                    <a:latin typeface="Cambria Math" panose="02040503050406030204" pitchFamily="18" charset="0"/>
                                  </a:rPr>
                                  <m:t>1</m:t>
                                </m:r>
                              </m:e>
                              <m:e>
                                <m:r>
                                  <a:rPr lang="en-ZA" b="0" i="1" smtClean="0">
                                    <a:latin typeface="Cambria Math" panose="02040503050406030204" pitchFamily="18" charset="0"/>
                                  </a:rPr>
                                  <m:t>2</m:t>
                                </m:r>
                              </m:e>
                            </m:mr>
                          </m:m>
                        </m:e>
                      </m:d>
                      <m:r>
                        <a:rPr lang="en-ZA" i="1">
                          <a:latin typeface="Cambria Math" panose="02040503050406030204" pitchFamily="18" charset="0"/>
                        </a:rPr>
                        <m:t>   </m:t>
                      </m:r>
                      <m:r>
                        <a:rPr lang="en-ZA" i="1">
                          <a:latin typeface="Cambria Math" panose="02040503050406030204" pitchFamily="18" charset="0"/>
                        </a:rPr>
                        <m:t>𝑤𝑖𝑡h</m:t>
                      </m:r>
                      <m:r>
                        <a:rPr lang="en-ZA" i="1">
                          <a:latin typeface="Cambria Math" panose="02040503050406030204" pitchFamily="18" charset="0"/>
                        </a:rPr>
                        <m:t> </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b="0" i="1" smtClean="0">
                              <a:latin typeface="Cambria Math" panose="02040503050406030204" pitchFamily="18" charset="0"/>
                            </a:rPr>
                            <m:t>2</m:t>
                          </m:r>
                        </m:sub>
                      </m:sSub>
                      <m:r>
                        <a:rPr lang="en-ZA" i="1">
                          <a:latin typeface="Cambria Math" panose="02040503050406030204" pitchFamily="18" charset="0"/>
                        </a:rPr>
                        <m:t>=</m:t>
                      </m:r>
                      <m:d>
                        <m:dPr>
                          <m:begChr m:val="["/>
                          <m:endChr m:val="]"/>
                          <m:ctrlPr>
                            <a:rPr lang="en-ZA" i="1">
                              <a:latin typeface="Cambria Math" panose="02040503050406030204" pitchFamily="18" charset="0"/>
                            </a:rPr>
                          </m:ctrlPr>
                        </m:dPr>
                        <m:e>
                          <m:m>
                            <m:mPr>
                              <m:mcs>
                                <m:mc>
                                  <m:mcPr>
                                    <m:count m:val="1"/>
                                    <m:mcJc m:val="center"/>
                                  </m:mcPr>
                                </m:mc>
                              </m:mcs>
                              <m:ctrlPr>
                                <a:rPr lang="en-ZA" i="1" smtClean="0">
                                  <a:latin typeface="Cambria Math" panose="02040503050406030204" pitchFamily="18" charset="0"/>
                                </a:rPr>
                              </m:ctrlPr>
                            </m:mPr>
                            <m:mr>
                              <m:e>
                                <m:r>
                                  <m:rPr>
                                    <m:brk m:alnAt="7"/>
                                  </m:rPr>
                                  <a:rPr lang="en-ZA" b="0" i="1" smtClean="0">
                                    <a:latin typeface="Cambria Math" panose="02040503050406030204" pitchFamily="18" charset="0"/>
                                  </a:rPr>
                                  <m:t>1</m:t>
                                </m:r>
                              </m:e>
                            </m:mr>
                            <m:mr>
                              <m:e>
                                <m:r>
                                  <a:rPr lang="en-ZA" b="0" i="1" smtClean="0">
                                    <a:latin typeface="Cambria Math" panose="02040503050406030204" pitchFamily="18" charset="0"/>
                                  </a:rPr>
                                  <m:t>4</m:t>
                                </m:r>
                              </m:e>
                            </m:mr>
                          </m:m>
                        </m:e>
                      </m:d>
                      <m:r>
                        <a:rPr lang="en-ZA" i="1">
                          <a:latin typeface="Cambria Math" panose="02040503050406030204" pitchFamily="18" charset="0"/>
                        </a:rPr>
                        <m:t>    </m:t>
                      </m:r>
                      <m:r>
                        <a:rPr lang="en-ZA" i="1">
                          <a:latin typeface="Cambria Math" panose="02040503050406030204" pitchFamily="18" charset="0"/>
                        </a:rPr>
                        <m:t>𝑎𝑛𝑑</m:t>
                      </m:r>
                      <m:r>
                        <a:rPr lang="en-ZA" i="1">
                          <a:latin typeface="Cambria Math" panose="02040503050406030204" pitchFamily="18" charset="0"/>
                        </a:rPr>
                        <m:t>   </m:t>
                      </m:r>
                      <m:sSub>
                        <m:sSubPr>
                          <m:ctrlPr>
                            <a:rPr lang="en-ZA" i="1">
                              <a:latin typeface="Cambria Math" panose="02040503050406030204" pitchFamily="18" charset="0"/>
                            </a:rPr>
                          </m:ctrlPr>
                        </m:sSubPr>
                        <m:e>
                          <m:r>
                            <a:rPr lang="en-ZA" i="1">
                              <a:latin typeface="Cambria Math" panose="02040503050406030204" pitchFamily="18" charset="0"/>
                            </a:rPr>
                            <m:t>𝑆</m:t>
                          </m:r>
                        </m:e>
                        <m:sub>
                          <m:r>
                            <a:rPr lang="en-ZA" b="0" i="1" smtClean="0">
                              <a:latin typeface="Cambria Math" panose="02040503050406030204" pitchFamily="18" charset="0"/>
                            </a:rPr>
                            <m:t>2</m:t>
                          </m:r>
                        </m:sub>
                      </m:sSub>
                      <m:r>
                        <a:rPr lang="en-ZA" i="1">
                          <a:latin typeface="Cambria Math" panose="02040503050406030204" pitchFamily="18" charset="0"/>
                        </a:rPr>
                        <m:t>=</m:t>
                      </m:r>
                      <m:d>
                        <m:dPr>
                          <m:begChr m:val="["/>
                          <m:endChr m:val="]"/>
                          <m:ctrlPr>
                            <a:rPr lang="en-ZA" i="1">
                              <a:latin typeface="Cambria Math" panose="02040503050406030204" pitchFamily="18" charset="0"/>
                            </a:rPr>
                          </m:ctrlPr>
                        </m:dPr>
                        <m:e>
                          <m:m>
                            <m:mPr>
                              <m:mcs>
                                <m:mc>
                                  <m:mcPr>
                                    <m:count m:val="2"/>
                                    <m:mcJc m:val="center"/>
                                  </m:mcPr>
                                </m:mc>
                              </m:mcs>
                              <m:ctrlPr>
                                <a:rPr lang="en-ZA" i="1" smtClean="0">
                                  <a:latin typeface="Cambria Math" panose="02040503050406030204" pitchFamily="18" charset="0"/>
                                </a:rPr>
                              </m:ctrlPr>
                            </m:mPr>
                            <m:mr>
                              <m:e>
                                <m:r>
                                  <m:rPr>
                                    <m:brk m:alnAt="7"/>
                                  </m:rPr>
                                  <a:rPr lang="en-ZA" b="0" i="1" smtClean="0">
                                    <a:latin typeface="Cambria Math" panose="02040503050406030204" pitchFamily="18" charset="0"/>
                                  </a:rPr>
                                  <m:t>1</m:t>
                                </m:r>
                              </m:e>
                              <m:e>
                                <m:r>
                                  <a:rPr lang="en-ZA" b="0" i="1" smtClean="0">
                                    <a:latin typeface="Cambria Math" panose="02040503050406030204" pitchFamily="18" charset="0"/>
                                  </a:rPr>
                                  <m:t>−1</m:t>
                                </m:r>
                              </m:e>
                            </m:mr>
                            <m:mr>
                              <m:e>
                                <m:r>
                                  <a:rPr lang="en-ZA" b="0" i="1" smtClean="0">
                                    <a:latin typeface="Cambria Math" panose="02040503050406030204" pitchFamily="18" charset="0"/>
                                  </a:rPr>
                                  <m:t>−1</m:t>
                                </m:r>
                              </m:e>
                              <m:e>
                                <m:r>
                                  <a:rPr lang="en-ZA" b="0" i="1" smtClean="0">
                                    <a:latin typeface="Cambria Math" panose="02040503050406030204" pitchFamily="18" charset="0"/>
                                  </a:rPr>
                                  <m:t>4</m:t>
                                </m:r>
                              </m:e>
                            </m:mr>
                          </m:m>
                        </m:e>
                      </m:d>
                      <m:r>
                        <a:rPr lang="en-ZA" b="0" i="1" smtClean="0">
                          <a:latin typeface="Cambria Math" panose="02040503050406030204" pitchFamily="18" charset="0"/>
                        </a:rPr>
                        <m:t>    </m:t>
                      </m:r>
                      <m:r>
                        <a:rPr lang="en-ZA" b="0" i="1" smtClean="0">
                          <a:latin typeface="Cambria Math" panose="02040503050406030204" pitchFamily="18" charset="0"/>
                        </a:rPr>
                        <m:t>𝑎𝑛𝑑</m:t>
                      </m:r>
                      <m:r>
                        <a:rPr lang="en-ZA" b="0" i="1" smtClean="0">
                          <a:latin typeface="Cambria Math" panose="02040503050406030204" pitchFamily="18" charset="0"/>
                        </a:rPr>
                        <m:t> </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2</m:t>
                          </m:r>
                        </m:sub>
                      </m:sSub>
                      <m:r>
                        <a:rPr lang="en-ZA" b="0" i="1" smtClean="0">
                          <a:latin typeface="Cambria Math" panose="02040503050406030204" pitchFamily="18" charset="0"/>
                        </a:rPr>
                        <m:t>=0.25</m:t>
                      </m:r>
                    </m:oMath>
                  </m:oMathPara>
                </a14:m>
                <a:endParaRPr lang="en-ZA" dirty="0" smtClean="0"/>
              </a:p>
              <a:p>
                <a:pPr/>
                <a14:m>
                  <m:oMathPara xmlns:m="http://schemas.openxmlformats.org/officeDocument/2006/math">
                    <m:oMathParaPr>
                      <m:jc m:val="centerGroup"/>
                    </m:oMathParaPr>
                    <m:oMath xmlns:m="http://schemas.openxmlformats.org/officeDocument/2006/math">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ea typeface="Cambria Math" panose="02040503050406030204" pitchFamily="18" charset="0"/>
                            </a:rPr>
                            <m:t>3</m:t>
                          </m:r>
                        </m:sub>
                      </m:sSub>
                      <m:r>
                        <a:rPr lang="en-ZA" i="1">
                          <a:latin typeface="Cambria Math" panose="02040503050406030204" pitchFamily="18" charset="0"/>
                        </a:rPr>
                        <m:t>:</m:t>
                      </m:r>
                      <m:r>
                        <a:rPr lang="en-ZA" b="0" i="1" smtClean="0">
                          <a:latin typeface="Cambria Math" panose="02040503050406030204" pitchFamily="18" charset="0"/>
                        </a:rPr>
                        <m:t>     </m:t>
                      </m:r>
                      <m:r>
                        <a:rPr lang="en-ZA" i="1">
                          <a:latin typeface="Cambria Math" panose="02040503050406030204" pitchFamily="18" charset="0"/>
                        </a:rPr>
                        <m:t>  </m:t>
                      </m:r>
                      <m:sSub>
                        <m:sSubPr>
                          <m:ctrlPr>
                            <a:rPr lang="en-ZA" i="1">
                              <a:latin typeface="Cambria Math" panose="02040503050406030204" pitchFamily="18" charset="0"/>
                            </a:rPr>
                          </m:ctrlPr>
                        </m:sSubPr>
                        <m:e>
                          <m:r>
                            <a:rPr lang="en-ZA" i="1">
                              <a:latin typeface="Cambria Math" panose="02040503050406030204" pitchFamily="18" charset="0"/>
                            </a:rPr>
                            <m:t>𝑋</m:t>
                          </m:r>
                        </m:e>
                        <m:sub>
                          <m:r>
                            <a:rPr lang="en-ZA" b="0" i="1" smtClean="0">
                              <a:latin typeface="Cambria Math" panose="02040503050406030204" pitchFamily="18" charset="0"/>
                            </a:rPr>
                            <m:t>3</m:t>
                          </m:r>
                        </m:sub>
                      </m:sSub>
                      <m:r>
                        <a:rPr lang="en-ZA" i="1">
                          <a:latin typeface="Cambria Math" panose="02040503050406030204" pitchFamily="18" charset="0"/>
                        </a:rPr>
                        <m:t>=</m:t>
                      </m:r>
                      <m:d>
                        <m:dPr>
                          <m:begChr m:val="["/>
                          <m:endChr m:val="]"/>
                          <m:ctrlPr>
                            <a:rPr lang="en-ZA" i="1">
                              <a:latin typeface="Cambria Math" panose="02040503050406030204" pitchFamily="18" charset="0"/>
                            </a:rPr>
                          </m:ctrlPr>
                        </m:dPr>
                        <m:e>
                          <m:m>
                            <m:mPr>
                              <m:mcs>
                                <m:mc>
                                  <m:mcPr>
                                    <m:count m:val="2"/>
                                    <m:mcJc m:val="center"/>
                                  </m:mcPr>
                                </m:mc>
                              </m:mcs>
                              <m:ctrlPr>
                                <a:rPr lang="en-ZA" i="1" smtClean="0">
                                  <a:latin typeface="Cambria Math" panose="02040503050406030204" pitchFamily="18" charset="0"/>
                                </a:rPr>
                              </m:ctrlPr>
                            </m:mPr>
                            <m:mr>
                              <m:e>
                                <m:r>
                                  <m:rPr>
                                    <m:brk m:alnAt="7"/>
                                  </m:rPr>
                                  <a:rPr lang="en-ZA" b="0" i="1" smtClean="0">
                                    <a:latin typeface="Cambria Math" panose="02040503050406030204" pitchFamily="18" charset="0"/>
                                  </a:rPr>
                                  <m:t>1</m:t>
                                </m:r>
                              </m:e>
                              <m:e>
                                <m:r>
                                  <a:rPr lang="en-ZA" b="0" i="1" smtClean="0">
                                    <a:latin typeface="Cambria Math" panose="02040503050406030204" pitchFamily="18" charset="0"/>
                                  </a:rPr>
                                  <m:t>−2</m:t>
                                </m:r>
                              </m:e>
                            </m:mr>
                            <m:mr>
                              <m:e>
                                <m:r>
                                  <a:rPr lang="en-ZA" b="0" i="1" smtClean="0">
                                    <a:latin typeface="Cambria Math" panose="02040503050406030204" pitchFamily="18" charset="0"/>
                                  </a:rPr>
                                  <m:t>0</m:t>
                                </m:r>
                              </m:e>
                              <m:e>
                                <m:r>
                                  <a:rPr lang="en-ZA" b="0" i="1" smtClean="0">
                                    <a:latin typeface="Cambria Math" panose="02040503050406030204" pitchFamily="18" charset="0"/>
                                  </a:rPr>
                                  <m:t>0</m:t>
                                </m:r>
                              </m:e>
                            </m:mr>
                            <m:mr>
                              <m:e>
                                <m:r>
                                  <a:rPr lang="en-ZA" b="0" i="1" smtClean="0">
                                    <a:latin typeface="Cambria Math" panose="02040503050406030204" pitchFamily="18" charset="0"/>
                                  </a:rPr>
                                  <m:t>−1</m:t>
                                </m:r>
                              </m:e>
                              <m:e>
                                <m:r>
                                  <a:rPr lang="en-ZA" b="0" i="1" smtClean="0">
                                    <a:latin typeface="Cambria Math" panose="02040503050406030204" pitchFamily="18" charset="0"/>
                                  </a:rPr>
                                  <m:t>−4</m:t>
                                </m:r>
                              </m:e>
                            </m:mr>
                          </m:m>
                        </m:e>
                      </m:d>
                      <m:r>
                        <a:rPr lang="en-ZA" i="1">
                          <a:latin typeface="Cambria Math" panose="02040503050406030204" pitchFamily="18" charset="0"/>
                        </a:rPr>
                        <m:t>   </m:t>
                      </m:r>
                      <m:r>
                        <a:rPr lang="en-ZA" i="1">
                          <a:latin typeface="Cambria Math" panose="02040503050406030204" pitchFamily="18" charset="0"/>
                        </a:rPr>
                        <m:t>𝑤𝑖𝑡h</m:t>
                      </m:r>
                      <m:r>
                        <a:rPr lang="en-ZA" i="1">
                          <a:latin typeface="Cambria Math" panose="02040503050406030204" pitchFamily="18" charset="0"/>
                        </a:rPr>
                        <m:t> </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b="0" i="1" smtClean="0">
                              <a:latin typeface="Cambria Math" panose="02040503050406030204" pitchFamily="18" charset="0"/>
                            </a:rPr>
                            <m:t>3</m:t>
                          </m:r>
                        </m:sub>
                      </m:sSub>
                      <m:r>
                        <a:rPr lang="en-ZA" i="1">
                          <a:latin typeface="Cambria Math" panose="02040503050406030204" pitchFamily="18" charset="0"/>
                        </a:rPr>
                        <m:t>=</m:t>
                      </m:r>
                      <m:d>
                        <m:dPr>
                          <m:begChr m:val="["/>
                          <m:endChr m:val="]"/>
                          <m:ctrlPr>
                            <a:rPr lang="en-ZA" i="1">
                              <a:latin typeface="Cambria Math" panose="02040503050406030204" pitchFamily="18" charset="0"/>
                            </a:rPr>
                          </m:ctrlPr>
                        </m:dPr>
                        <m:e>
                          <m:m>
                            <m:mPr>
                              <m:mcs>
                                <m:mc>
                                  <m:mcPr>
                                    <m:count m:val="1"/>
                                    <m:mcJc m:val="center"/>
                                  </m:mcPr>
                                </m:mc>
                              </m:mcs>
                              <m:ctrlPr>
                                <a:rPr lang="en-ZA" i="1" smtClean="0">
                                  <a:latin typeface="Cambria Math" panose="02040503050406030204" pitchFamily="18" charset="0"/>
                                </a:rPr>
                              </m:ctrlPr>
                            </m:mPr>
                            <m:mr>
                              <m:e>
                                <m:r>
                                  <m:rPr>
                                    <m:brk m:alnAt="7"/>
                                  </m:rPr>
                                  <a:rPr lang="en-ZA" b="0" i="1" smtClean="0">
                                    <a:latin typeface="Cambria Math" panose="02040503050406030204" pitchFamily="18" charset="0"/>
                                  </a:rPr>
                                  <m:t>0</m:t>
                                </m:r>
                              </m:e>
                            </m:mr>
                            <m:mr>
                              <m:e>
                                <m:r>
                                  <a:rPr lang="en-ZA" b="0" i="1" smtClean="0">
                                    <a:latin typeface="Cambria Math" panose="02040503050406030204" pitchFamily="18" charset="0"/>
                                  </a:rPr>
                                  <m:t>2</m:t>
                                </m:r>
                              </m:e>
                            </m:mr>
                          </m:m>
                        </m:e>
                      </m:d>
                      <m:r>
                        <a:rPr lang="en-ZA" i="1">
                          <a:latin typeface="Cambria Math" panose="02040503050406030204" pitchFamily="18" charset="0"/>
                        </a:rPr>
                        <m:t>    </m:t>
                      </m:r>
                      <m:r>
                        <a:rPr lang="en-ZA" i="1">
                          <a:latin typeface="Cambria Math" panose="02040503050406030204" pitchFamily="18" charset="0"/>
                        </a:rPr>
                        <m:t>𝑎𝑛𝑑</m:t>
                      </m:r>
                      <m:r>
                        <a:rPr lang="en-ZA" i="1">
                          <a:latin typeface="Cambria Math" panose="02040503050406030204" pitchFamily="18" charset="0"/>
                        </a:rPr>
                        <m:t>   </m:t>
                      </m:r>
                      <m:sSub>
                        <m:sSubPr>
                          <m:ctrlPr>
                            <a:rPr lang="en-ZA" i="1">
                              <a:latin typeface="Cambria Math" panose="02040503050406030204" pitchFamily="18" charset="0"/>
                            </a:rPr>
                          </m:ctrlPr>
                        </m:sSubPr>
                        <m:e>
                          <m:r>
                            <a:rPr lang="en-ZA" i="1">
                              <a:latin typeface="Cambria Math" panose="02040503050406030204" pitchFamily="18" charset="0"/>
                            </a:rPr>
                            <m:t>𝑆</m:t>
                          </m:r>
                        </m:e>
                        <m:sub>
                          <m:r>
                            <a:rPr lang="en-ZA" b="0" i="1" smtClean="0">
                              <a:latin typeface="Cambria Math" panose="02040503050406030204" pitchFamily="18" charset="0"/>
                            </a:rPr>
                            <m:t>3</m:t>
                          </m:r>
                        </m:sub>
                      </m:sSub>
                      <m:r>
                        <a:rPr lang="en-ZA" i="1">
                          <a:latin typeface="Cambria Math" panose="02040503050406030204" pitchFamily="18" charset="0"/>
                        </a:rPr>
                        <m:t>=</m:t>
                      </m:r>
                      <m:d>
                        <m:dPr>
                          <m:begChr m:val="["/>
                          <m:endChr m:val="]"/>
                          <m:ctrlPr>
                            <a:rPr lang="en-ZA" i="1">
                              <a:latin typeface="Cambria Math" panose="02040503050406030204" pitchFamily="18" charset="0"/>
                            </a:rPr>
                          </m:ctrlPr>
                        </m:dPr>
                        <m:e>
                          <m:m>
                            <m:mPr>
                              <m:mcs>
                                <m:mc>
                                  <m:mcPr>
                                    <m:count m:val="2"/>
                                    <m:mcJc m:val="center"/>
                                  </m:mcPr>
                                </m:mc>
                              </m:mcs>
                              <m:ctrlPr>
                                <a:rPr lang="en-ZA" i="1" smtClean="0">
                                  <a:latin typeface="Cambria Math" panose="02040503050406030204" pitchFamily="18" charset="0"/>
                                </a:rPr>
                              </m:ctrlPr>
                            </m:mPr>
                            <m:mr>
                              <m:e>
                                <m:r>
                                  <m:rPr>
                                    <m:brk m:alnAt="7"/>
                                  </m:rPr>
                                  <a:rPr lang="en-ZA" b="0" i="1" smtClean="0">
                                    <a:latin typeface="Cambria Math" panose="02040503050406030204" pitchFamily="18" charset="0"/>
                                  </a:rPr>
                                  <m:t>1</m:t>
                                </m:r>
                              </m:e>
                              <m:e>
                                <m:r>
                                  <a:rPr lang="en-ZA" b="0" i="1" smtClean="0">
                                    <a:latin typeface="Cambria Math" panose="02040503050406030204" pitchFamily="18" charset="0"/>
                                  </a:rPr>
                                  <m:t>1</m:t>
                                </m:r>
                              </m:e>
                            </m:mr>
                            <m:mr>
                              <m:e>
                                <m:r>
                                  <a:rPr lang="en-ZA" b="0" i="1" smtClean="0">
                                    <a:latin typeface="Cambria Math" panose="02040503050406030204" pitchFamily="18" charset="0"/>
                                  </a:rPr>
                                  <m:t>1</m:t>
                                </m:r>
                              </m:e>
                              <m:e>
                                <m:r>
                                  <a:rPr lang="en-ZA" b="0" i="1" smtClean="0">
                                    <a:latin typeface="Cambria Math" panose="02040503050406030204" pitchFamily="18" charset="0"/>
                                  </a:rPr>
                                  <m:t>4</m:t>
                                </m:r>
                              </m:e>
                            </m:mr>
                          </m:m>
                        </m:e>
                      </m:d>
                      <m:r>
                        <a:rPr lang="en-ZA" b="0" i="1" smtClean="0">
                          <a:latin typeface="Cambria Math" panose="02040503050406030204" pitchFamily="18" charset="0"/>
                        </a:rPr>
                        <m:t>   </m:t>
                      </m:r>
                      <m:r>
                        <a:rPr lang="en-ZA" b="0" i="1" smtClean="0">
                          <a:latin typeface="Cambria Math" panose="02040503050406030204" pitchFamily="18" charset="0"/>
                        </a:rPr>
                        <m:t>𝑎𝑛𝑑</m:t>
                      </m:r>
                      <m:r>
                        <a:rPr lang="en-ZA" b="0" i="1" smtClean="0">
                          <a:latin typeface="Cambria Math" panose="02040503050406030204" pitchFamily="18" charset="0"/>
                        </a:rPr>
                        <m:t>   </m:t>
                      </m:r>
                      <m:sSub>
                        <m:sSubPr>
                          <m:ctrlPr>
                            <a:rPr lang="en-ZA" b="0" i="1" smtClean="0">
                              <a:latin typeface="Cambria Math" panose="02040503050406030204" pitchFamily="18" charset="0"/>
                            </a:rPr>
                          </m:ctrlPr>
                        </m:sSubPr>
                        <m:e>
                          <m:r>
                            <a:rPr lang="en-ZA" b="0" i="1" smtClean="0">
                              <a:latin typeface="Cambria Math" panose="02040503050406030204" pitchFamily="18" charset="0"/>
                            </a:rPr>
                            <m:t>𝑝</m:t>
                          </m:r>
                        </m:e>
                        <m:sub>
                          <m:r>
                            <a:rPr lang="en-ZA" b="0" i="1" smtClean="0">
                              <a:latin typeface="Cambria Math" panose="02040503050406030204" pitchFamily="18" charset="0"/>
                            </a:rPr>
                            <m:t>3</m:t>
                          </m:r>
                        </m:sub>
                      </m:sSub>
                      <m:r>
                        <a:rPr lang="en-ZA" b="0" i="1" smtClean="0">
                          <a:latin typeface="Cambria Math" panose="02040503050406030204" pitchFamily="18" charset="0"/>
                        </a:rPr>
                        <m:t>=0.5,</m:t>
                      </m:r>
                    </m:oMath>
                  </m:oMathPara>
                </a14:m>
                <a:endParaRPr lang="en-ZA" dirty="0" smtClean="0"/>
              </a:p>
              <a:p>
                <a:endParaRPr lang="en-ZA" dirty="0" smtClean="0"/>
              </a:p>
              <a:p>
                <a:r>
                  <a:rPr lang="en-ZA" dirty="0" smtClean="0"/>
                  <a:t>Classify the observation </a:t>
                </a:r>
                <a14:m>
                  <m:oMath xmlns:m="http://schemas.openxmlformats.org/officeDocument/2006/math">
                    <m:sSubSup>
                      <m:sSubSupPr>
                        <m:ctrlPr>
                          <a:rPr lang="en-ZA" i="1" smtClean="0">
                            <a:latin typeface="Cambria Math" panose="02040503050406030204" pitchFamily="18" charset="0"/>
                          </a:rPr>
                        </m:ctrlPr>
                      </m:sSubSupPr>
                      <m:e>
                        <m:r>
                          <a:rPr lang="en-ZA" b="0" i="1" smtClean="0">
                            <a:latin typeface="Cambria Math" panose="02040503050406030204" pitchFamily="18" charset="0"/>
                          </a:rPr>
                          <m:t>𝑥</m:t>
                        </m:r>
                      </m:e>
                      <m:sub>
                        <m:r>
                          <a:rPr lang="en-ZA" b="0" i="1" smtClean="0">
                            <a:latin typeface="Cambria Math" panose="02040503050406030204" pitchFamily="18" charset="0"/>
                          </a:rPr>
                          <m:t>0</m:t>
                        </m:r>
                      </m:sub>
                      <m:sup>
                        <m:r>
                          <a:rPr lang="en-ZA" b="0" i="1" smtClean="0">
                            <a:latin typeface="Cambria Math" panose="02040503050406030204" pitchFamily="18" charset="0"/>
                          </a:rPr>
                          <m:t>′</m:t>
                        </m:r>
                      </m:sup>
                    </m:sSubSup>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2"/>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m:t>
                              </m:r>
                              <m:r>
                                <a:rPr lang="en-ZA" b="0" i="1" smtClean="0">
                                  <a:latin typeface="Cambria Math" panose="02040503050406030204" pitchFamily="18" charset="0"/>
                                </a:rPr>
                                <m:t>2</m:t>
                              </m:r>
                            </m:e>
                            <m:e>
                              <m:r>
                                <a:rPr lang="en-ZA" b="0" i="1" smtClean="0">
                                  <a:latin typeface="Cambria Math" panose="02040503050406030204" pitchFamily="18" charset="0"/>
                                </a:rPr>
                                <m:t>−1</m:t>
                              </m:r>
                            </m:e>
                          </m:mr>
                        </m:m>
                      </m:e>
                    </m:d>
                  </m:oMath>
                </a14:m>
                <a:r>
                  <a:rPr lang="en-ZA" dirty="0" smtClean="0"/>
                  <a:t> into one of the 3 population groups using </a:t>
                </a:r>
              </a:p>
              <a:p>
                <a:endParaRPr lang="en-ZA" dirty="0" smtClean="0"/>
              </a:p>
              <a:p>
                <a:pPr marL="342900" indent="-342900">
                  <a:buAutoNum type="arabicParenBoth"/>
                </a:pPr>
                <a:r>
                  <a:rPr lang="en-ZA" dirty="0" smtClean="0"/>
                  <a:t>the </a:t>
                </a:r>
                <a:r>
                  <a:rPr lang="en-ZA" dirty="0"/>
                  <a:t>rule that allocates </a:t>
                </a:r>
                <a14:m>
                  <m:oMath xmlns:m="http://schemas.openxmlformats.org/officeDocument/2006/math">
                    <m:r>
                      <a:rPr lang="en-ZA" i="1">
                        <a:latin typeface="Cambria Math" panose="02040503050406030204" pitchFamily="18" charset="0"/>
                      </a:rPr>
                      <m:t>𝑥</m:t>
                    </m:r>
                  </m:oMath>
                </a14:m>
                <a:r>
                  <a:rPr lang="en-ZA" dirty="0"/>
                  <a:t> to </a:t>
                </a:r>
                <a14:m>
                  <m:oMath xmlns:m="http://schemas.openxmlformats.org/officeDocument/2006/math">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𝜋</m:t>
                        </m:r>
                      </m:e>
                      <m:sub>
                        <m:r>
                          <a:rPr lang="en-ZA" i="1">
                            <a:latin typeface="Cambria Math" panose="02040503050406030204" pitchFamily="18" charset="0"/>
                          </a:rPr>
                          <m:t>𝑘</m:t>
                        </m:r>
                      </m:sub>
                    </m:sSub>
                  </m:oMath>
                </a14:m>
                <a:r>
                  <a:rPr lang="en-ZA" dirty="0"/>
                  <a:t> if </a:t>
                </a:r>
                <a14:m>
                  <m:oMath xmlns:m="http://schemas.openxmlformats.org/officeDocument/2006/math">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𝑑</m:t>
                            </m:r>
                          </m:e>
                        </m:acc>
                      </m:e>
                      <m:sub>
                        <m:r>
                          <a:rPr lang="en-ZA" i="1">
                            <a:latin typeface="Cambria Math" panose="02040503050406030204" pitchFamily="18" charset="0"/>
                          </a:rPr>
                          <m:t>𝑘</m:t>
                        </m:r>
                      </m:sub>
                    </m:sSub>
                    <m:d>
                      <m:dPr>
                        <m:ctrlPr>
                          <a:rPr lang="en-ZA" i="1">
                            <a:latin typeface="Cambria Math" panose="02040503050406030204" pitchFamily="18" charset="0"/>
                          </a:rPr>
                        </m:ctrlPr>
                      </m:dPr>
                      <m:e>
                        <m:r>
                          <a:rPr lang="en-ZA" i="1">
                            <a:latin typeface="Cambria Math" panose="02040503050406030204" pitchFamily="18" charset="0"/>
                          </a:rPr>
                          <m:t>𝑥</m:t>
                        </m:r>
                      </m:e>
                    </m:d>
                    <m:r>
                      <a:rPr lang="en-ZA" i="1">
                        <a:latin typeface="Cambria Math" panose="02040503050406030204" pitchFamily="18" charset="0"/>
                      </a:rPr>
                      <m:t>=</m:t>
                    </m:r>
                    <m:r>
                      <a:rPr lang="en-ZA" i="1">
                        <a:latin typeface="Cambria Math" panose="02040503050406030204" pitchFamily="18" charset="0"/>
                      </a:rPr>
                      <m:t>𝑚𝑎𝑥</m:t>
                    </m:r>
                    <m:d>
                      <m:dPr>
                        <m:ctrlPr>
                          <a:rPr lang="en-ZA" i="1">
                            <a:latin typeface="Cambria Math" panose="02040503050406030204" pitchFamily="18" charset="0"/>
                          </a:rPr>
                        </m:ctrlPr>
                      </m:dPr>
                      <m:e>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𝑑</m:t>
                                </m:r>
                              </m:e>
                            </m:acc>
                          </m:e>
                          <m:sub>
                            <m:r>
                              <a:rPr lang="en-ZA" i="1">
                                <a:latin typeface="Cambria Math" panose="02040503050406030204" pitchFamily="18" charset="0"/>
                              </a:rPr>
                              <m:t>1</m:t>
                            </m:r>
                          </m:sub>
                        </m:sSub>
                        <m:d>
                          <m:dPr>
                            <m:ctrlPr>
                              <a:rPr lang="en-ZA" i="1">
                                <a:latin typeface="Cambria Math" panose="02040503050406030204" pitchFamily="18" charset="0"/>
                              </a:rPr>
                            </m:ctrlPr>
                          </m:dPr>
                          <m:e>
                            <m:r>
                              <a:rPr lang="en-ZA" i="1">
                                <a:latin typeface="Cambria Math" panose="02040503050406030204" pitchFamily="18" charset="0"/>
                              </a:rPr>
                              <m:t>𝑥</m:t>
                            </m:r>
                          </m:e>
                        </m:d>
                        <m:r>
                          <a:rPr lang="en-ZA" i="1">
                            <a:latin typeface="Cambria Math" panose="02040503050406030204" pitchFamily="18" charset="0"/>
                          </a:rPr>
                          <m:t>, </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𝑑</m:t>
                                </m:r>
                              </m:e>
                            </m:acc>
                          </m:e>
                          <m:sub>
                            <m:r>
                              <a:rPr lang="en-ZA" i="1">
                                <a:latin typeface="Cambria Math" panose="02040503050406030204" pitchFamily="18" charset="0"/>
                              </a:rPr>
                              <m:t>2</m:t>
                            </m:r>
                          </m:sub>
                        </m:sSub>
                        <m:d>
                          <m:dPr>
                            <m:ctrlPr>
                              <a:rPr lang="en-ZA" i="1">
                                <a:latin typeface="Cambria Math" panose="02040503050406030204" pitchFamily="18" charset="0"/>
                              </a:rPr>
                            </m:ctrlPr>
                          </m:dPr>
                          <m:e>
                            <m:r>
                              <a:rPr lang="en-ZA" i="1">
                                <a:latin typeface="Cambria Math" panose="02040503050406030204" pitchFamily="18" charset="0"/>
                              </a:rPr>
                              <m:t>𝑥</m:t>
                            </m:r>
                          </m:e>
                        </m:d>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𝑑</m:t>
                                </m:r>
                              </m:e>
                            </m:acc>
                          </m:e>
                          <m:sub>
                            <m:r>
                              <a:rPr lang="en-ZA" i="1">
                                <a:latin typeface="Cambria Math" panose="02040503050406030204" pitchFamily="18" charset="0"/>
                              </a:rPr>
                              <m:t>𝑝</m:t>
                            </m:r>
                          </m:sub>
                        </m:sSub>
                        <m:r>
                          <a:rPr lang="en-ZA" i="1">
                            <a:latin typeface="Cambria Math" panose="02040503050406030204" pitchFamily="18" charset="0"/>
                          </a:rPr>
                          <m:t>(</m:t>
                        </m:r>
                        <m:r>
                          <a:rPr lang="en-ZA" i="1">
                            <a:latin typeface="Cambria Math" panose="02040503050406030204" pitchFamily="18" charset="0"/>
                          </a:rPr>
                          <m:t>𝑥</m:t>
                        </m:r>
                        <m:r>
                          <a:rPr lang="en-ZA" i="1">
                            <a:latin typeface="Cambria Math" panose="02040503050406030204" pitchFamily="18" charset="0"/>
                          </a:rPr>
                          <m:t>)</m:t>
                        </m:r>
                      </m:e>
                    </m:d>
                    <m:r>
                      <a:rPr lang="en-ZA" i="1">
                        <a:latin typeface="Cambria Math" panose="02040503050406030204" pitchFamily="18" charset="0"/>
                      </a:rPr>
                      <m:t>, </m:t>
                    </m:r>
                    <m:r>
                      <a:rPr lang="en-ZA" b="0" i="1" smtClean="0">
                        <a:latin typeface="Cambria Math" panose="02040503050406030204" pitchFamily="18" charset="0"/>
                      </a:rPr>
                      <m:t> </m:t>
                    </m:r>
                    <m:r>
                      <a:rPr lang="en-ZA" b="0" i="1" smtClean="0">
                        <a:latin typeface="Cambria Math" panose="02040503050406030204" pitchFamily="18" charset="0"/>
                      </a:rPr>
                      <m:t>𝑤h𝑒𝑟𝑒</m:t>
                    </m:r>
                    <m:r>
                      <a:rPr lang="en-ZA" b="0" i="1" smtClean="0">
                        <a:latin typeface="Cambria Math" panose="02040503050406030204" pitchFamily="18" charset="0"/>
                      </a:rPr>
                      <m:t> </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𝑑</m:t>
                            </m:r>
                          </m:e>
                        </m:acc>
                      </m:e>
                      <m:sub>
                        <m:r>
                          <a:rPr lang="en-ZA" i="1">
                            <a:latin typeface="Cambria Math" panose="02040503050406030204" pitchFamily="18" charset="0"/>
                          </a:rPr>
                          <m:t>𝑖</m:t>
                        </m:r>
                      </m:sub>
                    </m:sSub>
                    <m:d>
                      <m:dPr>
                        <m:ctrlPr>
                          <a:rPr lang="en-ZA" i="1">
                            <a:latin typeface="Cambria Math" panose="02040503050406030204" pitchFamily="18" charset="0"/>
                          </a:rPr>
                        </m:ctrlPr>
                      </m:dPr>
                      <m:e>
                        <m:r>
                          <a:rPr lang="en-ZA" i="1">
                            <a:latin typeface="Cambria Math" panose="02040503050406030204" pitchFamily="18" charset="0"/>
                          </a:rPr>
                          <m:t>𝑥</m:t>
                        </m:r>
                      </m:e>
                    </m:d>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sub>
                    </m:sSub>
                    <m:r>
                      <a:rPr lang="en-ZA" i="1">
                        <a:latin typeface="Cambria Math" panose="02040503050406030204" pitchFamily="18" charset="0"/>
                      </a:rPr>
                      <m:t>′</m:t>
                    </m:r>
                    <m:sSubSup>
                      <m:sSubSupPr>
                        <m:ctrlPr>
                          <a:rPr lang="en-ZA" i="1">
                            <a:latin typeface="Cambria Math" panose="02040503050406030204" pitchFamily="18" charset="0"/>
                          </a:rPr>
                        </m:ctrlPr>
                      </m:sSubSupPr>
                      <m:e>
                        <m:r>
                          <a:rPr lang="en-ZA" i="1">
                            <a:latin typeface="Cambria Math" panose="02040503050406030204" pitchFamily="18" charset="0"/>
                          </a:rPr>
                          <m:t>𝑆</m:t>
                        </m:r>
                      </m:e>
                      <m:sub>
                        <m:r>
                          <a:rPr lang="en-ZA" i="1">
                            <a:latin typeface="Cambria Math" panose="02040503050406030204" pitchFamily="18" charset="0"/>
                          </a:rPr>
                          <m:t>𝑝</m:t>
                        </m:r>
                      </m:sub>
                      <m:sup>
                        <m:r>
                          <a:rPr lang="en-ZA" i="1">
                            <a:latin typeface="Cambria Math" panose="02040503050406030204" pitchFamily="18" charset="0"/>
                          </a:rPr>
                          <m:t>−1</m:t>
                        </m:r>
                      </m:sup>
                    </m:sSubSup>
                    <m:r>
                      <a:rPr lang="en-ZA" i="1">
                        <a:latin typeface="Cambria Math" panose="02040503050406030204" pitchFamily="18" charset="0"/>
                      </a:rPr>
                      <m:t>𝑥</m:t>
                    </m:r>
                    <m:r>
                      <a:rPr lang="en-ZA">
                        <a:latin typeface="Cambria Math" panose="02040503050406030204" pitchFamily="18" charset="0"/>
                      </a:rPr>
                      <m:t>−</m:t>
                    </m:r>
                    <m:f>
                      <m:fPr>
                        <m:ctrlPr>
                          <a:rPr lang="en-ZA" i="1">
                            <a:latin typeface="Cambria Math" panose="02040503050406030204" pitchFamily="18" charset="0"/>
                          </a:rPr>
                        </m:ctrlPr>
                      </m:fPr>
                      <m:num>
                        <m:r>
                          <a:rPr lang="en-ZA">
                            <a:latin typeface="Cambria Math" panose="02040503050406030204" pitchFamily="18" charset="0"/>
                          </a:rPr>
                          <m:t>1</m:t>
                        </m:r>
                      </m:num>
                      <m:den>
                        <m:r>
                          <a:rPr lang="en-ZA">
                            <a:latin typeface="Cambria Math" panose="02040503050406030204" pitchFamily="18" charset="0"/>
                          </a:rPr>
                          <m:t>2</m:t>
                        </m:r>
                      </m:den>
                    </m:f>
                    <m:sSubSup>
                      <m:sSubSupPr>
                        <m:ctrlPr>
                          <a:rPr lang="en-ZA" i="1">
                            <a:latin typeface="Cambria Math" panose="02040503050406030204" pitchFamily="18" charset="0"/>
                          </a:rPr>
                        </m:ctrlPr>
                      </m:sSubSup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sub>
                      <m:sup>
                        <m:r>
                          <a:rPr lang="en-ZA" i="1">
                            <a:latin typeface="Cambria Math" panose="02040503050406030204" pitchFamily="18" charset="0"/>
                          </a:rPr>
                          <m:t>′</m:t>
                        </m:r>
                      </m:sup>
                    </m:sSubSup>
                    <m:sSubSup>
                      <m:sSubSupPr>
                        <m:ctrlPr>
                          <a:rPr lang="en-ZA" i="1">
                            <a:latin typeface="Cambria Math" panose="02040503050406030204" pitchFamily="18" charset="0"/>
                          </a:rPr>
                        </m:ctrlPr>
                      </m:sSubSupPr>
                      <m:e>
                        <m:r>
                          <a:rPr lang="en-ZA" i="1">
                            <a:latin typeface="Cambria Math" panose="02040503050406030204" pitchFamily="18" charset="0"/>
                          </a:rPr>
                          <m:t>𝑆</m:t>
                        </m:r>
                      </m:e>
                      <m:sub>
                        <m:r>
                          <a:rPr lang="en-ZA" i="1">
                            <a:latin typeface="Cambria Math" panose="02040503050406030204" pitchFamily="18" charset="0"/>
                          </a:rPr>
                          <m:t>𝑝</m:t>
                        </m:r>
                      </m:sub>
                      <m:sup>
                        <m:r>
                          <a:rPr lang="en-ZA" i="1">
                            <a:latin typeface="Cambria Math" panose="02040503050406030204" pitchFamily="18" charset="0"/>
                          </a:rPr>
                          <m:t>−1</m:t>
                        </m:r>
                      </m:sup>
                    </m:sSubSup>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sub>
                    </m:sSub>
                    <m:r>
                      <a:rPr lang="en-ZA" i="1">
                        <a:latin typeface="Cambria Math" panose="02040503050406030204" pitchFamily="18" charset="0"/>
                      </a:rPr>
                      <m:t>+</m:t>
                    </m:r>
                    <m:func>
                      <m:funcPr>
                        <m:ctrlPr>
                          <a:rPr lang="en-ZA" i="1">
                            <a:latin typeface="Cambria Math" panose="02040503050406030204" pitchFamily="18" charset="0"/>
                          </a:rPr>
                        </m:ctrlPr>
                      </m:funcPr>
                      <m:fName>
                        <m:r>
                          <m:rPr>
                            <m:sty m:val="p"/>
                          </m:rPr>
                          <a:rPr lang="en-ZA">
                            <a:latin typeface="Cambria Math" panose="02040503050406030204" pitchFamily="18" charset="0"/>
                          </a:rPr>
                          <m:t>ln</m:t>
                        </m:r>
                      </m:fName>
                      <m:e>
                        <m:sSub>
                          <m:sSubPr>
                            <m:ctrlPr>
                              <a:rPr lang="en-ZA" i="1">
                                <a:latin typeface="Cambria Math" panose="02040503050406030204" pitchFamily="18" charset="0"/>
                              </a:rPr>
                            </m:ctrlPr>
                          </m:sSubPr>
                          <m:e>
                            <m:r>
                              <a:rPr lang="en-ZA" i="1">
                                <a:latin typeface="Cambria Math" panose="02040503050406030204" pitchFamily="18" charset="0"/>
                              </a:rPr>
                              <m:t>𝑝</m:t>
                            </m:r>
                          </m:e>
                          <m:sub>
                            <m:r>
                              <a:rPr lang="en-ZA" i="1">
                                <a:latin typeface="Cambria Math" panose="02040503050406030204" pitchFamily="18" charset="0"/>
                              </a:rPr>
                              <m:t>𝑖</m:t>
                            </m:r>
                          </m:sub>
                        </m:sSub>
                      </m:e>
                    </m:func>
                  </m:oMath>
                </a14:m>
                <a:r>
                  <a:rPr lang="en-ZA" dirty="0" smtClean="0"/>
                  <a:t> </a:t>
                </a:r>
              </a:p>
              <a:p>
                <a:r>
                  <a:rPr lang="en-ZA" dirty="0"/>
                  <a:t>a</a:t>
                </a:r>
                <a:r>
                  <a:rPr lang="en-ZA" dirty="0" smtClean="0"/>
                  <a:t>nd</a:t>
                </a:r>
              </a:p>
              <a:p>
                <a:r>
                  <a:rPr lang="en-ZA" dirty="0" smtClean="0"/>
                  <a:t>(2)</a:t>
                </a:r>
                <a:r>
                  <a:rPr lang="en-ZA" dirty="0"/>
                  <a:t> </a:t>
                </a:r>
                <a14:m>
                  <m:oMath xmlns:m="http://schemas.openxmlformats.org/officeDocument/2006/math">
                    <m:sSubSup>
                      <m:sSubSupPr>
                        <m:ctrlPr>
                          <a:rPr lang="en-ZA" i="1">
                            <a:latin typeface="Cambria Math" panose="02040503050406030204" pitchFamily="18" charset="0"/>
                          </a:rPr>
                        </m:ctrlPr>
                      </m:sSubSupPr>
                      <m:e>
                        <m:r>
                          <a:rPr lang="en-ZA" i="1">
                            <a:latin typeface="Cambria Math" panose="02040503050406030204" pitchFamily="18" charset="0"/>
                          </a:rPr>
                          <m:t> </m:t>
                        </m:r>
                        <m:r>
                          <a:rPr lang="en-ZA" b="0" i="1" smtClean="0">
                            <a:latin typeface="Cambria Math" panose="02040503050406030204" pitchFamily="18" charset="0"/>
                          </a:rPr>
                          <m:t>𝐶</m:t>
                        </m:r>
                        <m:r>
                          <a:rPr lang="en-ZA" i="1">
                            <a:latin typeface="Cambria Math" panose="02040503050406030204" pitchFamily="18" charset="0"/>
                          </a:rPr>
                          <m:t>𝑎𝑙𝑐𝑢𝑙𝑐𝑎𝑡𝑒</m:t>
                        </m:r>
                        <m:r>
                          <a:rPr lang="en-ZA" i="1">
                            <a:latin typeface="Cambria Math" panose="02040503050406030204" pitchFamily="18" charset="0"/>
                          </a:rPr>
                          <m:t>   </m:t>
                        </m:r>
                        <m:r>
                          <a:rPr lang="en-ZA" i="1">
                            <a:latin typeface="Cambria Math" panose="02040503050406030204" pitchFamily="18" charset="0"/>
                          </a:rPr>
                          <m:t>𝐷</m:t>
                        </m:r>
                      </m:e>
                      <m:sub>
                        <m:r>
                          <a:rPr lang="en-ZA" i="1">
                            <a:latin typeface="Cambria Math" panose="02040503050406030204" pitchFamily="18" charset="0"/>
                          </a:rPr>
                          <m:t>𝑖</m:t>
                        </m:r>
                      </m:sub>
                      <m:sup>
                        <m:r>
                          <a:rPr lang="en-ZA" i="1">
                            <a:latin typeface="Cambria Math" panose="02040503050406030204" pitchFamily="18" charset="0"/>
                          </a:rPr>
                          <m:t>2</m:t>
                        </m:r>
                      </m:sup>
                    </m:sSubSup>
                    <m:d>
                      <m:dPr>
                        <m:ctrlPr>
                          <a:rPr lang="en-ZA" i="1">
                            <a:latin typeface="Cambria Math" panose="02040503050406030204" pitchFamily="18" charset="0"/>
                          </a:rPr>
                        </m:ctrlPr>
                      </m:dPr>
                      <m:e>
                        <m:r>
                          <a:rPr lang="en-ZA" i="1">
                            <a:latin typeface="Cambria Math" panose="02040503050406030204" pitchFamily="18" charset="0"/>
                          </a:rPr>
                          <m:t>𝑥</m:t>
                        </m:r>
                      </m:e>
                    </m:d>
                    <m:r>
                      <a:rPr lang="en-ZA" i="1">
                        <a:latin typeface="Cambria Math" panose="02040503050406030204" pitchFamily="18" charset="0"/>
                      </a:rPr>
                      <m:t>=(</m:t>
                    </m:r>
                    <m:r>
                      <a:rPr lang="en-ZA" i="1">
                        <a:latin typeface="Cambria Math" panose="02040503050406030204" pitchFamily="18" charset="0"/>
                      </a:rPr>
                      <m:t>𝑥</m:t>
                    </m:r>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sub>
                    </m:sSub>
                    <m:r>
                      <a:rPr lang="en-ZA" i="1">
                        <a:latin typeface="Cambria Math" panose="02040503050406030204" pitchFamily="18" charset="0"/>
                      </a:rPr>
                      <m:t>)′</m:t>
                    </m:r>
                    <m:sSubSup>
                      <m:sSubSupPr>
                        <m:ctrlPr>
                          <a:rPr lang="en-ZA" i="1">
                            <a:latin typeface="Cambria Math" panose="02040503050406030204" pitchFamily="18" charset="0"/>
                          </a:rPr>
                        </m:ctrlPr>
                      </m:sSubSupPr>
                      <m:e>
                        <m:r>
                          <a:rPr lang="en-ZA" i="1">
                            <a:latin typeface="Cambria Math" panose="02040503050406030204" pitchFamily="18" charset="0"/>
                          </a:rPr>
                          <m:t>𝑆</m:t>
                        </m:r>
                      </m:e>
                      <m:sub>
                        <m:r>
                          <a:rPr lang="en-ZA" i="1">
                            <a:latin typeface="Cambria Math" panose="02040503050406030204" pitchFamily="18" charset="0"/>
                          </a:rPr>
                          <m:t>𝑝</m:t>
                        </m:r>
                      </m:sub>
                      <m:sup>
                        <m:r>
                          <a:rPr lang="en-ZA" i="1">
                            <a:latin typeface="Cambria Math" panose="02040503050406030204" pitchFamily="18" charset="0"/>
                          </a:rPr>
                          <m:t>−1</m:t>
                        </m:r>
                      </m:sup>
                    </m:sSubSup>
                    <m:r>
                      <a:rPr lang="en-ZA" i="1">
                        <a:latin typeface="Cambria Math" panose="02040503050406030204" pitchFamily="18" charset="0"/>
                      </a:rPr>
                      <m:t>(</m:t>
                    </m:r>
                    <m:r>
                      <a:rPr lang="en-ZA" i="1">
                        <a:latin typeface="Cambria Math" panose="02040503050406030204" pitchFamily="18" charset="0"/>
                      </a:rPr>
                      <m:t>𝑥</m:t>
                    </m:r>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sub>
                    </m:sSub>
                    <m:r>
                      <a:rPr lang="en-ZA" i="1">
                        <a:latin typeface="Cambria Math" panose="02040503050406030204" pitchFamily="18" charset="0"/>
                      </a:rPr>
                      <m:t>)</m:t>
                    </m:r>
                    <m:r>
                      <m:rPr>
                        <m:nor/>
                      </m:rPr>
                      <a:rPr lang="en-ZA">
                        <a:latin typeface="Cambria Math" panose="02040503050406030204" pitchFamily="18" charset="0"/>
                      </a:rPr>
                      <m:t> </m:t>
                    </m:r>
                    <m:r>
                      <m:rPr>
                        <m:nor/>
                      </m:rPr>
                      <a:rPr lang="en-ZA" dirty="0"/>
                      <m:t>and</m:t>
                    </m:r>
                    <m:r>
                      <m:rPr>
                        <m:nor/>
                      </m:rPr>
                      <a:rPr lang="en-ZA" dirty="0"/>
                      <m:t> </m:t>
                    </m:r>
                    <m:r>
                      <m:rPr>
                        <m:nor/>
                      </m:rPr>
                      <a:rPr lang="en-ZA" dirty="0"/>
                      <m:t>allocate</m:t>
                    </m:r>
                    <m:r>
                      <m:rPr>
                        <m:nor/>
                      </m:rPr>
                      <a:rPr lang="en-ZA" dirty="0"/>
                      <m:t> </m:t>
                    </m:r>
                    <m:r>
                      <a:rPr lang="en-ZA" i="1">
                        <a:latin typeface="Cambria Math" panose="02040503050406030204" pitchFamily="18" charset="0"/>
                      </a:rPr>
                      <m:t>𝑥</m:t>
                    </m:r>
                    <m:r>
                      <m:rPr>
                        <m:nor/>
                      </m:rPr>
                      <a:rPr lang="en-ZA" dirty="0"/>
                      <m:t> </m:t>
                    </m:r>
                    <m:r>
                      <m:rPr>
                        <m:nor/>
                      </m:rPr>
                      <a:rPr lang="en-ZA" dirty="0"/>
                      <m:t>to</m:t>
                    </m:r>
                    <m:r>
                      <m:rPr>
                        <m:nor/>
                      </m:rPr>
                      <a:rPr lang="en-ZA" dirty="0"/>
                      <m:t> </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𝜋</m:t>
                        </m:r>
                      </m:e>
                      <m:sub>
                        <m:r>
                          <a:rPr lang="en-ZA" i="1">
                            <a:latin typeface="Cambria Math" panose="02040503050406030204" pitchFamily="18" charset="0"/>
                          </a:rPr>
                          <m:t>𝑖</m:t>
                        </m:r>
                      </m:sub>
                    </m:sSub>
                    <m:r>
                      <m:rPr>
                        <m:nor/>
                      </m:rPr>
                      <a:rPr lang="en-ZA" dirty="0"/>
                      <m:t> </m:t>
                    </m:r>
                    <m:r>
                      <m:rPr>
                        <m:nor/>
                      </m:rPr>
                      <a:rPr lang="en-ZA" dirty="0"/>
                      <m:t>for</m:t>
                    </m:r>
                    <m:r>
                      <m:rPr>
                        <m:nor/>
                      </m:rPr>
                      <a:rPr lang="en-ZA" dirty="0"/>
                      <m:t> </m:t>
                    </m:r>
                    <m:r>
                      <m:rPr>
                        <m:nor/>
                      </m:rPr>
                      <a:rPr lang="en-ZA" dirty="0"/>
                      <m:t>which</m:t>
                    </m:r>
                    <m:r>
                      <m:rPr>
                        <m:nor/>
                      </m:rPr>
                      <a:rPr lang="en-ZA" dirty="0"/>
                      <m:t> </m:t>
                    </m:r>
                    <m:r>
                      <a:rPr lang="en-ZA">
                        <a:latin typeface="Cambria Math" panose="02040503050406030204" pitchFamily="18" charset="0"/>
                      </a:rPr>
                      <m:t>− </m:t>
                    </m:r>
                    <m:f>
                      <m:fPr>
                        <m:ctrlPr>
                          <a:rPr lang="en-ZA" i="1">
                            <a:latin typeface="Cambria Math" panose="02040503050406030204" pitchFamily="18" charset="0"/>
                          </a:rPr>
                        </m:ctrlPr>
                      </m:fPr>
                      <m:num>
                        <m:r>
                          <a:rPr lang="en-ZA" i="1">
                            <a:latin typeface="Cambria Math" panose="02040503050406030204" pitchFamily="18" charset="0"/>
                          </a:rPr>
                          <m:t>1</m:t>
                        </m:r>
                      </m:num>
                      <m:den>
                        <m:r>
                          <a:rPr lang="en-ZA" i="1">
                            <a:latin typeface="Cambria Math" panose="02040503050406030204" pitchFamily="18" charset="0"/>
                          </a:rPr>
                          <m:t>2</m:t>
                        </m:r>
                      </m:den>
                    </m:f>
                    <m:sSubSup>
                      <m:sSubSupPr>
                        <m:ctrlPr>
                          <a:rPr lang="en-ZA" i="1">
                            <a:latin typeface="Cambria Math" panose="02040503050406030204" pitchFamily="18" charset="0"/>
                          </a:rPr>
                        </m:ctrlPr>
                      </m:sSubSupPr>
                      <m:e>
                        <m:r>
                          <a:rPr lang="en-ZA" i="1">
                            <a:latin typeface="Cambria Math" panose="02040503050406030204" pitchFamily="18" charset="0"/>
                          </a:rPr>
                          <m:t>𝐷</m:t>
                        </m:r>
                      </m:e>
                      <m:sub>
                        <m:r>
                          <a:rPr lang="en-ZA" i="1">
                            <a:latin typeface="Cambria Math" panose="02040503050406030204" pitchFamily="18" charset="0"/>
                          </a:rPr>
                          <m:t>𝑖</m:t>
                        </m:r>
                      </m:sub>
                      <m:sup>
                        <m:r>
                          <a:rPr lang="en-ZA" i="1">
                            <a:latin typeface="Cambria Math" panose="02040503050406030204" pitchFamily="18" charset="0"/>
                          </a:rPr>
                          <m:t>2</m:t>
                        </m:r>
                      </m:sup>
                    </m:sSubSup>
                    <m:d>
                      <m:dPr>
                        <m:ctrlPr>
                          <a:rPr lang="en-ZA" i="1">
                            <a:latin typeface="Cambria Math" panose="02040503050406030204" pitchFamily="18" charset="0"/>
                          </a:rPr>
                        </m:ctrlPr>
                      </m:dPr>
                      <m:e>
                        <m:r>
                          <a:rPr lang="en-ZA" i="1">
                            <a:latin typeface="Cambria Math" panose="02040503050406030204" pitchFamily="18" charset="0"/>
                          </a:rPr>
                          <m:t>𝑥</m:t>
                        </m:r>
                      </m:e>
                    </m:d>
                    <m:r>
                      <a:rPr lang="en-ZA" i="1">
                        <a:latin typeface="Cambria Math" panose="02040503050406030204" pitchFamily="18" charset="0"/>
                      </a:rPr>
                      <m:t>+</m:t>
                    </m:r>
                    <m:func>
                      <m:funcPr>
                        <m:ctrlPr>
                          <a:rPr lang="en-ZA" i="1">
                            <a:latin typeface="Cambria Math" panose="02040503050406030204" pitchFamily="18" charset="0"/>
                          </a:rPr>
                        </m:ctrlPr>
                      </m:funcPr>
                      <m:fName>
                        <m:r>
                          <m:rPr>
                            <m:sty m:val="p"/>
                          </m:rPr>
                          <a:rPr lang="en-ZA">
                            <a:latin typeface="Cambria Math" panose="02040503050406030204" pitchFamily="18" charset="0"/>
                          </a:rPr>
                          <m:t>ln</m:t>
                        </m:r>
                      </m:fName>
                      <m:e>
                        <m:r>
                          <a:rPr lang="en-ZA" i="1">
                            <a:latin typeface="Cambria Math" panose="02040503050406030204" pitchFamily="18" charset="0"/>
                          </a:rPr>
                          <m:t>𝑝</m:t>
                        </m:r>
                      </m:e>
                    </m:func>
                    <m:r>
                      <m:rPr>
                        <m:nor/>
                      </m:rPr>
                      <a:rPr lang="en-ZA" dirty="0"/>
                      <m:t> </m:t>
                    </m:r>
                    <m:r>
                      <m:rPr>
                        <m:nor/>
                      </m:rPr>
                      <a:rPr lang="en-ZA" dirty="0"/>
                      <m:t>is</m:t>
                    </m:r>
                    <m:r>
                      <m:rPr>
                        <m:nor/>
                      </m:rPr>
                      <a:rPr lang="en-ZA" dirty="0"/>
                      <m:t> </m:t>
                    </m:r>
                    <m:r>
                      <m:rPr>
                        <m:nor/>
                      </m:rPr>
                      <a:rPr lang="en-ZA" dirty="0"/>
                      <m:t>the</m:t>
                    </m:r>
                    <m:r>
                      <m:rPr>
                        <m:nor/>
                      </m:rPr>
                      <a:rPr lang="en-ZA" dirty="0"/>
                      <m:t> </m:t>
                    </m:r>
                    <m:r>
                      <m:rPr>
                        <m:nor/>
                      </m:rPr>
                      <a:rPr lang="en-ZA" dirty="0"/>
                      <m:t>largest</m:t>
                    </m:r>
                  </m:oMath>
                </a14:m>
                <a:r>
                  <a:rPr lang="en-ZA" dirty="0"/>
                  <a:t>.</a:t>
                </a:r>
              </a:p>
            </p:txBody>
          </p:sp>
        </mc:Choice>
        <mc:Fallback xmlns="">
          <p:sp>
            <p:nvSpPr>
              <p:cNvPr id="2" name="TextBox 1"/>
              <p:cNvSpPr txBox="1">
                <a:spLocks noRot="1" noChangeAspect="1" noMove="1" noResize="1" noEditPoints="1" noAdjustHandles="1" noChangeArrowheads="1" noChangeShapeType="1" noTextEdit="1"/>
              </p:cNvSpPr>
              <p:nvPr/>
            </p:nvSpPr>
            <p:spPr>
              <a:xfrm>
                <a:off x="133350" y="222250"/>
                <a:ext cx="11798300" cy="5565498"/>
              </a:xfrm>
              <a:prstGeom prst="rect">
                <a:avLst/>
              </a:prstGeom>
              <a:blipFill rotWithShape="0">
                <a:blip r:embed="rId2"/>
                <a:stretch>
                  <a:fillRect l="-413" t="-437" r="-258"/>
                </a:stretch>
              </a:blipFill>
              <a:ln>
                <a:solidFill>
                  <a:schemeClr val="accent3"/>
                </a:solidFill>
              </a:ln>
            </p:spPr>
            <p:txBody>
              <a:bodyPr/>
              <a:lstStyle/>
              <a:p>
                <a:r>
                  <a:rPr lang="en-ZA">
                    <a:noFill/>
                  </a:rPr>
                  <a:t> </a:t>
                </a:r>
              </a:p>
            </p:txBody>
          </p:sp>
        </mc:Fallback>
      </mc:AlternateContent>
    </p:spTree>
    <p:extLst>
      <p:ext uri="{BB962C8B-B14F-4D97-AF65-F5344CB8AC3E}">
        <p14:creationId xmlns:p14="http://schemas.microsoft.com/office/powerpoint/2010/main" val="19900339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133350" y="222250"/>
                <a:ext cx="11734800" cy="5070362"/>
              </a:xfrm>
              <a:prstGeom prst="rect">
                <a:avLst/>
              </a:prstGeom>
              <a:noFill/>
              <a:ln>
                <a:solidFill>
                  <a:schemeClr val="accent1"/>
                </a:solidFill>
              </a:ln>
            </p:spPr>
            <p:txBody>
              <a:bodyPr wrap="square" rtlCol="0">
                <a:spAutoFit/>
              </a:bodyPr>
              <a:lstStyle/>
              <a:p>
                <a:r>
                  <a:rPr lang="en-ZA" dirty="0" smtClean="0"/>
                  <a:t>Class Exercises 2 (Johnson &amp; Wichern 11.11.and 11.13)</a:t>
                </a:r>
              </a:p>
              <a:p>
                <a:endParaRPr lang="en-ZA" dirty="0" smtClean="0"/>
              </a:p>
              <a:p>
                <a:r>
                  <a:rPr lang="en-ZA" dirty="0" smtClean="0"/>
                  <a:t>Again, do by hand or from first principles in r. Use R for any </a:t>
                </a:r>
                <a:r>
                  <a:rPr lang="en-ZA" dirty="0" err="1" smtClean="0"/>
                  <a:t>eigendecompositions</a:t>
                </a:r>
                <a:r>
                  <a:rPr lang="en-ZA" dirty="0" smtClean="0"/>
                  <a:t>.</a:t>
                </a:r>
              </a:p>
              <a:p>
                <a:endParaRPr lang="en-ZA" dirty="0"/>
              </a:p>
              <a:p>
                <a:r>
                  <a:rPr lang="en-ZA" dirty="0" smtClean="0"/>
                  <a:t>Given random samples from three populations (</a:t>
                </a:r>
                <a14:m>
                  <m:oMath xmlns:m="http://schemas.openxmlformats.org/officeDocument/2006/math">
                    <m:sSub>
                      <m:sSubPr>
                        <m:ctrlPr>
                          <a:rPr lang="en-ZA" i="1" smtClean="0">
                            <a:latin typeface="Cambria Math" panose="02040503050406030204" pitchFamily="18" charset="0"/>
                          </a:rPr>
                        </m:ctrlPr>
                      </m:sSubPr>
                      <m:e>
                        <m:r>
                          <a:rPr lang="en-ZA"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1</m:t>
                        </m:r>
                      </m:sub>
                    </m:sSub>
                    <m:r>
                      <a:rPr lang="en-ZA" b="0" i="1" smtClean="0">
                        <a:latin typeface="Cambria Math" panose="02040503050406030204" pitchFamily="18" charset="0"/>
                      </a:rPr>
                      <m:t>:</m:t>
                    </m:r>
                    <m:r>
                      <a:rPr lang="en-ZA" b="0" i="1" smtClean="0">
                        <a:latin typeface="Cambria Math" panose="02040503050406030204" pitchFamily="18" charset="0"/>
                      </a:rPr>
                      <m:t>𝑎𝑑𝑚𝑖𝑡</m:t>
                    </m:r>
                    <m:r>
                      <a:rPr lang="en-ZA" b="0" i="1" smtClean="0">
                        <a:latin typeface="Cambria Math" panose="02040503050406030204" pitchFamily="18" charset="0"/>
                      </a:rPr>
                      <m:t>,   </m:t>
                    </m:r>
                    <m:sSub>
                      <m:sSubPr>
                        <m:ctrlPr>
                          <a:rPr lang="en-ZA" b="0" i="1" smtClean="0">
                            <a:latin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2</m:t>
                        </m:r>
                      </m:sub>
                    </m:sSub>
                    <m:r>
                      <a:rPr lang="en-ZA" b="0" i="0" smtClean="0">
                        <a:latin typeface="Cambria Math" panose="02040503050406030204" pitchFamily="18" charset="0"/>
                      </a:rPr>
                      <m:t>:</m:t>
                    </m:r>
                    <m:r>
                      <m:rPr>
                        <m:sty m:val="p"/>
                      </m:rPr>
                      <a:rPr lang="en-ZA" b="0" i="0" smtClean="0">
                        <a:latin typeface="Cambria Math" panose="02040503050406030204" pitchFamily="18" charset="0"/>
                      </a:rPr>
                      <m:t>do</m:t>
                    </m:r>
                    <m:r>
                      <a:rPr lang="en-ZA" b="0" i="0" smtClean="0">
                        <a:latin typeface="Cambria Math" panose="02040503050406030204" pitchFamily="18" charset="0"/>
                      </a:rPr>
                      <m:t> </m:t>
                    </m:r>
                    <m:r>
                      <m:rPr>
                        <m:sty m:val="p"/>
                      </m:rPr>
                      <a:rPr lang="en-ZA" b="0" i="0" smtClean="0">
                        <a:latin typeface="Cambria Math" panose="02040503050406030204" pitchFamily="18" charset="0"/>
                      </a:rPr>
                      <m:t>not</m:t>
                    </m:r>
                    <m:r>
                      <a:rPr lang="en-ZA" b="0" i="0" smtClean="0">
                        <a:latin typeface="Cambria Math" panose="02040503050406030204" pitchFamily="18" charset="0"/>
                      </a:rPr>
                      <m:t> </m:t>
                    </m:r>
                    <m:r>
                      <m:rPr>
                        <m:sty m:val="p"/>
                      </m:rPr>
                      <a:rPr lang="en-ZA" b="0" i="0" smtClean="0">
                        <a:latin typeface="Cambria Math" panose="02040503050406030204" pitchFamily="18" charset="0"/>
                      </a:rPr>
                      <m:t>admit</m:t>
                    </m:r>
                    <m:r>
                      <a:rPr lang="en-ZA" b="0" i="0" smtClean="0">
                        <a:latin typeface="Cambria Math" panose="02040503050406030204" pitchFamily="18" charset="0"/>
                      </a:rPr>
                      <m:t>,  </m:t>
                    </m:r>
                    <m:sSub>
                      <m:sSubPr>
                        <m:ctrlPr>
                          <a:rPr lang="en-ZA" b="0" i="1" smtClean="0">
                            <a:latin typeface="Cambria Math" panose="02040503050406030204" pitchFamily="18" charset="0"/>
                          </a:rPr>
                        </m:ctrlPr>
                      </m:sSubPr>
                      <m:e>
                        <m:r>
                          <a:rPr lang="en-ZA" b="0" i="1" smtClean="0">
                            <a:latin typeface="Cambria Math" panose="02040503050406030204" pitchFamily="18" charset="0"/>
                            <a:ea typeface="Cambria Math" panose="02040503050406030204" pitchFamily="18" charset="0"/>
                          </a:rPr>
                          <m:t>𝜋</m:t>
                        </m:r>
                      </m:e>
                      <m:sub>
                        <m:r>
                          <a:rPr lang="en-ZA" b="0" i="1" smtClean="0">
                            <a:latin typeface="Cambria Math" panose="02040503050406030204" pitchFamily="18" charset="0"/>
                          </a:rPr>
                          <m:t>3</m:t>
                        </m:r>
                      </m:sub>
                    </m:sSub>
                    <m:r>
                      <a:rPr lang="en-ZA" b="0" i="1" smtClean="0">
                        <a:latin typeface="Cambria Math" panose="02040503050406030204" pitchFamily="18" charset="0"/>
                      </a:rPr>
                      <m:t>:</m:t>
                    </m:r>
                    <m:r>
                      <a:rPr lang="en-ZA" b="0" i="1" smtClean="0">
                        <a:latin typeface="Cambria Math" panose="02040503050406030204" pitchFamily="18" charset="0"/>
                      </a:rPr>
                      <m:t>𝑏𝑜𝑟𝑑𝑒𝑟𝑙𝑖𝑛𝑒</m:t>
                    </m:r>
                    <m:r>
                      <a:rPr lang="en-ZA" b="0" i="1" smtClean="0">
                        <a:latin typeface="Cambria Math" panose="02040503050406030204" pitchFamily="18" charset="0"/>
                      </a:rPr>
                      <m:t>) </m:t>
                    </m:r>
                  </m:oMath>
                </a14:m>
                <a:r>
                  <a:rPr lang="en-ZA" dirty="0" smtClean="0"/>
                  <a:t>with values for GPA and GMAT scores as follows:</a:t>
                </a:r>
              </a:p>
              <a:p>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1</m:t>
                        </m:r>
                      </m:sub>
                    </m:sSub>
                    <m:r>
                      <a:rPr lang="en-ZA" b="0" i="1" smtClean="0">
                        <a:latin typeface="Cambria Math" panose="02040503050406030204" pitchFamily="18" charset="0"/>
                      </a:rPr>
                      <m:t>=31,   </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1</m:t>
                        </m:r>
                      </m:sub>
                    </m:sSub>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1"/>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3</m:t>
                              </m:r>
                              <m:r>
                                <a:rPr lang="en-ZA" b="0" i="1" smtClean="0">
                                  <a:latin typeface="Cambria Math" panose="02040503050406030204" pitchFamily="18" charset="0"/>
                                </a:rPr>
                                <m:t>.4</m:t>
                              </m:r>
                            </m:e>
                          </m:mr>
                          <m:mr>
                            <m:e>
                              <m:r>
                                <a:rPr lang="en-ZA" b="0" i="1" smtClean="0">
                                  <a:latin typeface="Cambria Math" panose="02040503050406030204" pitchFamily="18" charset="0"/>
                                </a:rPr>
                                <m:t>561.23</m:t>
                              </m:r>
                            </m:e>
                          </m:mr>
                        </m:m>
                      </m:e>
                    </m:d>
                  </m:oMath>
                </a14:m>
                <a:r>
                  <a:rPr lang="en-ZA" dirty="0" smtClean="0"/>
                  <a:t>    ;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2</m:t>
                        </m:r>
                      </m:sub>
                    </m:sSub>
                    <m:r>
                      <a:rPr lang="en-ZA" b="0" i="1" smtClean="0">
                        <a:latin typeface="Cambria Math" panose="02040503050406030204" pitchFamily="18" charset="0"/>
                      </a:rPr>
                      <m:t>=28,  </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2</m:t>
                        </m:r>
                      </m:sub>
                    </m:sSub>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1"/>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2</m:t>
                              </m:r>
                              <m:r>
                                <a:rPr lang="en-ZA" b="0" i="1" smtClean="0">
                                  <a:latin typeface="Cambria Math" panose="02040503050406030204" pitchFamily="18" charset="0"/>
                                </a:rPr>
                                <m:t>.48</m:t>
                              </m:r>
                            </m:e>
                          </m:mr>
                          <m:mr>
                            <m:e>
                              <m:r>
                                <a:rPr lang="en-ZA" b="0" i="1" smtClean="0">
                                  <a:latin typeface="Cambria Math" panose="02040503050406030204" pitchFamily="18" charset="0"/>
                                </a:rPr>
                                <m:t>447.07</m:t>
                              </m:r>
                            </m:e>
                          </m:mr>
                        </m:m>
                      </m:e>
                    </m:d>
                  </m:oMath>
                </a14:m>
                <a:r>
                  <a:rPr lang="en-ZA" dirty="0" smtClean="0"/>
                  <a:t>     ;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𝑛</m:t>
                        </m:r>
                      </m:e>
                      <m:sub>
                        <m:r>
                          <a:rPr lang="en-ZA" b="0" i="1" smtClean="0">
                            <a:latin typeface="Cambria Math" panose="02040503050406030204" pitchFamily="18" charset="0"/>
                          </a:rPr>
                          <m:t>3</m:t>
                        </m:r>
                      </m:sub>
                    </m:sSub>
                    <m:r>
                      <a:rPr lang="en-ZA" b="0" i="1" smtClean="0">
                        <a:latin typeface="Cambria Math" panose="02040503050406030204" pitchFamily="18" charset="0"/>
                      </a:rPr>
                      <m:t>=26,     </m:t>
                    </m:r>
                    <m:sSub>
                      <m:sSubPr>
                        <m:ctrlPr>
                          <a:rPr lang="en-ZA" b="0" i="1" smtClean="0">
                            <a:latin typeface="Cambria Math" panose="02040503050406030204" pitchFamily="18" charset="0"/>
                          </a:rPr>
                        </m:ctrlPr>
                      </m:sSubPr>
                      <m:e>
                        <m:acc>
                          <m:accPr>
                            <m:chr m:val="̅"/>
                            <m:ctrlPr>
                              <a:rPr lang="en-ZA" b="0" i="1" smtClean="0">
                                <a:latin typeface="Cambria Math" panose="02040503050406030204" pitchFamily="18" charset="0"/>
                              </a:rPr>
                            </m:ctrlPr>
                          </m:accPr>
                          <m:e>
                            <m:r>
                              <a:rPr lang="en-ZA" b="0" i="1" smtClean="0">
                                <a:latin typeface="Cambria Math" panose="02040503050406030204" pitchFamily="18" charset="0"/>
                              </a:rPr>
                              <m:t>𝑥</m:t>
                            </m:r>
                          </m:e>
                        </m:acc>
                      </m:e>
                      <m:sub>
                        <m:r>
                          <a:rPr lang="en-ZA" b="0" i="1" smtClean="0">
                            <a:latin typeface="Cambria Math" panose="02040503050406030204" pitchFamily="18" charset="0"/>
                          </a:rPr>
                          <m:t>3</m:t>
                        </m:r>
                      </m:sub>
                    </m:sSub>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1"/>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2</m:t>
                              </m:r>
                              <m:r>
                                <a:rPr lang="en-ZA" b="0" i="1" smtClean="0">
                                  <a:latin typeface="Cambria Math" panose="02040503050406030204" pitchFamily="18" charset="0"/>
                                </a:rPr>
                                <m:t>.99</m:t>
                              </m:r>
                            </m:e>
                          </m:mr>
                          <m:mr>
                            <m:e>
                              <m:r>
                                <a:rPr lang="en-ZA" b="0" i="1" smtClean="0">
                                  <a:latin typeface="Cambria Math" panose="02040503050406030204" pitchFamily="18" charset="0"/>
                                </a:rPr>
                                <m:t>446.23</m:t>
                              </m:r>
                            </m:e>
                          </m:mr>
                        </m:m>
                      </m:e>
                    </m:d>
                  </m:oMath>
                </a14:m>
                <a:endParaRPr lang="en-ZA" dirty="0" smtClean="0"/>
              </a:p>
              <a:p>
                <a:endParaRPr lang="en-ZA" dirty="0"/>
              </a:p>
              <a:p>
                <a:r>
                  <a:rPr lang="en-ZA" dirty="0"/>
                  <a:t>w</a:t>
                </a:r>
                <a:r>
                  <a:rPr lang="en-ZA" dirty="0" smtClean="0"/>
                  <a:t>ith   </a:t>
                </a:r>
                <a14:m>
                  <m:oMath xmlns:m="http://schemas.openxmlformats.org/officeDocument/2006/math">
                    <m:acc>
                      <m:accPr>
                        <m:chr m:val="̅"/>
                        <m:ctrlPr>
                          <a:rPr lang="en-ZA" i="1" smtClean="0">
                            <a:latin typeface="Cambria Math" panose="02040503050406030204" pitchFamily="18" charset="0"/>
                          </a:rPr>
                        </m:ctrlPr>
                      </m:accPr>
                      <m:e>
                        <m:r>
                          <a:rPr lang="en-ZA" b="0" i="1" smtClean="0">
                            <a:latin typeface="Cambria Math" panose="02040503050406030204" pitchFamily="18" charset="0"/>
                          </a:rPr>
                          <m:t>𝑥</m:t>
                        </m:r>
                      </m:e>
                    </m:acc>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1"/>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2</m:t>
                              </m:r>
                              <m:r>
                                <a:rPr lang="en-ZA" b="0" i="1" smtClean="0">
                                  <a:latin typeface="Cambria Math" panose="02040503050406030204" pitchFamily="18" charset="0"/>
                                </a:rPr>
                                <m:t>.97</m:t>
                              </m:r>
                            </m:e>
                          </m:mr>
                          <m:mr>
                            <m:e>
                              <m:r>
                                <a:rPr lang="en-ZA" b="0" i="1" smtClean="0">
                                  <a:latin typeface="Cambria Math" panose="02040503050406030204" pitchFamily="18" charset="0"/>
                                </a:rPr>
                                <m:t>488.45</m:t>
                              </m:r>
                            </m:e>
                          </m:mr>
                        </m:m>
                      </m:e>
                    </m:d>
                  </m:oMath>
                </a14:m>
                <a:r>
                  <a:rPr lang="en-ZA" dirty="0" smtClean="0"/>
                  <a:t>   and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𝑆</m:t>
                        </m:r>
                      </m:e>
                      <m:sub>
                        <m:r>
                          <a:rPr lang="en-ZA" b="0" i="1" smtClean="0">
                            <a:latin typeface="Cambria Math" panose="02040503050406030204" pitchFamily="18" charset="0"/>
                          </a:rPr>
                          <m:t>𝑝</m:t>
                        </m:r>
                      </m:sub>
                    </m:sSub>
                    <m:r>
                      <a:rPr lang="en-ZA" b="0" i="1" smtClean="0">
                        <a:latin typeface="Cambria Math" panose="02040503050406030204" pitchFamily="18" charset="0"/>
                      </a:rPr>
                      <m:t>=</m:t>
                    </m:r>
                    <m:d>
                      <m:dPr>
                        <m:begChr m:val="["/>
                        <m:endChr m:val="]"/>
                        <m:ctrlPr>
                          <a:rPr lang="en-ZA" b="0" i="1" smtClean="0">
                            <a:latin typeface="Cambria Math" panose="02040503050406030204" pitchFamily="18" charset="0"/>
                          </a:rPr>
                        </m:ctrlPr>
                      </m:dPr>
                      <m:e>
                        <m:m>
                          <m:mPr>
                            <m:mcs>
                              <m:mc>
                                <m:mcPr>
                                  <m:count m:val="2"/>
                                  <m:mcJc m:val="center"/>
                                </m:mcPr>
                              </m:mc>
                            </m:mcs>
                            <m:ctrlPr>
                              <a:rPr lang="en-ZA" b="0" i="1" smtClean="0">
                                <a:latin typeface="Cambria Math" panose="02040503050406030204" pitchFamily="18" charset="0"/>
                              </a:rPr>
                            </m:ctrlPr>
                          </m:mPr>
                          <m:mr>
                            <m:e>
                              <m:r>
                                <m:rPr>
                                  <m:brk m:alnAt="7"/>
                                </m:rPr>
                                <a:rPr lang="en-ZA" b="0" i="1" smtClean="0">
                                  <a:latin typeface="Cambria Math" panose="02040503050406030204" pitchFamily="18" charset="0"/>
                                </a:rPr>
                                <m:t>0</m:t>
                              </m:r>
                              <m:r>
                                <a:rPr lang="en-ZA" b="0" i="1" smtClean="0">
                                  <a:latin typeface="Cambria Math" panose="02040503050406030204" pitchFamily="18" charset="0"/>
                                </a:rPr>
                                <m:t>.0361</m:t>
                              </m:r>
                            </m:e>
                            <m:e>
                              <m:r>
                                <a:rPr lang="en-ZA" b="0" i="1" smtClean="0">
                                  <a:latin typeface="Cambria Math" panose="02040503050406030204" pitchFamily="18" charset="0"/>
                                </a:rPr>
                                <m:t>−2.0188</m:t>
                              </m:r>
                            </m:e>
                          </m:mr>
                          <m:mr>
                            <m:e>
                              <m:r>
                                <a:rPr lang="en-ZA" b="0" i="1" smtClean="0">
                                  <a:latin typeface="Cambria Math" panose="02040503050406030204" pitchFamily="18" charset="0"/>
                                </a:rPr>
                                <m:t>−2.0188</m:t>
                              </m:r>
                            </m:e>
                            <m:e>
                              <m:r>
                                <a:rPr lang="en-ZA" b="0" i="1" smtClean="0">
                                  <a:latin typeface="Cambria Math" panose="02040503050406030204" pitchFamily="18" charset="0"/>
                                </a:rPr>
                                <m:t>3655.9011</m:t>
                              </m:r>
                            </m:e>
                          </m:mr>
                        </m:m>
                      </m:e>
                    </m:d>
                  </m:oMath>
                </a14:m>
                <a:r>
                  <a:rPr lang="en-ZA" dirty="0" smtClean="0"/>
                  <a:t> ,</a:t>
                </a:r>
              </a:p>
              <a:p>
                <a:endParaRPr lang="en-ZA" dirty="0"/>
              </a:p>
              <a:p>
                <a:r>
                  <a:rPr lang="en-ZA" dirty="0" smtClean="0"/>
                  <a:t>Allocate an undergraduate with a GPA score of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1</m:t>
                        </m:r>
                      </m:sub>
                    </m:sSub>
                    <m:r>
                      <a:rPr lang="en-ZA" b="0" i="1" smtClean="0">
                        <a:latin typeface="Cambria Math" panose="02040503050406030204" pitchFamily="18" charset="0"/>
                      </a:rPr>
                      <m:t>=3.21</m:t>
                    </m:r>
                  </m:oMath>
                </a14:m>
                <a:r>
                  <a:rPr lang="en-ZA" dirty="0" smtClean="0"/>
                  <a:t> and a GMAT score of </a:t>
                </a:r>
                <a14:m>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𝑥</m:t>
                        </m:r>
                      </m:e>
                      <m:sub>
                        <m:r>
                          <a:rPr lang="en-ZA" b="0" i="1" smtClean="0">
                            <a:latin typeface="Cambria Math" panose="02040503050406030204" pitchFamily="18" charset="0"/>
                          </a:rPr>
                          <m:t>2</m:t>
                        </m:r>
                      </m:sub>
                    </m:sSub>
                    <m:r>
                      <a:rPr lang="en-ZA" b="0" i="1" smtClean="0">
                        <a:latin typeface="Cambria Math" panose="02040503050406030204" pitchFamily="18" charset="0"/>
                      </a:rPr>
                      <m:t>=497</m:t>
                    </m:r>
                  </m:oMath>
                </a14:m>
                <a:r>
                  <a:rPr lang="en-ZA" dirty="0" smtClean="0"/>
                  <a:t> to one of the 3 groups using</a:t>
                </a:r>
              </a:p>
              <a:p>
                <a:endParaRPr lang="en-ZA" dirty="0"/>
              </a:p>
              <a:p>
                <a:r>
                  <a:rPr lang="en-ZA" dirty="0" smtClean="0"/>
                  <a:t>(1) </a:t>
                </a:r>
                <a14:m>
                  <m:oMath xmlns:m="http://schemas.openxmlformats.org/officeDocument/2006/math">
                    <m:sSubSup>
                      <m:sSubSupPr>
                        <m:ctrlPr>
                          <a:rPr lang="en-ZA" i="1">
                            <a:latin typeface="Cambria Math" panose="02040503050406030204" pitchFamily="18" charset="0"/>
                          </a:rPr>
                        </m:ctrlPr>
                      </m:sSubSupPr>
                      <m:e>
                        <m:r>
                          <a:rPr lang="en-ZA" i="1">
                            <a:latin typeface="Cambria Math" panose="02040503050406030204" pitchFamily="18" charset="0"/>
                          </a:rPr>
                          <m:t> </m:t>
                        </m:r>
                        <m:r>
                          <a:rPr lang="en-ZA" i="1">
                            <a:latin typeface="Cambria Math" panose="02040503050406030204" pitchFamily="18" charset="0"/>
                          </a:rPr>
                          <m:t>𝐶𝑎𝑙𝑐𝑢𝑙𝑐𝑎𝑡𝑒</m:t>
                        </m:r>
                        <m:r>
                          <a:rPr lang="en-ZA" i="1">
                            <a:latin typeface="Cambria Math" panose="02040503050406030204" pitchFamily="18" charset="0"/>
                          </a:rPr>
                          <m:t>   </m:t>
                        </m:r>
                        <m:r>
                          <a:rPr lang="en-ZA" i="1">
                            <a:latin typeface="Cambria Math" panose="02040503050406030204" pitchFamily="18" charset="0"/>
                          </a:rPr>
                          <m:t>𝐷</m:t>
                        </m:r>
                      </m:e>
                      <m:sub>
                        <m:r>
                          <a:rPr lang="en-ZA" i="1">
                            <a:latin typeface="Cambria Math" panose="02040503050406030204" pitchFamily="18" charset="0"/>
                          </a:rPr>
                          <m:t>𝑖</m:t>
                        </m:r>
                      </m:sub>
                      <m:sup>
                        <m:r>
                          <a:rPr lang="en-ZA" i="1">
                            <a:latin typeface="Cambria Math" panose="02040503050406030204" pitchFamily="18" charset="0"/>
                          </a:rPr>
                          <m:t>2</m:t>
                        </m:r>
                      </m:sup>
                    </m:sSubSup>
                    <m:d>
                      <m:dPr>
                        <m:ctrlPr>
                          <a:rPr lang="en-ZA" i="1">
                            <a:latin typeface="Cambria Math" panose="02040503050406030204" pitchFamily="18" charset="0"/>
                          </a:rPr>
                        </m:ctrlPr>
                      </m:dPr>
                      <m:e>
                        <m:r>
                          <a:rPr lang="en-ZA" i="1">
                            <a:latin typeface="Cambria Math" panose="02040503050406030204" pitchFamily="18" charset="0"/>
                          </a:rPr>
                          <m:t>𝑥</m:t>
                        </m:r>
                      </m:e>
                    </m:d>
                    <m:r>
                      <a:rPr lang="en-ZA" i="1">
                        <a:latin typeface="Cambria Math" panose="02040503050406030204" pitchFamily="18" charset="0"/>
                      </a:rPr>
                      <m:t>=(</m:t>
                    </m:r>
                    <m:r>
                      <a:rPr lang="en-ZA" i="1">
                        <a:latin typeface="Cambria Math" panose="02040503050406030204" pitchFamily="18" charset="0"/>
                      </a:rPr>
                      <m:t>𝑥</m:t>
                    </m:r>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sub>
                    </m:sSub>
                    <m:r>
                      <a:rPr lang="en-ZA" i="1">
                        <a:latin typeface="Cambria Math" panose="02040503050406030204" pitchFamily="18" charset="0"/>
                      </a:rPr>
                      <m:t>)′</m:t>
                    </m:r>
                    <m:sSubSup>
                      <m:sSubSupPr>
                        <m:ctrlPr>
                          <a:rPr lang="en-ZA" i="1">
                            <a:latin typeface="Cambria Math" panose="02040503050406030204" pitchFamily="18" charset="0"/>
                          </a:rPr>
                        </m:ctrlPr>
                      </m:sSubSupPr>
                      <m:e>
                        <m:r>
                          <a:rPr lang="en-ZA" i="1">
                            <a:latin typeface="Cambria Math" panose="02040503050406030204" pitchFamily="18" charset="0"/>
                          </a:rPr>
                          <m:t>𝑆</m:t>
                        </m:r>
                      </m:e>
                      <m:sub>
                        <m:r>
                          <a:rPr lang="en-ZA" i="1">
                            <a:latin typeface="Cambria Math" panose="02040503050406030204" pitchFamily="18" charset="0"/>
                          </a:rPr>
                          <m:t>𝑝</m:t>
                        </m:r>
                      </m:sub>
                      <m:sup>
                        <m:r>
                          <a:rPr lang="en-ZA" i="1">
                            <a:latin typeface="Cambria Math" panose="02040503050406030204" pitchFamily="18" charset="0"/>
                          </a:rPr>
                          <m:t>−1</m:t>
                        </m:r>
                      </m:sup>
                    </m:sSubSup>
                    <m:r>
                      <a:rPr lang="en-ZA" i="1">
                        <a:latin typeface="Cambria Math" panose="02040503050406030204" pitchFamily="18" charset="0"/>
                      </a:rPr>
                      <m:t>(</m:t>
                    </m:r>
                    <m:r>
                      <a:rPr lang="en-ZA" i="1">
                        <a:latin typeface="Cambria Math" panose="02040503050406030204" pitchFamily="18" charset="0"/>
                      </a:rPr>
                      <m:t>𝑥</m:t>
                    </m:r>
                    <m:r>
                      <a:rPr lang="en-ZA" i="1">
                        <a:latin typeface="Cambria Math" panose="02040503050406030204" pitchFamily="18" charset="0"/>
                      </a:rPr>
                      <m:t>−</m:t>
                    </m:r>
                    <m:sSub>
                      <m:sSubPr>
                        <m:ctrlPr>
                          <a:rPr lang="en-ZA" i="1">
                            <a:latin typeface="Cambria Math" panose="02040503050406030204" pitchFamily="18" charset="0"/>
                          </a:rPr>
                        </m:ctrlPr>
                      </m:sSubPr>
                      <m:e>
                        <m:acc>
                          <m:accPr>
                            <m:chr m:val="̅"/>
                            <m:ctrlPr>
                              <a:rPr lang="en-ZA" i="1">
                                <a:latin typeface="Cambria Math" panose="02040503050406030204" pitchFamily="18" charset="0"/>
                              </a:rPr>
                            </m:ctrlPr>
                          </m:accPr>
                          <m:e>
                            <m:r>
                              <a:rPr lang="en-ZA" i="1">
                                <a:latin typeface="Cambria Math" panose="02040503050406030204" pitchFamily="18" charset="0"/>
                              </a:rPr>
                              <m:t>𝑥</m:t>
                            </m:r>
                          </m:e>
                        </m:acc>
                      </m:e>
                      <m:sub>
                        <m:r>
                          <a:rPr lang="en-ZA" i="1">
                            <a:latin typeface="Cambria Math" panose="02040503050406030204" pitchFamily="18" charset="0"/>
                          </a:rPr>
                          <m:t>𝑖</m:t>
                        </m:r>
                      </m:sub>
                    </m:sSub>
                    <m:r>
                      <a:rPr lang="en-ZA" i="1">
                        <a:latin typeface="Cambria Math" panose="02040503050406030204" pitchFamily="18" charset="0"/>
                      </a:rPr>
                      <m:t>)</m:t>
                    </m:r>
                    <m:r>
                      <m:rPr>
                        <m:nor/>
                      </m:rPr>
                      <a:rPr lang="en-ZA">
                        <a:latin typeface="Cambria Math" panose="02040503050406030204" pitchFamily="18" charset="0"/>
                      </a:rPr>
                      <m:t> </m:t>
                    </m:r>
                    <m:r>
                      <m:rPr>
                        <m:nor/>
                      </m:rPr>
                      <a:rPr lang="en-ZA" dirty="0"/>
                      <m:t>and</m:t>
                    </m:r>
                    <m:r>
                      <m:rPr>
                        <m:nor/>
                      </m:rPr>
                      <a:rPr lang="en-ZA" dirty="0"/>
                      <m:t> </m:t>
                    </m:r>
                    <m:r>
                      <m:rPr>
                        <m:nor/>
                      </m:rPr>
                      <a:rPr lang="en-ZA" dirty="0"/>
                      <m:t>allocate</m:t>
                    </m:r>
                    <m:r>
                      <m:rPr>
                        <m:nor/>
                      </m:rPr>
                      <a:rPr lang="en-ZA" dirty="0"/>
                      <m:t> </m:t>
                    </m:r>
                    <m:r>
                      <a:rPr lang="en-ZA" i="1">
                        <a:latin typeface="Cambria Math" panose="02040503050406030204" pitchFamily="18" charset="0"/>
                      </a:rPr>
                      <m:t>𝑥</m:t>
                    </m:r>
                    <m:r>
                      <m:rPr>
                        <m:nor/>
                      </m:rPr>
                      <a:rPr lang="en-ZA" dirty="0"/>
                      <m:t> </m:t>
                    </m:r>
                    <m:r>
                      <m:rPr>
                        <m:nor/>
                      </m:rPr>
                      <a:rPr lang="en-ZA" dirty="0"/>
                      <m:t>to</m:t>
                    </m:r>
                    <m:r>
                      <m:rPr>
                        <m:nor/>
                      </m:rPr>
                      <a:rPr lang="en-ZA" dirty="0"/>
                      <m:t> </m:t>
                    </m:r>
                    <m:sSub>
                      <m:sSubPr>
                        <m:ctrlPr>
                          <a:rPr lang="en-ZA" i="1">
                            <a:latin typeface="Cambria Math" panose="02040503050406030204" pitchFamily="18" charset="0"/>
                          </a:rPr>
                        </m:ctrlPr>
                      </m:sSubPr>
                      <m:e>
                        <m:r>
                          <a:rPr lang="en-ZA" i="1">
                            <a:latin typeface="Cambria Math" panose="02040503050406030204" pitchFamily="18" charset="0"/>
                            <a:ea typeface="Cambria Math" panose="02040503050406030204" pitchFamily="18" charset="0"/>
                          </a:rPr>
                          <m:t>𝜋</m:t>
                        </m:r>
                      </m:e>
                      <m:sub>
                        <m:r>
                          <a:rPr lang="en-ZA" i="1">
                            <a:latin typeface="Cambria Math" panose="02040503050406030204" pitchFamily="18" charset="0"/>
                          </a:rPr>
                          <m:t>𝑖</m:t>
                        </m:r>
                      </m:sub>
                    </m:sSub>
                    <m:r>
                      <m:rPr>
                        <m:nor/>
                      </m:rPr>
                      <a:rPr lang="en-ZA" dirty="0"/>
                      <m:t> </m:t>
                    </m:r>
                    <m:r>
                      <m:rPr>
                        <m:nor/>
                      </m:rPr>
                      <a:rPr lang="en-ZA" dirty="0"/>
                      <m:t>for</m:t>
                    </m:r>
                    <m:r>
                      <m:rPr>
                        <m:nor/>
                      </m:rPr>
                      <a:rPr lang="en-ZA" dirty="0"/>
                      <m:t> </m:t>
                    </m:r>
                    <m:r>
                      <m:rPr>
                        <m:nor/>
                      </m:rPr>
                      <a:rPr lang="en-ZA" dirty="0"/>
                      <m:t>which</m:t>
                    </m:r>
                    <m:r>
                      <m:rPr>
                        <m:nor/>
                      </m:rPr>
                      <a:rPr lang="en-ZA" dirty="0"/>
                      <m:t> </m:t>
                    </m:r>
                    <m:r>
                      <a:rPr lang="en-ZA">
                        <a:latin typeface="Cambria Math" panose="02040503050406030204" pitchFamily="18" charset="0"/>
                      </a:rPr>
                      <m:t>− </m:t>
                    </m:r>
                    <m:f>
                      <m:fPr>
                        <m:ctrlPr>
                          <a:rPr lang="en-ZA" i="1">
                            <a:latin typeface="Cambria Math" panose="02040503050406030204" pitchFamily="18" charset="0"/>
                          </a:rPr>
                        </m:ctrlPr>
                      </m:fPr>
                      <m:num>
                        <m:r>
                          <a:rPr lang="en-ZA" i="1">
                            <a:latin typeface="Cambria Math" panose="02040503050406030204" pitchFamily="18" charset="0"/>
                          </a:rPr>
                          <m:t>1</m:t>
                        </m:r>
                      </m:num>
                      <m:den>
                        <m:r>
                          <a:rPr lang="en-ZA" i="1">
                            <a:latin typeface="Cambria Math" panose="02040503050406030204" pitchFamily="18" charset="0"/>
                          </a:rPr>
                          <m:t>2</m:t>
                        </m:r>
                      </m:den>
                    </m:f>
                    <m:sSubSup>
                      <m:sSubSupPr>
                        <m:ctrlPr>
                          <a:rPr lang="en-ZA" i="1">
                            <a:latin typeface="Cambria Math" panose="02040503050406030204" pitchFamily="18" charset="0"/>
                          </a:rPr>
                        </m:ctrlPr>
                      </m:sSubSupPr>
                      <m:e>
                        <m:r>
                          <a:rPr lang="en-ZA" i="1">
                            <a:latin typeface="Cambria Math" panose="02040503050406030204" pitchFamily="18" charset="0"/>
                          </a:rPr>
                          <m:t>𝐷</m:t>
                        </m:r>
                      </m:e>
                      <m:sub>
                        <m:r>
                          <a:rPr lang="en-ZA" i="1">
                            <a:latin typeface="Cambria Math" panose="02040503050406030204" pitchFamily="18" charset="0"/>
                          </a:rPr>
                          <m:t>𝑖</m:t>
                        </m:r>
                      </m:sub>
                      <m:sup>
                        <m:r>
                          <a:rPr lang="en-ZA" i="1">
                            <a:latin typeface="Cambria Math" panose="02040503050406030204" pitchFamily="18" charset="0"/>
                          </a:rPr>
                          <m:t>2</m:t>
                        </m:r>
                      </m:sup>
                    </m:sSubSup>
                    <m:d>
                      <m:dPr>
                        <m:ctrlPr>
                          <a:rPr lang="en-ZA" i="1">
                            <a:latin typeface="Cambria Math" panose="02040503050406030204" pitchFamily="18" charset="0"/>
                          </a:rPr>
                        </m:ctrlPr>
                      </m:dPr>
                      <m:e>
                        <m:r>
                          <a:rPr lang="en-ZA" i="1">
                            <a:latin typeface="Cambria Math" panose="02040503050406030204" pitchFamily="18" charset="0"/>
                          </a:rPr>
                          <m:t>𝑥</m:t>
                        </m:r>
                      </m:e>
                    </m:d>
                    <m:r>
                      <a:rPr lang="en-ZA" i="1">
                        <a:latin typeface="Cambria Math" panose="02040503050406030204" pitchFamily="18" charset="0"/>
                      </a:rPr>
                      <m:t>+</m:t>
                    </m:r>
                    <m:func>
                      <m:funcPr>
                        <m:ctrlPr>
                          <a:rPr lang="en-ZA" i="1">
                            <a:latin typeface="Cambria Math" panose="02040503050406030204" pitchFamily="18" charset="0"/>
                          </a:rPr>
                        </m:ctrlPr>
                      </m:funcPr>
                      <m:fName>
                        <m:r>
                          <m:rPr>
                            <m:sty m:val="p"/>
                          </m:rPr>
                          <a:rPr lang="en-ZA">
                            <a:latin typeface="Cambria Math" panose="02040503050406030204" pitchFamily="18" charset="0"/>
                          </a:rPr>
                          <m:t>ln</m:t>
                        </m:r>
                      </m:fName>
                      <m:e>
                        <m:r>
                          <a:rPr lang="en-ZA" i="1">
                            <a:latin typeface="Cambria Math" panose="02040503050406030204" pitchFamily="18" charset="0"/>
                          </a:rPr>
                          <m:t>𝑝</m:t>
                        </m:r>
                      </m:e>
                    </m:func>
                    <m:r>
                      <m:rPr>
                        <m:nor/>
                      </m:rPr>
                      <a:rPr lang="en-ZA" dirty="0"/>
                      <m:t> </m:t>
                    </m:r>
                    <m:r>
                      <m:rPr>
                        <m:nor/>
                      </m:rPr>
                      <a:rPr lang="en-ZA" dirty="0"/>
                      <m:t>is</m:t>
                    </m:r>
                    <m:r>
                      <m:rPr>
                        <m:nor/>
                      </m:rPr>
                      <a:rPr lang="en-ZA" dirty="0"/>
                      <m:t> </m:t>
                    </m:r>
                    <m:r>
                      <m:rPr>
                        <m:nor/>
                      </m:rPr>
                      <a:rPr lang="en-ZA" dirty="0"/>
                      <m:t>the</m:t>
                    </m:r>
                    <m:r>
                      <m:rPr>
                        <m:nor/>
                      </m:rPr>
                      <a:rPr lang="en-ZA" dirty="0"/>
                      <m:t> </m:t>
                    </m:r>
                    <m:r>
                      <m:rPr>
                        <m:nor/>
                      </m:rPr>
                      <a:rPr lang="en-ZA" dirty="0"/>
                      <m:t>largest</m:t>
                    </m:r>
                  </m:oMath>
                </a14:m>
                <a:r>
                  <a:rPr lang="en-ZA" dirty="0"/>
                  <a:t>.</a:t>
                </a:r>
              </a:p>
              <a:p>
                <a:r>
                  <a:rPr lang="en-ZA" dirty="0"/>
                  <a:t>a</a:t>
                </a:r>
                <a:r>
                  <a:rPr lang="en-ZA" dirty="0" smtClean="0"/>
                  <a:t>nd</a:t>
                </a:r>
              </a:p>
              <a:p>
                <a:r>
                  <a:rPr lang="en-ZA" dirty="0" smtClean="0"/>
                  <a:t>(2) Fisher’s sample discriminants for 3 populations. Note you have to calculate W and B, take the </a:t>
                </a:r>
                <a:r>
                  <a:rPr lang="en-ZA" dirty="0" err="1" smtClean="0"/>
                  <a:t>eigendecomposition</a:t>
                </a:r>
                <a:r>
                  <a:rPr lang="en-ZA" dirty="0" smtClean="0"/>
                  <a:t>, form the discriminant scores and find the smallest once you substitute the values for the new observation.</a:t>
                </a:r>
                <a:endParaRPr lang="en-ZA" dirty="0"/>
              </a:p>
            </p:txBody>
          </p:sp>
        </mc:Choice>
        <mc:Fallback xmlns="">
          <p:sp>
            <p:nvSpPr>
              <p:cNvPr id="2" name="TextBox 1"/>
              <p:cNvSpPr txBox="1">
                <a:spLocks noRot="1" noChangeAspect="1" noMove="1" noResize="1" noEditPoints="1" noAdjustHandles="1" noChangeArrowheads="1" noChangeShapeType="1" noTextEdit="1"/>
              </p:cNvSpPr>
              <p:nvPr/>
            </p:nvSpPr>
            <p:spPr>
              <a:xfrm>
                <a:off x="133350" y="222250"/>
                <a:ext cx="11734800" cy="5070362"/>
              </a:xfrm>
              <a:prstGeom prst="rect">
                <a:avLst/>
              </a:prstGeom>
              <a:blipFill rotWithShape="0">
                <a:blip r:embed="rId2"/>
                <a:stretch>
                  <a:fillRect l="-415" t="-480" b="-839"/>
                </a:stretch>
              </a:blipFill>
              <a:ln>
                <a:solidFill>
                  <a:schemeClr val="accent1"/>
                </a:solidFill>
              </a:ln>
            </p:spPr>
            <p:txBody>
              <a:bodyPr/>
              <a:lstStyle/>
              <a:p>
                <a:r>
                  <a:rPr lang="en-ZA">
                    <a:noFill/>
                  </a:rPr>
                  <a:t> </a:t>
                </a:r>
              </a:p>
            </p:txBody>
          </p:sp>
        </mc:Fallback>
      </mc:AlternateContent>
    </p:spTree>
    <p:extLst>
      <p:ext uri="{BB962C8B-B14F-4D97-AF65-F5344CB8AC3E}">
        <p14:creationId xmlns:p14="http://schemas.microsoft.com/office/powerpoint/2010/main" val="37198463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350" y="158750"/>
            <a:ext cx="11772900" cy="6524863"/>
          </a:xfrm>
          <a:prstGeom prst="rect">
            <a:avLst/>
          </a:prstGeom>
          <a:noFill/>
          <a:ln>
            <a:solidFill>
              <a:schemeClr val="accent1"/>
            </a:solidFill>
          </a:ln>
        </p:spPr>
        <p:txBody>
          <a:bodyPr wrap="square" rtlCol="0">
            <a:spAutoFit/>
          </a:bodyPr>
          <a:lstStyle/>
          <a:p>
            <a:r>
              <a:rPr lang="en-ZA" dirty="0" smtClean="0"/>
              <a:t>Example using R:</a:t>
            </a:r>
          </a:p>
          <a:p>
            <a:r>
              <a:rPr lang="en-ZA" sz="1600" dirty="0"/>
              <a:t>iris {datasets}	R Documentation</a:t>
            </a:r>
          </a:p>
          <a:p>
            <a:r>
              <a:rPr lang="en-ZA" sz="1600" dirty="0"/>
              <a:t>Edgar Anderson's Iris </a:t>
            </a:r>
            <a:r>
              <a:rPr lang="en-ZA" sz="1600" dirty="0" smtClean="0"/>
              <a:t>Data</a:t>
            </a:r>
            <a:endParaRPr lang="en-ZA" sz="1600" dirty="0"/>
          </a:p>
          <a:p>
            <a:r>
              <a:rPr lang="en-ZA" sz="1600" dirty="0" smtClean="0"/>
              <a:t>Description</a:t>
            </a:r>
            <a:endParaRPr lang="en-ZA" sz="1600" dirty="0"/>
          </a:p>
          <a:p>
            <a:r>
              <a:rPr lang="en-ZA" sz="1600" dirty="0"/>
              <a:t>This famous (Fisher's or Anderson's) iris data set gives the measurements in </a:t>
            </a:r>
            <a:r>
              <a:rPr lang="en-ZA" sz="1600" dirty="0" smtClean="0"/>
              <a:t>centimetres </a:t>
            </a:r>
            <a:r>
              <a:rPr lang="en-ZA" sz="1600" dirty="0"/>
              <a:t>of the variables sepal length and width and petal length and width, respectively, for 50 flowers from each of 3 species of iris. The species are Iris </a:t>
            </a:r>
            <a:r>
              <a:rPr lang="en-ZA" sz="1600" dirty="0" err="1"/>
              <a:t>setosa</a:t>
            </a:r>
            <a:r>
              <a:rPr lang="en-ZA" sz="1600" dirty="0"/>
              <a:t>, versicolor, and </a:t>
            </a:r>
            <a:r>
              <a:rPr lang="en-ZA" sz="1600" dirty="0" err="1"/>
              <a:t>virginica</a:t>
            </a:r>
            <a:r>
              <a:rPr lang="en-ZA" sz="1600" dirty="0" smtClean="0"/>
              <a:t>.</a:t>
            </a:r>
          </a:p>
          <a:p>
            <a:endParaRPr lang="en-ZA" sz="1600" dirty="0"/>
          </a:p>
          <a:p>
            <a:r>
              <a:rPr lang="en-ZA" sz="1600" dirty="0"/>
              <a:t>iris is a data frame with 150 cases (rows) and 5 variables (columns) named </a:t>
            </a:r>
            <a:r>
              <a:rPr lang="en-ZA" sz="1600" dirty="0" err="1"/>
              <a:t>Sepal.Length</a:t>
            </a:r>
            <a:r>
              <a:rPr lang="en-ZA" sz="1600" dirty="0"/>
              <a:t>, </a:t>
            </a:r>
            <a:r>
              <a:rPr lang="en-ZA" sz="1600" dirty="0" err="1"/>
              <a:t>Sepal.Width</a:t>
            </a:r>
            <a:r>
              <a:rPr lang="en-ZA" sz="1600" dirty="0"/>
              <a:t>, </a:t>
            </a:r>
            <a:r>
              <a:rPr lang="en-ZA" sz="1600" dirty="0" err="1"/>
              <a:t>Petal.Length</a:t>
            </a:r>
            <a:r>
              <a:rPr lang="en-ZA" sz="1600" dirty="0"/>
              <a:t>, </a:t>
            </a:r>
            <a:r>
              <a:rPr lang="en-ZA" sz="1600" dirty="0" err="1"/>
              <a:t>Petal.Width</a:t>
            </a:r>
            <a:r>
              <a:rPr lang="en-ZA" sz="1600" dirty="0"/>
              <a:t>, and Species</a:t>
            </a:r>
            <a:r>
              <a:rPr lang="en-ZA" sz="1600" dirty="0" smtClean="0"/>
              <a:t>.</a:t>
            </a:r>
          </a:p>
          <a:p>
            <a:endParaRPr lang="en-ZA" sz="1600" dirty="0"/>
          </a:p>
          <a:p>
            <a:r>
              <a:rPr lang="en-ZA" sz="1600" dirty="0"/>
              <a:t>&gt; #Load the library containing </a:t>
            </a:r>
            <a:r>
              <a:rPr lang="en-ZA" sz="1600" dirty="0" err="1"/>
              <a:t>lda</a:t>
            </a:r>
            <a:r>
              <a:rPr lang="en-ZA" sz="1600" dirty="0"/>
              <a:t>() function</a:t>
            </a:r>
          </a:p>
          <a:p>
            <a:r>
              <a:rPr lang="en-ZA" sz="1600" dirty="0"/>
              <a:t>&gt; library(MASS)</a:t>
            </a:r>
          </a:p>
          <a:p>
            <a:r>
              <a:rPr lang="en-ZA" sz="1600" dirty="0"/>
              <a:t>&gt; #Store the dataset</a:t>
            </a:r>
          </a:p>
          <a:p>
            <a:r>
              <a:rPr lang="en-ZA" sz="1600" dirty="0"/>
              <a:t>&gt; dataset=iris</a:t>
            </a:r>
          </a:p>
          <a:p>
            <a:r>
              <a:rPr lang="en-ZA" sz="1600" dirty="0"/>
              <a:t>&gt; head(dataset)</a:t>
            </a:r>
          </a:p>
          <a:p>
            <a:r>
              <a:rPr lang="en-ZA" sz="1600" dirty="0"/>
              <a:t>  </a:t>
            </a:r>
            <a:r>
              <a:rPr lang="en-ZA" sz="1600" dirty="0" err="1"/>
              <a:t>Sepal.Length</a:t>
            </a:r>
            <a:r>
              <a:rPr lang="en-ZA" sz="1600" dirty="0"/>
              <a:t> </a:t>
            </a:r>
            <a:r>
              <a:rPr lang="en-ZA" sz="1600" dirty="0" err="1"/>
              <a:t>Sepal.Width</a:t>
            </a:r>
            <a:r>
              <a:rPr lang="en-ZA" sz="1600" dirty="0"/>
              <a:t> </a:t>
            </a:r>
            <a:r>
              <a:rPr lang="en-ZA" sz="1600" dirty="0" err="1"/>
              <a:t>Petal.Length</a:t>
            </a:r>
            <a:r>
              <a:rPr lang="en-ZA" sz="1600" dirty="0"/>
              <a:t> </a:t>
            </a:r>
            <a:r>
              <a:rPr lang="en-ZA" sz="1600" dirty="0" err="1"/>
              <a:t>Petal.Width</a:t>
            </a:r>
            <a:r>
              <a:rPr lang="en-ZA" sz="1600" dirty="0"/>
              <a:t> Species</a:t>
            </a:r>
          </a:p>
          <a:p>
            <a:r>
              <a:rPr lang="en-ZA" sz="1600" dirty="0"/>
              <a:t>1          5.1         3.5          1.4         0.2  </a:t>
            </a:r>
            <a:r>
              <a:rPr lang="en-ZA" sz="1600" dirty="0" err="1"/>
              <a:t>setosa</a:t>
            </a:r>
            <a:endParaRPr lang="en-ZA" sz="1600" dirty="0"/>
          </a:p>
          <a:p>
            <a:r>
              <a:rPr lang="en-ZA" sz="1600" dirty="0"/>
              <a:t>2          4.9         3.0          1.4         0.2  </a:t>
            </a:r>
            <a:r>
              <a:rPr lang="en-ZA" sz="1600" dirty="0" err="1"/>
              <a:t>setosa</a:t>
            </a:r>
            <a:endParaRPr lang="en-ZA" sz="1600" dirty="0"/>
          </a:p>
          <a:p>
            <a:r>
              <a:rPr lang="en-ZA" sz="1600" dirty="0"/>
              <a:t>3          4.7         3.2          1.3         0.2  </a:t>
            </a:r>
            <a:r>
              <a:rPr lang="en-ZA" sz="1600" dirty="0" err="1"/>
              <a:t>setosa</a:t>
            </a:r>
            <a:endParaRPr lang="en-ZA" sz="1600" dirty="0"/>
          </a:p>
          <a:p>
            <a:r>
              <a:rPr lang="en-ZA" sz="1600" dirty="0"/>
              <a:t>4          4.6         3.1          1.5         0.2  </a:t>
            </a:r>
            <a:r>
              <a:rPr lang="en-ZA" sz="1600" dirty="0" err="1"/>
              <a:t>setosa</a:t>
            </a:r>
            <a:endParaRPr lang="en-ZA" sz="1600" dirty="0"/>
          </a:p>
          <a:p>
            <a:r>
              <a:rPr lang="en-ZA" sz="1600" dirty="0"/>
              <a:t>5          5.0         3.6          1.4         0.2  </a:t>
            </a:r>
            <a:r>
              <a:rPr lang="en-ZA" sz="1600" dirty="0" err="1"/>
              <a:t>setosa</a:t>
            </a:r>
            <a:endParaRPr lang="en-ZA" sz="1600" dirty="0"/>
          </a:p>
          <a:p>
            <a:r>
              <a:rPr lang="en-ZA" sz="1600" dirty="0"/>
              <a:t>6          5.4         3.9          1.7         0.4  </a:t>
            </a:r>
            <a:r>
              <a:rPr lang="en-ZA" sz="1600" dirty="0" err="1"/>
              <a:t>setosa</a:t>
            </a:r>
            <a:endParaRPr lang="en-ZA" sz="1600" dirty="0"/>
          </a:p>
          <a:p>
            <a:r>
              <a:rPr lang="en-ZA" sz="1600" dirty="0"/>
              <a:t>&gt; table(</a:t>
            </a:r>
            <a:r>
              <a:rPr lang="en-ZA" sz="1600" dirty="0" err="1"/>
              <a:t>dataset$Species</a:t>
            </a:r>
            <a:r>
              <a:rPr lang="en-ZA" sz="1600" dirty="0"/>
              <a:t>)</a:t>
            </a:r>
          </a:p>
          <a:p>
            <a:endParaRPr lang="en-ZA" sz="1600" dirty="0"/>
          </a:p>
          <a:p>
            <a:r>
              <a:rPr lang="en-ZA" sz="1600" dirty="0"/>
              <a:t>    </a:t>
            </a:r>
            <a:r>
              <a:rPr lang="en-ZA" sz="1600" dirty="0" err="1"/>
              <a:t>setosa</a:t>
            </a:r>
            <a:r>
              <a:rPr lang="en-ZA" sz="1600" dirty="0"/>
              <a:t> versicolor  </a:t>
            </a:r>
            <a:r>
              <a:rPr lang="en-ZA" sz="1600" dirty="0" err="1"/>
              <a:t>virginica</a:t>
            </a:r>
            <a:r>
              <a:rPr lang="en-ZA" sz="1600" dirty="0"/>
              <a:t> </a:t>
            </a:r>
          </a:p>
          <a:p>
            <a:r>
              <a:rPr lang="en-ZA" sz="1600" dirty="0"/>
              <a:t>        50         50         50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9818" y="2730500"/>
            <a:ext cx="5556250" cy="3111500"/>
          </a:xfrm>
          <a:prstGeom prst="rect">
            <a:avLst/>
          </a:prstGeom>
        </p:spPr>
      </p:pic>
    </p:spTree>
    <p:extLst>
      <p:ext uri="{BB962C8B-B14F-4D97-AF65-F5344CB8AC3E}">
        <p14:creationId xmlns:p14="http://schemas.microsoft.com/office/powerpoint/2010/main" val="12089292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350" y="139700"/>
            <a:ext cx="11728450" cy="6555641"/>
          </a:xfrm>
          <a:prstGeom prst="rect">
            <a:avLst/>
          </a:prstGeom>
          <a:noFill/>
          <a:ln>
            <a:solidFill>
              <a:schemeClr val="accent1"/>
            </a:solidFill>
          </a:ln>
        </p:spPr>
        <p:txBody>
          <a:bodyPr wrap="square" rtlCol="0">
            <a:spAutoFit/>
          </a:bodyPr>
          <a:lstStyle/>
          <a:p>
            <a:r>
              <a:rPr lang="en-ZA" sz="1200" dirty="0">
                <a:latin typeface="Courier New" panose="02070309020205020404" pitchFamily="49" charset="0"/>
                <a:cs typeface="Courier New" panose="02070309020205020404" pitchFamily="49" charset="0"/>
              </a:rPr>
              <a:t>&gt; #Perform LDA over the data</a:t>
            </a:r>
          </a:p>
          <a:p>
            <a:r>
              <a:rPr lang="en-ZA" sz="1200" dirty="0">
                <a:latin typeface="Courier New" panose="02070309020205020404" pitchFamily="49" charset="0"/>
                <a:cs typeface="Courier New" panose="02070309020205020404" pitchFamily="49" charset="0"/>
              </a:rPr>
              <a:t>&gt; </a:t>
            </a:r>
            <a:r>
              <a:rPr lang="en-ZA" sz="1200" dirty="0" err="1">
                <a:latin typeface="Courier New" panose="02070309020205020404" pitchFamily="49" charset="0"/>
                <a:cs typeface="Courier New" panose="02070309020205020404" pitchFamily="49" charset="0"/>
              </a:rPr>
              <a:t>lda_iris</a:t>
            </a:r>
            <a:r>
              <a:rPr lang="en-ZA" sz="1200" dirty="0">
                <a:latin typeface="Courier New" panose="02070309020205020404" pitchFamily="49" charset="0"/>
                <a:cs typeface="Courier New" panose="02070309020205020404" pitchFamily="49" charset="0"/>
              </a:rPr>
              <a:t>=</a:t>
            </a:r>
            <a:r>
              <a:rPr lang="en-ZA" sz="1200" dirty="0" err="1">
                <a:latin typeface="Courier New" panose="02070309020205020404" pitchFamily="49" charset="0"/>
                <a:cs typeface="Courier New" panose="02070309020205020404" pitchFamily="49" charset="0"/>
              </a:rPr>
              <a:t>lda</a:t>
            </a:r>
            <a:r>
              <a:rPr lang="en-ZA" sz="1200" dirty="0">
                <a:latin typeface="Courier New" panose="02070309020205020404" pitchFamily="49" charset="0"/>
                <a:cs typeface="Courier New" panose="02070309020205020404" pitchFamily="49" charset="0"/>
              </a:rPr>
              <a:t>(</a:t>
            </a:r>
            <a:r>
              <a:rPr lang="en-ZA" sz="1200" dirty="0" err="1">
                <a:latin typeface="Courier New" panose="02070309020205020404" pitchFamily="49" charset="0"/>
                <a:cs typeface="Courier New" panose="02070309020205020404" pitchFamily="49" charset="0"/>
              </a:rPr>
              <a:t>Species~.,data</a:t>
            </a:r>
            <a:r>
              <a:rPr lang="en-ZA" sz="1200" dirty="0">
                <a:latin typeface="Courier New" panose="02070309020205020404" pitchFamily="49" charset="0"/>
                <a:cs typeface="Courier New" panose="02070309020205020404" pitchFamily="49" charset="0"/>
              </a:rPr>
              <a:t>=dataset)</a:t>
            </a:r>
          </a:p>
          <a:p>
            <a:r>
              <a:rPr lang="en-ZA" sz="1200" dirty="0">
                <a:latin typeface="Courier New" panose="02070309020205020404" pitchFamily="49" charset="0"/>
                <a:cs typeface="Courier New" panose="02070309020205020404" pitchFamily="49" charset="0"/>
              </a:rPr>
              <a:t>&gt; #Prior Probabilities and coefficients of Linear discriminants</a:t>
            </a:r>
          </a:p>
          <a:p>
            <a:r>
              <a:rPr lang="en-ZA" sz="1200" dirty="0">
                <a:latin typeface="Courier New" panose="02070309020205020404" pitchFamily="49" charset="0"/>
                <a:cs typeface="Courier New" panose="02070309020205020404" pitchFamily="49" charset="0"/>
              </a:rPr>
              <a:t>&gt; </a:t>
            </a:r>
            <a:r>
              <a:rPr lang="en-ZA" sz="1200" dirty="0" err="1">
                <a:latin typeface="Courier New" panose="02070309020205020404" pitchFamily="49" charset="0"/>
                <a:cs typeface="Courier New" panose="02070309020205020404" pitchFamily="49" charset="0"/>
              </a:rPr>
              <a:t>lda_iris</a:t>
            </a:r>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Call:</a:t>
            </a:r>
          </a:p>
          <a:p>
            <a:r>
              <a:rPr lang="en-ZA" sz="1200" dirty="0" err="1">
                <a:latin typeface="Courier New" panose="02070309020205020404" pitchFamily="49" charset="0"/>
                <a:cs typeface="Courier New" panose="02070309020205020404" pitchFamily="49" charset="0"/>
              </a:rPr>
              <a:t>lda</a:t>
            </a:r>
            <a:r>
              <a:rPr lang="en-ZA" sz="1200" dirty="0">
                <a:latin typeface="Courier New" panose="02070309020205020404" pitchFamily="49" charset="0"/>
                <a:cs typeface="Courier New" panose="02070309020205020404" pitchFamily="49" charset="0"/>
              </a:rPr>
              <a:t>(Species ~ ., data = dataset)</a:t>
            </a:r>
          </a:p>
          <a:p>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Prior probabilities of groups:</a:t>
            </a:r>
          </a:p>
          <a:p>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setosa</a:t>
            </a:r>
            <a:r>
              <a:rPr lang="en-ZA" sz="1200" dirty="0">
                <a:latin typeface="Courier New" panose="02070309020205020404" pitchFamily="49" charset="0"/>
                <a:cs typeface="Courier New" panose="02070309020205020404" pitchFamily="49" charset="0"/>
              </a:rPr>
              <a:t> versicolor  </a:t>
            </a:r>
            <a:r>
              <a:rPr lang="en-ZA" sz="1200" dirty="0" err="1">
                <a:latin typeface="Courier New" panose="02070309020205020404" pitchFamily="49" charset="0"/>
                <a:cs typeface="Courier New" panose="02070309020205020404" pitchFamily="49" charset="0"/>
              </a:rPr>
              <a:t>virginica</a:t>
            </a:r>
            <a:r>
              <a:rPr lang="en-ZA" sz="1200" dirty="0">
                <a:latin typeface="Courier New" panose="02070309020205020404" pitchFamily="49" charset="0"/>
                <a:cs typeface="Courier New" panose="02070309020205020404" pitchFamily="49" charset="0"/>
              </a:rPr>
              <a:t> </a:t>
            </a:r>
          </a:p>
          <a:p>
            <a:r>
              <a:rPr lang="en-ZA" sz="1200" dirty="0">
                <a:latin typeface="Courier New" panose="02070309020205020404" pitchFamily="49" charset="0"/>
                <a:cs typeface="Courier New" panose="02070309020205020404" pitchFamily="49" charset="0"/>
              </a:rPr>
              <a:t> 0.3333333  0.3333333  0.3333333 </a:t>
            </a:r>
          </a:p>
          <a:p>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Group means:</a:t>
            </a:r>
          </a:p>
          <a:p>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Sepal.Length</a:t>
            </a:r>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Sepal.Width</a:t>
            </a:r>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Petal.Length</a:t>
            </a:r>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Petal.Width</a:t>
            </a:r>
            <a:endParaRPr lang="en-ZA" sz="1200" dirty="0">
              <a:latin typeface="Courier New" panose="02070309020205020404" pitchFamily="49" charset="0"/>
              <a:cs typeface="Courier New" panose="02070309020205020404" pitchFamily="49" charset="0"/>
            </a:endParaRPr>
          </a:p>
          <a:p>
            <a:r>
              <a:rPr lang="en-ZA" sz="1200" dirty="0" err="1">
                <a:latin typeface="Courier New" panose="02070309020205020404" pitchFamily="49" charset="0"/>
                <a:cs typeface="Courier New" panose="02070309020205020404" pitchFamily="49" charset="0"/>
              </a:rPr>
              <a:t>setosa</a:t>
            </a:r>
            <a:r>
              <a:rPr lang="en-ZA" sz="1200" dirty="0">
                <a:latin typeface="Courier New" panose="02070309020205020404" pitchFamily="49" charset="0"/>
                <a:cs typeface="Courier New" panose="02070309020205020404" pitchFamily="49" charset="0"/>
              </a:rPr>
              <a:t>            5.006       3.428        1.462       0.246</a:t>
            </a:r>
          </a:p>
          <a:p>
            <a:r>
              <a:rPr lang="en-ZA" sz="1200" dirty="0">
                <a:latin typeface="Courier New" panose="02070309020205020404" pitchFamily="49" charset="0"/>
                <a:cs typeface="Courier New" panose="02070309020205020404" pitchFamily="49" charset="0"/>
              </a:rPr>
              <a:t>versicolor        5.936       2.770        4.260       1.326</a:t>
            </a:r>
          </a:p>
          <a:p>
            <a:r>
              <a:rPr lang="en-ZA" sz="1200" dirty="0" err="1">
                <a:latin typeface="Courier New" panose="02070309020205020404" pitchFamily="49" charset="0"/>
                <a:cs typeface="Courier New" panose="02070309020205020404" pitchFamily="49" charset="0"/>
              </a:rPr>
              <a:t>virginica</a:t>
            </a:r>
            <a:r>
              <a:rPr lang="en-ZA" sz="1200" dirty="0">
                <a:latin typeface="Courier New" panose="02070309020205020404" pitchFamily="49" charset="0"/>
                <a:cs typeface="Courier New" panose="02070309020205020404" pitchFamily="49" charset="0"/>
              </a:rPr>
              <a:t>         6.588       2.974        5.552       2.026</a:t>
            </a:r>
          </a:p>
          <a:p>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Coefficients of linear discriminants:</a:t>
            </a:r>
          </a:p>
          <a:p>
            <a:r>
              <a:rPr lang="en-ZA" sz="1200" dirty="0">
                <a:latin typeface="Courier New" panose="02070309020205020404" pitchFamily="49" charset="0"/>
                <a:cs typeface="Courier New" panose="02070309020205020404" pitchFamily="49" charset="0"/>
              </a:rPr>
              <a:t>                    LD1         LD2</a:t>
            </a:r>
          </a:p>
          <a:p>
            <a:r>
              <a:rPr lang="en-ZA" sz="1200" dirty="0" err="1">
                <a:latin typeface="Courier New" panose="02070309020205020404" pitchFamily="49" charset="0"/>
                <a:cs typeface="Courier New" panose="02070309020205020404" pitchFamily="49" charset="0"/>
              </a:rPr>
              <a:t>Sepal.Length</a:t>
            </a:r>
            <a:r>
              <a:rPr lang="en-ZA" sz="1200" dirty="0">
                <a:latin typeface="Courier New" panose="02070309020205020404" pitchFamily="49" charset="0"/>
                <a:cs typeface="Courier New" panose="02070309020205020404" pitchFamily="49" charset="0"/>
              </a:rPr>
              <a:t>  0.8293776  0.02410215</a:t>
            </a:r>
          </a:p>
          <a:p>
            <a:r>
              <a:rPr lang="en-ZA" sz="1200" dirty="0" err="1">
                <a:latin typeface="Courier New" panose="02070309020205020404" pitchFamily="49" charset="0"/>
                <a:cs typeface="Courier New" panose="02070309020205020404" pitchFamily="49" charset="0"/>
              </a:rPr>
              <a:t>Sepal.Width</a:t>
            </a:r>
            <a:r>
              <a:rPr lang="en-ZA" sz="1200" dirty="0">
                <a:latin typeface="Courier New" panose="02070309020205020404" pitchFamily="49" charset="0"/>
                <a:cs typeface="Courier New" panose="02070309020205020404" pitchFamily="49" charset="0"/>
              </a:rPr>
              <a:t>   1.5344731  2.16452123</a:t>
            </a:r>
          </a:p>
          <a:p>
            <a:r>
              <a:rPr lang="en-ZA" sz="1200" dirty="0" err="1">
                <a:latin typeface="Courier New" panose="02070309020205020404" pitchFamily="49" charset="0"/>
                <a:cs typeface="Courier New" panose="02070309020205020404" pitchFamily="49" charset="0"/>
              </a:rPr>
              <a:t>Petal.Length</a:t>
            </a:r>
            <a:r>
              <a:rPr lang="en-ZA" sz="1200" dirty="0">
                <a:latin typeface="Courier New" panose="02070309020205020404" pitchFamily="49" charset="0"/>
                <a:cs typeface="Courier New" panose="02070309020205020404" pitchFamily="49" charset="0"/>
              </a:rPr>
              <a:t> -2.2012117 -0.93192121</a:t>
            </a:r>
          </a:p>
          <a:p>
            <a:r>
              <a:rPr lang="en-ZA" sz="1200" dirty="0" err="1">
                <a:latin typeface="Courier New" panose="02070309020205020404" pitchFamily="49" charset="0"/>
                <a:cs typeface="Courier New" panose="02070309020205020404" pitchFamily="49" charset="0"/>
              </a:rPr>
              <a:t>Petal.Width</a:t>
            </a:r>
            <a:r>
              <a:rPr lang="en-ZA" sz="1200" dirty="0">
                <a:latin typeface="Courier New" panose="02070309020205020404" pitchFamily="49" charset="0"/>
                <a:cs typeface="Courier New" panose="02070309020205020404" pitchFamily="49" charset="0"/>
              </a:rPr>
              <a:t>  -2.8104603  2.83918785</a:t>
            </a:r>
          </a:p>
          <a:p>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Proportion of trace:</a:t>
            </a:r>
          </a:p>
          <a:p>
            <a:r>
              <a:rPr lang="en-ZA" sz="1200" dirty="0">
                <a:latin typeface="Courier New" panose="02070309020205020404" pitchFamily="49" charset="0"/>
                <a:cs typeface="Courier New" panose="02070309020205020404" pitchFamily="49" charset="0"/>
              </a:rPr>
              <a:t>   LD1    LD2 </a:t>
            </a:r>
          </a:p>
          <a:p>
            <a:r>
              <a:rPr lang="en-ZA" sz="1200" dirty="0">
                <a:latin typeface="Courier New" panose="02070309020205020404" pitchFamily="49" charset="0"/>
                <a:cs typeface="Courier New" panose="02070309020205020404" pitchFamily="49" charset="0"/>
              </a:rPr>
              <a:t>0.9912 0.0088 </a:t>
            </a:r>
          </a:p>
          <a:p>
            <a:r>
              <a:rPr lang="en-ZA" sz="1200" dirty="0">
                <a:latin typeface="Courier New" panose="02070309020205020404" pitchFamily="49" charset="0"/>
                <a:cs typeface="Courier New" panose="02070309020205020404" pitchFamily="49" charset="0"/>
              </a:rPr>
              <a:t>&gt; #Check the accuracy of our analysis</a:t>
            </a:r>
          </a:p>
          <a:p>
            <a:r>
              <a:rPr lang="en-ZA" sz="1200" dirty="0">
                <a:latin typeface="Courier New" panose="02070309020205020404" pitchFamily="49" charset="0"/>
                <a:cs typeface="Courier New" panose="02070309020205020404" pitchFamily="49" charset="0"/>
              </a:rPr>
              <a:t>&gt; Predictions=predict(</a:t>
            </a:r>
            <a:r>
              <a:rPr lang="en-ZA" sz="1200" dirty="0" err="1">
                <a:latin typeface="Courier New" panose="02070309020205020404" pitchFamily="49" charset="0"/>
                <a:cs typeface="Courier New" panose="02070309020205020404" pitchFamily="49" charset="0"/>
              </a:rPr>
              <a:t>lda_iris,dataset</a:t>
            </a:r>
            <a:r>
              <a:rPr lang="en-ZA" sz="1200" dirty="0">
                <a:latin typeface="Courier New" panose="02070309020205020404" pitchFamily="49" charset="0"/>
                <a:cs typeface="Courier New" panose="02070309020205020404" pitchFamily="49" charset="0"/>
              </a:rPr>
              <a:t>)</a:t>
            </a:r>
          </a:p>
          <a:p>
            <a:r>
              <a:rPr lang="en-ZA" sz="1200" dirty="0">
                <a:latin typeface="Courier New" panose="02070309020205020404" pitchFamily="49" charset="0"/>
                <a:cs typeface="Courier New" panose="02070309020205020404" pitchFamily="49" charset="0"/>
              </a:rPr>
              <a:t>&gt; table(</a:t>
            </a:r>
            <a:r>
              <a:rPr lang="en-ZA" sz="1200" dirty="0" err="1">
                <a:latin typeface="Courier New" panose="02070309020205020404" pitchFamily="49" charset="0"/>
                <a:cs typeface="Courier New" panose="02070309020205020404" pitchFamily="49" charset="0"/>
              </a:rPr>
              <a:t>Predictions$class</a:t>
            </a:r>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dataset$Species</a:t>
            </a:r>
            <a:r>
              <a:rPr lang="en-ZA" sz="1200" dirty="0">
                <a:latin typeface="Courier New" panose="02070309020205020404" pitchFamily="49" charset="0"/>
                <a:cs typeface="Courier New" panose="02070309020205020404" pitchFamily="49" charset="0"/>
              </a:rPr>
              <a:t>)</a:t>
            </a:r>
          </a:p>
          <a:p>
            <a:r>
              <a:rPr lang="en-ZA" sz="1200" dirty="0">
                <a:latin typeface="Courier New" panose="02070309020205020404" pitchFamily="49" charset="0"/>
                <a:cs typeface="Courier New" panose="02070309020205020404" pitchFamily="49" charset="0"/>
              </a:rPr>
              <a:t>            </a:t>
            </a:r>
          </a:p>
          <a:p>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setosa</a:t>
            </a:r>
            <a:r>
              <a:rPr lang="en-ZA" sz="1200" dirty="0">
                <a:latin typeface="Courier New" panose="02070309020205020404" pitchFamily="49" charset="0"/>
                <a:cs typeface="Courier New" panose="02070309020205020404" pitchFamily="49" charset="0"/>
              </a:rPr>
              <a:t> versicolor </a:t>
            </a:r>
            <a:r>
              <a:rPr lang="en-ZA" sz="1200" dirty="0" err="1">
                <a:latin typeface="Courier New" panose="02070309020205020404" pitchFamily="49" charset="0"/>
                <a:cs typeface="Courier New" panose="02070309020205020404" pitchFamily="49" charset="0"/>
              </a:rPr>
              <a:t>virginica</a:t>
            </a:r>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setosa</a:t>
            </a:r>
            <a:r>
              <a:rPr lang="en-ZA" sz="1200" dirty="0">
                <a:latin typeface="Courier New" panose="02070309020205020404" pitchFamily="49" charset="0"/>
                <a:cs typeface="Courier New" panose="02070309020205020404" pitchFamily="49" charset="0"/>
              </a:rPr>
              <a:t>         50          0         0</a:t>
            </a:r>
          </a:p>
          <a:p>
            <a:r>
              <a:rPr lang="en-ZA" sz="1200" dirty="0">
                <a:latin typeface="Courier New" panose="02070309020205020404" pitchFamily="49" charset="0"/>
                <a:cs typeface="Courier New" panose="02070309020205020404" pitchFamily="49" charset="0"/>
              </a:rPr>
              <a:t>  versicolor      0         48         1</a:t>
            </a:r>
          </a:p>
          <a:p>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virginica</a:t>
            </a:r>
            <a:r>
              <a:rPr lang="en-ZA" sz="1200" dirty="0">
                <a:latin typeface="Courier New" panose="02070309020205020404" pitchFamily="49" charset="0"/>
                <a:cs typeface="Courier New" panose="02070309020205020404" pitchFamily="49" charset="0"/>
              </a:rPr>
              <a:t>       0          2        </a:t>
            </a:r>
            <a:r>
              <a:rPr lang="en-ZA" sz="1200" dirty="0" smtClean="0">
                <a:latin typeface="Courier New" panose="02070309020205020404" pitchFamily="49" charset="0"/>
                <a:cs typeface="Courier New" panose="02070309020205020404" pitchFamily="49" charset="0"/>
              </a:rPr>
              <a:t>49</a:t>
            </a:r>
            <a:endParaRPr lang="en-ZA" sz="1200" dirty="0">
              <a:latin typeface="Courier New" panose="02070309020205020404" pitchFamily="49" charset="0"/>
              <a:cs typeface="Courier New" panose="02070309020205020404" pitchFamily="49" charset="0"/>
            </a:endParaRPr>
          </a:p>
        </p:txBody>
      </p:sp>
      <p:sp>
        <p:nvSpPr>
          <p:cNvPr id="4" name="TextBox 3"/>
          <p:cNvSpPr txBox="1"/>
          <p:nvPr/>
        </p:nvSpPr>
        <p:spPr>
          <a:xfrm>
            <a:off x="6559550" y="162500"/>
            <a:ext cx="5324474" cy="4339650"/>
          </a:xfrm>
          <a:prstGeom prst="rect">
            <a:avLst/>
          </a:prstGeom>
          <a:noFill/>
          <a:ln>
            <a:solidFill>
              <a:schemeClr val="accent1"/>
            </a:solidFill>
          </a:ln>
        </p:spPr>
        <p:txBody>
          <a:bodyPr wrap="square" rtlCol="0">
            <a:spAutoFit/>
          </a:bodyPr>
          <a:lstStyle/>
          <a:p>
            <a:r>
              <a:rPr lang="en-ZA" sz="1200" dirty="0">
                <a:latin typeface="Courier New" panose="02070309020205020404" pitchFamily="49" charset="0"/>
                <a:cs typeface="Courier New" panose="02070309020205020404" pitchFamily="49" charset="0"/>
              </a:rPr>
              <a:t>&gt; #Check how easily we can linearly separate the iris dataset</a:t>
            </a:r>
          </a:p>
          <a:p>
            <a:pPr marL="171450" indent="-171450">
              <a:buFont typeface="Wingdings" panose="05000000000000000000" pitchFamily="2" charset="2"/>
              <a:buChar char="Ø"/>
            </a:pPr>
            <a:r>
              <a:rPr lang="en-ZA" sz="1200" dirty="0" smtClean="0">
                <a:latin typeface="Courier New" panose="02070309020205020404" pitchFamily="49" charset="0"/>
                <a:cs typeface="Courier New" panose="02070309020205020404" pitchFamily="49" charset="0"/>
              </a:rPr>
              <a:t>pairs(</a:t>
            </a:r>
            <a:r>
              <a:rPr lang="en-ZA" sz="1200" dirty="0" err="1" smtClean="0">
                <a:latin typeface="Courier New" panose="02070309020205020404" pitchFamily="49" charset="0"/>
                <a:cs typeface="Courier New" panose="02070309020205020404" pitchFamily="49" charset="0"/>
              </a:rPr>
              <a:t>dataset,pch</a:t>
            </a:r>
            <a:r>
              <a:rPr lang="en-ZA" sz="1200" dirty="0" smtClean="0">
                <a:latin typeface="Courier New" panose="02070309020205020404" pitchFamily="49" charset="0"/>
                <a:cs typeface="Courier New" panose="02070309020205020404" pitchFamily="49" charset="0"/>
              </a:rPr>
              <a:t>=21,bg=c</a:t>
            </a:r>
            <a:r>
              <a:rPr lang="en-ZA" sz="1200" dirty="0">
                <a:latin typeface="Courier New" panose="02070309020205020404" pitchFamily="49" charset="0"/>
                <a:cs typeface="Courier New" panose="02070309020205020404" pitchFamily="49" charset="0"/>
              </a:rPr>
              <a:t>("red","green3","blue")[</a:t>
            </a:r>
            <a:r>
              <a:rPr lang="en-ZA" sz="1200" dirty="0" err="1">
                <a:latin typeface="Courier New" panose="02070309020205020404" pitchFamily="49" charset="0"/>
                <a:cs typeface="Courier New" panose="02070309020205020404" pitchFamily="49" charset="0"/>
              </a:rPr>
              <a:t>unclass</a:t>
            </a:r>
            <a:r>
              <a:rPr lang="en-ZA" sz="1200" dirty="0">
                <a:latin typeface="Courier New" panose="02070309020205020404" pitchFamily="49" charset="0"/>
                <a:cs typeface="Courier New" panose="02070309020205020404" pitchFamily="49" charset="0"/>
              </a:rPr>
              <a:t>(</a:t>
            </a:r>
            <a:r>
              <a:rPr lang="en-ZA" sz="1200" dirty="0" err="1">
                <a:latin typeface="Courier New" panose="02070309020205020404" pitchFamily="49" charset="0"/>
                <a:cs typeface="Courier New" panose="02070309020205020404" pitchFamily="49" charset="0"/>
              </a:rPr>
              <a:t>dataset$Species</a:t>
            </a:r>
            <a:r>
              <a:rPr lang="en-ZA" sz="1200" dirty="0" smtClean="0">
                <a:latin typeface="Courier New" panose="02070309020205020404" pitchFamily="49" charset="0"/>
                <a:cs typeface="Courier New" panose="02070309020205020404" pitchFamily="49" charset="0"/>
              </a:rPr>
              <a:t>)])</a:t>
            </a: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endParaRPr lang="en-ZA" sz="1200" dirty="0">
              <a:latin typeface="Courier New" panose="02070309020205020404" pitchFamily="49" charset="0"/>
              <a:cs typeface="Courier New" panose="02070309020205020404" pitchFamily="49" charset="0"/>
            </a:endParaRPr>
          </a:p>
        </p:txBody>
      </p:sp>
      <p:sp>
        <p:nvSpPr>
          <p:cNvPr id="5" name="TextBox 4"/>
          <p:cNvSpPr txBox="1"/>
          <p:nvPr/>
        </p:nvSpPr>
        <p:spPr>
          <a:xfrm>
            <a:off x="6559550" y="4604802"/>
            <a:ext cx="5264150" cy="1938992"/>
          </a:xfrm>
          <a:prstGeom prst="rect">
            <a:avLst/>
          </a:prstGeom>
          <a:noFill/>
          <a:ln>
            <a:solidFill>
              <a:schemeClr val="accent1"/>
            </a:solidFill>
          </a:ln>
        </p:spPr>
        <p:txBody>
          <a:bodyPr wrap="square" rtlCol="0">
            <a:spAutoFit/>
          </a:bodyPr>
          <a:lstStyle/>
          <a:p>
            <a:r>
              <a:rPr lang="en-ZA" sz="1200" dirty="0">
                <a:latin typeface="Courier New" panose="02070309020205020404" pitchFamily="49" charset="0"/>
                <a:cs typeface="Courier New" panose="02070309020205020404" pitchFamily="49" charset="0"/>
              </a:rPr>
              <a:t>&gt; #LDA with CV</a:t>
            </a:r>
          </a:p>
          <a:p>
            <a:r>
              <a:rPr lang="en-ZA" sz="1200" dirty="0">
                <a:latin typeface="Courier New" panose="02070309020205020404" pitchFamily="49" charset="0"/>
                <a:cs typeface="Courier New" panose="02070309020205020404" pitchFamily="49" charset="0"/>
              </a:rPr>
              <a:t>&gt; </a:t>
            </a:r>
            <a:r>
              <a:rPr lang="en-ZA" sz="1200" dirty="0" err="1">
                <a:latin typeface="Courier New" panose="02070309020205020404" pitchFamily="49" charset="0"/>
                <a:cs typeface="Courier New" panose="02070309020205020404" pitchFamily="49" charset="0"/>
              </a:rPr>
              <a:t>lda_cv_iris</a:t>
            </a:r>
            <a:r>
              <a:rPr lang="en-ZA" sz="1200" dirty="0">
                <a:latin typeface="Courier New" panose="02070309020205020404" pitchFamily="49" charset="0"/>
                <a:cs typeface="Courier New" panose="02070309020205020404" pitchFamily="49" charset="0"/>
              </a:rPr>
              <a:t>=</a:t>
            </a:r>
            <a:r>
              <a:rPr lang="en-ZA" sz="1200" dirty="0" err="1">
                <a:latin typeface="Courier New" panose="02070309020205020404" pitchFamily="49" charset="0"/>
                <a:cs typeface="Courier New" panose="02070309020205020404" pitchFamily="49" charset="0"/>
              </a:rPr>
              <a:t>lda</a:t>
            </a:r>
            <a:r>
              <a:rPr lang="en-ZA" sz="1200" dirty="0">
                <a:latin typeface="Courier New" panose="02070309020205020404" pitchFamily="49" charset="0"/>
                <a:cs typeface="Courier New" panose="02070309020205020404" pitchFamily="49" charset="0"/>
              </a:rPr>
              <a:t>(</a:t>
            </a:r>
            <a:r>
              <a:rPr lang="en-ZA" sz="1200" dirty="0" err="1">
                <a:latin typeface="Courier New" panose="02070309020205020404" pitchFamily="49" charset="0"/>
                <a:cs typeface="Courier New" panose="02070309020205020404" pitchFamily="49" charset="0"/>
              </a:rPr>
              <a:t>Species~.,data</a:t>
            </a:r>
            <a:r>
              <a:rPr lang="en-ZA" sz="1200" dirty="0">
                <a:latin typeface="Courier New" panose="02070309020205020404" pitchFamily="49" charset="0"/>
                <a:cs typeface="Courier New" panose="02070309020205020404" pitchFamily="49" charset="0"/>
              </a:rPr>
              <a:t>=</a:t>
            </a:r>
            <a:r>
              <a:rPr lang="en-ZA" sz="1200" dirty="0" err="1">
                <a:latin typeface="Courier New" panose="02070309020205020404" pitchFamily="49" charset="0"/>
                <a:cs typeface="Courier New" panose="02070309020205020404" pitchFamily="49" charset="0"/>
              </a:rPr>
              <a:t>dataset,CV</a:t>
            </a:r>
            <a:r>
              <a:rPr lang="en-ZA" sz="1200" dirty="0">
                <a:latin typeface="Courier New" panose="02070309020205020404" pitchFamily="49" charset="0"/>
                <a:cs typeface="Courier New" panose="02070309020205020404" pitchFamily="49" charset="0"/>
              </a:rPr>
              <a:t>=TRUE)</a:t>
            </a:r>
          </a:p>
          <a:p>
            <a:r>
              <a:rPr lang="en-ZA" sz="1200" dirty="0">
                <a:latin typeface="Courier New" panose="02070309020205020404" pitchFamily="49" charset="0"/>
                <a:cs typeface="Courier New" panose="02070309020205020404" pitchFamily="49" charset="0"/>
              </a:rPr>
              <a:t>&gt; </a:t>
            </a:r>
          </a:p>
          <a:p>
            <a:r>
              <a:rPr lang="en-ZA" sz="1200" dirty="0">
                <a:latin typeface="Courier New" panose="02070309020205020404" pitchFamily="49" charset="0"/>
                <a:cs typeface="Courier New" panose="02070309020205020404" pitchFamily="49" charset="0"/>
              </a:rPr>
              <a:t>&gt; #The predictions are already generated in </a:t>
            </a:r>
            <a:r>
              <a:rPr lang="en-ZA" sz="1200" dirty="0" err="1">
                <a:latin typeface="Courier New" panose="02070309020205020404" pitchFamily="49" charset="0"/>
                <a:cs typeface="Courier New" panose="02070309020205020404" pitchFamily="49" charset="0"/>
              </a:rPr>
              <a:t>lda_cv_iris</a:t>
            </a:r>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&gt; table(</a:t>
            </a:r>
            <a:r>
              <a:rPr lang="en-ZA" sz="1200" dirty="0" err="1">
                <a:latin typeface="Courier New" panose="02070309020205020404" pitchFamily="49" charset="0"/>
                <a:cs typeface="Courier New" panose="02070309020205020404" pitchFamily="49" charset="0"/>
              </a:rPr>
              <a:t>lda_cv_iris$class</a:t>
            </a:r>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dataset$Species</a:t>
            </a:r>
            <a:r>
              <a:rPr lang="en-ZA" sz="1200" dirty="0">
                <a:latin typeface="Courier New" panose="02070309020205020404" pitchFamily="49" charset="0"/>
                <a:cs typeface="Courier New" panose="02070309020205020404" pitchFamily="49" charset="0"/>
              </a:rPr>
              <a:t>)</a:t>
            </a:r>
          </a:p>
          <a:p>
            <a:r>
              <a:rPr lang="en-ZA" sz="1200" dirty="0">
                <a:latin typeface="Courier New" panose="02070309020205020404" pitchFamily="49" charset="0"/>
                <a:cs typeface="Courier New" panose="02070309020205020404" pitchFamily="49" charset="0"/>
              </a:rPr>
              <a:t>            </a:t>
            </a:r>
          </a:p>
          <a:p>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setosa</a:t>
            </a:r>
            <a:r>
              <a:rPr lang="en-ZA" sz="1200" dirty="0">
                <a:latin typeface="Courier New" panose="02070309020205020404" pitchFamily="49" charset="0"/>
                <a:cs typeface="Courier New" panose="02070309020205020404" pitchFamily="49" charset="0"/>
              </a:rPr>
              <a:t> versicolor </a:t>
            </a:r>
            <a:r>
              <a:rPr lang="en-ZA" sz="1200" dirty="0" err="1">
                <a:latin typeface="Courier New" panose="02070309020205020404" pitchFamily="49" charset="0"/>
                <a:cs typeface="Courier New" panose="02070309020205020404" pitchFamily="49" charset="0"/>
              </a:rPr>
              <a:t>virginica</a:t>
            </a:r>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setosa</a:t>
            </a:r>
            <a:r>
              <a:rPr lang="en-ZA" sz="1200" dirty="0">
                <a:latin typeface="Courier New" panose="02070309020205020404" pitchFamily="49" charset="0"/>
                <a:cs typeface="Courier New" panose="02070309020205020404" pitchFamily="49" charset="0"/>
              </a:rPr>
              <a:t>         50          0         0</a:t>
            </a:r>
          </a:p>
          <a:p>
            <a:r>
              <a:rPr lang="en-ZA" sz="1200" dirty="0">
                <a:latin typeface="Courier New" panose="02070309020205020404" pitchFamily="49" charset="0"/>
                <a:cs typeface="Courier New" panose="02070309020205020404" pitchFamily="49" charset="0"/>
              </a:rPr>
              <a:t>  versicolor      0         48         1</a:t>
            </a:r>
          </a:p>
          <a:p>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virginica</a:t>
            </a:r>
            <a:r>
              <a:rPr lang="en-ZA" sz="1200" dirty="0">
                <a:latin typeface="Courier New" panose="02070309020205020404" pitchFamily="49" charset="0"/>
                <a:cs typeface="Courier New" panose="02070309020205020404" pitchFamily="49" charset="0"/>
              </a:rPr>
              <a:t>       0          2        49</a:t>
            </a:r>
          </a:p>
        </p:txBody>
      </p:sp>
      <p:sp>
        <p:nvSpPr>
          <p:cNvPr id="6" name="Oval Callout 5"/>
          <p:cNvSpPr/>
          <p:nvPr/>
        </p:nvSpPr>
        <p:spPr>
          <a:xfrm>
            <a:off x="4089400" y="3314700"/>
            <a:ext cx="1879600" cy="1187450"/>
          </a:xfrm>
          <a:prstGeom prst="wedgeEllipseCallout">
            <a:avLst>
              <a:gd name="adj1" fmla="val -73198"/>
              <a:gd name="adj2" fmla="val 207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Discriminant function coefficients based on first and second eigenvectors</a:t>
            </a:r>
            <a:endParaRPr lang="en-ZA" sz="1100" dirty="0"/>
          </a:p>
        </p:txBody>
      </p:sp>
      <p:sp>
        <p:nvSpPr>
          <p:cNvPr id="7" name="Oval Callout 6"/>
          <p:cNvSpPr/>
          <p:nvPr/>
        </p:nvSpPr>
        <p:spPr>
          <a:xfrm>
            <a:off x="4743450" y="5727700"/>
            <a:ext cx="1517650" cy="768350"/>
          </a:xfrm>
          <a:prstGeom prst="wedgeEllipseCallout">
            <a:avLst>
              <a:gd name="adj1" fmla="val -89034"/>
              <a:gd name="adj2" fmla="val -1136"/>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All but 3 observations correctly classified.</a:t>
            </a:r>
            <a:endParaRPr lang="en-ZA" sz="1100" dirty="0"/>
          </a:p>
        </p:txBody>
      </p:sp>
      <p:sp>
        <p:nvSpPr>
          <p:cNvPr id="8" name="Oval Callout 7"/>
          <p:cNvSpPr/>
          <p:nvPr/>
        </p:nvSpPr>
        <p:spPr>
          <a:xfrm>
            <a:off x="10604500" y="5664200"/>
            <a:ext cx="1447800" cy="879594"/>
          </a:xfrm>
          <a:prstGeom prst="wedgeEllipseCallout">
            <a:avLst>
              <a:gd name="adj1" fmla="val -67324"/>
              <a:gd name="adj2" fmla="val 5468"/>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Cross-validation give equivalent results.</a:t>
            </a:r>
            <a:endParaRPr lang="en-ZA" sz="1100" dirty="0"/>
          </a:p>
        </p:txBody>
      </p:sp>
      <p:pic>
        <p:nvPicPr>
          <p:cNvPr id="9" name="Picture 8"/>
          <p:cNvPicPr>
            <a:picLocks noChangeAspect="1"/>
          </p:cNvPicPr>
          <p:nvPr/>
        </p:nvPicPr>
        <p:blipFill>
          <a:blip r:embed="rId2"/>
          <a:stretch>
            <a:fillRect/>
          </a:stretch>
        </p:blipFill>
        <p:spPr>
          <a:xfrm>
            <a:off x="6905668" y="1041429"/>
            <a:ext cx="4571913" cy="3086041"/>
          </a:xfrm>
          <a:prstGeom prst="rect">
            <a:avLst/>
          </a:prstGeom>
        </p:spPr>
      </p:pic>
      <p:sp>
        <p:nvSpPr>
          <p:cNvPr id="10" name="Oval Callout 9"/>
          <p:cNvSpPr/>
          <p:nvPr/>
        </p:nvSpPr>
        <p:spPr>
          <a:xfrm>
            <a:off x="5397500" y="1200150"/>
            <a:ext cx="1508168" cy="958850"/>
          </a:xfrm>
          <a:prstGeom prst="wedgeEllipseCallout">
            <a:avLst>
              <a:gd name="adj1" fmla="val 56217"/>
              <a:gd name="adj2" fmla="val 63824"/>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Shows classes linearly separable.</a:t>
            </a:r>
            <a:endParaRPr lang="en-ZA" sz="1100" dirty="0"/>
          </a:p>
        </p:txBody>
      </p:sp>
    </p:spTree>
    <p:extLst>
      <p:ext uri="{BB962C8B-B14F-4D97-AF65-F5344CB8AC3E}">
        <p14:creationId xmlns:p14="http://schemas.microsoft.com/office/powerpoint/2010/main" val="7291979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3350" y="241300"/>
            <a:ext cx="5486400" cy="984250"/>
          </a:xfrm>
          <a:prstGeom prst="rect">
            <a:avLst/>
          </a:prstGeom>
          <a:noFill/>
        </p:spPr>
        <p:txBody>
          <a:bodyPr wrap="square" rtlCol="0">
            <a:spAutoFit/>
          </a:bodyPr>
          <a:lstStyle/>
          <a:p>
            <a:endParaRPr lang="en-ZA" dirty="0"/>
          </a:p>
        </p:txBody>
      </p:sp>
      <p:pic>
        <p:nvPicPr>
          <p:cNvPr id="3" name="Picture 2"/>
          <p:cNvPicPr>
            <a:picLocks noChangeAspect="1"/>
          </p:cNvPicPr>
          <p:nvPr/>
        </p:nvPicPr>
        <p:blipFill>
          <a:blip r:embed="rId2"/>
          <a:stretch>
            <a:fillRect/>
          </a:stretch>
        </p:blipFill>
        <p:spPr>
          <a:xfrm>
            <a:off x="1438362" y="1314479"/>
            <a:ext cx="4571913" cy="3086041"/>
          </a:xfrm>
          <a:prstGeom prst="rect">
            <a:avLst/>
          </a:prstGeom>
          <a:ln>
            <a:solidFill>
              <a:schemeClr val="accent1"/>
            </a:solidFill>
          </a:ln>
        </p:spPr>
      </p:pic>
      <p:pic>
        <p:nvPicPr>
          <p:cNvPr id="5" name="Picture 4"/>
          <p:cNvPicPr>
            <a:picLocks noChangeAspect="1"/>
          </p:cNvPicPr>
          <p:nvPr/>
        </p:nvPicPr>
        <p:blipFill>
          <a:blip r:embed="rId3"/>
          <a:stretch>
            <a:fillRect/>
          </a:stretch>
        </p:blipFill>
        <p:spPr>
          <a:xfrm>
            <a:off x="6654843" y="1314478"/>
            <a:ext cx="4571913" cy="3086041"/>
          </a:xfrm>
          <a:prstGeom prst="rect">
            <a:avLst/>
          </a:prstGeom>
          <a:ln>
            <a:solidFill>
              <a:schemeClr val="accent1"/>
            </a:solidFill>
          </a:ln>
        </p:spPr>
      </p:pic>
      <p:sp>
        <p:nvSpPr>
          <p:cNvPr id="6" name="TextBox 5"/>
          <p:cNvSpPr txBox="1"/>
          <p:nvPr/>
        </p:nvSpPr>
        <p:spPr>
          <a:xfrm>
            <a:off x="292100" y="152371"/>
            <a:ext cx="5911850" cy="4524315"/>
          </a:xfrm>
          <a:prstGeom prst="rect">
            <a:avLst/>
          </a:prstGeom>
          <a:noFill/>
          <a:ln>
            <a:solidFill>
              <a:schemeClr val="accent1"/>
            </a:solidFill>
          </a:ln>
        </p:spPr>
        <p:txBody>
          <a:bodyPr wrap="square" rtlCol="0">
            <a:spAutoFit/>
          </a:bodyPr>
          <a:lstStyle/>
          <a:p>
            <a:r>
              <a:rPr lang="en-ZA" sz="1200" dirty="0">
                <a:latin typeface="Courier New" panose="02070309020205020404" pitchFamily="49" charset="0"/>
                <a:cs typeface="Courier New" panose="02070309020205020404" pitchFamily="49" charset="0"/>
              </a:rPr>
              <a:t>&gt; #Plot the predictions - first linear discriminant</a:t>
            </a:r>
          </a:p>
          <a:p>
            <a:r>
              <a:rPr lang="en-ZA" sz="1200" dirty="0">
                <a:latin typeface="Courier New" panose="02070309020205020404" pitchFamily="49" charset="0"/>
                <a:cs typeface="Courier New" panose="02070309020205020404" pitchFamily="49" charset="0"/>
              </a:rPr>
              <a:t>&gt; </a:t>
            </a:r>
            <a:r>
              <a:rPr lang="en-ZA" sz="1200" dirty="0" err="1">
                <a:latin typeface="Courier New" panose="02070309020205020404" pitchFamily="49" charset="0"/>
                <a:cs typeface="Courier New" panose="02070309020205020404" pitchFamily="49" charset="0"/>
              </a:rPr>
              <a:t>ldahist</a:t>
            </a:r>
            <a:r>
              <a:rPr lang="en-ZA" sz="1200" dirty="0">
                <a:latin typeface="Courier New" panose="02070309020205020404" pitchFamily="49" charset="0"/>
                <a:cs typeface="Courier New" panose="02070309020205020404" pitchFamily="49" charset="0"/>
              </a:rPr>
              <a:t>(data = </a:t>
            </a:r>
            <a:r>
              <a:rPr lang="en-ZA" sz="1200" dirty="0" err="1">
                <a:latin typeface="Courier New" panose="02070309020205020404" pitchFamily="49" charset="0"/>
                <a:cs typeface="Courier New" panose="02070309020205020404" pitchFamily="49" charset="0"/>
              </a:rPr>
              <a:t>Predictions$x</a:t>
            </a:r>
            <a:r>
              <a:rPr lang="en-ZA" sz="1200" dirty="0">
                <a:latin typeface="Courier New" panose="02070309020205020404" pitchFamily="49" charset="0"/>
                <a:cs typeface="Courier New" panose="02070309020205020404" pitchFamily="49" charset="0"/>
              </a:rPr>
              <a:t>[,1], g=</a:t>
            </a:r>
            <a:r>
              <a:rPr lang="en-ZA" sz="1200" dirty="0" err="1">
                <a:latin typeface="Courier New" panose="02070309020205020404" pitchFamily="49" charset="0"/>
                <a:cs typeface="Courier New" panose="02070309020205020404" pitchFamily="49" charset="0"/>
              </a:rPr>
              <a:t>dataset$Species</a:t>
            </a:r>
            <a:r>
              <a:rPr lang="en-ZA" sz="1200" dirty="0">
                <a:latin typeface="Courier New" panose="02070309020205020404" pitchFamily="49" charset="0"/>
                <a:cs typeface="Courier New" panose="02070309020205020404" pitchFamily="49" charset="0"/>
              </a:rPr>
              <a:t>)</a:t>
            </a:r>
          </a:p>
          <a:p>
            <a:r>
              <a:rPr lang="en-ZA" sz="1200" dirty="0">
                <a:latin typeface="Courier New" panose="02070309020205020404" pitchFamily="49" charset="0"/>
                <a:cs typeface="Courier New" panose="02070309020205020404" pitchFamily="49" charset="0"/>
              </a:rPr>
              <a:t>&gt; </a:t>
            </a:r>
            <a:endParaRPr lang="en-ZA" sz="1200" dirty="0" smtClean="0">
              <a:latin typeface="Courier New" panose="02070309020205020404" pitchFamily="49" charset="0"/>
              <a:cs typeface="Courier New" panose="02070309020205020404" pitchFamily="49" charset="0"/>
            </a:endParaRPr>
          </a:p>
          <a:p>
            <a:endParaRPr lang="en-ZA" sz="1200" dirty="0">
              <a:latin typeface="Courier New" panose="02070309020205020404" pitchFamily="49" charset="0"/>
              <a:cs typeface="Courier New" panose="02070309020205020404" pitchFamily="49" charset="0"/>
            </a:endParaRPr>
          </a:p>
          <a:p>
            <a:endParaRPr lang="en-ZA" sz="1200" dirty="0" smtClean="0">
              <a:latin typeface="Courier New" panose="02070309020205020404" pitchFamily="49" charset="0"/>
              <a:cs typeface="Courier New" panose="02070309020205020404" pitchFamily="49" charset="0"/>
            </a:endParaRPr>
          </a:p>
          <a:p>
            <a:endParaRPr lang="en-ZA" sz="1200" dirty="0">
              <a:latin typeface="Courier New" panose="02070309020205020404" pitchFamily="49" charset="0"/>
              <a:cs typeface="Courier New" panose="02070309020205020404" pitchFamily="49" charset="0"/>
            </a:endParaRPr>
          </a:p>
          <a:p>
            <a:endParaRPr lang="en-ZA" sz="1200" dirty="0" smtClean="0">
              <a:latin typeface="Courier New" panose="02070309020205020404" pitchFamily="49" charset="0"/>
              <a:cs typeface="Courier New" panose="02070309020205020404" pitchFamily="49" charset="0"/>
            </a:endParaRPr>
          </a:p>
          <a:p>
            <a:endParaRPr lang="en-ZA" sz="1200" dirty="0">
              <a:latin typeface="Courier New" panose="02070309020205020404" pitchFamily="49" charset="0"/>
              <a:cs typeface="Courier New" panose="02070309020205020404" pitchFamily="49" charset="0"/>
            </a:endParaRPr>
          </a:p>
          <a:p>
            <a:endParaRPr lang="en-ZA" sz="1200" dirty="0" smtClean="0">
              <a:latin typeface="Courier New" panose="02070309020205020404" pitchFamily="49" charset="0"/>
              <a:cs typeface="Courier New" panose="02070309020205020404" pitchFamily="49" charset="0"/>
            </a:endParaRPr>
          </a:p>
          <a:p>
            <a:endParaRPr lang="en-ZA" sz="1200" dirty="0">
              <a:latin typeface="Courier New" panose="02070309020205020404" pitchFamily="49" charset="0"/>
              <a:cs typeface="Courier New" panose="02070309020205020404" pitchFamily="49" charset="0"/>
            </a:endParaRPr>
          </a:p>
          <a:p>
            <a:endParaRPr lang="en-ZA" sz="1200" dirty="0" smtClean="0">
              <a:latin typeface="Courier New" panose="02070309020205020404" pitchFamily="49" charset="0"/>
              <a:cs typeface="Courier New" panose="02070309020205020404" pitchFamily="49" charset="0"/>
            </a:endParaRPr>
          </a:p>
          <a:p>
            <a:endParaRPr lang="en-ZA" sz="1200" dirty="0">
              <a:latin typeface="Courier New" panose="02070309020205020404" pitchFamily="49" charset="0"/>
              <a:cs typeface="Courier New" panose="02070309020205020404" pitchFamily="49" charset="0"/>
            </a:endParaRPr>
          </a:p>
          <a:p>
            <a:endParaRPr lang="en-ZA" sz="1200" dirty="0" smtClean="0">
              <a:latin typeface="Courier New" panose="02070309020205020404" pitchFamily="49" charset="0"/>
              <a:cs typeface="Courier New" panose="02070309020205020404" pitchFamily="49" charset="0"/>
            </a:endParaRPr>
          </a:p>
          <a:p>
            <a:endParaRPr lang="en-ZA" sz="1200" dirty="0">
              <a:latin typeface="Courier New" panose="02070309020205020404" pitchFamily="49" charset="0"/>
              <a:cs typeface="Courier New" panose="02070309020205020404" pitchFamily="49" charset="0"/>
            </a:endParaRPr>
          </a:p>
          <a:p>
            <a:endParaRPr lang="en-ZA" sz="1200" dirty="0" smtClean="0">
              <a:latin typeface="Courier New" panose="02070309020205020404" pitchFamily="49" charset="0"/>
              <a:cs typeface="Courier New" panose="02070309020205020404" pitchFamily="49" charset="0"/>
            </a:endParaRPr>
          </a:p>
          <a:p>
            <a:endParaRPr lang="en-ZA" sz="1200" dirty="0">
              <a:latin typeface="Courier New" panose="02070309020205020404" pitchFamily="49" charset="0"/>
              <a:cs typeface="Courier New" panose="02070309020205020404" pitchFamily="49" charset="0"/>
            </a:endParaRPr>
          </a:p>
          <a:p>
            <a:endParaRPr lang="en-ZA" sz="1200" dirty="0" smtClean="0">
              <a:latin typeface="Courier New" panose="02070309020205020404" pitchFamily="49" charset="0"/>
              <a:cs typeface="Courier New" panose="02070309020205020404" pitchFamily="49" charset="0"/>
            </a:endParaRPr>
          </a:p>
          <a:p>
            <a:endParaRPr lang="en-ZA" sz="1200" dirty="0">
              <a:latin typeface="Courier New" panose="02070309020205020404" pitchFamily="49" charset="0"/>
              <a:cs typeface="Courier New" panose="02070309020205020404" pitchFamily="49" charset="0"/>
            </a:endParaRPr>
          </a:p>
          <a:p>
            <a:endParaRPr lang="en-ZA" sz="1200" dirty="0" smtClean="0">
              <a:latin typeface="Courier New" panose="02070309020205020404" pitchFamily="49" charset="0"/>
              <a:cs typeface="Courier New" panose="02070309020205020404" pitchFamily="49" charset="0"/>
            </a:endParaRPr>
          </a:p>
          <a:p>
            <a:endParaRPr lang="en-ZA" sz="1200" dirty="0">
              <a:latin typeface="Courier New" panose="02070309020205020404" pitchFamily="49" charset="0"/>
              <a:cs typeface="Courier New" panose="02070309020205020404" pitchFamily="49" charset="0"/>
            </a:endParaRPr>
          </a:p>
          <a:p>
            <a:endParaRPr lang="en-ZA" sz="1200" dirty="0" smtClean="0">
              <a:latin typeface="Courier New" panose="02070309020205020404" pitchFamily="49" charset="0"/>
              <a:cs typeface="Courier New" panose="02070309020205020404" pitchFamily="49" charset="0"/>
            </a:endParaRPr>
          </a:p>
          <a:p>
            <a:endParaRPr lang="en-ZA" sz="1200" dirty="0">
              <a:latin typeface="Courier New" panose="02070309020205020404" pitchFamily="49" charset="0"/>
              <a:cs typeface="Courier New" panose="02070309020205020404" pitchFamily="49" charset="0"/>
            </a:endParaRPr>
          </a:p>
          <a:p>
            <a:endParaRPr lang="en-ZA" sz="1200" dirty="0" smtClean="0">
              <a:latin typeface="Courier New" panose="02070309020205020404" pitchFamily="49" charset="0"/>
              <a:cs typeface="Courier New" panose="02070309020205020404" pitchFamily="49" charset="0"/>
            </a:endParaRPr>
          </a:p>
          <a:p>
            <a:endParaRPr lang="en-ZA" sz="1200" dirty="0">
              <a:latin typeface="Courier New" panose="02070309020205020404" pitchFamily="49" charset="0"/>
              <a:cs typeface="Courier New" panose="02070309020205020404" pitchFamily="49" charset="0"/>
            </a:endParaRPr>
          </a:p>
        </p:txBody>
      </p:sp>
      <p:sp>
        <p:nvSpPr>
          <p:cNvPr id="7" name="TextBox 6"/>
          <p:cNvSpPr txBox="1"/>
          <p:nvPr/>
        </p:nvSpPr>
        <p:spPr>
          <a:xfrm>
            <a:off x="6584950" y="101600"/>
            <a:ext cx="5283200" cy="4616648"/>
          </a:xfrm>
          <a:prstGeom prst="rect">
            <a:avLst/>
          </a:prstGeom>
          <a:noFill/>
          <a:ln>
            <a:solidFill>
              <a:schemeClr val="accent1"/>
            </a:solidFill>
          </a:ln>
        </p:spPr>
        <p:txBody>
          <a:bodyPr wrap="square" rtlCol="0">
            <a:spAutoFit/>
          </a:bodyPr>
          <a:lstStyle/>
          <a:p>
            <a:r>
              <a:rPr lang="en-ZA" sz="1200" dirty="0">
                <a:latin typeface="Courier New" panose="02070309020205020404" pitchFamily="49" charset="0"/>
                <a:cs typeface="Courier New" panose="02070309020205020404" pitchFamily="49" charset="0"/>
              </a:rPr>
              <a:t>&gt; #Plot the predictions - second linear discriminant</a:t>
            </a:r>
          </a:p>
          <a:p>
            <a:r>
              <a:rPr lang="en-ZA" sz="1200" dirty="0">
                <a:latin typeface="Courier New" panose="02070309020205020404" pitchFamily="49" charset="0"/>
                <a:cs typeface="Courier New" panose="02070309020205020404" pitchFamily="49" charset="0"/>
              </a:rPr>
              <a:t>&gt; </a:t>
            </a:r>
            <a:r>
              <a:rPr lang="en-ZA" sz="1200" dirty="0" err="1">
                <a:latin typeface="Courier New" panose="02070309020205020404" pitchFamily="49" charset="0"/>
                <a:cs typeface="Courier New" panose="02070309020205020404" pitchFamily="49" charset="0"/>
              </a:rPr>
              <a:t>ldahist</a:t>
            </a:r>
            <a:r>
              <a:rPr lang="en-ZA" sz="1200" dirty="0">
                <a:latin typeface="Courier New" panose="02070309020205020404" pitchFamily="49" charset="0"/>
                <a:cs typeface="Courier New" panose="02070309020205020404" pitchFamily="49" charset="0"/>
              </a:rPr>
              <a:t>(data = </a:t>
            </a:r>
            <a:r>
              <a:rPr lang="en-ZA" sz="1200" dirty="0" err="1">
                <a:latin typeface="Courier New" panose="02070309020205020404" pitchFamily="49" charset="0"/>
                <a:cs typeface="Courier New" panose="02070309020205020404" pitchFamily="49" charset="0"/>
              </a:rPr>
              <a:t>Predictions$x</a:t>
            </a:r>
            <a:r>
              <a:rPr lang="en-ZA" sz="1200" dirty="0">
                <a:latin typeface="Courier New" panose="02070309020205020404" pitchFamily="49" charset="0"/>
                <a:cs typeface="Courier New" panose="02070309020205020404" pitchFamily="49" charset="0"/>
              </a:rPr>
              <a:t>[,2], g=</a:t>
            </a:r>
            <a:r>
              <a:rPr lang="en-ZA" sz="1200" dirty="0" err="1">
                <a:latin typeface="Courier New" panose="02070309020205020404" pitchFamily="49" charset="0"/>
                <a:cs typeface="Courier New" panose="02070309020205020404" pitchFamily="49" charset="0"/>
              </a:rPr>
              <a:t>dataset$Species</a:t>
            </a:r>
            <a:r>
              <a:rPr lang="en-ZA" sz="1200" dirty="0">
                <a:latin typeface="Courier New" panose="02070309020205020404" pitchFamily="49" charset="0"/>
                <a:cs typeface="Courier New" panose="02070309020205020404" pitchFamily="49" charset="0"/>
              </a:rPr>
              <a:t>)</a:t>
            </a:r>
          </a:p>
          <a:p>
            <a:endParaRPr lang="en-ZA" dirty="0" smtClean="0"/>
          </a:p>
          <a:p>
            <a:endParaRPr lang="en-ZA" dirty="0"/>
          </a:p>
          <a:p>
            <a:endParaRPr lang="en-ZA" dirty="0" smtClean="0"/>
          </a:p>
          <a:p>
            <a:endParaRPr lang="en-ZA" dirty="0"/>
          </a:p>
          <a:p>
            <a:endParaRPr lang="en-ZA" dirty="0" smtClean="0"/>
          </a:p>
          <a:p>
            <a:endParaRPr lang="en-ZA" dirty="0"/>
          </a:p>
          <a:p>
            <a:endParaRPr lang="en-ZA" dirty="0" smtClean="0"/>
          </a:p>
          <a:p>
            <a:endParaRPr lang="en-ZA" dirty="0"/>
          </a:p>
          <a:p>
            <a:endParaRPr lang="en-ZA" dirty="0" smtClean="0"/>
          </a:p>
          <a:p>
            <a:endParaRPr lang="en-ZA" dirty="0"/>
          </a:p>
          <a:p>
            <a:endParaRPr lang="en-ZA" dirty="0" smtClean="0"/>
          </a:p>
          <a:p>
            <a:endParaRPr lang="en-ZA" dirty="0"/>
          </a:p>
          <a:p>
            <a:endParaRPr lang="en-ZA" dirty="0" smtClean="0"/>
          </a:p>
          <a:p>
            <a:endParaRPr lang="en-ZA" dirty="0"/>
          </a:p>
          <a:p>
            <a:endParaRPr lang="en-ZA" dirty="0" smtClean="0"/>
          </a:p>
        </p:txBody>
      </p:sp>
      <p:sp>
        <p:nvSpPr>
          <p:cNvPr id="8" name="Oval Callout 7"/>
          <p:cNvSpPr/>
          <p:nvPr/>
        </p:nvSpPr>
        <p:spPr>
          <a:xfrm>
            <a:off x="1587500" y="5226050"/>
            <a:ext cx="3321050" cy="1327150"/>
          </a:xfrm>
          <a:prstGeom prst="wedgeEllipseCallout">
            <a:avLst>
              <a:gd name="adj1" fmla="val 4597"/>
              <a:gd name="adj2" fmla="val -11644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Populations well separated by first discriminant function</a:t>
            </a:r>
            <a:endParaRPr lang="en-ZA" sz="1100" dirty="0"/>
          </a:p>
        </p:txBody>
      </p:sp>
      <p:sp>
        <p:nvSpPr>
          <p:cNvPr id="9" name="Oval Callout 8"/>
          <p:cNvSpPr/>
          <p:nvPr/>
        </p:nvSpPr>
        <p:spPr>
          <a:xfrm>
            <a:off x="8261350" y="5226050"/>
            <a:ext cx="3511550" cy="1149350"/>
          </a:xfrm>
          <a:prstGeom prst="wedgeEllipseCallout">
            <a:avLst>
              <a:gd name="adj1" fmla="val -11430"/>
              <a:gd name="adj2" fmla="val -109876"/>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Populations not at all separated by second discriminant function.</a:t>
            </a:r>
            <a:endParaRPr lang="en-ZA" sz="1100" dirty="0"/>
          </a:p>
        </p:txBody>
      </p:sp>
    </p:spTree>
    <p:extLst>
      <p:ext uri="{BB962C8B-B14F-4D97-AF65-F5344CB8AC3E}">
        <p14:creationId xmlns:p14="http://schemas.microsoft.com/office/powerpoint/2010/main" val="36137983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7800" y="254000"/>
            <a:ext cx="11715750" cy="4708981"/>
          </a:xfrm>
          <a:prstGeom prst="rect">
            <a:avLst/>
          </a:prstGeom>
          <a:noFill/>
          <a:ln>
            <a:solidFill>
              <a:schemeClr val="accent1"/>
            </a:solidFill>
          </a:ln>
        </p:spPr>
        <p:txBody>
          <a:bodyPr wrap="square" rtlCol="0">
            <a:spAutoFit/>
          </a:bodyPr>
          <a:lstStyle/>
          <a:p>
            <a:r>
              <a:rPr lang="en-ZA" sz="1200" dirty="0">
                <a:latin typeface="Courier New" panose="02070309020205020404" pitchFamily="49" charset="0"/>
                <a:cs typeface="Courier New" panose="02070309020205020404" pitchFamily="49" charset="0"/>
              </a:rPr>
              <a:t>&gt; #QDA</a:t>
            </a:r>
          </a:p>
          <a:p>
            <a:r>
              <a:rPr lang="en-ZA" sz="1200" dirty="0">
                <a:latin typeface="Courier New" panose="02070309020205020404" pitchFamily="49" charset="0"/>
                <a:cs typeface="Courier New" panose="02070309020205020404" pitchFamily="49" charset="0"/>
              </a:rPr>
              <a:t>&gt; </a:t>
            </a:r>
            <a:r>
              <a:rPr lang="en-ZA" sz="1200" dirty="0" err="1">
                <a:latin typeface="Courier New" panose="02070309020205020404" pitchFamily="49" charset="0"/>
                <a:cs typeface="Courier New" panose="02070309020205020404" pitchFamily="49" charset="0"/>
              </a:rPr>
              <a:t>qda_iris</a:t>
            </a:r>
            <a:r>
              <a:rPr lang="en-ZA" sz="1200" dirty="0">
                <a:latin typeface="Courier New" panose="02070309020205020404" pitchFamily="49" charset="0"/>
                <a:cs typeface="Courier New" panose="02070309020205020404" pitchFamily="49" charset="0"/>
              </a:rPr>
              <a:t>=</a:t>
            </a:r>
            <a:r>
              <a:rPr lang="en-ZA" sz="1200" dirty="0" err="1">
                <a:latin typeface="Courier New" panose="02070309020205020404" pitchFamily="49" charset="0"/>
                <a:cs typeface="Courier New" panose="02070309020205020404" pitchFamily="49" charset="0"/>
              </a:rPr>
              <a:t>qda</a:t>
            </a:r>
            <a:r>
              <a:rPr lang="en-ZA" sz="1200" dirty="0">
                <a:latin typeface="Courier New" panose="02070309020205020404" pitchFamily="49" charset="0"/>
                <a:cs typeface="Courier New" panose="02070309020205020404" pitchFamily="49" charset="0"/>
              </a:rPr>
              <a:t>(</a:t>
            </a:r>
            <a:r>
              <a:rPr lang="en-ZA" sz="1200" dirty="0" err="1">
                <a:latin typeface="Courier New" panose="02070309020205020404" pitchFamily="49" charset="0"/>
                <a:cs typeface="Courier New" panose="02070309020205020404" pitchFamily="49" charset="0"/>
              </a:rPr>
              <a:t>Species~.,data</a:t>
            </a:r>
            <a:r>
              <a:rPr lang="en-ZA" sz="1200" dirty="0">
                <a:latin typeface="Courier New" panose="02070309020205020404" pitchFamily="49" charset="0"/>
                <a:cs typeface="Courier New" panose="02070309020205020404" pitchFamily="49" charset="0"/>
              </a:rPr>
              <a:t>=dataset)</a:t>
            </a:r>
          </a:p>
          <a:p>
            <a:r>
              <a:rPr lang="en-ZA" sz="1200" dirty="0">
                <a:latin typeface="Courier New" panose="02070309020205020404" pitchFamily="49" charset="0"/>
                <a:cs typeface="Courier New" panose="02070309020205020404" pitchFamily="49" charset="0"/>
              </a:rPr>
              <a:t>&gt; </a:t>
            </a:r>
            <a:r>
              <a:rPr lang="en-ZA" sz="1200" dirty="0" err="1">
                <a:latin typeface="Courier New" panose="02070309020205020404" pitchFamily="49" charset="0"/>
                <a:cs typeface="Courier New" panose="02070309020205020404" pitchFamily="49" charset="0"/>
              </a:rPr>
              <a:t>qda_iris</a:t>
            </a:r>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Call:</a:t>
            </a:r>
          </a:p>
          <a:p>
            <a:r>
              <a:rPr lang="en-ZA" sz="1200" dirty="0" err="1">
                <a:latin typeface="Courier New" panose="02070309020205020404" pitchFamily="49" charset="0"/>
                <a:cs typeface="Courier New" panose="02070309020205020404" pitchFamily="49" charset="0"/>
              </a:rPr>
              <a:t>qda</a:t>
            </a:r>
            <a:r>
              <a:rPr lang="en-ZA" sz="1200" dirty="0">
                <a:latin typeface="Courier New" panose="02070309020205020404" pitchFamily="49" charset="0"/>
                <a:cs typeface="Courier New" panose="02070309020205020404" pitchFamily="49" charset="0"/>
              </a:rPr>
              <a:t>(Species ~ ., data = dataset)</a:t>
            </a:r>
          </a:p>
          <a:p>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Prior probabilities of groups:</a:t>
            </a:r>
          </a:p>
          <a:p>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setosa</a:t>
            </a:r>
            <a:r>
              <a:rPr lang="en-ZA" sz="1200" dirty="0">
                <a:latin typeface="Courier New" panose="02070309020205020404" pitchFamily="49" charset="0"/>
                <a:cs typeface="Courier New" panose="02070309020205020404" pitchFamily="49" charset="0"/>
              </a:rPr>
              <a:t> versicolor  </a:t>
            </a:r>
            <a:r>
              <a:rPr lang="en-ZA" sz="1200" dirty="0" err="1">
                <a:latin typeface="Courier New" panose="02070309020205020404" pitchFamily="49" charset="0"/>
                <a:cs typeface="Courier New" panose="02070309020205020404" pitchFamily="49" charset="0"/>
              </a:rPr>
              <a:t>virginica</a:t>
            </a:r>
            <a:r>
              <a:rPr lang="en-ZA" sz="1200" dirty="0">
                <a:latin typeface="Courier New" panose="02070309020205020404" pitchFamily="49" charset="0"/>
                <a:cs typeface="Courier New" panose="02070309020205020404" pitchFamily="49" charset="0"/>
              </a:rPr>
              <a:t> </a:t>
            </a:r>
          </a:p>
          <a:p>
            <a:r>
              <a:rPr lang="en-ZA" sz="1200" dirty="0">
                <a:latin typeface="Courier New" panose="02070309020205020404" pitchFamily="49" charset="0"/>
                <a:cs typeface="Courier New" panose="02070309020205020404" pitchFamily="49" charset="0"/>
              </a:rPr>
              <a:t> 0.3333333  0.3333333  0.3333333 </a:t>
            </a:r>
          </a:p>
          <a:p>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Group means:</a:t>
            </a:r>
          </a:p>
          <a:p>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Sepal.Length</a:t>
            </a:r>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Sepal.Width</a:t>
            </a:r>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Petal.Length</a:t>
            </a:r>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Petal.Width</a:t>
            </a:r>
            <a:endParaRPr lang="en-ZA" sz="1200" dirty="0">
              <a:latin typeface="Courier New" panose="02070309020205020404" pitchFamily="49" charset="0"/>
              <a:cs typeface="Courier New" panose="02070309020205020404" pitchFamily="49" charset="0"/>
            </a:endParaRPr>
          </a:p>
          <a:p>
            <a:r>
              <a:rPr lang="en-ZA" sz="1200" dirty="0" err="1">
                <a:latin typeface="Courier New" panose="02070309020205020404" pitchFamily="49" charset="0"/>
                <a:cs typeface="Courier New" panose="02070309020205020404" pitchFamily="49" charset="0"/>
              </a:rPr>
              <a:t>setosa</a:t>
            </a:r>
            <a:r>
              <a:rPr lang="en-ZA" sz="1200" dirty="0">
                <a:latin typeface="Courier New" panose="02070309020205020404" pitchFamily="49" charset="0"/>
                <a:cs typeface="Courier New" panose="02070309020205020404" pitchFamily="49" charset="0"/>
              </a:rPr>
              <a:t>            5.006       3.428        1.462       0.246</a:t>
            </a:r>
          </a:p>
          <a:p>
            <a:r>
              <a:rPr lang="en-ZA" sz="1200" dirty="0">
                <a:latin typeface="Courier New" panose="02070309020205020404" pitchFamily="49" charset="0"/>
                <a:cs typeface="Courier New" panose="02070309020205020404" pitchFamily="49" charset="0"/>
              </a:rPr>
              <a:t>versicolor        5.936       2.770        4.260       1.326</a:t>
            </a:r>
          </a:p>
          <a:p>
            <a:r>
              <a:rPr lang="en-ZA" sz="1200" dirty="0" err="1">
                <a:latin typeface="Courier New" panose="02070309020205020404" pitchFamily="49" charset="0"/>
                <a:cs typeface="Courier New" panose="02070309020205020404" pitchFamily="49" charset="0"/>
              </a:rPr>
              <a:t>virginica</a:t>
            </a:r>
            <a:r>
              <a:rPr lang="en-ZA" sz="1200" dirty="0">
                <a:latin typeface="Courier New" panose="02070309020205020404" pitchFamily="49" charset="0"/>
                <a:cs typeface="Courier New" panose="02070309020205020404" pitchFamily="49" charset="0"/>
              </a:rPr>
              <a:t>         6.588       2.974        5.552       2.026</a:t>
            </a:r>
          </a:p>
          <a:p>
            <a:r>
              <a:rPr lang="en-ZA" sz="1200" dirty="0">
                <a:latin typeface="Courier New" panose="02070309020205020404" pitchFamily="49" charset="0"/>
                <a:cs typeface="Courier New" panose="02070309020205020404" pitchFamily="49" charset="0"/>
              </a:rPr>
              <a:t>&gt; </a:t>
            </a:r>
          </a:p>
          <a:p>
            <a:r>
              <a:rPr lang="en-ZA" sz="1200" dirty="0">
                <a:latin typeface="Courier New" panose="02070309020205020404" pitchFamily="49" charset="0"/>
                <a:cs typeface="Courier New" panose="02070309020205020404" pitchFamily="49" charset="0"/>
              </a:rPr>
              <a:t>&gt; #Check the accuracy of our analysis of </a:t>
            </a:r>
            <a:r>
              <a:rPr lang="en-ZA" sz="1200" dirty="0" err="1">
                <a:latin typeface="Courier New" panose="02070309020205020404" pitchFamily="49" charset="0"/>
                <a:cs typeface="Courier New" panose="02070309020205020404" pitchFamily="49" charset="0"/>
              </a:rPr>
              <a:t>qda</a:t>
            </a:r>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&gt; </a:t>
            </a:r>
            <a:r>
              <a:rPr lang="en-ZA" sz="1200" dirty="0" err="1">
                <a:latin typeface="Courier New" panose="02070309020205020404" pitchFamily="49" charset="0"/>
                <a:cs typeface="Courier New" panose="02070309020205020404" pitchFamily="49" charset="0"/>
              </a:rPr>
              <a:t>Predictions_qda</a:t>
            </a:r>
            <a:r>
              <a:rPr lang="en-ZA" sz="1200" dirty="0">
                <a:latin typeface="Courier New" panose="02070309020205020404" pitchFamily="49" charset="0"/>
                <a:cs typeface="Courier New" panose="02070309020205020404" pitchFamily="49" charset="0"/>
              </a:rPr>
              <a:t>=predict(</a:t>
            </a:r>
            <a:r>
              <a:rPr lang="en-ZA" sz="1200" dirty="0" err="1">
                <a:latin typeface="Courier New" panose="02070309020205020404" pitchFamily="49" charset="0"/>
                <a:cs typeface="Courier New" panose="02070309020205020404" pitchFamily="49" charset="0"/>
              </a:rPr>
              <a:t>qda_iris,dataset</a:t>
            </a:r>
            <a:r>
              <a:rPr lang="en-ZA" sz="1200" dirty="0">
                <a:latin typeface="Courier New" panose="02070309020205020404" pitchFamily="49" charset="0"/>
                <a:cs typeface="Courier New" panose="02070309020205020404" pitchFamily="49" charset="0"/>
              </a:rPr>
              <a:t>)</a:t>
            </a:r>
          </a:p>
          <a:p>
            <a:r>
              <a:rPr lang="en-ZA" sz="1200" dirty="0">
                <a:latin typeface="Courier New" panose="02070309020205020404" pitchFamily="49" charset="0"/>
                <a:cs typeface="Courier New" panose="02070309020205020404" pitchFamily="49" charset="0"/>
              </a:rPr>
              <a:t>&gt; table(</a:t>
            </a:r>
            <a:r>
              <a:rPr lang="en-ZA" sz="1200" dirty="0" err="1">
                <a:latin typeface="Courier New" panose="02070309020205020404" pitchFamily="49" charset="0"/>
                <a:cs typeface="Courier New" panose="02070309020205020404" pitchFamily="49" charset="0"/>
              </a:rPr>
              <a:t>Predictions_qda$class</a:t>
            </a:r>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dataset$Species</a:t>
            </a:r>
            <a:r>
              <a:rPr lang="en-ZA" sz="1200" dirty="0">
                <a:latin typeface="Courier New" panose="02070309020205020404" pitchFamily="49" charset="0"/>
                <a:cs typeface="Courier New" panose="02070309020205020404" pitchFamily="49" charset="0"/>
              </a:rPr>
              <a:t>)</a:t>
            </a:r>
          </a:p>
          <a:p>
            <a:r>
              <a:rPr lang="en-ZA" sz="1200" dirty="0">
                <a:latin typeface="Courier New" panose="02070309020205020404" pitchFamily="49" charset="0"/>
                <a:cs typeface="Courier New" panose="02070309020205020404" pitchFamily="49" charset="0"/>
              </a:rPr>
              <a:t>            </a:t>
            </a:r>
          </a:p>
          <a:p>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setosa</a:t>
            </a:r>
            <a:r>
              <a:rPr lang="en-ZA" sz="1200" dirty="0">
                <a:latin typeface="Courier New" panose="02070309020205020404" pitchFamily="49" charset="0"/>
                <a:cs typeface="Courier New" panose="02070309020205020404" pitchFamily="49" charset="0"/>
              </a:rPr>
              <a:t> versicolor </a:t>
            </a:r>
            <a:r>
              <a:rPr lang="en-ZA" sz="1200" dirty="0" err="1">
                <a:latin typeface="Courier New" panose="02070309020205020404" pitchFamily="49" charset="0"/>
                <a:cs typeface="Courier New" panose="02070309020205020404" pitchFamily="49" charset="0"/>
              </a:rPr>
              <a:t>virginica</a:t>
            </a:r>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setosa</a:t>
            </a:r>
            <a:r>
              <a:rPr lang="en-ZA" sz="1200" dirty="0">
                <a:latin typeface="Courier New" panose="02070309020205020404" pitchFamily="49" charset="0"/>
                <a:cs typeface="Courier New" panose="02070309020205020404" pitchFamily="49" charset="0"/>
              </a:rPr>
              <a:t>         50          0         0</a:t>
            </a:r>
          </a:p>
          <a:p>
            <a:r>
              <a:rPr lang="en-ZA" sz="1200" dirty="0">
                <a:latin typeface="Courier New" panose="02070309020205020404" pitchFamily="49" charset="0"/>
                <a:cs typeface="Courier New" panose="02070309020205020404" pitchFamily="49" charset="0"/>
              </a:rPr>
              <a:t>  versicolor      0         48         1</a:t>
            </a:r>
          </a:p>
          <a:p>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virginica</a:t>
            </a:r>
            <a:r>
              <a:rPr lang="en-ZA" sz="1200" dirty="0">
                <a:latin typeface="Courier New" panose="02070309020205020404" pitchFamily="49" charset="0"/>
                <a:cs typeface="Courier New" panose="02070309020205020404" pitchFamily="49" charset="0"/>
              </a:rPr>
              <a:t>       0          2        49</a:t>
            </a:r>
          </a:p>
          <a:p>
            <a:r>
              <a:rPr lang="en-ZA" sz="1200" dirty="0">
                <a:latin typeface="Courier New" panose="02070309020205020404" pitchFamily="49" charset="0"/>
                <a:cs typeface="Courier New" panose="02070309020205020404" pitchFamily="49" charset="0"/>
              </a:rPr>
              <a:t>&gt; </a:t>
            </a:r>
          </a:p>
        </p:txBody>
      </p:sp>
      <p:sp>
        <p:nvSpPr>
          <p:cNvPr id="3" name="Oval Callout 2"/>
          <p:cNvSpPr/>
          <p:nvPr/>
        </p:nvSpPr>
        <p:spPr>
          <a:xfrm>
            <a:off x="7816850" y="1568450"/>
            <a:ext cx="2806700" cy="1600200"/>
          </a:xfrm>
          <a:prstGeom prst="wedgeEllipseCallout">
            <a:avLst>
              <a:gd name="adj1" fmla="val -101150"/>
              <a:gd name="adj2" fmla="val 595"/>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Quadratic DA produces equivalent results.</a:t>
            </a:r>
            <a:endParaRPr lang="en-ZA" sz="1100" dirty="0"/>
          </a:p>
        </p:txBody>
      </p:sp>
    </p:spTree>
    <p:extLst>
      <p:ext uri="{BB962C8B-B14F-4D97-AF65-F5344CB8AC3E}">
        <p14:creationId xmlns:p14="http://schemas.microsoft.com/office/powerpoint/2010/main" val="3628755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9850" y="222250"/>
            <a:ext cx="11868150" cy="6186309"/>
          </a:xfrm>
          <a:prstGeom prst="rect">
            <a:avLst/>
          </a:prstGeom>
          <a:noFill/>
          <a:ln>
            <a:solidFill>
              <a:schemeClr val="accent6"/>
            </a:solidFill>
          </a:ln>
        </p:spPr>
        <p:txBody>
          <a:bodyPr wrap="square" rtlCol="0">
            <a:spAutoFit/>
          </a:bodyPr>
          <a:lstStyle/>
          <a:p>
            <a:r>
              <a:rPr lang="en-ZA" sz="1200" dirty="0">
                <a:latin typeface="Courier New" panose="02070309020205020404" pitchFamily="49" charset="0"/>
                <a:cs typeface="Courier New" panose="02070309020205020404" pitchFamily="49" charset="0"/>
              </a:rPr>
              <a:t>&gt; #Using the </a:t>
            </a:r>
            <a:r>
              <a:rPr lang="en-ZA" sz="1200" dirty="0" err="1">
                <a:latin typeface="Courier New" panose="02070309020205020404" pitchFamily="49" charset="0"/>
                <a:cs typeface="Courier New" panose="02070309020205020404" pitchFamily="49" charset="0"/>
              </a:rPr>
              <a:t>klarR</a:t>
            </a:r>
            <a:r>
              <a:rPr lang="en-ZA" sz="1200" dirty="0">
                <a:latin typeface="Courier New" panose="02070309020205020404" pitchFamily="49" charset="0"/>
                <a:cs typeface="Courier New" panose="02070309020205020404" pitchFamily="49" charset="0"/>
              </a:rPr>
              <a:t> </a:t>
            </a:r>
            <a:r>
              <a:rPr lang="en-ZA" sz="1200" dirty="0" err="1">
                <a:latin typeface="Courier New" panose="02070309020205020404" pitchFamily="49" charset="0"/>
                <a:cs typeface="Courier New" panose="02070309020205020404" pitchFamily="49" charset="0"/>
              </a:rPr>
              <a:t>packagew</a:t>
            </a:r>
            <a:endParaRPr lang="en-ZA" sz="1200" dirty="0">
              <a:latin typeface="Courier New" panose="02070309020205020404" pitchFamily="49" charset="0"/>
              <a:cs typeface="Courier New" panose="02070309020205020404" pitchFamily="49" charset="0"/>
            </a:endParaRPr>
          </a:p>
          <a:p>
            <a:r>
              <a:rPr lang="en-ZA" sz="1200" dirty="0">
                <a:latin typeface="Courier New" panose="02070309020205020404" pitchFamily="49" charset="0"/>
                <a:cs typeface="Courier New" panose="02070309020205020404" pitchFamily="49" charset="0"/>
              </a:rPr>
              <a:t>&gt; # </a:t>
            </a:r>
            <a:r>
              <a:rPr lang="en-ZA" sz="1200" dirty="0" err="1">
                <a:latin typeface="Courier New" panose="02070309020205020404" pitchFamily="49" charset="0"/>
                <a:cs typeface="Courier New" panose="02070309020205020404" pitchFamily="49" charset="0"/>
              </a:rPr>
              <a:t>install.packages</a:t>
            </a:r>
            <a:r>
              <a:rPr lang="en-ZA" sz="1200" dirty="0">
                <a:latin typeface="Courier New" panose="02070309020205020404" pitchFamily="49" charset="0"/>
                <a:cs typeface="Courier New" panose="02070309020205020404" pitchFamily="49" charset="0"/>
              </a:rPr>
              <a:t>("</a:t>
            </a:r>
            <a:r>
              <a:rPr lang="en-ZA" sz="1200" dirty="0" err="1">
                <a:latin typeface="Courier New" panose="02070309020205020404" pitchFamily="49" charset="0"/>
                <a:cs typeface="Courier New" panose="02070309020205020404" pitchFamily="49" charset="0"/>
              </a:rPr>
              <a:t>klaR</a:t>
            </a:r>
            <a:r>
              <a:rPr lang="en-ZA" sz="1200" dirty="0">
                <a:latin typeface="Courier New" panose="02070309020205020404" pitchFamily="49" charset="0"/>
                <a:cs typeface="Courier New" panose="02070309020205020404" pitchFamily="49" charset="0"/>
              </a:rPr>
              <a:t>")</a:t>
            </a:r>
          </a:p>
          <a:p>
            <a:r>
              <a:rPr lang="en-ZA" sz="1200" dirty="0">
                <a:latin typeface="Courier New" panose="02070309020205020404" pitchFamily="49" charset="0"/>
                <a:cs typeface="Courier New" panose="02070309020205020404" pitchFamily="49" charset="0"/>
              </a:rPr>
              <a:t>&gt; library(</a:t>
            </a:r>
            <a:r>
              <a:rPr lang="en-ZA" sz="1200" dirty="0" err="1">
                <a:latin typeface="Courier New" panose="02070309020205020404" pitchFamily="49" charset="0"/>
                <a:cs typeface="Courier New" panose="02070309020205020404" pitchFamily="49" charset="0"/>
              </a:rPr>
              <a:t>klaR</a:t>
            </a:r>
            <a:r>
              <a:rPr lang="en-ZA" sz="1200" dirty="0">
                <a:latin typeface="Courier New" panose="02070309020205020404" pitchFamily="49" charset="0"/>
                <a:cs typeface="Courier New" panose="02070309020205020404" pitchFamily="49" charset="0"/>
              </a:rPr>
              <a:t>)</a:t>
            </a:r>
          </a:p>
          <a:p>
            <a:pPr marL="171450" indent="-171450">
              <a:buFont typeface="Wingdings" panose="05000000000000000000" pitchFamily="2" charset="2"/>
              <a:buChar char="Ø"/>
            </a:pPr>
            <a:r>
              <a:rPr lang="en-ZA" sz="1200" dirty="0" err="1" smtClean="0">
                <a:latin typeface="Courier New" panose="02070309020205020404" pitchFamily="49" charset="0"/>
                <a:cs typeface="Courier New" panose="02070309020205020404" pitchFamily="49" charset="0"/>
              </a:rPr>
              <a:t>partimat</a:t>
            </a:r>
            <a:r>
              <a:rPr lang="en-ZA" sz="1200" dirty="0" smtClean="0">
                <a:latin typeface="Courier New" panose="02070309020205020404" pitchFamily="49" charset="0"/>
                <a:cs typeface="Courier New" panose="02070309020205020404" pitchFamily="49" charset="0"/>
              </a:rPr>
              <a:t>(</a:t>
            </a:r>
            <a:r>
              <a:rPr lang="en-ZA" sz="1200" dirty="0" err="1" smtClean="0">
                <a:latin typeface="Courier New" panose="02070309020205020404" pitchFamily="49" charset="0"/>
                <a:cs typeface="Courier New" panose="02070309020205020404" pitchFamily="49" charset="0"/>
              </a:rPr>
              <a:t>Species</a:t>
            </a:r>
            <a:r>
              <a:rPr lang="en-ZA" sz="1200" dirty="0" err="1">
                <a:latin typeface="Courier New" panose="02070309020205020404" pitchFamily="49" charset="0"/>
                <a:cs typeface="Courier New" panose="02070309020205020404" pitchFamily="49" charset="0"/>
              </a:rPr>
              <a:t>~.,data</a:t>
            </a:r>
            <a:r>
              <a:rPr lang="en-ZA" sz="1200" dirty="0">
                <a:latin typeface="Courier New" panose="02070309020205020404" pitchFamily="49" charset="0"/>
                <a:cs typeface="Courier New" panose="02070309020205020404" pitchFamily="49" charset="0"/>
              </a:rPr>
              <a:t>=</a:t>
            </a:r>
            <a:r>
              <a:rPr lang="en-ZA" sz="1200" dirty="0" err="1">
                <a:latin typeface="Courier New" panose="02070309020205020404" pitchFamily="49" charset="0"/>
                <a:cs typeface="Courier New" panose="02070309020205020404" pitchFamily="49" charset="0"/>
              </a:rPr>
              <a:t>dataset,method</a:t>
            </a:r>
            <a:r>
              <a:rPr lang="en-ZA" sz="1200" dirty="0">
                <a:latin typeface="Courier New" panose="02070309020205020404" pitchFamily="49" charset="0"/>
                <a:cs typeface="Courier New" panose="02070309020205020404" pitchFamily="49" charset="0"/>
              </a:rPr>
              <a:t>="</a:t>
            </a:r>
            <a:r>
              <a:rPr lang="en-ZA" sz="1200" dirty="0" err="1">
                <a:latin typeface="Courier New" panose="02070309020205020404" pitchFamily="49" charset="0"/>
                <a:cs typeface="Courier New" panose="02070309020205020404" pitchFamily="49" charset="0"/>
              </a:rPr>
              <a:t>lda</a:t>
            </a:r>
            <a:r>
              <a:rPr lang="en-ZA" sz="1200" dirty="0" smtClean="0">
                <a:latin typeface="Courier New" panose="02070309020205020404" pitchFamily="49" charset="0"/>
                <a:cs typeface="Courier New" panose="02070309020205020404" pitchFamily="49" charset="0"/>
              </a:rPr>
              <a:t>")</a:t>
            </a: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smtClean="0">
              <a:latin typeface="Courier New" panose="02070309020205020404" pitchFamily="49" charset="0"/>
              <a:cs typeface="Courier New" panose="02070309020205020404" pitchFamily="49" charset="0"/>
            </a:endParaRPr>
          </a:p>
          <a:p>
            <a:pPr marL="171450" indent="-171450">
              <a:buFont typeface="Wingdings" panose="05000000000000000000" pitchFamily="2" charset="2"/>
              <a:buChar char="Ø"/>
            </a:pPr>
            <a:endParaRPr lang="en-ZA" sz="1200" dirty="0">
              <a:latin typeface="Courier New" panose="02070309020205020404" pitchFamily="49" charset="0"/>
              <a:cs typeface="Courier New" panose="02070309020205020404" pitchFamily="49" charset="0"/>
            </a:endParaRPr>
          </a:p>
        </p:txBody>
      </p:sp>
      <p:sp>
        <p:nvSpPr>
          <p:cNvPr id="4" name="Oval Callout 3"/>
          <p:cNvSpPr/>
          <p:nvPr/>
        </p:nvSpPr>
        <p:spPr>
          <a:xfrm>
            <a:off x="9296400" y="2429579"/>
            <a:ext cx="2520950" cy="1771650"/>
          </a:xfrm>
          <a:prstGeom prst="wedgeEllipseCallout">
            <a:avLst>
              <a:gd name="adj1" fmla="val -94888"/>
              <a:gd name="adj2" fmla="val 7303"/>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100" dirty="0" smtClean="0"/>
              <a:t>Up front check whether features of data will lead to separate groups. Looks at pairs if features.</a:t>
            </a:r>
          </a:p>
          <a:p>
            <a:pPr algn="ctr"/>
            <a:r>
              <a:rPr lang="en-ZA" sz="1100" dirty="0" smtClean="0"/>
              <a:t>Shows good separation between </a:t>
            </a:r>
            <a:r>
              <a:rPr lang="en-ZA" sz="1100" dirty="0" err="1" smtClean="0"/>
              <a:t>setosa</a:t>
            </a:r>
            <a:r>
              <a:rPr lang="en-ZA" sz="1100" dirty="0" smtClean="0"/>
              <a:t> and other 2 species. More difficult to distinguish between versicolor and  </a:t>
            </a:r>
            <a:r>
              <a:rPr lang="en-ZA" sz="1100" dirty="0" err="1"/>
              <a:t>virginica</a:t>
            </a:r>
            <a:r>
              <a:rPr lang="en-ZA" sz="1100" dirty="0" smtClean="0"/>
              <a:t> </a:t>
            </a:r>
            <a:endParaRPr lang="en-ZA" sz="1100" dirty="0"/>
          </a:p>
        </p:txBody>
      </p:sp>
      <p:pic>
        <p:nvPicPr>
          <p:cNvPr id="5" name="Picture 4"/>
          <p:cNvPicPr>
            <a:picLocks noChangeAspect="1"/>
          </p:cNvPicPr>
          <p:nvPr/>
        </p:nvPicPr>
        <p:blipFill>
          <a:blip r:embed="rId2"/>
          <a:stretch>
            <a:fillRect/>
          </a:stretch>
        </p:blipFill>
        <p:spPr>
          <a:xfrm>
            <a:off x="400093" y="1168415"/>
            <a:ext cx="7619957" cy="5143470"/>
          </a:xfrm>
          <a:prstGeom prst="rect">
            <a:avLst/>
          </a:prstGeom>
        </p:spPr>
      </p:pic>
    </p:spTree>
    <p:extLst>
      <p:ext uri="{BB962C8B-B14F-4D97-AF65-F5344CB8AC3E}">
        <p14:creationId xmlns:p14="http://schemas.microsoft.com/office/powerpoint/2010/main" val="29457366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250" y="222250"/>
            <a:ext cx="11766550" cy="4247317"/>
          </a:xfrm>
          <a:prstGeom prst="rect">
            <a:avLst/>
          </a:prstGeom>
          <a:noFill/>
          <a:ln>
            <a:solidFill>
              <a:schemeClr val="accent6"/>
            </a:solidFill>
          </a:ln>
        </p:spPr>
        <p:txBody>
          <a:bodyPr wrap="square" rtlCol="0">
            <a:spAutoFit/>
          </a:bodyPr>
          <a:lstStyle/>
          <a:p>
            <a:r>
              <a:rPr lang="en-ZA" dirty="0" smtClean="0"/>
              <a:t>Class Exercise 3 (Johnson &amp; Wichern Exercise 11.29)</a:t>
            </a:r>
          </a:p>
          <a:p>
            <a:endParaRPr lang="en-ZA" dirty="0"/>
          </a:p>
          <a:p>
            <a:r>
              <a:rPr lang="en-ZA" dirty="0" smtClean="0"/>
              <a:t>The data relating to the GPA and GMAT scores are stored in the text file T11-6. Note V1=GPA score, V2=GMAT score and V3=Population</a:t>
            </a:r>
          </a:p>
          <a:p>
            <a:endParaRPr lang="en-ZA" dirty="0"/>
          </a:p>
          <a:p>
            <a:r>
              <a:rPr lang="en-ZA" dirty="0" smtClean="0"/>
              <a:t>Use R to perform a linear discriminant analysis to classify the students into one of the 3 populations.</a:t>
            </a:r>
          </a:p>
          <a:p>
            <a:endParaRPr lang="en-ZA" dirty="0"/>
          </a:p>
          <a:p>
            <a:r>
              <a:rPr lang="en-ZA" dirty="0" smtClean="0"/>
              <a:t>&gt; </a:t>
            </a:r>
            <a:r>
              <a:rPr lang="en-ZA" dirty="0"/>
              <a:t>head(</a:t>
            </a:r>
            <a:r>
              <a:rPr lang="en-ZA" dirty="0" err="1"/>
              <a:t>gmat</a:t>
            </a:r>
            <a:r>
              <a:rPr lang="en-ZA" dirty="0"/>
              <a:t>)</a:t>
            </a:r>
          </a:p>
          <a:p>
            <a:r>
              <a:rPr lang="en-ZA" dirty="0"/>
              <a:t>    V1  V2 V3</a:t>
            </a:r>
          </a:p>
          <a:p>
            <a:r>
              <a:rPr lang="en-ZA" dirty="0"/>
              <a:t>1 2.96 596  1</a:t>
            </a:r>
          </a:p>
          <a:p>
            <a:r>
              <a:rPr lang="en-ZA" dirty="0"/>
              <a:t>2 3.14 473  1</a:t>
            </a:r>
          </a:p>
          <a:p>
            <a:r>
              <a:rPr lang="en-ZA" dirty="0"/>
              <a:t>3 3.22 482  1</a:t>
            </a:r>
          </a:p>
          <a:p>
            <a:r>
              <a:rPr lang="en-ZA" dirty="0"/>
              <a:t>4 3.29 527  1</a:t>
            </a:r>
          </a:p>
          <a:p>
            <a:r>
              <a:rPr lang="en-ZA" dirty="0"/>
              <a:t>5 3.69 505  1</a:t>
            </a:r>
          </a:p>
          <a:p>
            <a:r>
              <a:rPr lang="en-ZA" dirty="0"/>
              <a:t>6 3.46 693  1</a:t>
            </a:r>
          </a:p>
        </p:txBody>
      </p:sp>
      <p:sp>
        <p:nvSpPr>
          <p:cNvPr id="3" name="TextBox 2"/>
          <p:cNvSpPr txBox="1"/>
          <p:nvPr/>
        </p:nvSpPr>
        <p:spPr>
          <a:xfrm>
            <a:off x="139700" y="4749800"/>
            <a:ext cx="11658600" cy="369332"/>
          </a:xfrm>
          <a:prstGeom prst="rect">
            <a:avLst/>
          </a:prstGeom>
          <a:noFill/>
          <a:ln>
            <a:solidFill>
              <a:schemeClr val="accent3"/>
            </a:solidFill>
          </a:ln>
        </p:spPr>
        <p:txBody>
          <a:bodyPr wrap="square" rtlCol="0">
            <a:spAutoFit/>
          </a:bodyPr>
          <a:lstStyle/>
          <a:p>
            <a:r>
              <a:rPr lang="en-ZA" dirty="0" smtClean="0"/>
              <a:t>Note: NO quiz this week because of 3 class exercises. </a:t>
            </a:r>
            <a:endParaRPr lang="en-ZA" dirty="0"/>
          </a:p>
        </p:txBody>
      </p:sp>
    </p:spTree>
    <p:extLst>
      <p:ext uri="{BB962C8B-B14F-4D97-AF65-F5344CB8AC3E}">
        <p14:creationId xmlns:p14="http://schemas.microsoft.com/office/powerpoint/2010/main" val="29006161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1297</TotalTime>
  <Words>3502</Words>
  <Application>Microsoft Office PowerPoint</Application>
  <PresentationFormat>Widescreen</PresentationFormat>
  <Paragraphs>963</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Calibri Light</vt:lpstr>
      <vt:lpstr>Cambria Math</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Cape Town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Francesca Little</dc:creator>
  <cp:lastModifiedBy>Francesca Little</cp:lastModifiedBy>
  <cp:revision>208</cp:revision>
  <dcterms:created xsi:type="dcterms:W3CDTF">2020-05-11T14:17:15Z</dcterms:created>
  <dcterms:modified xsi:type="dcterms:W3CDTF">2021-06-07T05:59:26Z</dcterms:modified>
</cp:coreProperties>
</file>